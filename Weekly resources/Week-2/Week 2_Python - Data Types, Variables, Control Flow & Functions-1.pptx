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C_D937081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985_92F7A90F.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5" r:id="rId5"/>
  </p:sldMasterIdLst>
  <p:notesMasterIdLst>
    <p:notesMasterId r:id="rId119"/>
  </p:notesMasterIdLst>
  <p:sldIdLst>
    <p:sldId id="405" r:id="rId6"/>
    <p:sldId id="2591" r:id="rId7"/>
    <p:sldId id="2618" r:id="rId8"/>
    <p:sldId id="2619" r:id="rId9"/>
    <p:sldId id="2198" r:id="rId10"/>
    <p:sldId id="2495" r:id="rId11"/>
    <p:sldId id="268" r:id="rId12"/>
    <p:sldId id="335" r:id="rId13"/>
    <p:sldId id="2394" r:id="rId14"/>
    <p:sldId id="2425" r:id="rId15"/>
    <p:sldId id="2437" r:id="rId16"/>
    <p:sldId id="2386" r:id="rId17"/>
    <p:sldId id="2426" r:id="rId18"/>
    <p:sldId id="2427" r:id="rId19"/>
    <p:sldId id="2428" r:id="rId20"/>
    <p:sldId id="2429" r:id="rId21"/>
    <p:sldId id="2412" r:id="rId22"/>
    <p:sldId id="2355" r:id="rId23"/>
    <p:sldId id="2431" r:id="rId24"/>
    <p:sldId id="2432" r:id="rId25"/>
    <p:sldId id="2441" r:id="rId26"/>
    <p:sldId id="2442" r:id="rId27"/>
    <p:sldId id="2443" r:id="rId28"/>
    <p:sldId id="2445" r:id="rId29"/>
    <p:sldId id="2447" r:id="rId30"/>
    <p:sldId id="2448" r:id="rId31"/>
    <p:sldId id="2449" r:id="rId32"/>
    <p:sldId id="2446" r:id="rId33"/>
    <p:sldId id="2452" r:id="rId34"/>
    <p:sldId id="2453" r:id="rId35"/>
    <p:sldId id="2497" r:id="rId36"/>
    <p:sldId id="2498" r:id="rId37"/>
    <p:sldId id="2499" r:id="rId38"/>
    <p:sldId id="2500" r:id="rId39"/>
    <p:sldId id="2501" r:id="rId40"/>
    <p:sldId id="2462" r:id="rId41"/>
    <p:sldId id="2463" r:id="rId42"/>
    <p:sldId id="2503" r:id="rId43"/>
    <p:sldId id="2504" r:id="rId44"/>
    <p:sldId id="2507" r:id="rId45"/>
    <p:sldId id="2508" r:id="rId46"/>
    <p:sldId id="2509" r:id="rId47"/>
    <p:sldId id="2511" r:id="rId48"/>
    <p:sldId id="2510" r:id="rId49"/>
    <p:sldId id="2512" r:id="rId50"/>
    <p:sldId id="2472" r:id="rId51"/>
    <p:sldId id="2473" r:id="rId52"/>
    <p:sldId id="2514" r:id="rId53"/>
    <p:sldId id="2515" r:id="rId54"/>
    <p:sldId id="2516" r:id="rId55"/>
    <p:sldId id="2529" r:id="rId56"/>
    <p:sldId id="2517" r:id="rId57"/>
    <p:sldId id="2518" r:id="rId58"/>
    <p:sldId id="2530" r:id="rId59"/>
    <p:sldId id="2519" r:id="rId60"/>
    <p:sldId id="2531" r:id="rId61"/>
    <p:sldId id="2482" r:id="rId62"/>
    <p:sldId id="2483" r:id="rId63"/>
    <p:sldId id="2491" r:id="rId64"/>
    <p:sldId id="2533" r:id="rId65"/>
    <p:sldId id="2534" r:id="rId66"/>
    <p:sldId id="2535" r:id="rId67"/>
    <p:sldId id="2536" r:id="rId68"/>
    <p:sldId id="2582" r:id="rId69"/>
    <p:sldId id="2538" r:id="rId70"/>
    <p:sldId id="2539" r:id="rId71"/>
    <p:sldId id="2540" r:id="rId72"/>
    <p:sldId id="2541" r:id="rId73"/>
    <p:sldId id="2542" r:id="rId74"/>
    <p:sldId id="2543" r:id="rId75"/>
    <p:sldId id="2583" r:id="rId76"/>
    <p:sldId id="2545" r:id="rId77"/>
    <p:sldId id="2547" r:id="rId78"/>
    <p:sldId id="2584" r:id="rId79"/>
    <p:sldId id="2548" r:id="rId80"/>
    <p:sldId id="2549" r:id="rId81"/>
    <p:sldId id="2550" r:id="rId82"/>
    <p:sldId id="2551" r:id="rId83"/>
    <p:sldId id="2552" r:id="rId84"/>
    <p:sldId id="2553" r:id="rId85"/>
    <p:sldId id="2554" r:id="rId86"/>
    <p:sldId id="2555" r:id="rId87"/>
    <p:sldId id="2556" r:id="rId88"/>
    <p:sldId id="2557" r:id="rId89"/>
    <p:sldId id="2558" r:id="rId90"/>
    <p:sldId id="2559" r:id="rId91"/>
    <p:sldId id="2560" r:id="rId92"/>
    <p:sldId id="2561" r:id="rId93"/>
    <p:sldId id="2585" r:id="rId94"/>
    <p:sldId id="2562" r:id="rId95"/>
    <p:sldId id="2563" r:id="rId96"/>
    <p:sldId id="2564" r:id="rId97"/>
    <p:sldId id="2586" r:id="rId98"/>
    <p:sldId id="2565" r:id="rId99"/>
    <p:sldId id="2587" r:id="rId100"/>
    <p:sldId id="2566" r:id="rId101"/>
    <p:sldId id="2567" r:id="rId102"/>
    <p:sldId id="2568" r:id="rId103"/>
    <p:sldId id="2588" r:id="rId104"/>
    <p:sldId id="2569" r:id="rId105"/>
    <p:sldId id="2570" r:id="rId106"/>
    <p:sldId id="2571" r:id="rId107"/>
    <p:sldId id="2572" r:id="rId108"/>
    <p:sldId id="2589" r:id="rId109"/>
    <p:sldId id="2573" r:id="rId110"/>
    <p:sldId id="2574" r:id="rId111"/>
    <p:sldId id="2575" r:id="rId112"/>
    <p:sldId id="2576" r:id="rId113"/>
    <p:sldId id="2577" r:id="rId114"/>
    <p:sldId id="2578" r:id="rId115"/>
    <p:sldId id="2579" r:id="rId116"/>
    <p:sldId id="2580" r:id="rId117"/>
    <p:sldId id="2581"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6960" userDrawn="1">
          <p15:clr>
            <a:srgbClr val="A4A3A4"/>
          </p15:clr>
        </p15:guide>
        <p15:guide id="3" pos="3999" userDrawn="1">
          <p15:clr>
            <a:srgbClr val="A4A3A4"/>
          </p15:clr>
        </p15:guide>
        <p15:guide id="4" pos="7152" userDrawn="1">
          <p15:clr>
            <a:srgbClr val="A4A3A4"/>
          </p15:clr>
        </p15:guide>
        <p15:guide id="5" pos="552" userDrawn="1">
          <p15:clr>
            <a:srgbClr val="A4A3A4"/>
          </p15:clr>
        </p15:guide>
        <p15:guide id="10" orient="horz" pos="2304" userDrawn="1">
          <p15:clr>
            <a:srgbClr val="A4A3A4"/>
          </p15:clr>
        </p15:guide>
        <p15:guide id="11" pos="456" userDrawn="1">
          <p15:clr>
            <a:srgbClr val="A4A3A4"/>
          </p15:clr>
        </p15:guide>
        <p15:guide id="12" pos="3840" userDrawn="1">
          <p15:clr>
            <a:srgbClr val="A4A3A4"/>
          </p15:clr>
        </p15:guide>
        <p15:guide id="13" orient="horz" pos="912" userDrawn="1">
          <p15:clr>
            <a:srgbClr val="A4A3A4"/>
          </p15:clr>
        </p15:guide>
        <p15:guide id="14" orient="horz" pos="1224" userDrawn="1">
          <p15:clr>
            <a:srgbClr val="A4A3A4"/>
          </p15:clr>
        </p15:guide>
        <p15:guide id="19" orient="horz" pos="340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E67906-1B0F-45EE-8DBE-4E5A9DBE1B53}" name="Diksha Jain" initials="DJ" userId="d2e4463097639f9b" providerId="Windows Live"/>
  <p188:author id="{071C6F1F-F20C-D5E3-759C-B6B83045F749}" name="Rupabrata Das" initials="RD" userId="S::rupabrata.das@emeritus.org::fbfc18ea-b8c9-473e-b6e4-e6b4202956c8" providerId="AD"/>
  <p188:author id="{14E5923B-3DCA-28F2-A7FF-905626269AAC}" name="Greeshma cu" initials="Gc" userId="S::greeshma.c@maieuticedutech.com::67911770-9481-4909-8e83-4542608bc346" providerId="AD"/>
  <p188:author id="{CF4B4340-1257-539C-843D-774145FBC9C7}" name="Judy Jain" initials="JJ" userId="S::judy.jain@emeritus.org::b05ad80e-7d0d-4e3b-83d9-b34f492f98da" providerId="AD"/>
  <p188:author id="{9FA76853-5D39-A3D5-F0F8-5A9A9392AC77}" name="Siva Prabha  R" initials="SR" userId="S::Sivaprabha@eduficdigital.com::40a6294f-87c8-48a7-8bd5-d9fb11173c0d" providerId="AD"/>
  <p188:author id="{5B23A257-EF9B-301D-C0E7-D20EFDFB7D98}" name="Guruprasad Achari" initials="GA" userId="4dc690a1b58ed61f" providerId="Windows Live"/>
  <p188:author id="{95582667-6102-27E7-ED8E-01A166EB4B6B}" name="Guest User" initials="GU" userId="Guest User" providerId="Windows Live"/>
  <p188:author id="{CA36D790-42B6-04F7-01FD-AA89B8B49EF0}" name="Sujitha Harish" initials="SH" userId="S::sujitha.harish@emeritus.org::6db629fd-24fa-4f3a-90ef-55db1c508be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9CCA"/>
    <a:srgbClr val="25274D"/>
    <a:srgbClr val="AAABB8"/>
    <a:srgbClr val="29648A"/>
    <a:srgbClr val="FEFEFE"/>
    <a:srgbClr val="464866"/>
    <a:srgbClr val="F5F5F5"/>
    <a:srgbClr val="6B6E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60" autoAdjust="0"/>
    <p:restoredTop sz="70845" autoAdjust="0"/>
  </p:normalViewPr>
  <p:slideViewPr>
    <p:cSldViewPr snapToGrid="0">
      <p:cViewPr varScale="1">
        <p:scale>
          <a:sx n="78" d="100"/>
          <a:sy n="78" d="100"/>
        </p:scale>
        <p:origin x="1752" y="54"/>
      </p:cViewPr>
      <p:guideLst>
        <p:guide orient="horz" pos="1200"/>
        <p:guide pos="6960"/>
        <p:guide pos="3999"/>
        <p:guide pos="7152"/>
        <p:guide pos="552"/>
        <p:guide orient="horz" pos="2304"/>
        <p:guide pos="456"/>
        <p:guide pos="3840"/>
        <p:guide orient="horz" pos="912"/>
        <p:guide orient="horz" pos="1224"/>
        <p:guide orient="horz" pos="3407"/>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tableStyles" Target="tableStyles.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microsoft.com/office/2018/10/relationships/authors" Target="author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notesMaster" Target="notesMasters/notesMaster1.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theme" Target="theme/theme1.xml"/></Relationships>
</file>

<file path=ppt/comments/modernComment_10C_D9370810.xml><?xml version="1.0" encoding="utf-8"?>
<p188:cmLst xmlns:a="http://schemas.openxmlformats.org/drawingml/2006/main" xmlns:r="http://schemas.openxmlformats.org/officeDocument/2006/relationships" xmlns:p188="http://schemas.microsoft.com/office/powerpoint/2018/8/main">
  <p188:cm id="{4D85C7AF-2695-43D2-8685-CAED03CA5135}" authorId="{071C6F1F-F20C-D5E3-759C-B6B83045F749}" status="resolved" created="2025-09-23T04:41:32.114" complete="100000">
    <pc:sldMkLst xmlns:pc="http://schemas.microsoft.com/office/powerpoint/2013/main/command">
      <pc:docMk/>
      <pc:sldMk cId="3644262416" sldId="268"/>
    </pc:sldMkLst>
    <p188:replyLst>
      <p188:reply id="{22A52EEA-483E-430E-8650-16EB1D8C4E28}" authorId="{9FA76853-5D39-A3D5-F0F8-5A9A9392AC77}" created="2025-09-23T07:11:03.153">
        <p188:txBody>
          <a:bodyPr/>
          <a:lstStyle/>
          <a:p>
            <a:r>
              <a:rPr lang="en-GB"/>
              <a:t>Noted, updated</a:t>
            </a:r>
          </a:p>
        </p188:txBody>
      </p188:reply>
    </p188:replyLst>
    <p188:txBody>
      <a:bodyPr/>
      <a:lstStyle/>
      <a:p>
        <a:r>
          <a:rPr lang="en-GB"/>
          <a:t>Slide 2 should be week title - Data Types, Variables &amp; Control Flow</a:t>
        </a:r>
      </a:p>
    </p188:txBody>
  </p188:cm>
</p188:cmLst>
</file>

<file path=ppt/comments/modernComment_985_92F7A90F.xml><?xml version="1.0" encoding="utf-8"?>
<p188:cmLst xmlns:a="http://schemas.openxmlformats.org/drawingml/2006/main" xmlns:r="http://schemas.openxmlformats.org/officeDocument/2006/relationships" xmlns:p188="http://schemas.microsoft.com/office/powerpoint/2018/8/main">
  <p188:cm id="{32524A25-80A7-4930-87D0-E40228608304}" authorId="{071C6F1F-F20C-D5E3-759C-B6B83045F749}" status="resolved" created="2025-09-23T04:47:10.212" complete="100000">
    <ac:deMkLst xmlns:ac="http://schemas.microsoft.com/office/drawing/2013/main/command">
      <pc:docMk xmlns:pc="http://schemas.microsoft.com/office/powerpoint/2013/main/command"/>
      <pc:sldMk xmlns:pc="http://schemas.microsoft.com/office/powerpoint/2013/main/command" cId="2465704207" sldId="2437"/>
      <ac:spMk id="2" creationId="{FD404864-D71C-0F9E-B863-FD4BF0402D31}"/>
    </ac:deMkLst>
    <p188:replyLst>
      <p188:reply id="{CE936E9A-C7B9-4471-8F80-EB855C679547}" authorId="{9FA76853-5D39-A3D5-F0F8-5A9A9392AC77}" created="2025-09-23T07:09:40.382">
        <p188:txBody>
          <a:bodyPr/>
          <a:lstStyle/>
          <a:p>
            <a:r>
              <a:rPr lang="en-GB"/>
              <a:t>Noted</a:t>
            </a:r>
          </a:p>
        </p188:txBody>
      </p188:reply>
    </p188:replyLst>
    <p188:txBody>
      <a:bodyPr/>
      <a:lstStyle/>
      <a:p>
        <a:r>
          <a:rPr lang="en-GB"/>
          <a:t>Do not paraphrase ever if the SME has given it as a code. I have changed it here. But keep it consistent in future.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4F674-3B72-4592-A378-2D59671E4AB8}" type="datetimeFigureOut">
              <a:rPr lang="en-GB" smtClean="0"/>
              <a:t>16/11/2025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1E027D-4684-4D2A-A457-B52C65DF2100}" type="slidenum">
              <a:rPr lang="en-GB" smtClean="0"/>
              <a:t>‹#›</a:t>
            </a:fld>
            <a:endParaRPr lang="en-GB"/>
          </a:p>
        </p:txBody>
      </p:sp>
    </p:spTree>
    <p:extLst>
      <p:ext uri="{BB962C8B-B14F-4D97-AF65-F5344CB8AC3E}">
        <p14:creationId xmlns:p14="http://schemas.microsoft.com/office/powerpoint/2010/main" val="307973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1E027D-4684-4D2A-A457-B52C65DF2100}" type="slidenum">
              <a:rPr lang="en-GB" smtClean="0"/>
              <a:t>1</a:t>
            </a:fld>
            <a:endParaRPr lang="en-GB"/>
          </a:p>
        </p:txBody>
      </p:sp>
    </p:spTree>
    <p:extLst>
      <p:ext uri="{BB962C8B-B14F-4D97-AF65-F5344CB8AC3E}">
        <p14:creationId xmlns:p14="http://schemas.microsoft.com/office/powerpoint/2010/main" val="3650972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pPr>
            <a:r>
              <a:rPr lang="en-US" b="1" dirty="0">
                <a:solidFill>
                  <a:srgbClr val="0E101A"/>
                </a:solidFill>
                <a:effectLst/>
              </a:rPr>
              <a:t>Script for video with pronunciation guide:</a:t>
            </a:r>
            <a:r>
              <a:rPr lang="en-US" dirty="0">
                <a:solidFill>
                  <a:srgbClr val="0E101A"/>
                </a:solidFill>
                <a:effectLst/>
              </a:rPr>
              <a:t> </a:t>
            </a:r>
          </a:p>
          <a:p>
            <a:pPr>
              <a:spcBef>
                <a:spcPts val="0"/>
              </a:spcBef>
              <a:spcAft>
                <a:spcPts val="0"/>
              </a:spcAft>
            </a:pPr>
            <a:r>
              <a:rPr lang="en-US" dirty="0">
                <a:solidFill>
                  <a:srgbClr val="0E101A"/>
                </a:solidFill>
                <a:effectLst/>
              </a:rPr>
              <a:t>&lt;&lt;This is the section where the script for the video will be detailed. Include pronunciation guide and audio keys for technical terms&gt;&gt;</a:t>
            </a:r>
          </a:p>
          <a:p>
            <a:pPr>
              <a:spcBef>
                <a:spcPts val="0"/>
              </a:spcBef>
              <a:spcAft>
                <a:spcPts val="0"/>
              </a:spcAft>
            </a:pPr>
            <a:r>
              <a:rPr lang="en-US" b="1" dirty="0">
                <a:solidFill>
                  <a:srgbClr val="0E101A"/>
                </a:solidFill>
                <a:effectLst/>
              </a:rPr>
              <a:t>Developer Notes:</a:t>
            </a:r>
            <a:r>
              <a:rPr lang="en-US" dirty="0">
                <a:solidFill>
                  <a:srgbClr val="0E101A"/>
                </a:solidFill>
                <a:effectLst/>
              </a:rPr>
              <a:t> </a:t>
            </a:r>
          </a:p>
          <a:p>
            <a:pPr>
              <a:spcBef>
                <a:spcPts val="0"/>
              </a:spcBef>
              <a:spcAft>
                <a:spcPts val="0"/>
              </a:spcAft>
            </a:pPr>
            <a:r>
              <a:rPr lang="en-US" dirty="0">
                <a:solidFill>
                  <a:srgbClr val="0E101A"/>
                </a:solidFill>
                <a:effectLst/>
              </a:rPr>
              <a:t>&lt;&lt;Use this space to provide important notes and instructions for the development team. This may include technical specifications, transitions, or any other relevant information that needs to be considered during production.&gt;&gt;</a:t>
            </a:r>
          </a:p>
          <a:p>
            <a:pPr>
              <a:spcBef>
                <a:spcPts val="0"/>
              </a:spcBef>
              <a:spcAft>
                <a:spcPts val="0"/>
              </a:spcAft>
            </a:pPr>
            <a:r>
              <a:rPr lang="en-US" b="1" dirty="0">
                <a:solidFill>
                  <a:srgbClr val="0E101A"/>
                </a:solidFill>
                <a:effectLst/>
              </a:rPr>
              <a:t>Visual reference:</a:t>
            </a:r>
            <a:r>
              <a:rPr lang="en-US" dirty="0">
                <a:solidFill>
                  <a:srgbClr val="0E101A"/>
                </a:solidFill>
                <a:effectLst/>
              </a:rPr>
              <a:t> </a:t>
            </a:r>
          </a:p>
          <a:p>
            <a:pPr>
              <a:spcBef>
                <a:spcPts val="0"/>
              </a:spcBef>
              <a:spcAft>
                <a:spcPts val="0"/>
              </a:spcAft>
            </a:pPr>
            <a:r>
              <a:rPr lang="en-US" dirty="0">
                <a:solidFill>
                  <a:srgbClr val="0E101A"/>
                </a:solidFill>
                <a:effectLst/>
              </a:rPr>
              <a:t>&lt;&lt;Insert visual references here. These could be links to images for recreation purposes. Ensure that each visual corresponds to the relevant part of the script to guide the visual design process effectively.&gt;&gt;</a:t>
            </a:r>
          </a:p>
          <a:p>
            <a:pPr>
              <a:spcBef>
                <a:spcPts val="0"/>
              </a:spcBef>
              <a:spcAft>
                <a:spcPts val="0"/>
              </a:spcAft>
            </a:pPr>
            <a:endParaRPr lang="en-US" dirty="0">
              <a:solidFill>
                <a:srgbClr val="0E101A"/>
              </a:solidFill>
              <a:effectLst/>
            </a:endParaRPr>
          </a:p>
          <a:p>
            <a:endParaRPr lang="en-GB" dirty="0"/>
          </a:p>
        </p:txBody>
      </p:sp>
      <p:sp>
        <p:nvSpPr>
          <p:cNvPr id="4" name="Slide Number Placeholder 3"/>
          <p:cNvSpPr>
            <a:spLocks noGrp="1"/>
          </p:cNvSpPr>
          <p:nvPr>
            <p:ph type="sldNum" sz="quarter" idx="5"/>
          </p:nvPr>
        </p:nvSpPr>
        <p:spPr/>
        <p:txBody>
          <a:bodyPr/>
          <a:lstStyle/>
          <a:p>
            <a:fld id="{0ECEEE1B-A765-4AC5-B079-CE0365986DD1}" type="slidenum">
              <a:rPr lang="en-US" smtClean="0"/>
              <a:t>7</a:t>
            </a:fld>
            <a:endParaRPr lang="en-US"/>
          </a:p>
        </p:txBody>
      </p:sp>
    </p:spTree>
    <p:extLst>
      <p:ext uri="{BB962C8B-B14F-4D97-AF65-F5344CB8AC3E}">
        <p14:creationId xmlns:p14="http://schemas.microsoft.com/office/powerpoint/2010/main" val="2211417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25274D"/>
                </a:solidFill>
                <a:latin typeface="Montserrat Bold" pitchFamily="34" charset="0"/>
                <a:ea typeface="Montserrat Bold" pitchFamily="34" charset="-122"/>
                <a:cs typeface="Montserrat Bold" pitchFamily="34" charset="-120"/>
              </a:rPr>
              <a:t>Python Basics: Variables, Data Types &amp; Numbers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ontserrat" pitchFamily="34" charset="0"/>
                <a:ea typeface="Montserrat" pitchFamily="34" charset="-122"/>
                <a:cs typeface="Montserrat" pitchFamily="34" charset="-120"/>
              </a:rPr>
              <a:t>Foundation for writing and understanding Python programs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ontserrat" pitchFamily="34" charset="0"/>
                <a:ea typeface="Montserrat" pitchFamily="34" charset="-122"/>
                <a:cs typeface="Montserrat" pitchFamily="34" charset="-120"/>
              </a:rPr>
              <a:t>Key building blocks for data manipulation and analysis</a:t>
            </a:r>
            <a:endParaRPr lang="en-US" sz="1200" dirty="0"/>
          </a:p>
          <a:p>
            <a:endParaRPr lang="en-GB" dirty="0"/>
          </a:p>
        </p:txBody>
      </p:sp>
      <p:sp>
        <p:nvSpPr>
          <p:cNvPr id="4" name="Slide Number Placeholder 3"/>
          <p:cNvSpPr>
            <a:spLocks noGrp="1"/>
          </p:cNvSpPr>
          <p:nvPr>
            <p:ph type="sldNum" sz="quarter" idx="5"/>
          </p:nvPr>
        </p:nvSpPr>
        <p:spPr/>
        <p:txBody>
          <a:bodyPr/>
          <a:lstStyle/>
          <a:p>
            <a:fld id="{1F1E027D-4684-4D2A-A457-B52C65DF2100}" type="slidenum">
              <a:rPr lang="en-GB" smtClean="0"/>
              <a:t>8</a:t>
            </a:fld>
            <a:endParaRPr lang="en-GB"/>
          </a:p>
        </p:txBody>
      </p:sp>
    </p:spTree>
    <p:extLst>
      <p:ext uri="{BB962C8B-B14F-4D97-AF65-F5344CB8AC3E}">
        <p14:creationId xmlns:p14="http://schemas.microsoft.com/office/powerpoint/2010/main" val="948351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3603-58E8-1EE8-763D-1B2D8FF1B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6E904-D2F9-5E8B-1282-4072352F4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9D97C-3CCE-5B42-FABC-0ED7E995044C}"/>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Introduction </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0" dirty="0">
                <a:solidFill>
                  <a:srgbClr val="000000"/>
                </a:solidFill>
                <a:latin typeface="Montserrat Bold" pitchFamily="34" charset="0"/>
                <a:ea typeface="Montserrat Bold" pitchFamily="34" charset="-122"/>
                <a:cs typeface="Montserrat Bold" pitchFamily="34" charset="-120"/>
              </a:rPr>
              <a:t>Python is widely used because of its </a:t>
            </a:r>
            <a:r>
              <a:rPr lang="en-US" sz="1800" b="0" dirty="0">
                <a:solidFill>
                  <a:srgbClr val="25274D"/>
                </a:solidFill>
                <a:latin typeface="Montserrat Bold" pitchFamily="34" charset="0"/>
                <a:ea typeface="Montserrat Bold" pitchFamily="34" charset="-122"/>
                <a:cs typeface="Montserrat Bold" pitchFamily="34" charset="-120"/>
              </a:rPr>
              <a:t>simplicity</a:t>
            </a:r>
            <a:r>
              <a:rPr lang="en-US" sz="1800" b="0" dirty="0">
                <a:solidFill>
                  <a:srgbClr val="000000"/>
                </a:solidFill>
                <a:latin typeface="Montserrat Bold" pitchFamily="34" charset="0"/>
                <a:ea typeface="Montserrat Bold" pitchFamily="34" charset="-122"/>
                <a:cs typeface="Montserrat Bold" pitchFamily="34" charset="-120"/>
              </a:rPr>
              <a:t> and </a:t>
            </a:r>
            <a:r>
              <a:rPr lang="en-US" sz="1800" b="0" dirty="0">
                <a:solidFill>
                  <a:srgbClr val="25274D"/>
                </a:solidFill>
                <a:latin typeface="Montserrat Bold" pitchFamily="34" charset="0"/>
                <a:ea typeface="Montserrat Bold" pitchFamily="34" charset="-122"/>
                <a:cs typeface="Montserrat Bold" pitchFamily="34" charset="-120"/>
              </a:rPr>
              <a:t>readability</a:t>
            </a:r>
            <a:r>
              <a:rPr lang="en-US" sz="1800" b="0" dirty="0">
                <a:solidFill>
                  <a:schemeClr val="tx1"/>
                </a:solidFill>
                <a:latin typeface="+mn-lt"/>
                <a:ea typeface="+mn-ea"/>
                <a:cs typeface="+mn-cs"/>
              </a:rPr>
              <a:t> </a:t>
            </a:r>
            <a:r>
              <a:rPr lang="en-US" sz="1800" b="0" dirty="0">
                <a:solidFill>
                  <a:srgbClr val="000000"/>
                </a:solidFill>
                <a:latin typeface="Montserrat Bold" pitchFamily="34" charset="0"/>
                <a:ea typeface="Montserrat Bold" pitchFamily="34" charset="-122"/>
                <a:cs typeface="Montserrat Bold" pitchFamily="34" charset="-120"/>
              </a:rPr>
              <a:t>Everything in Python is an </a:t>
            </a:r>
            <a:r>
              <a:rPr lang="en-US" sz="1800" b="0" dirty="0">
                <a:solidFill>
                  <a:srgbClr val="25274D"/>
                </a:solidFill>
                <a:latin typeface="Montserrat Bold" pitchFamily="34" charset="0"/>
                <a:ea typeface="Montserrat Bold" pitchFamily="34" charset="-122"/>
                <a:cs typeface="Montserrat Bold" pitchFamily="34" charset="-120"/>
              </a:rPr>
              <a:t>object</a:t>
            </a:r>
            <a:endParaRPr lang="en-US" sz="1800" b="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Remove the icons from the infographics</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Repository Slide no: 43</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https://image.shutterstock.com/z/stock-photo-saint-petersburg-russia-july-programming-language-python-inscription-on-the-background- 1447245065.jpg</a:t>
            </a:r>
          </a:p>
        </p:txBody>
      </p:sp>
      <p:sp>
        <p:nvSpPr>
          <p:cNvPr id="4" name="Slide Number Placeholder 3">
            <a:extLst>
              <a:ext uri="{FF2B5EF4-FFF2-40B4-BE49-F238E27FC236}">
                <a16:creationId xmlns:a16="http://schemas.microsoft.com/office/drawing/2014/main" id="{C762C903-6DDD-0537-86AB-85FFD927F280}"/>
              </a:ext>
            </a:extLst>
          </p:cNvPr>
          <p:cNvSpPr>
            <a:spLocks noGrp="1"/>
          </p:cNvSpPr>
          <p:nvPr>
            <p:ph type="sldNum" sz="quarter" idx="5"/>
          </p:nvPr>
        </p:nvSpPr>
        <p:spPr/>
        <p:txBody>
          <a:bodyPr/>
          <a:lstStyle/>
          <a:p>
            <a:fld id="{1F1E027D-4684-4D2A-A457-B52C65DF2100}" type="slidenum">
              <a:rPr lang="en-GB" smtClean="0"/>
              <a:t>9</a:t>
            </a:fld>
            <a:endParaRPr lang="en-GB"/>
          </a:p>
        </p:txBody>
      </p:sp>
    </p:spTree>
    <p:extLst>
      <p:ext uri="{BB962C8B-B14F-4D97-AF65-F5344CB8AC3E}">
        <p14:creationId xmlns:p14="http://schemas.microsoft.com/office/powerpoint/2010/main" val="2616578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DD24F-3133-383B-1AC2-FEA3DF2D2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8EE6C-B5EC-E498-B5E3-E2E2261DD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935CF-FA4A-AC21-131F-AF2CA131A7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b="1" dirty="0">
                <a:solidFill>
                  <a:srgbClr val="000000"/>
                </a:solidFill>
                <a:latin typeface="Montserrat Bold" pitchFamily="34" charset="0"/>
                <a:ea typeface="Montserrat Bold" pitchFamily="34" charset="-122"/>
                <a:cs typeface="Montserrat Bold" pitchFamily="34" charset="-120"/>
              </a:rPr>
              <a:t>Before diving into advanced topics, we must understand:</a:t>
            </a:r>
            <a:endParaRPr lang="en-US" sz="1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dirty="0">
                <a:solidFill>
                  <a:srgbClr val="000000"/>
                </a:solidFill>
                <a:latin typeface="Montserrat" pitchFamily="34" charset="0"/>
                <a:ea typeface="Montserrat" pitchFamily="34" charset="-122"/>
                <a:cs typeface="Montserrat" pitchFamily="34" charset="-120"/>
              </a:rPr>
              <a:t>Variables</a:t>
            </a:r>
            <a:endParaRPr lang="en-US" sz="1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dirty="0">
                <a:solidFill>
                  <a:srgbClr val="000000"/>
                </a:solidFill>
                <a:latin typeface="Montserrat" pitchFamily="34" charset="0"/>
                <a:ea typeface="Montserrat" pitchFamily="34" charset="-122"/>
                <a:cs typeface="Montserrat" pitchFamily="34" charset="-120"/>
              </a:rPr>
              <a:t>Data Types</a:t>
            </a:r>
            <a:endParaRPr lang="en-US" sz="1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dirty="0">
                <a:solidFill>
                  <a:srgbClr val="000000"/>
                </a:solidFill>
                <a:latin typeface="Montserrat" pitchFamily="34" charset="0"/>
                <a:ea typeface="Montserrat" pitchFamily="34" charset="-122"/>
                <a:cs typeface="Montserrat" pitchFamily="34" charset="-120"/>
              </a:rPr>
              <a:t>Numbers</a:t>
            </a:r>
            <a:endParaRPr lang="en-US" sz="1800" dirty="0"/>
          </a:p>
          <a:p>
            <a:pPr marL="0" indent="0">
              <a:buFont typeface="+mj-lt"/>
              <a:buNone/>
            </a:pPr>
            <a:endParaRPr lang="en-US" sz="1800" dirty="0">
              <a:ea typeface="Montserrat" pitchFamily="34" charset="-122"/>
              <a:cs typeface="Montserrat" pitchFamily="34" charset="-120"/>
            </a:endParaRPr>
          </a:p>
          <a:p>
            <a:pPr>
              <a:buFont typeface="Arial" panose="020F0502020204030204" pitchFamily="34" charset="0"/>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Variables: https://enterprise.shutterstock.com/image-vector/programming-coding-outline-icons-collection-scripting- 2292020475 ( 5th icon in row 3)</a:t>
            </a:r>
          </a:p>
          <a:p>
            <a:pPr>
              <a:buFont typeface="Arial" panose="020F0502020204030204" pitchFamily="34" charset="0"/>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Data Types: https://enterprise.shutterstock.com/image-vector/programming-coding-outline-icons-collection-scripting- 2292020475 ( 5</a:t>
            </a:r>
            <a:r>
              <a:rPr lang="en-US" sz="1800" kern="100" baseline="30000" dirty="0">
                <a:effectLst/>
                <a:latin typeface="Aptos" panose="020B0004020202020204" pitchFamily="34" charset="0"/>
                <a:ea typeface="Aptos" panose="020B0004020202020204" pitchFamily="34" charset="0"/>
                <a:cs typeface="Times New Roman" panose="02020603050405020304" pitchFamily="18" charset="0"/>
              </a:rPr>
              <a:t>th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icon in row 4)</a:t>
            </a:r>
          </a:p>
          <a:p>
            <a:pPr>
              <a:buFont typeface="Arial" panose="020F0502020204030204" pitchFamily="34" charset="0"/>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Numbers: https://enterprise.shutterstock.com/image-vector/programming-coding-outline-icons-collection-scripting -2292020475 ( last icon in row 2)</a:t>
            </a:r>
          </a:p>
          <a:p>
            <a:pPr>
              <a:buFont typeface="Arial" panose="020F0502020204030204" pitchFamily="34" charset="0"/>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Arial" panose="020F0502020204030204" pitchFamily="34" charset="0"/>
              <a:buNone/>
            </a:pPr>
            <a:r>
              <a:rPr lang="en-US" sz="1800" dirty="0"/>
              <a:t>Repository Slide no: 29</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22B567D-C1D4-D814-1972-55F4D0FE8B5C}"/>
              </a:ext>
            </a:extLst>
          </p:cNvPr>
          <p:cNvSpPr>
            <a:spLocks noGrp="1"/>
          </p:cNvSpPr>
          <p:nvPr>
            <p:ph type="sldNum" sz="quarter" idx="5"/>
          </p:nvPr>
        </p:nvSpPr>
        <p:spPr/>
        <p:txBody>
          <a:bodyPr/>
          <a:lstStyle/>
          <a:p>
            <a:fld id="{1F1E027D-4684-4D2A-A457-B52C65DF2100}" type="slidenum">
              <a:rPr lang="en-GB" smtClean="0"/>
              <a:t>10</a:t>
            </a:fld>
            <a:endParaRPr lang="en-GB"/>
          </a:p>
        </p:txBody>
      </p:sp>
    </p:spTree>
    <p:extLst>
      <p:ext uri="{BB962C8B-B14F-4D97-AF65-F5344CB8AC3E}">
        <p14:creationId xmlns:p14="http://schemas.microsoft.com/office/powerpoint/2010/main" val="2581431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9260C-067C-CD50-8448-17C274C67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CB160-8DC9-4385-B3CC-C8108D864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A659AD-AB97-972C-F478-1075CEC08C4B}"/>
              </a:ext>
            </a:extLst>
          </p:cNvPr>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Variables in Python</a:t>
            </a:r>
            <a:endParaRPr lang="en-US" sz="180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Definition: A variable is a name that stores a value.</a:t>
            </a:r>
            <a:endParaRPr lang="en-US" sz="180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No need to declare type (Python is dynamically typed).</a:t>
            </a:r>
            <a:endParaRPr lang="en-US" sz="1800" dirty="0"/>
          </a:p>
          <a:p>
            <a:pPr>
              <a:lnSpc>
                <a:spcPts val="2083"/>
              </a:lnSpc>
            </a:pPr>
            <a:r>
              <a:rPr lang="en-US" sz="1800" b="1" dirty="0">
                <a:solidFill>
                  <a:srgbClr val="000000"/>
                </a:solidFill>
                <a:latin typeface="Montserrat" pitchFamily="34" charset="0"/>
                <a:ea typeface="Montserrat" pitchFamily="34" charset="-122"/>
                <a:cs typeface="Montserrat" pitchFamily="34" charset="-120"/>
              </a:rPr>
              <a:t>Syntax:</a:t>
            </a:r>
          </a:p>
          <a:p>
            <a:pPr>
              <a:lnSpc>
                <a:spcPts val="2083"/>
              </a:lnSpc>
            </a:pPr>
            <a:r>
              <a:rPr lang="en-US" sz="1800" dirty="0">
                <a:solidFill>
                  <a:srgbClr val="000000"/>
                </a:solidFill>
                <a:highlight>
                  <a:srgbClr val="F2F2F2"/>
                </a:highlight>
                <a:latin typeface="Consolas" pitchFamily="34" charset="0"/>
                <a:ea typeface="Consolas" pitchFamily="34" charset="-122"/>
                <a:cs typeface="Consolas" pitchFamily="34" charset="-120"/>
              </a:rPr>
              <a:t>x = 10 name = "Arjun“ ( image : slide number 5)</a:t>
            </a:r>
            <a:endParaRPr lang="en-US" sz="1800" dirty="0"/>
          </a:p>
          <a:p>
            <a:pPr>
              <a:lnSpc>
                <a:spcPts val="2083"/>
              </a:lnSpc>
            </a:pPr>
            <a:endParaRPr lang="en-US" sz="1800" b="1" dirty="0">
              <a:solidFill>
                <a:srgbClr val="000000"/>
              </a:solidFill>
              <a:latin typeface="Montserrat" pitchFamily="34" charset="0"/>
              <a:ea typeface="Montserrat" pitchFamily="34" charset="-122"/>
              <a:cs typeface="Montserrat" pitchFamily="34" charset="-120"/>
            </a:endParaRPr>
          </a:p>
          <a:p>
            <a:pPr marL="0" marR="0" lvl="0" indent="0" algn="l" defTabSz="914400" rtl="0" eaLnBrk="1" fontAlgn="auto" latinLnBrk="0" hangingPunct="1">
              <a:lnSpc>
                <a:spcPts val="20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Variable names must start with a letter or underscore, not a number.</a:t>
            </a:r>
            <a:endParaRPr lang="en-US" sz="1800" dirty="0"/>
          </a:p>
          <a:p>
            <a:pPr>
              <a:lnSpc>
                <a:spcPts val="2083"/>
              </a:lnSpc>
            </a:pPr>
            <a:endParaRPr lang="en-US" sz="1800" dirty="0">
              <a:solidFill>
                <a:srgbClr val="000000"/>
              </a:solidFill>
              <a:latin typeface="Montserrat" pitchFamily="34" charset="0"/>
              <a:ea typeface="Montserrat" pitchFamily="34" charset="-122"/>
              <a:cs typeface="Montserrat" pitchFamily="34" charset="-120"/>
            </a:endParaRPr>
          </a:p>
          <a:p>
            <a:pPr>
              <a:lnSpc>
                <a:spcPts val="2083"/>
              </a:lnSpc>
            </a:pPr>
            <a:r>
              <a:rPr lang="en-US" sz="1800" dirty="0">
                <a:solidFill>
                  <a:srgbClr val="000000"/>
                </a:solidFill>
                <a:latin typeface="Montserrat" pitchFamily="34" charset="0"/>
                <a:ea typeface="Montserrat" pitchFamily="34" charset="-122"/>
                <a:cs typeface="Montserrat" pitchFamily="34" charset="-120"/>
              </a:rPr>
              <a:t>Image:</a:t>
            </a:r>
          </a:p>
          <a:p>
            <a:pPr>
              <a:lnSpc>
                <a:spcPts val="2083"/>
              </a:lnSpc>
            </a:pPr>
            <a:r>
              <a:rPr lang="en-US" sz="1800" dirty="0">
                <a:solidFill>
                  <a:srgbClr val="000000"/>
                </a:solidFill>
                <a:latin typeface="Montserrat" pitchFamily="34" charset="0"/>
                <a:ea typeface="Montserrat" pitchFamily="34" charset="-122"/>
                <a:cs typeface="Montserrat" pitchFamily="34" charset="-120"/>
              </a:rPr>
              <a:t>https://image.shutterstock.com/image-photo/programming-language-concept-system-engineering-260nw- 1404621860.jpg</a:t>
            </a:r>
          </a:p>
          <a:p>
            <a:pPr>
              <a:lnSpc>
                <a:spcPts val="2083"/>
              </a:lnSpc>
            </a:pPr>
            <a:endParaRPr lang="en-US" sz="180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D4C2A2E-A01E-0447-9B4E-35455835A8BF}"/>
              </a:ext>
            </a:extLst>
          </p:cNvPr>
          <p:cNvSpPr>
            <a:spLocks noGrp="1"/>
          </p:cNvSpPr>
          <p:nvPr>
            <p:ph type="sldNum" sz="quarter" idx="5"/>
          </p:nvPr>
        </p:nvSpPr>
        <p:spPr/>
        <p:txBody>
          <a:bodyPr/>
          <a:lstStyle/>
          <a:p>
            <a:fld id="{1F1E027D-4684-4D2A-A457-B52C65DF2100}" type="slidenum">
              <a:rPr lang="en-GB" smtClean="0"/>
              <a:t>11</a:t>
            </a:fld>
            <a:endParaRPr lang="en-GB"/>
          </a:p>
        </p:txBody>
      </p:sp>
    </p:spTree>
    <p:extLst>
      <p:ext uri="{BB962C8B-B14F-4D97-AF65-F5344CB8AC3E}">
        <p14:creationId xmlns:p14="http://schemas.microsoft.com/office/powerpoint/2010/main" val="450419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D32A-8D34-BAE8-480C-D4B149865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8C691-6109-3BAA-6B8E-F5D6DB7F9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DD84A7-CAC5-324E-40D4-2CDA50060C4D}"/>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Rules &amp; Conventions for Variables</a:t>
            </a:r>
            <a:endParaRPr lang="en-US" sz="1800" dirty="0"/>
          </a:p>
          <a:p>
            <a:pPr>
              <a:lnSpc>
                <a:spcPct val="115000"/>
              </a:lnSpc>
              <a:spcAft>
                <a:spcPts val="800"/>
              </a:spcAft>
            </a:pP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r>
              <a:rPr lang="en-US" sz="1800" b="1" dirty="0">
                <a:solidFill>
                  <a:srgbClr val="000000"/>
                </a:solidFill>
                <a:latin typeface="Montserrat Bold" pitchFamily="34" charset="0"/>
                <a:ea typeface="Montserrat Bold" pitchFamily="34" charset="-122"/>
                <a:cs typeface="Montserrat Bold" pitchFamily="34" charset="-120"/>
              </a:rPr>
              <a:t>Allowed</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Letters, numbers, underscore (</a:t>
            </a:r>
            <a:r>
              <a:rPr lang="en-US" sz="1800" dirty="0" err="1">
                <a:solidFill>
                  <a:srgbClr val="000000"/>
                </a:solidFill>
                <a:latin typeface="Montserrat" pitchFamily="34" charset="0"/>
                <a:ea typeface="Montserrat" pitchFamily="34" charset="-122"/>
                <a:cs typeface="Montserrat" pitchFamily="34" charset="-120"/>
              </a:rPr>
              <a:t>student_name</a:t>
            </a:r>
            <a:r>
              <a:rPr lang="en-US" sz="1800" dirty="0">
                <a:solidFill>
                  <a:srgbClr val="000000"/>
                </a:solidFill>
                <a:latin typeface="Montserrat" pitchFamily="34" charset="0"/>
                <a:ea typeface="Montserrat" pitchFamily="34" charset="-122"/>
                <a:cs typeface="Montserrat" pitchFamily="34" charset="-120"/>
              </a:rPr>
              <a:t>)</a:t>
            </a:r>
            <a:endParaRPr lang="en-US" sz="1800" dirty="0"/>
          </a:p>
          <a:p>
            <a:pPr>
              <a:lnSpc>
                <a:spcPct val="115000"/>
              </a:lnSpc>
              <a:spcAft>
                <a:spcPts val="800"/>
              </a:spcAft>
            </a:pPr>
            <a:r>
              <a:rPr lang="en-US" sz="1800" b="1" dirty="0">
                <a:solidFill>
                  <a:srgbClr val="000000"/>
                </a:solidFill>
                <a:latin typeface="Montserrat Bold" pitchFamily="34" charset="0"/>
                <a:ea typeface="Montserrat Bold" pitchFamily="34" charset="-122"/>
                <a:cs typeface="Montserrat Bold" pitchFamily="34" charset="-120"/>
              </a:rPr>
              <a:t>Not allowed</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Keywords (for, class)</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Case-sensitive</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Age and age are different</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Use descriptive names</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Improves readability</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t>SSID:</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1: https://www.shutterstock.com/image-vector/like-dislike-icons-set-thumbs-down- 777983098 (Left icon)</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2: https://www.shutterstock.com/image-vector/like-dislike-icons-set-thumbs-down- 777983098 (Right icon)</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3: https://www.shutterstock.com/image-vector/compare-icon-symbol-collection-on-white- 2543288745</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4: https://www.shutterstock.com/image-vector/readability-icon-content-clarity-easy-read- 2665387637</a:t>
            </a:r>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S" sz="1800" dirty="0"/>
              <a:t>Repository Slide no: 85</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8C6AC3C-7063-A5DB-F9E3-D09343D2698E}"/>
              </a:ext>
            </a:extLst>
          </p:cNvPr>
          <p:cNvSpPr>
            <a:spLocks noGrp="1"/>
          </p:cNvSpPr>
          <p:nvPr>
            <p:ph type="sldNum" sz="quarter" idx="5"/>
          </p:nvPr>
        </p:nvSpPr>
        <p:spPr/>
        <p:txBody>
          <a:bodyPr/>
          <a:lstStyle/>
          <a:p>
            <a:fld id="{1F1E027D-4684-4D2A-A457-B52C65DF2100}" type="slidenum">
              <a:rPr lang="en-GB" smtClean="0"/>
              <a:t>12</a:t>
            </a:fld>
            <a:endParaRPr lang="en-GB"/>
          </a:p>
        </p:txBody>
      </p:sp>
    </p:spTree>
    <p:extLst>
      <p:ext uri="{BB962C8B-B14F-4D97-AF65-F5344CB8AC3E}">
        <p14:creationId xmlns:p14="http://schemas.microsoft.com/office/powerpoint/2010/main" val="2217656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655E2-1400-43A3-AA67-568F482DB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87C2-4C59-911B-A0AF-5F48322E3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06AEE-5FE0-AC6E-FB64-3CAC174F8A4C}"/>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latin typeface="Montserrat Bold" pitchFamily="34" charset="0"/>
                <a:ea typeface="Montserrat Bold" pitchFamily="34" charset="-122"/>
                <a:cs typeface="Montserrat Bold" pitchFamily="34" charset="-120"/>
              </a:rPr>
              <a:t>Data Types in Python</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latin typeface="Montserrat" pitchFamily="34" charset="0"/>
                <a:ea typeface="Montserrat" pitchFamily="34" charset="-122"/>
                <a:cs typeface="Montserrat" pitchFamily="34" charset="-120"/>
              </a:rPr>
              <a:t>Python has several </a:t>
            </a:r>
            <a:r>
              <a:rPr lang="en-US" sz="1800" b="1" dirty="0">
                <a:latin typeface="Montserrat" pitchFamily="34" charset="0"/>
                <a:ea typeface="Montserrat" pitchFamily="34" charset="-122"/>
                <a:cs typeface="Montserrat" pitchFamily="34" charset="-120"/>
              </a:rPr>
              <a:t>built-in data types</a:t>
            </a:r>
            <a:r>
              <a:rPr lang="en-US" sz="1800" dirty="0">
                <a:latin typeface="Montserrat" pitchFamily="34" charset="0"/>
                <a:ea typeface="Montserrat" pitchFamily="34" charset="-122"/>
                <a:cs typeface="Montserrat" pitchFamily="34" charset="-120"/>
              </a:rPr>
              <a:t>:</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latin typeface="Montserrat Bold" pitchFamily="34" charset="0"/>
                <a:ea typeface="Montserrat Bold" pitchFamily="34" charset="-122"/>
                <a:cs typeface="Montserrat Bold" pitchFamily="34" charset="-120"/>
              </a:rPr>
              <a:t>Numeric</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latin typeface="Montserrat" pitchFamily="34" charset="0"/>
                <a:ea typeface="Montserrat" pitchFamily="34" charset="-122"/>
                <a:cs typeface="Montserrat" pitchFamily="34" charset="-120"/>
              </a:rPr>
              <a:t>int, float, complex</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latin typeface="Montserrat Bold" pitchFamily="34" charset="0"/>
                <a:ea typeface="Montserrat Bold" pitchFamily="34" charset="-122"/>
                <a:cs typeface="Montserrat Bold" pitchFamily="34" charset="-120"/>
              </a:rPr>
              <a:t>Sequence</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latin typeface="Montserrat" pitchFamily="34" charset="0"/>
                <a:ea typeface="Montserrat" pitchFamily="34" charset="-122"/>
                <a:cs typeface="Montserrat" pitchFamily="34" charset="-120"/>
              </a:rPr>
              <a:t>str, list, tuple</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latin typeface="Montserrat Bold" pitchFamily="34" charset="0"/>
                <a:ea typeface="Montserrat Bold" pitchFamily="34" charset="-122"/>
                <a:cs typeface="Montserrat Bold" pitchFamily="34" charset="-120"/>
              </a:rPr>
              <a:t>Mapping</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latin typeface="Montserrat" pitchFamily="34" charset="0"/>
                <a:ea typeface="Montserrat" pitchFamily="34" charset="-122"/>
                <a:cs typeface="Montserrat" pitchFamily="34" charset="-120"/>
              </a:rPr>
              <a:t>Dict</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latin typeface="Montserrat Bold" pitchFamily="34" charset="0"/>
                <a:ea typeface="Montserrat Bold" pitchFamily="34" charset="-122"/>
                <a:cs typeface="Montserrat Bold" pitchFamily="34" charset="-120"/>
              </a:rPr>
              <a:t>Set Types</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latin typeface="Montserrat" pitchFamily="34" charset="0"/>
                <a:ea typeface="Montserrat" pitchFamily="34" charset="-122"/>
                <a:cs typeface="Montserrat" pitchFamily="34" charset="-120"/>
              </a:rPr>
              <a:t>set, </a:t>
            </a:r>
            <a:r>
              <a:rPr lang="en-US" sz="1800" dirty="0" err="1">
                <a:latin typeface="Montserrat" pitchFamily="34" charset="0"/>
                <a:ea typeface="Montserrat" pitchFamily="34" charset="-122"/>
                <a:cs typeface="Montserrat" pitchFamily="34" charset="-120"/>
              </a:rPr>
              <a:t>frozenset</a:t>
            </a:r>
            <a:endParaRPr lang="en-US" sz="1800" dirty="0">
              <a:latin typeface="Montserrat" pitchFamily="34" charset="0"/>
              <a:ea typeface="Montserrat" pitchFamily="34" charset="-122"/>
              <a:cs typeface="Montserrat" pitchFamily="34" charset="-12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latin typeface="Montserrat Bold" pitchFamily="34" charset="0"/>
                <a:ea typeface="Montserrat Bold" pitchFamily="34" charset="-122"/>
                <a:cs typeface="Montserrat Bold" pitchFamily="34" charset="-120"/>
              </a:rPr>
              <a:t>Boolean</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latin typeface="Montserrat" pitchFamily="34" charset="0"/>
                <a:ea typeface="Montserrat" pitchFamily="34" charset="-122"/>
                <a:cs typeface="Montserrat" pitchFamily="34" charset="-120"/>
              </a:rPr>
              <a:t>True / False</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latin typeface="Montserrat Bold" pitchFamily="34" charset="0"/>
                <a:ea typeface="Montserrat Bold" pitchFamily="34" charset="-122"/>
                <a:cs typeface="Montserrat Bold" pitchFamily="34" charset="-120"/>
              </a:rPr>
              <a:t>None</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latin typeface="Montserrat" pitchFamily="34" charset="0"/>
                <a:ea typeface="Montserrat" pitchFamily="34" charset="-122"/>
                <a:cs typeface="Montserrat" pitchFamily="34" charset="-120"/>
              </a:rPr>
              <a:t>represents no value</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t>Image:</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t>Remove the icons in the infographics</a:t>
            </a:r>
          </a:p>
          <a:p>
            <a:pPr>
              <a:lnSpc>
                <a:spcPct val="115000"/>
              </a:lnSpc>
              <a:spcAft>
                <a:spcPts val="800"/>
              </a:spcAft>
            </a:pPr>
            <a:r>
              <a:rPr lang="en-US" sz="1800" dirty="0"/>
              <a:t>Repository Slide no: 44</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4646444-FFAE-C242-8F4E-2F3C939D7535}"/>
              </a:ext>
            </a:extLst>
          </p:cNvPr>
          <p:cNvSpPr>
            <a:spLocks noGrp="1"/>
          </p:cNvSpPr>
          <p:nvPr>
            <p:ph type="sldNum" sz="quarter" idx="5"/>
          </p:nvPr>
        </p:nvSpPr>
        <p:spPr/>
        <p:txBody>
          <a:bodyPr/>
          <a:lstStyle/>
          <a:p>
            <a:fld id="{1F1E027D-4684-4D2A-A457-B52C65DF2100}" type="slidenum">
              <a:rPr lang="en-GB" smtClean="0"/>
              <a:t>13</a:t>
            </a:fld>
            <a:endParaRPr lang="en-GB"/>
          </a:p>
        </p:txBody>
      </p:sp>
    </p:spTree>
    <p:extLst>
      <p:ext uri="{BB962C8B-B14F-4D97-AF65-F5344CB8AC3E}">
        <p14:creationId xmlns:p14="http://schemas.microsoft.com/office/powerpoint/2010/main" val="1415552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DD10B-353E-3508-F877-19D0A80B1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BF452-A4BE-3F54-BCE2-5B3C144FC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581F8-E8FF-48A8-286C-E16EA0EBE87A}"/>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r>
              <a:rPr lang="en-US" sz="1800" b="1" dirty="0">
                <a:solidFill>
                  <a:srgbClr val="25274D"/>
                </a:solidFill>
                <a:latin typeface="Montserrat Bold" pitchFamily="34" charset="0"/>
                <a:ea typeface="Montserrat Bold" pitchFamily="34" charset="-122"/>
                <a:cs typeface="Montserrat Bold" pitchFamily="34" charset="-120"/>
              </a:rPr>
              <a:t>Checking Data Types</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Use type() function:</a:t>
            </a:r>
            <a:endParaRPr lang="en-US" sz="1800" dirty="0"/>
          </a:p>
          <a:p>
            <a:pPr>
              <a:lnSpc>
                <a:spcPts val="1958"/>
              </a:lnSpc>
            </a:pPr>
            <a:r>
              <a:rPr lang="en-US" sz="1800" dirty="0">
                <a:solidFill>
                  <a:srgbClr val="000000"/>
                </a:solidFill>
                <a:highlight>
                  <a:srgbClr val="F2F2F2"/>
                </a:highlight>
                <a:latin typeface="Consolas" pitchFamily="34" charset="0"/>
                <a:ea typeface="Consolas" pitchFamily="34" charset="-122"/>
                <a:cs typeface="Consolas" pitchFamily="34" charset="-120"/>
              </a:rPr>
              <a:t>x = 10 print(type(x)) y = 3.14 print(type(y))  </a:t>
            </a:r>
            <a:endParaRPr lang="en-US" sz="1800" dirty="0"/>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a:t>
            </a: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https://image.shutterstock.com/image-photo/employees-must-complete-online-survey-260nw- 2179662609.jpg</a:t>
            </a:r>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slide number 8</a:t>
            </a:r>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AE793FC-45E0-417B-C310-92FF7BF5B631}"/>
              </a:ext>
            </a:extLst>
          </p:cNvPr>
          <p:cNvSpPr>
            <a:spLocks noGrp="1"/>
          </p:cNvSpPr>
          <p:nvPr>
            <p:ph type="sldNum" sz="quarter" idx="5"/>
          </p:nvPr>
        </p:nvSpPr>
        <p:spPr/>
        <p:txBody>
          <a:bodyPr/>
          <a:lstStyle/>
          <a:p>
            <a:fld id="{1F1E027D-4684-4D2A-A457-B52C65DF2100}" type="slidenum">
              <a:rPr lang="en-GB" smtClean="0"/>
              <a:t>14</a:t>
            </a:fld>
            <a:endParaRPr lang="en-GB"/>
          </a:p>
        </p:txBody>
      </p:sp>
    </p:spTree>
    <p:extLst>
      <p:ext uri="{BB962C8B-B14F-4D97-AF65-F5344CB8AC3E}">
        <p14:creationId xmlns:p14="http://schemas.microsoft.com/office/powerpoint/2010/main" val="2049992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E2768-26B8-B284-C51E-1C0F5AFA9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E740D5-9343-9ABA-B294-9E2C39CBF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BA7BB-F428-6350-2DC6-E4C9B0F12DC6}"/>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Numbers in Python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Integers (int)</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Whole numbers → 10, -5, 200</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Floats (float)</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Decimal numbers → 3.14, -2.5</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Complex numbers (complex)</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 + </a:t>
            </a:r>
            <a:r>
              <a:rPr lang="en-US" sz="1800" dirty="0" err="1">
                <a:solidFill>
                  <a:srgbClr val="000000"/>
                </a:solidFill>
                <a:latin typeface="Montserrat" pitchFamily="34" charset="0"/>
                <a:ea typeface="Montserrat" pitchFamily="34" charset="-122"/>
                <a:cs typeface="Montserrat" pitchFamily="34" charset="-120"/>
              </a:rPr>
              <a:t>bj</a:t>
            </a:r>
            <a:r>
              <a:rPr lang="en-US" sz="1800" dirty="0">
                <a:solidFill>
                  <a:srgbClr val="000000"/>
                </a:solidFill>
                <a:latin typeface="Montserrat" pitchFamily="34" charset="0"/>
                <a:ea typeface="Montserrat" pitchFamily="34" charset="-122"/>
                <a:cs typeface="Montserrat" pitchFamily="34" charset="-120"/>
              </a:rPr>
              <a:t> form → 3 + 5j</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Repository Slide no: 91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F164781-3B94-7E29-BD2D-B60B3A5DD7EB}"/>
              </a:ext>
            </a:extLst>
          </p:cNvPr>
          <p:cNvSpPr>
            <a:spLocks noGrp="1"/>
          </p:cNvSpPr>
          <p:nvPr>
            <p:ph type="sldNum" sz="quarter" idx="5"/>
          </p:nvPr>
        </p:nvSpPr>
        <p:spPr/>
        <p:txBody>
          <a:bodyPr/>
          <a:lstStyle/>
          <a:p>
            <a:fld id="{1F1E027D-4684-4D2A-A457-B52C65DF2100}" type="slidenum">
              <a:rPr lang="en-GB" smtClean="0"/>
              <a:t>15</a:t>
            </a:fld>
            <a:endParaRPr lang="en-GB"/>
          </a:p>
        </p:txBody>
      </p:sp>
    </p:spTree>
    <p:extLst>
      <p:ext uri="{BB962C8B-B14F-4D97-AF65-F5344CB8AC3E}">
        <p14:creationId xmlns:p14="http://schemas.microsoft.com/office/powerpoint/2010/main" val="2575342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28D49-D7A2-015D-49F0-6EBFADD80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04D05-0B07-36CB-570A-92B98DB44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C36D4-1015-629B-D926-28348DD8ADB8}"/>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Number Operations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Basic arithmetic:</a:t>
            </a:r>
            <a:endParaRPr lang="en-US" sz="1800" dirty="0"/>
          </a:p>
          <a:p>
            <a:pPr>
              <a:lnSpc>
                <a:spcPts val="1708"/>
              </a:lnSpc>
            </a:pPr>
            <a:r>
              <a:rPr lang="en-US" sz="1800" dirty="0">
                <a:solidFill>
                  <a:srgbClr val="000000"/>
                </a:solidFill>
                <a:highlight>
                  <a:srgbClr val="F2F2F2"/>
                </a:highlight>
                <a:latin typeface="Consolas" pitchFamily="34" charset="0"/>
                <a:ea typeface="Consolas" pitchFamily="34" charset="-122"/>
                <a:cs typeface="Consolas" pitchFamily="34" charset="-120"/>
              </a:rPr>
              <a:t>a = 10 b = 3 print(a + b) print(a - b) print(a * b) print(a / b) print(a // b)   # (floor division)print(a % b)    # (modulus) print(a ** b)   # (power)</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Slide Number: 10 </a:t>
            </a:r>
          </a:p>
        </p:txBody>
      </p:sp>
      <p:sp>
        <p:nvSpPr>
          <p:cNvPr id="4" name="Slide Number Placeholder 3">
            <a:extLst>
              <a:ext uri="{FF2B5EF4-FFF2-40B4-BE49-F238E27FC236}">
                <a16:creationId xmlns:a16="http://schemas.microsoft.com/office/drawing/2014/main" id="{A0FCE66B-2FB1-ACDB-99DE-26226B7B6F8D}"/>
              </a:ext>
            </a:extLst>
          </p:cNvPr>
          <p:cNvSpPr>
            <a:spLocks noGrp="1"/>
          </p:cNvSpPr>
          <p:nvPr>
            <p:ph type="sldNum" sz="quarter" idx="5"/>
          </p:nvPr>
        </p:nvSpPr>
        <p:spPr/>
        <p:txBody>
          <a:bodyPr/>
          <a:lstStyle/>
          <a:p>
            <a:fld id="{1F1E027D-4684-4D2A-A457-B52C65DF2100}" type="slidenum">
              <a:rPr lang="en-GB" smtClean="0"/>
              <a:t>16</a:t>
            </a:fld>
            <a:endParaRPr lang="en-GB"/>
          </a:p>
        </p:txBody>
      </p:sp>
    </p:spTree>
    <p:extLst>
      <p:ext uri="{BB962C8B-B14F-4D97-AF65-F5344CB8AC3E}">
        <p14:creationId xmlns:p14="http://schemas.microsoft.com/office/powerpoint/2010/main" val="3202454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313B-4534-088A-8F14-014F66EAB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34A70-8BB2-83D7-E7EB-4434483FAD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65D3F-A191-CABA-59DF-1CC42BD7D071}"/>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 typeface="Arial" panose="020B0604020202020204" pitchFamily="34" charset="0"/>
              <a:buNone/>
              <a:tabLst>
                <a:tab pos="457200" algn="l"/>
              </a:tabLst>
              <a:defRPr/>
            </a:pPr>
            <a:r>
              <a:rPr lang="en-US" sz="1800" b="1" dirty="0">
                <a:solidFill>
                  <a:srgbClr val="25274D"/>
                </a:solidFill>
                <a:latin typeface="Montserrat Bold" pitchFamily="34" charset="0"/>
                <a:ea typeface="Montserrat Bold" pitchFamily="34" charset="-122"/>
                <a:cs typeface="Montserrat Bold" pitchFamily="34" charset="-120"/>
              </a:rPr>
              <a:t>Type Conversion</a:t>
            </a:r>
            <a:endParaRPr lang="en-US" sz="1800" dirty="0"/>
          </a:p>
          <a:p>
            <a:r>
              <a:rPr lang="en-US" sz="1200" kern="1200" dirty="0">
                <a:solidFill>
                  <a:schemeClr val="tx1"/>
                </a:solidFill>
                <a:effectLst/>
                <a:latin typeface="+mn-lt"/>
                <a:ea typeface="+mn-ea"/>
                <a:cs typeface="+mn-cs"/>
              </a:rPr>
              <a:t>Convert between types using built-in functions:</a:t>
            </a:r>
          </a:p>
          <a:p>
            <a:r>
              <a:rPr lang="en-US" sz="1200" kern="1200" dirty="0">
                <a:solidFill>
                  <a:schemeClr val="tx1"/>
                </a:solidFill>
                <a:effectLst/>
                <a:latin typeface="+mn-lt"/>
                <a:ea typeface="+mn-ea"/>
                <a:cs typeface="+mn-cs"/>
              </a:rPr>
              <a:t> </a:t>
            </a:r>
          </a:p>
          <a:p>
            <a:pPr>
              <a:lnSpc>
                <a:spcPts val="2083"/>
              </a:lnSpc>
            </a:pPr>
            <a:r>
              <a:rPr lang="en-US" sz="1200" kern="1200" dirty="0">
                <a:solidFill>
                  <a:schemeClr val="tx1"/>
                </a:solidFill>
                <a:effectLst/>
                <a:latin typeface="+mn-lt"/>
                <a:ea typeface="+mn-ea"/>
                <a:cs typeface="+mn-cs"/>
              </a:rPr>
              <a:t> </a:t>
            </a:r>
            <a:r>
              <a:rPr lang="en-US" sz="1200" dirty="0">
                <a:solidFill>
                  <a:srgbClr val="000000"/>
                </a:solidFill>
                <a:highlight>
                  <a:srgbClr val="F2F2F2"/>
                </a:highlight>
                <a:latin typeface="Consolas" pitchFamily="34" charset="0"/>
                <a:ea typeface="Consolas" pitchFamily="34" charset="-122"/>
                <a:cs typeface="Consolas" pitchFamily="34" charset="-120"/>
              </a:rPr>
              <a:t>x = int(3.7) # 3 y = float(5) # 5.0 z = str(10) # "10“</a:t>
            </a:r>
          </a:p>
          <a:p>
            <a:pPr>
              <a:lnSpc>
                <a:spcPts val="2083"/>
              </a:lnSpc>
            </a:pPr>
            <a:endParaRPr lang="en-US" sz="1200" dirty="0">
              <a:solidFill>
                <a:srgbClr val="000000"/>
              </a:solidFill>
              <a:highlight>
                <a:srgbClr val="F2F2F2"/>
              </a:highlight>
              <a:latin typeface="Consolas" pitchFamily="34" charset="0"/>
            </a:endParaRPr>
          </a:p>
          <a:p>
            <a:pPr>
              <a:lnSpc>
                <a:spcPts val="2083"/>
              </a:lnSpc>
            </a:pPr>
            <a:r>
              <a:rPr lang="en-US" sz="1200" dirty="0">
                <a:solidFill>
                  <a:srgbClr val="000000"/>
                </a:solidFill>
                <a:highlight>
                  <a:srgbClr val="F2F2F2"/>
                </a:highlight>
                <a:latin typeface="Consolas" pitchFamily="34" charset="0"/>
              </a:rPr>
              <a:t>Image: Slide number 11</a:t>
            </a:r>
            <a:endParaRPr lang="en-US" sz="1200" dirty="0"/>
          </a:p>
          <a:p>
            <a:endParaRPr lang="en-US" sz="1200" kern="1200" dirty="0">
              <a:solidFill>
                <a:schemeClr val="tx1"/>
              </a:solidFill>
              <a:effectLst/>
              <a:latin typeface="+mn-lt"/>
              <a:ea typeface="+mn-ea"/>
              <a:cs typeface="+mn-cs"/>
            </a:endParaRPr>
          </a:p>
          <a:p>
            <a:pPr marL="0" lvl="0" indent="0">
              <a:lnSpc>
                <a:spcPct val="115000"/>
              </a:lnSpc>
              <a:spcAft>
                <a:spcPts val="800"/>
              </a:spcAft>
              <a:buFont typeface="Arial" panose="020B0604020202020204" pitchFamily="34" charset="0"/>
              <a:buNone/>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7B25B1A-91BE-3381-38D0-7E103D0F02CD}"/>
              </a:ext>
            </a:extLst>
          </p:cNvPr>
          <p:cNvSpPr>
            <a:spLocks noGrp="1"/>
          </p:cNvSpPr>
          <p:nvPr>
            <p:ph type="sldNum" sz="quarter" idx="5"/>
          </p:nvPr>
        </p:nvSpPr>
        <p:spPr/>
        <p:txBody>
          <a:bodyPr/>
          <a:lstStyle/>
          <a:p>
            <a:fld id="{1F1E027D-4684-4D2A-A457-B52C65DF2100}" type="slidenum">
              <a:rPr lang="en-GB" smtClean="0"/>
              <a:t>17</a:t>
            </a:fld>
            <a:endParaRPr lang="en-GB"/>
          </a:p>
        </p:txBody>
      </p:sp>
    </p:spTree>
    <p:extLst>
      <p:ext uri="{BB962C8B-B14F-4D97-AF65-F5344CB8AC3E}">
        <p14:creationId xmlns:p14="http://schemas.microsoft.com/office/powerpoint/2010/main" val="945211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1ADF4-1210-35F7-305E-1BCFA64FC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C57B7-E41E-5B81-7265-DAA4ED5F7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3E32B-72AE-BC5A-989B-131F76FB30B7}"/>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Understanding Data Structures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Imagine organizing your bookshelf. You have different types of books: novels, textbooks, comics, and magazines. Each type needs a different way to be arranged.</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In Python, data structures are like different ways to organize data based on your needs. They help you store, access, and manipulate data efficiently.</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https://image.shutterstock.com/image-photo/programming-language-concept-system-engineering-260nw- 1404621860.jpg</a:t>
            </a:r>
          </a:p>
        </p:txBody>
      </p:sp>
      <p:sp>
        <p:nvSpPr>
          <p:cNvPr id="4" name="Slide Number Placeholder 3">
            <a:extLst>
              <a:ext uri="{FF2B5EF4-FFF2-40B4-BE49-F238E27FC236}">
                <a16:creationId xmlns:a16="http://schemas.microsoft.com/office/drawing/2014/main" id="{6D246622-BAEC-3588-21A4-937DDFE4E343}"/>
              </a:ext>
            </a:extLst>
          </p:cNvPr>
          <p:cNvSpPr>
            <a:spLocks noGrp="1"/>
          </p:cNvSpPr>
          <p:nvPr>
            <p:ph type="sldNum" sz="quarter" idx="5"/>
          </p:nvPr>
        </p:nvSpPr>
        <p:spPr/>
        <p:txBody>
          <a:bodyPr/>
          <a:lstStyle/>
          <a:p>
            <a:fld id="{1F1E027D-4684-4D2A-A457-B52C65DF2100}" type="slidenum">
              <a:rPr lang="en-GB" smtClean="0"/>
              <a:t>19</a:t>
            </a:fld>
            <a:endParaRPr lang="en-GB"/>
          </a:p>
        </p:txBody>
      </p:sp>
    </p:spTree>
    <p:extLst>
      <p:ext uri="{BB962C8B-B14F-4D97-AF65-F5344CB8AC3E}">
        <p14:creationId xmlns:p14="http://schemas.microsoft.com/office/powerpoint/2010/main" val="2805304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66393-C895-20FD-14F4-FEE39E8902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83FA48-7A57-FF00-1898-1AEAD468D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FC2B2A-FFD8-0895-A72C-EA3FE74F1D8A}"/>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Types of Data Structures in Python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Lists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Think of a list as a grocery list. It's an ordered collection of items, and you can add or remove items as needed.</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Tuples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Imagine an ID card. It contains personal information that shouldn't change. A tuple is like that—an immutable list.</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Sets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Think of a set as a box of unique toys. You don't care about the order, but each toy is unique.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Dictionaries</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 dictionary is like a real-world dictionary: you have a word (key) and its meaning (value).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Image: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These icons were taken form the slide deck</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Repository Slide no: 80</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441C24B-6E24-01A9-41B2-A71B7978B16C}"/>
              </a:ext>
            </a:extLst>
          </p:cNvPr>
          <p:cNvSpPr>
            <a:spLocks noGrp="1"/>
          </p:cNvSpPr>
          <p:nvPr>
            <p:ph type="sldNum" sz="quarter" idx="5"/>
          </p:nvPr>
        </p:nvSpPr>
        <p:spPr/>
        <p:txBody>
          <a:bodyPr/>
          <a:lstStyle/>
          <a:p>
            <a:fld id="{1F1E027D-4684-4D2A-A457-B52C65DF2100}" type="slidenum">
              <a:rPr lang="en-GB" smtClean="0"/>
              <a:t>20</a:t>
            </a:fld>
            <a:endParaRPr lang="en-GB"/>
          </a:p>
        </p:txBody>
      </p:sp>
    </p:spTree>
    <p:extLst>
      <p:ext uri="{BB962C8B-B14F-4D97-AF65-F5344CB8AC3E}">
        <p14:creationId xmlns:p14="http://schemas.microsoft.com/office/powerpoint/2010/main" val="939138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ACF8B-8019-801A-B150-EFB1C518B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68C90-F6E1-CB67-EF69-283F917FE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C48537-4DEB-CE88-942A-B7B1E1241347}"/>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 typeface="Arial" panose="020B0604020202020204" pitchFamily="34" charset="0"/>
              <a:buNone/>
              <a:tabLst>
                <a:tab pos="457200" algn="l"/>
              </a:tabLst>
              <a:defRPr/>
            </a:pPr>
            <a:r>
              <a:rPr lang="en-US" sz="1800" b="1" dirty="0">
                <a:solidFill>
                  <a:srgbClr val="25274D"/>
                </a:solidFill>
                <a:latin typeface="Montserrat Bold" pitchFamily="34" charset="0"/>
                <a:ea typeface="Montserrat Bold" pitchFamily="34" charset="-122"/>
                <a:cs typeface="Montserrat Bold" pitchFamily="34" charset="-120"/>
              </a:rPr>
              <a:t>Comparing Data Structures</a:t>
            </a:r>
            <a:endParaRPr lang="en-US" sz="1800" dirty="0"/>
          </a:p>
          <a:p>
            <a:pPr marL="0" marR="0" lvl="0" indent="0" algn="l" defTabSz="914400" rtl="0" eaLnBrk="1" fontAlgn="auto" latinLnBrk="0" hangingPunct="1">
              <a:lnSpc>
                <a:spcPct val="115000"/>
              </a:lnSpc>
              <a:spcBef>
                <a:spcPts val="0"/>
              </a:spcBef>
              <a:spcAft>
                <a:spcPts val="800"/>
              </a:spcAft>
              <a:buClrTx/>
              <a:buSzTx/>
              <a:buFont typeface="Arial" panose="020B0604020202020204" pitchFamily="34" charset="0"/>
              <a:buNone/>
              <a:tabLst>
                <a:tab pos="457200" algn="l"/>
              </a:tabLst>
              <a:defRPr/>
            </a:pPr>
            <a:r>
              <a:rPr lang="en-US" sz="1800" b="1" dirty="0">
                <a:solidFill>
                  <a:srgbClr val="000000"/>
                </a:solidFill>
                <a:latin typeface="Montserrat Bold" pitchFamily="34" charset="0"/>
                <a:ea typeface="Montserrat Bold" pitchFamily="34" charset="-122"/>
                <a:cs typeface="Montserrat Bold" pitchFamily="34" charset="-120"/>
              </a:rPr>
              <a:t>Lists</a:t>
            </a:r>
            <a:endParaRPr lang="en-US" sz="1800" dirty="0"/>
          </a:p>
          <a:p>
            <a:pPr marL="0" marR="0" lvl="0" indent="0" algn="l" defTabSz="914400" rtl="0" eaLnBrk="1" fontAlgn="auto" latinLnBrk="0" hangingPunct="1">
              <a:lnSpc>
                <a:spcPct val="115000"/>
              </a:lnSpc>
              <a:spcBef>
                <a:spcPts val="0"/>
              </a:spcBef>
              <a:spcAft>
                <a:spcPts val="800"/>
              </a:spcAft>
              <a:buClrTx/>
              <a:buSzTx/>
              <a:buFont typeface="Arial" panose="020B0604020202020204" pitchFamily="34" charset="0"/>
              <a:buNone/>
              <a:tabLst>
                <a:tab pos="457200" algn="l"/>
              </a:tabLst>
              <a:defRPr/>
            </a:pPr>
            <a:r>
              <a:rPr lang="en-US" sz="1800" dirty="0">
                <a:solidFill>
                  <a:srgbClr val="000000"/>
                </a:solidFill>
                <a:latin typeface="Montserrat" pitchFamily="34" charset="0"/>
                <a:ea typeface="Montserrat" pitchFamily="34" charset="-122"/>
                <a:cs typeface="Montserrat" pitchFamily="34" charset="-120"/>
              </a:rPr>
              <a:t>Ordered, changeable collections that allow duplicates</a:t>
            </a:r>
            <a:endParaRPr lang="en-US" sz="1800" dirty="0"/>
          </a:p>
          <a:p>
            <a:pPr>
              <a:lnSpc>
                <a:spcPts val="2083"/>
              </a:lnSpc>
            </a:pPr>
            <a:r>
              <a:rPr lang="en-US" sz="1800" b="1" dirty="0">
                <a:solidFill>
                  <a:srgbClr val="000000"/>
                </a:solidFill>
                <a:latin typeface="Montserrat Bold" pitchFamily="34" charset="0"/>
                <a:ea typeface="Montserrat Bold" pitchFamily="34" charset="-122"/>
                <a:cs typeface="Montserrat Bold" pitchFamily="34" charset="-120"/>
              </a:rPr>
              <a:t>Tuples</a:t>
            </a:r>
            <a:endParaRPr lang="en-US" sz="1800" dirty="0"/>
          </a:p>
          <a:p>
            <a:pPr>
              <a:lnSpc>
                <a:spcPts val="2083"/>
              </a:lnSpc>
            </a:pPr>
            <a:r>
              <a:rPr lang="en-US" sz="1800" dirty="0">
                <a:solidFill>
                  <a:srgbClr val="000000"/>
                </a:solidFill>
                <a:latin typeface="Montserrat" pitchFamily="34" charset="0"/>
                <a:ea typeface="Montserrat" pitchFamily="34" charset="-122"/>
                <a:cs typeface="Montserrat" pitchFamily="34" charset="-120"/>
              </a:rPr>
              <a:t>Ordered, unchangeable collections that allow duplicates</a:t>
            </a:r>
            <a:endParaRPr lang="en-US" sz="1800" dirty="0"/>
          </a:p>
          <a:p>
            <a:pPr>
              <a:lnSpc>
                <a:spcPts val="2083"/>
              </a:lnSpc>
            </a:pPr>
            <a:r>
              <a:rPr lang="en-US" sz="1800" b="1" dirty="0">
                <a:solidFill>
                  <a:srgbClr val="000000"/>
                </a:solidFill>
                <a:latin typeface="Montserrat Bold" pitchFamily="34" charset="0"/>
                <a:ea typeface="Montserrat Bold" pitchFamily="34" charset="-122"/>
                <a:cs typeface="Montserrat Bold" pitchFamily="34" charset="-120"/>
              </a:rPr>
              <a:t>Sets</a:t>
            </a:r>
            <a:endParaRPr lang="en-US" sz="1800" dirty="0"/>
          </a:p>
          <a:p>
            <a:pPr>
              <a:lnSpc>
                <a:spcPts val="2083"/>
              </a:lnSpc>
            </a:pPr>
            <a:r>
              <a:rPr lang="en-US" sz="1800" dirty="0">
                <a:solidFill>
                  <a:srgbClr val="000000"/>
                </a:solidFill>
                <a:latin typeface="Montserrat" pitchFamily="34" charset="0"/>
                <a:ea typeface="Montserrat" pitchFamily="34" charset="-122"/>
                <a:cs typeface="Montserrat" pitchFamily="34" charset="-120"/>
              </a:rPr>
              <a:t>Unordered, unique collections with no duplicates</a:t>
            </a:r>
            <a:endParaRPr lang="en-US" sz="1800" dirty="0"/>
          </a:p>
          <a:p>
            <a:pPr>
              <a:lnSpc>
                <a:spcPts val="2083"/>
              </a:lnSpc>
            </a:pPr>
            <a:r>
              <a:rPr lang="en-US" sz="1800" b="1" dirty="0">
                <a:solidFill>
                  <a:srgbClr val="000000"/>
                </a:solidFill>
                <a:latin typeface="Montserrat Bold" pitchFamily="34" charset="0"/>
                <a:ea typeface="Montserrat Bold" pitchFamily="34" charset="-122"/>
                <a:cs typeface="Montserrat Bold" pitchFamily="34" charset="-120"/>
              </a:rPr>
              <a:t>Dictionaries</a:t>
            </a:r>
            <a:endParaRPr lang="en-US" sz="1800" dirty="0"/>
          </a:p>
          <a:p>
            <a:pPr>
              <a:lnSpc>
                <a:spcPts val="2083"/>
              </a:lnSpc>
            </a:pPr>
            <a:r>
              <a:rPr lang="en-US" sz="1800" dirty="0">
                <a:solidFill>
                  <a:srgbClr val="000000"/>
                </a:solidFill>
                <a:latin typeface="Montserrat" pitchFamily="34" charset="0"/>
                <a:ea typeface="Montserrat" pitchFamily="34" charset="-122"/>
                <a:cs typeface="Montserrat" pitchFamily="34" charset="-120"/>
              </a:rPr>
              <a:t>Key-value pairs for fast lookups and retrievals</a:t>
            </a:r>
          </a:p>
          <a:p>
            <a:pPr>
              <a:lnSpc>
                <a:spcPts val="2083"/>
              </a:lnSpc>
            </a:pPr>
            <a:endParaRPr lang="en-US" sz="1800" dirty="0">
              <a:solidFill>
                <a:srgbClr val="000000"/>
              </a:solidFill>
              <a:latin typeface="Montserrat" pitchFamily="34" charset="0"/>
            </a:endParaRPr>
          </a:p>
          <a:p>
            <a:pPr>
              <a:lnSpc>
                <a:spcPts val="2083"/>
              </a:lnSpc>
            </a:pPr>
            <a:endParaRPr lang="en-US" sz="1800" dirty="0"/>
          </a:p>
          <a:p>
            <a:pPr marL="0" lvl="0" indent="0">
              <a:lnSpc>
                <a:spcPct val="115000"/>
              </a:lnSpc>
              <a:spcAft>
                <a:spcPts val="800"/>
              </a:spcAft>
              <a:buFont typeface="Arial" panose="020B0604020202020204" pitchFamily="34" charset="0"/>
              <a:buNone/>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AACEE5B-3BA8-3011-E21D-9B16AA454FB8}"/>
              </a:ext>
            </a:extLst>
          </p:cNvPr>
          <p:cNvSpPr>
            <a:spLocks noGrp="1"/>
          </p:cNvSpPr>
          <p:nvPr>
            <p:ph type="sldNum" sz="quarter" idx="5"/>
          </p:nvPr>
        </p:nvSpPr>
        <p:spPr/>
        <p:txBody>
          <a:bodyPr/>
          <a:lstStyle/>
          <a:p>
            <a:fld id="{1F1E027D-4684-4D2A-A457-B52C65DF2100}" type="slidenum">
              <a:rPr lang="en-GB" smtClean="0"/>
              <a:t>21</a:t>
            </a:fld>
            <a:endParaRPr lang="en-GB"/>
          </a:p>
        </p:txBody>
      </p:sp>
    </p:spTree>
    <p:extLst>
      <p:ext uri="{BB962C8B-B14F-4D97-AF65-F5344CB8AC3E}">
        <p14:creationId xmlns:p14="http://schemas.microsoft.com/office/powerpoint/2010/main" val="2487279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97D8-AFC4-6B0A-0825-56229E9AA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E8089-4527-F13C-C7C7-2F29335CD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59AC23-71DF-5803-1977-9E28FA102169}"/>
              </a:ext>
            </a:extLst>
          </p:cNvPr>
          <p:cNvSpPr>
            <a:spLocks noGrp="1"/>
          </p:cNvSpPr>
          <p:nvPr>
            <p:ph type="body" idx="1"/>
          </p:nvPr>
        </p:nvSpPr>
        <p:spPr/>
        <p:txBody>
          <a:bodyPr/>
          <a:lstStyle/>
          <a:p>
            <a:pPr>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Introduction to Lists</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 list in Python is like a dynamic collection of items. Imagine a to-do list that you can keep adding to, rearranging, or checking off as you complete tasks.</a:t>
            </a:r>
            <a:endParaRPr lang="en-US" sz="1800" dirty="0"/>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Bef>
                <a:spcPts val="800"/>
              </a:spcBef>
              <a:spcAft>
                <a:spcPts val="400"/>
              </a:spcAft>
            </a:pPr>
            <a:r>
              <a:rPr lang="en-US" sz="1800" b="1" dirty="0"/>
              <a:t>Features of Lists </a:t>
            </a:r>
          </a:p>
          <a:p>
            <a:pPr>
              <a:lnSpc>
                <a:spcPct val="115000"/>
              </a:lnSpc>
              <a:spcBef>
                <a:spcPts val="800"/>
              </a:spcBef>
              <a:spcAft>
                <a:spcPts val="400"/>
              </a:spcAft>
            </a:pPr>
            <a:endParaRPr lang="en-US"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Ordered</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Elements maintain their position and can be accessed by index</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Mutable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Can be modified after creation (add, remove, or change items)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Versatile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Allows duplicates and different data types in the same list</a:t>
            </a:r>
            <a:endParaRPr lang="en-US" sz="1800" dirty="0"/>
          </a:p>
          <a:p>
            <a:pPr>
              <a:lnSpc>
                <a:spcPct val="115000"/>
              </a:lnSpc>
              <a:spcBef>
                <a:spcPts val="800"/>
              </a:spcBef>
              <a:spcAft>
                <a:spcPts val="400"/>
              </a:spcAft>
            </a:pPr>
            <a:endParaRPr lang="en-IN"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Bef>
                <a:spcPts val="800"/>
              </a:spcBef>
              <a:spcAft>
                <a:spcPts val="4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Image: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Repository Slide no: 40</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Icon 1: https://www.shutterstock.com/image-vector/folder-archive-cabinet-drawer-isolated-minimal- 331309859 (First icon)</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Icon 2: https://www.shutterstock.com/image-vector/edit-icon-vector-files-editable-stroke- 2566391277</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Icon 3: https://www.shutterstock.com/image-vector/versatile-icon-multifunction-sign-arrows-pointing- 2394285387</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F216B0-9986-6429-2D20-24E2CBAA6B8F}"/>
              </a:ext>
            </a:extLst>
          </p:cNvPr>
          <p:cNvSpPr>
            <a:spLocks noGrp="1"/>
          </p:cNvSpPr>
          <p:nvPr>
            <p:ph type="sldNum" sz="quarter" idx="5"/>
          </p:nvPr>
        </p:nvSpPr>
        <p:spPr/>
        <p:txBody>
          <a:bodyPr/>
          <a:lstStyle/>
          <a:p>
            <a:fld id="{1F1E027D-4684-4D2A-A457-B52C65DF2100}" type="slidenum">
              <a:rPr lang="en-GB" smtClean="0"/>
              <a:t>23</a:t>
            </a:fld>
            <a:endParaRPr lang="en-GB"/>
          </a:p>
        </p:txBody>
      </p:sp>
    </p:spTree>
    <p:extLst>
      <p:ext uri="{BB962C8B-B14F-4D97-AF65-F5344CB8AC3E}">
        <p14:creationId xmlns:p14="http://schemas.microsoft.com/office/powerpoint/2010/main" val="902679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3F700-31F8-1C18-9465-36F26B8BC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3F723-4DA5-174B-CB8D-727B52124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AD92F-7B27-A6C2-E9B2-2D8EB3A5A52B}"/>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Creating Lists</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r>
              <a:rPr lang="en-US" sz="1800" dirty="0">
                <a:solidFill>
                  <a:srgbClr val="000000"/>
                </a:solidFill>
                <a:latin typeface="Montserrat" pitchFamily="34" charset="0"/>
                <a:ea typeface="Montserrat" pitchFamily="34" charset="-122"/>
                <a:cs typeface="Montserrat" pitchFamily="34" charset="-120"/>
              </a:rPr>
              <a:t>Creating a list in Python is simple. You can start with an empty list or initialize it with some items.</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800" dirty="0">
              <a:solidFill>
                <a:srgbClr val="000000"/>
              </a:solidFill>
              <a:latin typeface="Montserrat" pitchFamily="34" charset="0"/>
            </a:endParaRPr>
          </a:p>
          <a:p>
            <a:pPr>
              <a:lnSpc>
                <a:spcPts val="2125"/>
              </a:lnSpc>
            </a:pPr>
            <a:r>
              <a:rPr lang="en-US" sz="1800" dirty="0">
                <a:solidFill>
                  <a:srgbClr val="000000"/>
                </a:solidFill>
                <a:highlight>
                  <a:srgbClr val="F2F2F2"/>
                </a:highlight>
                <a:latin typeface="Consolas" pitchFamily="34" charset="0"/>
                <a:ea typeface="Consolas" pitchFamily="34" charset="-122"/>
                <a:cs typeface="Consolas" pitchFamily="34" charset="-120"/>
              </a:rPr>
              <a:t># Empty </a:t>
            </a:r>
            <a:r>
              <a:rPr lang="en-US" sz="1800" dirty="0" err="1">
                <a:solidFill>
                  <a:srgbClr val="000000"/>
                </a:solidFill>
                <a:highlight>
                  <a:srgbClr val="F2F2F2"/>
                </a:highlight>
                <a:latin typeface="Consolas" pitchFamily="34" charset="0"/>
                <a:ea typeface="Consolas" pitchFamily="34" charset="-122"/>
                <a:cs typeface="Consolas" pitchFamily="34" charset="-120"/>
              </a:rPr>
              <a:t>listmy_list</a:t>
            </a:r>
            <a:r>
              <a:rPr lang="en-US" sz="1800" dirty="0">
                <a:solidFill>
                  <a:srgbClr val="000000"/>
                </a:solidFill>
                <a:highlight>
                  <a:srgbClr val="F2F2F2"/>
                </a:highlight>
                <a:latin typeface="Consolas" pitchFamily="34" charset="0"/>
                <a:ea typeface="Consolas" pitchFamily="34" charset="-122"/>
                <a:cs typeface="Consolas" pitchFamily="34" charset="-120"/>
              </a:rPr>
              <a:t> = []# List with different data </a:t>
            </a:r>
            <a:r>
              <a:rPr lang="en-US" sz="1800" dirty="0" err="1">
                <a:solidFill>
                  <a:srgbClr val="000000"/>
                </a:solidFill>
                <a:highlight>
                  <a:srgbClr val="F2F2F2"/>
                </a:highlight>
                <a:latin typeface="Consolas" pitchFamily="34" charset="0"/>
                <a:ea typeface="Consolas" pitchFamily="34" charset="-122"/>
                <a:cs typeface="Consolas" pitchFamily="34" charset="-120"/>
              </a:rPr>
              <a:t>typesmy_list</a:t>
            </a:r>
            <a:r>
              <a:rPr lang="en-US" sz="1800" dirty="0">
                <a:solidFill>
                  <a:srgbClr val="000000"/>
                </a:solidFill>
                <a:highlight>
                  <a:srgbClr val="F2F2F2"/>
                </a:highlight>
                <a:latin typeface="Consolas" pitchFamily="34" charset="0"/>
                <a:ea typeface="Consolas" pitchFamily="34" charset="-122"/>
                <a:cs typeface="Consolas" pitchFamily="34" charset="-120"/>
              </a:rPr>
              <a:t> = [1, 'apple', 3.5]# List created using the list() </a:t>
            </a:r>
            <a:r>
              <a:rPr lang="en-US" sz="1800" dirty="0" err="1">
                <a:solidFill>
                  <a:srgbClr val="000000"/>
                </a:solidFill>
                <a:highlight>
                  <a:srgbClr val="F2F2F2"/>
                </a:highlight>
                <a:latin typeface="Consolas" pitchFamily="34" charset="0"/>
                <a:ea typeface="Consolas" pitchFamily="34" charset="-122"/>
                <a:cs typeface="Consolas" pitchFamily="34" charset="-120"/>
              </a:rPr>
              <a:t>constructornumbers</a:t>
            </a:r>
            <a:r>
              <a:rPr lang="en-US" sz="1800" dirty="0">
                <a:solidFill>
                  <a:srgbClr val="000000"/>
                </a:solidFill>
                <a:highlight>
                  <a:srgbClr val="F2F2F2"/>
                </a:highlight>
                <a:latin typeface="Consolas" pitchFamily="34" charset="0"/>
                <a:ea typeface="Consolas" pitchFamily="34" charset="-122"/>
                <a:cs typeface="Consolas" pitchFamily="34" charset="-120"/>
              </a:rPr>
              <a:t> = list(range(1, 6))  # [1, 2, 3, 4, 5]# Creating a list from another </a:t>
            </a:r>
            <a:r>
              <a:rPr lang="en-US" sz="1800" dirty="0" err="1">
                <a:solidFill>
                  <a:srgbClr val="000000"/>
                </a:solidFill>
                <a:highlight>
                  <a:srgbClr val="F2F2F2"/>
                </a:highlight>
                <a:latin typeface="Consolas" pitchFamily="34" charset="0"/>
                <a:ea typeface="Consolas" pitchFamily="34" charset="-122"/>
                <a:cs typeface="Consolas" pitchFamily="34" charset="-120"/>
              </a:rPr>
              <a:t>sequenceletters</a:t>
            </a:r>
            <a:r>
              <a:rPr lang="en-US" sz="1800" dirty="0">
                <a:solidFill>
                  <a:srgbClr val="000000"/>
                </a:solidFill>
                <a:highlight>
                  <a:srgbClr val="F2F2F2"/>
                </a:highlight>
                <a:latin typeface="Consolas" pitchFamily="34" charset="0"/>
                <a:ea typeface="Consolas" pitchFamily="34" charset="-122"/>
                <a:cs typeface="Consolas" pitchFamily="34" charset="-120"/>
              </a:rPr>
              <a:t> = list("Python")  # ['P', 'y', 't', 'h', 'o', 'n’]. </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Lists are represented by square brackets </a:t>
            </a:r>
            <a:r>
              <a:rPr lang="en-US" sz="1800" dirty="0">
                <a:solidFill>
                  <a:srgbClr val="000000"/>
                </a:solidFill>
                <a:highlight>
                  <a:srgbClr val="F2F2F2"/>
                </a:highlight>
                <a:latin typeface="Consolas" pitchFamily="34" charset="0"/>
                <a:ea typeface="Consolas" pitchFamily="34" charset="-122"/>
                <a:cs typeface="Consolas" pitchFamily="34" charset="-120"/>
              </a:rPr>
              <a:t>[]</a:t>
            </a:r>
            <a:r>
              <a:rPr lang="en-US" sz="1800" dirty="0">
                <a:solidFill>
                  <a:srgbClr val="000000"/>
                </a:solidFill>
                <a:latin typeface="Montserrat" pitchFamily="34" charset="0"/>
                <a:ea typeface="Montserrat" pitchFamily="34" charset="-122"/>
                <a:cs typeface="Montserrat" pitchFamily="34" charset="-120"/>
              </a:rPr>
              <a:t> and can hold any type of data, even other lists!</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Image: Slide number 18</a:t>
            </a:r>
          </a:p>
        </p:txBody>
      </p:sp>
      <p:sp>
        <p:nvSpPr>
          <p:cNvPr id="4" name="Slide Number Placeholder 3">
            <a:extLst>
              <a:ext uri="{FF2B5EF4-FFF2-40B4-BE49-F238E27FC236}">
                <a16:creationId xmlns:a16="http://schemas.microsoft.com/office/drawing/2014/main" id="{8285F077-6B74-8555-7B6C-A7ECBC8F4A1C}"/>
              </a:ext>
            </a:extLst>
          </p:cNvPr>
          <p:cNvSpPr>
            <a:spLocks noGrp="1"/>
          </p:cNvSpPr>
          <p:nvPr>
            <p:ph type="sldNum" sz="quarter" idx="5"/>
          </p:nvPr>
        </p:nvSpPr>
        <p:spPr/>
        <p:txBody>
          <a:bodyPr/>
          <a:lstStyle/>
          <a:p>
            <a:fld id="{1F1E027D-4684-4D2A-A457-B52C65DF2100}" type="slidenum">
              <a:rPr lang="en-GB" smtClean="0"/>
              <a:t>24</a:t>
            </a:fld>
            <a:endParaRPr lang="en-GB"/>
          </a:p>
        </p:txBody>
      </p:sp>
    </p:spTree>
    <p:extLst>
      <p:ext uri="{BB962C8B-B14F-4D97-AF65-F5344CB8AC3E}">
        <p14:creationId xmlns:p14="http://schemas.microsoft.com/office/powerpoint/2010/main" val="3736230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8F7B1-342E-2E34-3EAA-EBB611A3D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C70DA-51A6-F798-1B57-D155F5161C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994B8-D53C-25FC-C032-E4F1345842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Accessing List Elements</a:t>
            </a:r>
            <a:endParaRPr lang="en-US" sz="1800" dirty="0"/>
          </a:p>
          <a:p>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Lists are ordered collections, which means you can access items using their index (position in the list). Python uses zero-based indexing.</a:t>
            </a:r>
            <a:endParaRPr lang="en-US" sz="1800" dirty="0"/>
          </a:p>
          <a:p>
            <a:pPr>
              <a:lnSpc>
                <a:spcPts val="1750"/>
              </a:lnSpc>
            </a:pPr>
            <a:r>
              <a:rPr lang="en-US" sz="1800" dirty="0">
                <a:solidFill>
                  <a:srgbClr val="000000"/>
                </a:solidFill>
                <a:highlight>
                  <a:srgbClr val="F2F2F2"/>
                </a:highlight>
                <a:latin typeface="Consolas" pitchFamily="34" charset="0"/>
                <a:ea typeface="Consolas" pitchFamily="34" charset="-122"/>
                <a:cs typeface="Consolas" pitchFamily="34" charset="-120"/>
              </a:rPr>
              <a:t>fruits = ['apple', 'banana', 'cherry’]print(fruits[0])  # Output: </a:t>
            </a:r>
            <a:r>
              <a:rPr lang="en-US" sz="1800" dirty="0" err="1">
                <a:solidFill>
                  <a:srgbClr val="000000"/>
                </a:solidFill>
                <a:highlight>
                  <a:srgbClr val="F2F2F2"/>
                </a:highlight>
                <a:latin typeface="Consolas" pitchFamily="34" charset="0"/>
                <a:ea typeface="Consolas" pitchFamily="34" charset="-122"/>
                <a:cs typeface="Consolas" pitchFamily="34" charset="-120"/>
              </a:rPr>
              <a:t>appleprint</a:t>
            </a:r>
            <a:r>
              <a:rPr lang="en-US" sz="1800" dirty="0">
                <a:solidFill>
                  <a:srgbClr val="000000"/>
                </a:solidFill>
                <a:highlight>
                  <a:srgbClr val="F2F2F2"/>
                </a:highlight>
                <a:latin typeface="Consolas" pitchFamily="34" charset="0"/>
                <a:ea typeface="Consolas" pitchFamily="34" charset="-122"/>
                <a:cs typeface="Consolas" pitchFamily="34" charset="-120"/>
              </a:rPr>
              <a:t>(fruits[-1])  # Output: cherry</a:t>
            </a:r>
          </a:p>
          <a:p>
            <a:pPr>
              <a:lnSpc>
                <a:spcPts val="1750"/>
              </a:lnSpc>
            </a:pPr>
            <a:endParaRPr lang="en-US" sz="1800" dirty="0">
              <a:solidFill>
                <a:srgbClr val="000000"/>
              </a:solidFill>
              <a:highlight>
                <a:srgbClr val="F2F2F2"/>
              </a:highlight>
              <a:latin typeface="Consolas" pitchFamily="34" charset="0"/>
              <a:ea typeface="Consolas" pitchFamily="34" charset="-122"/>
              <a:cs typeface="Consolas" pitchFamily="34" charset="-120"/>
            </a:endParaRPr>
          </a:p>
          <a:p>
            <a:pPr>
              <a:lnSpc>
                <a:spcPts val="1750"/>
              </a:lnSpc>
            </a:pPr>
            <a:r>
              <a:rPr lang="en-US" sz="1800" dirty="0">
                <a:solidFill>
                  <a:srgbClr val="000000"/>
                </a:solidFill>
                <a:highlight>
                  <a:srgbClr val="F2F2F2"/>
                </a:highlight>
                <a:latin typeface="Consolas" pitchFamily="34" charset="0"/>
                <a:ea typeface="Consolas" pitchFamily="34" charset="-122"/>
                <a:cs typeface="Consolas" pitchFamily="34" charset="-120"/>
              </a:rPr>
              <a:t>Image: Slide number: 19</a:t>
            </a:r>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4192EA9-C915-2DA3-5C81-9A5345810892}"/>
              </a:ext>
            </a:extLst>
          </p:cNvPr>
          <p:cNvSpPr>
            <a:spLocks noGrp="1"/>
          </p:cNvSpPr>
          <p:nvPr>
            <p:ph type="sldNum" sz="quarter" idx="5"/>
          </p:nvPr>
        </p:nvSpPr>
        <p:spPr/>
        <p:txBody>
          <a:bodyPr/>
          <a:lstStyle/>
          <a:p>
            <a:fld id="{1F1E027D-4684-4D2A-A457-B52C65DF2100}" type="slidenum">
              <a:rPr lang="en-GB" smtClean="0"/>
              <a:t>25</a:t>
            </a:fld>
            <a:endParaRPr lang="en-GB"/>
          </a:p>
        </p:txBody>
      </p:sp>
    </p:spTree>
    <p:extLst>
      <p:ext uri="{BB962C8B-B14F-4D97-AF65-F5344CB8AC3E}">
        <p14:creationId xmlns:p14="http://schemas.microsoft.com/office/powerpoint/2010/main" val="1894356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F5693-0217-A247-B9A9-AD1E1DEC7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D04AB-27ED-B723-6B5F-ABCA8BB45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4910C-4E13-88F6-51FF-9A66785A9CE1}"/>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Modifying List Elements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Lists are mutable, which means you can change their content without creating a new list.</a:t>
            </a:r>
            <a:endParaRPr lang="en-US" sz="1800" dirty="0"/>
          </a:p>
          <a:p>
            <a:pPr>
              <a:lnSpc>
                <a:spcPct val="115000"/>
              </a:lnSpc>
              <a:spcBef>
                <a:spcPts val="800"/>
              </a:spcBef>
              <a:spcAft>
                <a:spcPts val="4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1458"/>
              </a:lnSpc>
            </a:pPr>
            <a:r>
              <a:rPr lang="en-US" sz="1800" dirty="0">
                <a:solidFill>
                  <a:srgbClr val="000000"/>
                </a:solidFill>
                <a:highlight>
                  <a:srgbClr val="F2F2F2"/>
                </a:highlight>
                <a:latin typeface="Consolas" pitchFamily="34" charset="0"/>
                <a:ea typeface="Consolas" pitchFamily="34" charset="-122"/>
                <a:cs typeface="Consolas" pitchFamily="34" charset="-120"/>
              </a:rPr>
              <a:t>numbers = [1, 2, 3, 4]# Change an element numbers[1] = 9  # [1, 9, 3, 4] # Add new item at the end </a:t>
            </a:r>
            <a:r>
              <a:rPr lang="en-US" sz="1800" dirty="0" err="1">
                <a:solidFill>
                  <a:srgbClr val="000000"/>
                </a:solidFill>
                <a:highlight>
                  <a:srgbClr val="F2F2F2"/>
                </a:highlight>
                <a:latin typeface="Consolas" pitchFamily="34" charset="0"/>
                <a:ea typeface="Consolas" pitchFamily="34" charset="-122"/>
                <a:cs typeface="Consolas" pitchFamily="34" charset="-120"/>
              </a:rPr>
              <a:t>numbers.append</a:t>
            </a:r>
            <a:r>
              <a:rPr lang="en-US" sz="1800" dirty="0">
                <a:solidFill>
                  <a:srgbClr val="000000"/>
                </a:solidFill>
                <a:highlight>
                  <a:srgbClr val="F2F2F2"/>
                </a:highlight>
                <a:latin typeface="Consolas" pitchFamily="34" charset="0"/>
                <a:ea typeface="Consolas" pitchFamily="34" charset="-122"/>
                <a:cs typeface="Consolas" pitchFamily="34" charset="-120"/>
              </a:rPr>
              <a:t>(5)  # [1, 9, 3, 4, 5] # Insert at specific position</a:t>
            </a:r>
          </a:p>
          <a:p>
            <a:pPr>
              <a:lnSpc>
                <a:spcPts val="1458"/>
              </a:lnSpc>
            </a:pPr>
            <a:r>
              <a:rPr lang="en-US" sz="1800" dirty="0" err="1">
                <a:solidFill>
                  <a:srgbClr val="000000"/>
                </a:solidFill>
                <a:highlight>
                  <a:srgbClr val="F2F2F2"/>
                </a:highlight>
                <a:latin typeface="Consolas" pitchFamily="34" charset="0"/>
                <a:ea typeface="Consolas" pitchFamily="34" charset="-122"/>
                <a:cs typeface="Consolas" pitchFamily="34" charset="-120"/>
              </a:rPr>
              <a:t>numbers.insert</a:t>
            </a:r>
            <a:r>
              <a:rPr lang="en-US" sz="1800" dirty="0">
                <a:solidFill>
                  <a:srgbClr val="000000"/>
                </a:solidFill>
                <a:highlight>
                  <a:srgbClr val="F2F2F2"/>
                </a:highlight>
                <a:latin typeface="Consolas" pitchFamily="34" charset="0"/>
                <a:ea typeface="Consolas" pitchFamily="34" charset="-122"/>
                <a:cs typeface="Consolas" pitchFamily="34" charset="-120"/>
              </a:rPr>
              <a:t>(0, 0)  # [0, 1, 9, 3, 4, 5] # Remove item with value </a:t>
            </a:r>
            <a:r>
              <a:rPr lang="en-US" sz="1800" dirty="0" err="1">
                <a:solidFill>
                  <a:srgbClr val="000000"/>
                </a:solidFill>
                <a:highlight>
                  <a:srgbClr val="F2F2F2"/>
                </a:highlight>
                <a:latin typeface="Consolas" pitchFamily="34" charset="0"/>
                <a:ea typeface="Consolas" pitchFamily="34" charset="-122"/>
                <a:cs typeface="Consolas" pitchFamily="34" charset="-120"/>
              </a:rPr>
              <a:t>numbers.remove</a:t>
            </a:r>
            <a:r>
              <a:rPr lang="en-US" sz="1800" dirty="0">
                <a:solidFill>
                  <a:srgbClr val="000000"/>
                </a:solidFill>
                <a:highlight>
                  <a:srgbClr val="F2F2F2"/>
                </a:highlight>
                <a:latin typeface="Consolas" pitchFamily="34" charset="0"/>
                <a:ea typeface="Consolas" pitchFamily="34" charset="-122"/>
                <a:cs typeface="Consolas" pitchFamily="34" charset="-120"/>
              </a:rPr>
              <a:t>(3)  # [0, 1, 9, 4, 5] # Remove item at index del numbers[2]  # [0, 1, 4, 5]</a:t>
            </a:r>
          </a:p>
          <a:p>
            <a:pPr>
              <a:lnSpc>
                <a:spcPts val="1458"/>
              </a:lnSpc>
            </a:pPr>
            <a:endParaRPr lang="en-US" sz="1800" dirty="0">
              <a:solidFill>
                <a:srgbClr val="000000"/>
              </a:solidFill>
              <a:highlight>
                <a:srgbClr val="F2F2F2"/>
              </a:highlight>
              <a:latin typeface="Consolas" pitchFamily="34" charset="0"/>
            </a:endParaRPr>
          </a:p>
          <a:p>
            <a:pPr>
              <a:lnSpc>
                <a:spcPts val="1458"/>
              </a:lnSpc>
            </a:pPr>
            <a:r>
              <a:rPr lang="en-US" sz="1800" dirty="0">
                <a:solidFill>
                  <a:srgbClr val="000000"/>
                </a:solidFill>
                <a:highlight>
                  <a:srgbClr val="F2F2F2"/>
                </a:highlight>
                <a:latin typeface="Consolas" pitchFamily="34" charset="0"/>
              </a:rPr>
              <a:t>Image: Slide number 20</a:t>
            </a:r>
            <a:endParaRPr lang="en-US" sz="1800" dirty="0"/>
          </a:p>
          <a:p>
            <a:pPr>
              <a:lnSpc>
                <a:spcPct val="115000"/>
              </a:lnSpc>
              <a:spcBef>
                <a:spcPts val="800"/>
              </a:spcBef>
              <a:spcAft>
                <a:spcPts val="4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CD02DFA-CF5F-08FE-0BB4-623A8083EB3B}"/>
              </a:ext>
            </a:extLst>
          </p:cNvPr>
          <p:cNvSpPr>
            <a:spLocks noGrp="1"/>
          </p:cNvSpPr>
          <p:nvPr>
            <p:ph type="sldNum" sz="quarter" idx="5"/>
          </p:nvPr>
        </p:nvSpPr>
        <p:spPr/>
        <p:txBody>
          <a:bodyPr/>
          <a:lstStyle/>
          <a:p>
            <a:fld id="{1F1E027D-4684-4D2A-A457-B52C65DF2100}" type="slidenum">
              <a:rPr lang="en-GB" smtClean="0"/>
              <a:t>26</a:t>
            </a:fld>
            <a:endParaRPr lang="en-GB"/>
          </a:p>
        </p:txBody>
      </p:sp>
    </p:spTree>
    <p:extLst>
      <p:ext uri="{BB962C8B-B14F-4D97-AF65-F5344CB8AC3E}">
        <p14:creationId xmlns:p14="http://schemas.microsoft.com/office/powerpoint/2010/main" val="3778983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BB0EA-9E1D-59D4-2498-7933ACE1C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2311C-B44B-0F15-20B0-A514F45C0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4C7DD-359D-4D6D-24B4-08574CE8CA41}"/>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Common List Operations</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Python provides several built-in methods to perform operations on lists. These can help sort, reverse, count, and more.</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800" dirty="0"/>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Arial" panose="020B0604020202020204" pitchFamily="34" charset="0"/>
              </a:rPr>
              <a:t>Sorting and reversing</a:t>
            </a:r>
          </a:p>
          <a:p>
            <a:pPr>
              <a:lnSpc>
                <a:spcPts val="2375"/>
              </a:lnSpc>
            </a:pPr>
            <a:r>
              <a:rPr lang="en-US" sz="1800" dirty="0">
                <a:solidFill>
                  <a:srgbClr val="000000"/>
                </a:solidFill>
                <a:highlight>
                  <a:srgbClr val="F2F2F2"/>
                </a:highlight>
                <a:latin typeface="Consolas" pitchFamily="34" charset="0"/>
                <a:ea typeface="Consolas" pitchFamily="34" charset="-122"/>
                <a:cs typeface="Consolas" pitchFamily="34" charset="-120"/>
              </a:rPr>
              <a:t>colors = ['red', 'blue', 'green’]</a:t>
            </a:r>
            <a:r>
              <a:rPr lang="en-US" sz="1800" dirty="0" err="1">
                <a:solidFill>
                  <a:srgbClr val="000000"/>
                </a:solidFill>
                <a:highlight>
                  <a:srgbClr val="F2F2F2"/>
                </a:highlight>
                <a:latin typeface="Consolas" pitchFamily="34" charset="0"/>
                <a:ea typeface="Consolas" pitchFamily="34" charset="-122"/>
                <a:cs typeface="Consolas" pitchFamily="34" charset="-120"/>
              </a:rPr>
              <a:t>colors.sort</a:t>
            </a:r>
            <a:r>
              <a:rPr lang="en-US" sz="1800" dirty="0">
                <a:solidFill>
                  <a:srgbClr val="000000"/>
                </a:solidFill>
                <a:highlight>
                  <a:srgbClr val="F2F2F2"/>
                </a:highlight>
                <a:latin typeface="Consolas" pitchFamily="34" charset="0"/>
                <a:ea typeface="Consolas" pitchFamily="34" charset="-122"/>
                <a:cs typeface="Consolas" pitchFamily="34" charset="-120"/>
              </a:rPr>
              <a:t>() </a:t>
            </a:r>
            <a:r>
              <a:rPr lang="en-US" sz="1800" dirty="0" err="1">
                <a:solidFill>
                  <a:srgbClr val="000000"/>
                </a:solidFill>
                <a:highlight>
                  <a:srgbClr val="F2F2F2"/>
                </a:highlight>
                <a:latin typeface="Consolas" pitchFamily="34" charset="0"/>
                <a:ea typeface="Consolas" pitchFamily="34" charset="-122"/>
                <a:cs typeface="Consolas" pitchFamily="34" charset="-120"/>
              </a:rPr>
              <a:t>colors.reverse</a:t>
            </a:r>
            <a:r>
              <a:rPr lang="en-US" sz="1800" dirty="0">
                <a:solidFill>
                  <a:srgbClr val="000000"/>
                </a:solidFill>
                <a:highlight>
                  <a:srgbClr val="F2F2F2"/>
                </a:highlight>
                <a:latin typeface="Consolas" pitchFamily="34" charset="0"/>
                <a:ea typeface="Consolas" pitchFamily="34" charset="-122"/>
                <a:cs typeface="Consolas" pitchFamily="34" charset="-120"/>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Counting and Finding</a:t>
            </a:r>
          </a:p>
          <a:p>
            <a:pPr>
              <a:lnSpc>
                <a:spcPts val="2375"/>
              </a:lnSpc>
            </a:pPr>
            <a:r>
              <a:rPr lang="en-US" sz="1800" dirty="0">
                <a:solidFill>
                  <a:srgbClr val="000000"/>
                </a:solidFill>
                <a:highlight>
                  <a:srgbClr val="F2F2F2"/>
                </a:highlight>
                <a:latin typeface="Consolas" pitchFamily="34" charset="0"/>
                <a:ea typeface="Consolas" pitchFamily="34" charset="-122"/>
                <a:cs typeface="Consolas" pitchFamily="34" charset="-120"/>
              </a:rPr>
              <a:t>numbers = [1, 2, 3, 2, 1] count = </a:t>
            </a:r>
            <a:r>
              <a:rPr lang="en-US" sz="1800" dirty="0" err="1">
                <a:solidFill>
                  <a:srgbClr val="000000"/>
                </a:solidFill>
                <a:highlight>
                  <a:srgbClr val="F2F2F2"/>
                </a:highlight>
                <a:latin typeface="Consolas" pitchFamily="34" charset="0"/>
                <a:ea typeface="Consolas" pitchFamily="34" charset="-122"/>
                <a:cs typeface="Consolas" pitchFamily="34" charset="-120"/>
              </a:rPr>
              <a:t>numbers.count</a:t>
            </a:r>
            <a:r>
              <a:rPr lang="en-US" sz="1800" dirty="0">
                <a:solidFill>
                  <a:srgbClr val="000000"/>
                </a:solidFill>
                <a:highlight>
                  <a:srgbClr val="F2F2F2"/>
                </a:highlight>
                <a:latin typeface="Consolas" pitchFamily="34" charset="0"/>
                <a:ea typeface="Consolas" pitchFamily="34" charset="-122"/>
                <a:cs typeface="Consolas" pitchFamily="34" charset="-120"/>
              </a:rPr>
              <a:t>(2) index = </a:t>
            </a:r>
            <a:r>
              <a:rPr lang="en-US" sz="1800" dirty="0" err="1">
                <a:solidFill>
                  <a:srgbClr val="000000"/>
                </a:solidFill>
                <a:highlight>
                  <a:srgbClr val="F2F2F2"/>
                </a:highlight>
                <a:latin typeface="Consolas" pitchFamily="34" charset="0"/>
                <a:ea typeface="Consolas" pitchFamily="34" charset="-122"/>
                <a:cs typeface="Consolas" pitchFamily="34" charset="-120"/>
              </a:rPr>
              <a:t>numbers.index</a:t>
            </a:r>
            <a:r>
              <a:rPr lang="en-US" sz="1800" dirty="0">
                <a:solidFill>
                  <a:srgbClr val="000000"/>
                </a:solidFill>
                <a:highlight>
                  <a:srgbClr val="F2F2F2"/>
                </a:highlight>
                <a:latin typeface="Consolas" pitchFamily="34" charset="0"/>
                <a:ea typeface="Consolas" pitchFamily="34" charset="-122"/>
                <a:cs typeface="Consolas" pitchFamily="34" charset="-120"/>
              </a:rPr>
              <a:t>(3)</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r>
              <a:rPr lang="en-US" sz="1200" kern="1200" dirty="0">
                <a:solidFill>
                  <a:schemeClr val="tx1"/>
                </a:solidFill>
                <a:effectLst/>
                <a:latin typeface="+mn-lt"/>
                <a:ea typeface="+mn-ea"/>
                <a:cs typeface="+mn-cs"/>
              </a:rPr>
              <a:t>Adding and Extending</a:t>
            </a:r>
          </a:p>
          <a:p>
            <a:pPr>
              <a:lnSpc>
                <a:spcPts val="2375"/>
              </a:lnSpc>
            </a:pPr>
            <a:r>
              <a:rPr lang="en-US" sz="1800" dirty="0">
                <a:solidFill>
                  <a:srgbClr val="000000"/>
                </a:solidFill>
                <a:highlight>
                  <a:srgbClr val="F2F2F2"/>
                </a:highlight>
                <a:latin typeface="Consolas" pitchFamily="34" charset="0"/>
                <a:ea typeface="Consolas" pitchFamily="34" charset="-122"/>
                <a:cs typeface="Consolas" pitchFamily="34" charset="-120"/>
              </a:rPr>
              <a:t>list1 = [1, 2, 3] list2 = [4, 5] list1.extend(list2)</a:t>
            </a:r>
            <a:endParaRPr lang="en-US" sz="1800" dirty="0"/>
          </a:p>
          <a:p>
            <a:pPr marL="0" marR="0" lvl="0" indent="0" algn="l" defTabSz="914400" rtl="0" eaLnBrk="1" fontAlgn="auto" latinLnBrk="0" hangingPunct="1">
              <a:lnSpc>
                <a:spcPct val="115000"/>
              </a:lnSpc>
              <a:spcBef>
                <a:spcPts val="0"/>
              </a:spcBef>
              <a:spcAft>
                <a:spcPts val="8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Slide number: 21</a:t>
            </a:r>
          </a:p>
        </p:txBody>
      </p:sp>
      <p:sp>
        <p:nvSpPr>
          <p:cNvPr id="4" name="Slide Number Placeholder 3">
            <a:extLst>
              <a:ext uri="{FF2B5EF4-FFF2-40B4-BE49-F238E27FC236}">
                <a16:creationId xmlns:a16="http://schemas.microsoft.com/office/drawing/2014/main" id="{051B435E-6369-3FCE-BE64-01D5E403E52C}"/>
              </a:ext>
            </a:extLst>
          </p:cNvPr>
          <p:cNvSpPr>
            <a:spLocks noGrp="1"/>
          </p:cNvSpPr>
          <p:nvPr>
            <p:ph type="sldNum" sz="quarter" idx="5"/>
          </p:nvPr>
        </p:nvSpPr>
        <p:spPr/>
        <p:txBody>
          <a:bodyPr/>
          <a:lstStyle/>
          <a:p>
            <a:fld id="{1F1E027D-4684-4D2A-A457-B52C65DF2100}" type="slidenum">
              <a:rPr lang="en-GB" smtClean="0"/>
              <a:t>27</a:t>
            </a:fld>
            <a:endParaRPr lang="en-GB"/>
          </a:p>
        </p:txBody>
      </p:sp>
    </p:spTree>
    <p:extLst>
      <p:ext uri="{BB962C8B-B14F-4D97-AF65-F5344CB8AC3E}">
        <p14:creationId xmlns:p14="http://schemas.microsoft.com/office/powerpoint/2010/main" val="985786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E2058-2D73-2104-102F-21CC06089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958B8-7AFC-B983-23C7-6AA866D20C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41044-D637-CFD0-039B-F966024957E0}"/>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Slicing Lists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Slicing allows you to create a new list from a subset of elements from an existing list. The syntax is </a:t>
            </a:r>
            <a:r>
              <a:rPr lang="en-US" sz="1800" dirty="0">
                <a:solidFill>
                  <a:srgbClr val="000000"/>
                </a:solidFill>
                <a:highlight>
                  <a:srgbClr val="F2F2F2"/>
                </a:highlight>
                <a:latin typeface="Consolas" pitchFamily="34" charset="0"/>
                <a:ea typeface="Consolas" pitchFamily="34" charset="-122"/>
                <a:cs typeface="Consolas" pitchFamily="34" charset="-120"/>
              </a:rPr>
              <a:t>list[</a:t>
            </a:r>
            <a:r>
              <a:rPr lang="en-US" sz="1800" dirty="0" err="1">
                <a:solidFill>
                  <a:srgbClr val="000000"/>
                </a:solidFill>
                <a:highlight>
                  <a:srgbClr val="F2F2F2"/>
                </a:highlight>
                <a:latin typeface="Consolas" pitchFamily="34" charset="0"/>
                <a:ea typeface="Consolas" pitchFamily="34" charset="-122"/>
                <a:cs typeface="Consolas" pitchFamily="34" charset="-120"/>
              </a:rPr>
              <a:t>start:stop:step</a:t>
            </a:r>
            <a:r>
              <a:rPr lang="en-US" sz="1800" dirty="0">
                <a:solidFill>
                  <a:srgbClr val="000000"/>
                </a:solidFill>
                <a:highlight>
                  <a:srgbClr val="F2F2F2"/>
                </a:highlight>
                <a:latin typeface="Consolas" pitchFamily="34" charset="0"/>
                <a:ea typeface="Consolas" pitchFamily="34" charset="-122"/>
                <a:cs typeface="Consolas" pitchFamily="34" charset="-120"/>
              </a:rPr>
              <a:t>]</a:t>
            </a:r>
            <a:r>
              <a:rPr lang="en-US" sz="1800" dirty="0">
                <a:solidFill>
                  <a:srgbClr val="000000"/>
                </a:solidFill>
                <a:latin typeface="Montserrat" pitchFamily="34" charset="0"/>
                <a:ea typeface="Montserrat" pitchFamily="34" charset="-122"/>
                <a:cs typeface="Montserrat" pitchFamily="34" charset="-120"/>
              </a:rPr>
              <a:t>.</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solidFill>
                <a:srgbClr val="000000"/>
              </a:solidFill>
              <a:latin typeface="Montserrat" pitchFamily="34" charset="0"/>
            </a:endParaRPr>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letters = ['a', 'b', 'c', 'd', ‘e’] # Get elements from index 1 to 3 </a:t>
            </a:r>
            <a:r>
              <a:rPr lang="en-US" sz="800" dirty="0" err="1">
                <a:solidFill>
                  <a:srgbClr val="000000"/>
                </a:solidFill>
                <a:highlight>
                  <a:srgbClr val="F2F2F2"/>
                </a:highlight>
                <a:latin typeface="Consolas" pitchFamily="34" charset="0"/>
                <a:ea typeface="Consolas" pitchFamily="34" charset="-122"/>
                <a:cs typeface="Consolas" pitchFamily="34" charset="-120"/>
              </a:rPr>
              <a:t>sliced_list</a:t>
            </a:r>
            <a:r>
              <a:rPr lang="en-US" sz="800" dirty="0">
                <a:solidFill>
                  <a:srgbClr val="000000"/>
                </a:solidFill>
                <a:highlight>
                  <a:srgbClr val="F2F2F2"/>
                </a:highlight>
                <a:latin typeface="Consolas" pitchFamily="34" charset="0"/>
                <a:ea typeface="Consolas" pitchFamily="34" charset="-122"/>
                <a:cs typeface="Consolas" pitchFamily="34" charset="-120"/>
              </a:rPr>
              <a:t> = letters[1:4]  # ['b', 'c', ‘d’] # Get all elements from index 2 onwards</a:t>
            </a:r>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subset = letters[2:]  # ['c', 'd', ‘e’] # Get every second element </a:t>
            </a:r>
            <a:r>
              <a:rPr lang="en-US" sz="800" dirty="0" err="1">
                <a:solidFill>
                  <a:srgbClr val="000000"/>
                </a:solidFill>
                <a:highlight>
                  <a:srgbClr val="F2F2F2"/>
                </a:highlight>
                <a:latin typeface="Consolas" pitchFamily="34" charset="0"/>
                <a:ea typeface="Consolas" pitchFamily="34" charset="-122"/>
                <a:cs typeface="Consolas" pitchFamily="34" charset="-120"/>
              </a:rPr>
              <a:t>every_second</a:t>
            </a:r>
            <a:r>
              <a:rPr lang="en-US" sz="800" dirty="0">
                <a:solidFill>
                  <a:srgbClr val="000000"/>
                </a:solidFill>
                <a:highlight>
                  <a:srgbClr val="F2F2F2"/>
                </a:highlight>
                <a:latin typeface="Consolas" pitchFamily="34" charset="0"/>
                <a:ea typeface="Consolas" pitchFamily="34" charset="-122"/>
                <a:cs typeface="Consolas" pitchFamily="34" charset="-120"/>
              </a:rPr>
              <a:t> = letters[::2]  # ['a', 'c', ‘e’] # Reverse a list using slicing </a:t>
            </a:r>
            <a:r>
              <a:rPr lang="en-US" sz="800" dirty="0" err="1">
                <a:solidFill>
                  <a:srgbClr val="000000"/>
                </a:solidFill>
                <a:highlight>
                  <a:srgbClr val="F2F2F2"/>
                </a:highlight>
                <a:latin typeface="Consolas" pitchFamily="34" charset="0"/>
                <a:ea typeface="Consolas" pitchFamily="34" charset="-122"/>
                <a:cs typeface="Consolas" pitchFamily="34" charset="-120"/>
              </a:rPr>
              <a:t>reversed_list</a:t>
            </a:r>
            <a:r>
              <a:rPr lang="en-US" sz="800" dirty="0">
                <a:solidFill>
                  <a:srgbClr val="000000"/>
                </a:solidFill>
                <a:highlight>
                  <a:srgbClr val="F2F2F2"/>
                </a:highlight>
                <a:latin typeface="Consolas" pitchFamily="34" charset="0"/>
                <a:ea typeface="Consolas" pitchFamily="34" charset="-122"/>
                <a:cs typeface="Consolas" pitchFamily="34" charset="-120"/>
              </a:rPr>
              <a:t> = letters[::-1]  # ['e', 'd', 'c', 'b', 'a']</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Slicing creates a new list without modifying the original, making it safe for preserving your data.</a:t>
            </a:r>
            <a:endParaRPr lang="en-US" sz="800" dirty="0"/>
          </a:p>
          <a:p>
            <a:pPr>
              <a:lnSpc>
                <a:spcPct val="115000"/>
              </a:lnSpc>
              <a:spcBef>
                <a:spcPts val="800"/>
              </a:spcBef>
              <a:spcAft>
                <a:spcPts val="4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Bef>
                <a:spcPts val="800"/>
              </a:spcBef>
              <a:spcAft>
                <a:spcPts val="4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Image: Slide number 22</a:t>
            </a:r>
          </a:p>
        </p:txBody>
      </p:sp>
      <p:sp>
        <p:nvSpPr>
          <p:cNvPr id="4" name="Slide Number Placeholder 3">
            <a:extLst>
              <a:ext uri="{FF2B5EF4-FFF2-40B4-BE49-F238E27FC236}">
                <a16:creationId xmlns:a16="http://schemas.microsoft.com/office/drawing/2014/main" id="{43E005A1-77BB-4335-6E80-41E002D4E804}"/>
              </a:ext>
            </a:extLst>
          </p:cNvPr>
          <p:cNvSpPr>
            <a:spLocks noGrp="1"/>
          </p:cNvSpPr>
          <p:nvPr>
            <p:ph type="sldNum" sz="quarter" idx="5"/>
          </p:nvPr>
        </p:nvSpPr>
        <p:spPr/>
        <p:txBody>
          <a:bodyPr/>
          <a:lstStyle/>
          <a:p>
            <a:fld id="{1F1E027D-4684-4D2A-A457-B52C65DF2100}" type="slidenum">
              <a:rPr lang="en-GB" smtClean="0"/>
              <a:t>28</a:t>
            </a:fld>
            <a:endParaRPr lang="en-GB"/>
          </a:p>
        </p:txBody>
      </p:sp>
    </p:spTree>
    <p:extLst>
      <p:ext uri="{BB962C8B-B14F-4D97-AF65-F5344CB8AC3E}">
        <p14:creationId xmlns:p14="http://schemas.microsoft.com/office/powerpoint/2010/main" val="26525497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25274D"/>
                </a:solidFill>
                <a:latin typeface="Montserrat Bold" pitchFamily="34" charset="0"/>
                <a:ea typeface="Montserrat Bold" pitchFamily="34" charset="-122"/>
                <a:cs typeface="Montserrat Bold" pitchFamily="34" charset="-120"/>
              </a:rPr>
              <a:t>Group Exercise</a:t>
            </a:r>
            <a:endParaRPr lang="en-US" sz="1200" dirty="0"/>
          </a:p>
          <a:p>
            <a:endParaRPr lang="en-US" dirty="0"/>
          </a:p>
        </p:txBody>
      </p:sp>
      <p:sp>
        <p:nvSpPr>
          <p:cNvPr id="4" name="Slide Number Placeholder 3"/>
          <p:cNvSpPr>
            <a:spLocks noGrp="1"/>
          </p:cNvSpPr>
          <p:nvPr>
            <p:ph type="sldNum" sz="quarter" idx="5"/>
          </p:nvPr>
        </p:nvSpPr>
        <p:spPr/>
        <p:txBody>
          <a:bodyPr/>
          <a:lstStyle/>
          <a:p>
            <a:fld id="{1F1E027D-4684-4D2A-A457-B52C65DF2100}" type="slidenum">
              <a:rPr lang="en-GB" smtClean="0"/>
              <a:t>29</a:t>
            </a:fld>
            <a:endParaRPr lang="en-GB"/>
          </a:p>
        </p:txBody>
      </p:sp>
    </p:spTree>
    <p:extLst>
      <p:ext uri="{BB962C8B-B14F-4D97-AF65-F5344CB8AC3E}">
        <p14:creationId xmlns:p14="http://schemas.microsoft.com/office/powerpoint/2010/main" val="33002409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8955C-1408-B883-2462-7D1783DF5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E2B19-DD24-9C83-A7E9-D9BAD59AE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8C2B1-60C9-5C4C-22D5-F48CBC10CF0D}"/>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What is a Tuple in Python?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Think of a tuple like an ID card. Once it's created, the information on it cannot be changed. </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In Python, a tuple is an ordered, immutable collection of items.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Ordered</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Items have a specific order that doesn't change</a:t>
            </a:r>
            <a:endParaRPr lang="en-US" sz="1800" dirty="0"/>
          </a:p>
          <a:p>
            <a:pPr>
              <a:lnSpc>
                <a:spcPts val="1958"/>
              </a:lnSpc>
            </a:pPr>
            <a:r>
              <a:rPr lang="en-US" sz="1800" b="1" dirty="0">
                <a:solidFill>
                  <a:srgbClr val="000000"/>
                </a:solidFill>
                <a:latin typeface="Montserrat Bold" pitchFamily="34" charset="0"/>
                <a:ea typeface="Montserrat Bold" pitchFamily="34" charset="-122"/>
                <a:cs typeface="Montserrat Bold" pitchFamily="34" charset="-120"/>
              </a:rPr>
              <a:t>Immutable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Cannot be modified after creation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Versatile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Can contain mixed data types (integers, strings, etc.)</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(Remove the icons from it.)</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Infographic Repository Slide 44</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https://enterprise.shutterstock.com/catalog?q=python</a:t>
            </a:r>
          </a:p>
        </p:txBody>
      </p:sp>
      <p:sp>
        <p:nvSpPr>
          <p:cNvPr id="4" name="Slide Number Placeholder 3">
            <a:extLst>
              <a:ext uri="{FF2B5EF4-FFF2-40B4-BE49-F238E27FC236}">
                <a16:creationId xmlns:a16="http://schemas.microsoft.com/office/drawing/2014/main" id="{A15F7A18-3A4F-BDB1-9ECA-CE71EC808102}"/>
              </a:ext>
            </a:extLst>
          </p:cNvPr>
          <p:cNvSpPr>
            <a:spLocks noGrp="1"/>
          </p:cNvSpPr>
          <p:nvPr>
            <p:ph type="sldNum" sz="quarter" idx="5"/>
          </p:nvPr>
        </p:nvSpPr>
        <p:spPr/>
        <p:txBody>
          <a:bodyPr/>
          <a:lstStyle/>
          <a:p>
            <a:fld id="{1F1E027D-4684-4D2A-A457-B52C65DF2100}" type="slidenum">
              <a:rPr lang="en-GB" smtClean="0"/>
              <a:t>30</a:t>
            </a:fld>
            <a:endParaRPr lang="en-GB"/>
          </a:p>
        </p:txBody>
      </p:sp>
    </p:spTree>
    <p:extLst>
      <p:ext uri="{BB962C8B-B14F-4D97-AF65-F5344CB8AC3E}">
        <p14:creationId xmlns:p14="http://schemas.microsoft.com/office/powerpoint/2010/main" val="18622197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A2737-D5BD-412F-1291-7769F8CA4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E15EA-AC33-E681-FC62-549A470D5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65946-080B-33D1-0663-AE52744A8336}"/>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How to Create a Tuple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Creating a tuple is similar to creating a list, but you use parentheses </a:t>
            </a:r>
            <a:r>
              <a:rPr lang="en-US" sz="1800" dirty="0">
                <a:solidFill>
                  <a:srgbClr val="000000"/>
                </a:solidFill>
                <a:highlight>
                  <a:srgbClr val="F2F2F2"/>
                </a:highlight>
                <a:latin typeface="Consolas" pitchFamily="34" charset="0"/>
                <a:ea typeface="Consolas" pitchFamily="34" charset="-122"/>
                <a:cs typeface="Consolas" pitchFamily="34" charset="-120"/>
              </a:rPr>
              <a:t>()</a:t>
            </a:r>
            <a:r>
              <a:rPr lang="en-US" sz="1800" dirty="0">
                <a:solidFill>
                  <a:srgbClr val="000000"/>
                </a:solidFill>
                <a:latin typeface="Montserrat" pitchFamily="34" charset="0"/>
                <a:ea typeface="Montserrat" pitchFamily="34" charset="-122"/>
                <a:cs typeface="Montserrat" pitchFamily="34" charset="-120"/>
              </a:rPr>
              <a:t> instead of square brackets </a:t>
            </a:r>
            <a:r>
              <a:rPr lang="en-US" sz="1800" dirty="0">
                <a:solidFill>
                  <a:srgbClr val="000000"/>
                </a:solidFill>
                <a:highlight>
                  <a:srgbClr val="F2F2F2"/>
                </a:highlight>
                <a:latin typeface="Consolas" pitchFamily="34" charset="0"/>
                <a:ea typeface="Consolas" pitchFamily="34" charset="-122"/>
                <a:cs typeface="Consolas" pitchFamily="34" charset="-120"/>
              </a:rPr>
              <a:t>[]</a:t>
            </a:r>
            <a:r>
              <a:rPr lang="en-US" sz="1800" dirty="0">
                <a:solidFill>
                  <a:srgbClr val="000000"/>
                </a:solidFill>
                <a:latin typeface="Montserrat" pitchFamily="34" charset="0"/>
                <a:ea typeface="Montserrat" pitchFamily="34" charset="-122"/>
                <a:cs typeface="Montserrat" pitchFamily="34" charset="-120"/>
              </a:rPr>
              <a:t>.</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solidFill>
                <a:srgbClr val="000000"/>
              </a:solidFill>
              <a:latin typeface="Montserrat" pitchFamily="34" charset="0"/>
              <a:ea typeface="Montserrat" pitchFamily="34" charset="-122"/>
              <a:cs typeface="Montserrat" pitchFamily="34" charset="-120"/>
            </a:endParaRPr>
          </a:p>
          <a:p>
            <a:pPr>
              <a:lnSpc>
                <a:spcPts val="1542"/>
              </a:lnSpc>
            </a:pPr>
            <a:r>
              <a:rPr lang="en-US" sz="1800" dirty="0">
                <a:solidFill>
                  <a:srgbClr val="000000"/>
                </a:solidFill>
                <a:highlight>
                  <a:srgbClr val="F2F2F2"/>
                </a:highlight>
                <a:latin typeface="Consolas" pitchFamily="34" charset="0"/>
                <a:ea typeface="Consolas" pitchFamily="34" charset="-122"/>
                <a:cs typeface="Consolas" pitchFamily="34" charset="-120"/>
              </a:rPr>
              <a:t># Empty tuple </a:t>
            </a:r>
            <a:r>
              <a:rPr lang="en-US" sz="1800" dirty="0" err="1">
                <a:solidFill>
                  <a:srgbClr val="000000"/>
                </a:solidFill>
                <a:highlight>
                  <a:srgbClr val="F2F2F2"/>
                </a:highlight>
                <a:latin typeface="Consolas" pitchFamily="34" charset="0"/>
                <a:ea typeface="Consolas" pitchFamily="34" charset="-122"/>
                <a:cs typeface="Consolas" pitchFamily="34" charset="-120"/>
              </a:rPr>
              <a:t>empty_tuple</a:t>
            </a:r>
            <a:r>
              <a:rPr lang="en-US" sz="1800" dirty="0">
                <a:solidFill>
                  <a:srgbClr val="000000"/>
                </a:solidFill>
                <a:highlight>
                  <a:srgbClr val="F2F2F2"/>
                </a:highlight>
                <a:latin typeface="Consolas" pitchFamily="34" charset="0"/>
                <a:ea typeface="Consolas" pitchFamily="34" charset="-122"/>
                <a:cs typeface="Consolas" pitchFamily="34" charset="-120"/>
              </a:rPr>
              <a:t> = () # Tuple with different data types </a:t>
            </a:r>
            <a:r>
              <a:rPr lang="en-US" sz="1800" dirty="0" err="1">
                <a:solidFill>
                  <a:srgbClr val="000000"/>
                </a:solidFill>
                <a:highlight>
                  <a:srgbClr val="F2F2F2"/>
                </a:highlight>
                <a:latin typeface="Consolas" pitchFamily="34" charset="0"/>
                <a:ea typeface="Consolas" pitchFamily="34" charset="-122"/>
                <a:cs typeface="Consolas" pitchFamily="34" charset="-120"/>
              </a:rPr>
              <a:t>mixed_tuple</a:t>
            </a:r>
            <a:r>
              <a:rPr lang="en-US" sz="1800" dirty="0">
                <a:solidFill>
                  <a:srgbClr val="000000"/>
                </a:solidFill>
                <a:highlight>
                  <a:srgbClr val="F2F2F2"/>
                </a:highlight>
                <a:latin typeface="Consolas" pitchFamily="34" charset="0"/>
                <a:ea typeface="Consolas" pitchFamily="34" charset="-122"/>
                <a:cs typeface="Consolas" pitchFamily="34" charset="-120"/>
              </a:rPr>
              <a:t> = (1, 'apple', 3.5) # Single item tuple (note the comma) </a:t>
            </a:r>
            <a:r>
              <a:rPr lang="en-US" sz="1800" dirty="0" err="1">
                <a:solidFill>
                  <a:srgbClr val="000000"/>
                </a:solidFill>
                <a:highlight>
                  <a:srgbClr val="F2F2F2"/>
                </a:highlight>
                <a:latin typeface="Consolas" pitchFamily="34" charset="0"/>
                <a:ea typeface="Consolas" pitchFamily="34" charset="-122"/>
                <a:cs typeface="Consolas" pitchFamily="34" charset="-120"/>
              </a:rPr>
              <a:t>single_item_tuple</a:t>
            </a:r>
            <a:r>
              <a:rPr lang="en-US" sz="1800" dirty="0">
                <a:solidFill>
                  <a:srgbClr val="000000"/>
                </a:solidFill>
                <a:highlight>
                  <a:srgbClr val="F2F2F2"/>
                </a:highlight>
                <a:latin typeface="Consolas" pitchFamily="34" charset="0"/>
                <a:ea typeface="Consolas" pitchFamily="34" charset="-122"/>
                <a:cs typeface="Consolas" pitchFamily="34" charset="-120"/>
              </a:rPr>
              <a:t> = (5,)  # Without comma: (5) is just an integer! # Tuple created without parentheses (tuple packing) coordinates = 10, 20, 30  # (10, 20, 30) # Using the tuple() constructor vowels = tuple('</a:t>
            </a:r>
            <a:r>
              <a:rPr lang="en-US" sz="1800" dirty="0" err="1">
                <a:solidFill>
                  <a:srgbClr val="000000"/>
                </a:solidFill>
                <a:highlight>
                  <a:srgbClr val="F2F2F2"/>
                </a:highlight>
                <a:latin typeface="Consolas" pitchFamily="34" charset="0"/>
                <a:ea typeface="Consolas" pitchFamily="34" charset="-122"/>
                <a:cs typeface="Consolas" pitchFamily="34" charset="-120"/>
              </a:rPr>
              <a:t>aeiou</a:t>
            </a:r>
            <a:r>
              <a:rPr lang="en-US" sz="1800" dirty="0">
                <a:solidFill>
                  <a:srgbClr val="000000"/>
                </a:solidFill>
                <a:highlight>
                  <a:srgbClr val="F2F2F2"/>
                </a:highlight>
                <a:latin typeface="Consolas" pitchFamily="34" charset="0"/>
                <a:ea typeface="Consolas" pitchFamily="34" charset="-122"/>
                <a:cs typeface="Consolas" pitchFamily="34" charset="-120"/>
              </a:rPr>
              <a:t>')  # ('a', 'e', '</a:t>
            </a:r>
            <a:r>
              <a:rPr lang="en-US" sz="1800" dirty="0" err="1">
                <a:solidFill>
                  <a:srgbClr val="000000"/>
                </a:solidFill>
                <a:highlight>
                  <a:srgbClr val="F2F2F2"/>
                </a:highlight>
                <a:latin typeface="Consolas" pitchFamily="34" charset="0"/>
                <a:ea typeface="Consolas" pitchFamily="34" charset="-122"/>
                <a:cs typeface="Consolas" pitchFamily="34" charset="-120"/>
              </a:rPr>
              <a:t>i</a:t>
            </a:r>
            <a:r>
              <a:rPr lang="en-US" sz="1800" dirty="0">
                <a:solidFill>
                  <a:srgbClr val="000000"/>
                </a:solidFill>
                <a:highlight>
                  <a:srgbClr val="F2F2F2"/>
                </a:highlight>
                <a:latin typeface="Consolas" pitchFamily="34" charset="0"/>
                <a:ea typeface="Consolas" pitchFamily="34" charset="-122"/>
                <a:cs typeface="Consolas" pitchFamily="34" charset="-120"/>
              </a:rPr>
              <a:t>', 'o', 'u')</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Remember:</a:t>
            </a:r>
            <a:r>
              <a:rPr lang="en-US" sz="1800" dirty="0">
                <a:solidFill>
                  <a:srgbClr val="000000"/>
                </a:solidFill>
                <a:latin typeface="Montserrat" pitchFamily="34" charset="0"/>
                <a:ea typeface="Montserrat" pitchFamily="34" charset="-122"/>
                <a:cs typeface="Montserrat" pitchFamily="34" charset="-120"/>
              </a:rPr>
              <a:t> For a single-item tuple, you </a:t>
            </a:r>
            <a:r>
              <a:rPr lang="en-US" sz="1800" dirty="0">
                <a:solidFill>
                  <a:srgbClr val="25274D"/>
                </a:solidFill>
                <a:latin typeface="Montserrat" pitchFamily="34" charset="0"/>
                <a:ea typeface="Montserrat" pitchFamily="34" charset="-122"/>
                <a:cs typeface="Montserrat" pitchFamily="34" charset="-120"/>
              </a:rPr>
              <a:t>must</a:t>
            </a:r>
            <a:r>
              <a:rPr lang="en-US" sz="1800" dirty="0">
                <a:solidFill>
                  <a:srgbClr val="000000"/>
                </a:solidFill>
                <a:latin typeface="Montserrat" pitchFamily="34" charset="0"/>
                <a:ea typeface="Montserrat" pitchFamily="34" charset="-122"/>
                <a:cs typeface="Montserrat" pitchFamily="34" charset="-120"/>
              </a:rPr>
              <a:t> include a trailing comma after the value!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Slide number 25</a:t>
            </a:r>
          </a:p>
        </p:txBody>
      </p:sp>
      <p:sp>
        <p:nvSpPr>
          <p:cNvPr id="4" name="Slide Number Placeholder 3">
            <a:extLst>
              <a:ext uri="{FF2B5EF4-FFF2-40B4-BE49-F238E27FC236}">
                <a16:creationId xmlns:a16="http://schemas.microsoft.com/office/drawing/2014/main" id="{A8EB6710-DC89-D35E-13E5-1D961E4E3512}"/>
              </a:ext>
            </a:extLst>
          </p:cNvPr>
          <p:cNvSpPr>
            <a:spLocks noGrp="1"/>
          </p:cNvSpPr>
          <p:nvPr>
            <p:ph type="sldNum" sz="quarter" idx="5"/>
          </p:nvPr>
        </p:nvSpPr>
        <p:spPr/>
        <p:txBody>
          <a:bodyPr/>
          <a:lstStyle/>
          <a:p>
            <a:fld id="{1F1E027D-4684-4D2A-A457-B52C65DF2100}" type="slidenum">
              <a:rPr lang="en-GB" smtClean="0"/>
              <a:t>31</a:t>
            </a:fld>
            <a:endParaRPr lang="en-GB"/>
          </a:p>
        </p:txBody>
      </p:sp>
    </p:spTree>
    <p:extLst>
      <p:ext uri="{BB962C8B-B14F-4D97-AF65-F5344CB8AC3E}">
        <p14:creationId xmlns:p14="http://schemas.microsoft.com/office/powerpoint/2010/main" val="2828575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E5BA4-714C-DDA5-12BB-827FDD100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650E9-4408-4349-9BC9-569AA5757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2D88B-C5CD-BFAA-4DB0-F5672665D0B0}"/>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Characteristics of Tuples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Immutability</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Once created, elements can't be modified, added, or removed, providing data integrity</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Performance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Faster than lists for iteration and access due to their fixed size in memory</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Dictionary Keys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Can be used as dictionary keys if they contain only immutable elements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Multiple Return Values</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Perfect for returning multiple values from functions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1:https://enterprise.shutterstock.com/image-vector/line-icon-open-book-padlock-representing- 2640586701</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2:https://enterprise.shutterstock.com/image-vector/set-60-line-icons-related-productivity- 2294598813</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3 https://enterprise.shutterstock.com/image-vector/application-icons- 138025259</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4:https://enterprise.shutterstock.com/image-vector/mortgage-rate-money-credit-finance-payroll- 2258738853 </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Repository Slide no: 81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545BF2-380A-95DE-57DC-9B8D01067214}"/>
              </a:ext>
            </a:extLst>
          </p:cNvPr>
          <p:cNvSpPr>
            <a:spLocks noGrp="1"/>
          </p:cNvSpPr>
          <p:nvPr>
            <p:ph type="sldNum" sz="quarter" idx="5"/>
          </p:nvPr>
        </p:nvSpPr>
        <p:spPr/>
        <p:txBody>
          <a:bodyPr/>
          <a:lstStyle/>
          <a:p>
            <a:fld id="{1F1E027D-4684-4D2A-A457-B52C65DF2100}" type="slidenum">
              <a:rPr lang="en-GB" smtClean="0"/>
              <a:t>32</a:t>
            </a:fld>
            <a:endParaRPr lang="en-GB"/>
          </a:p>
        </p:txBody>
      </p:sp>
    </p:spTree>
    <p:extLst>
      <p:ext uri="{BB962C8B-B14F-4D97-AF65-F5344CB8AC3E}">
        <p14:creationId xmlns:p14="http://schemas.microsoft.com/office/powerpoint/2010/main" val="10101792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9BC60-EA8A-FE33-9FC7-A756B3965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45DDB-2B46-28F9-9E26-5453754F0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333EC-53FA-80E0-250E-1AD873C3EFAC}"/>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Accessing Tuple Elements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Like lists, tuples are ordered, so you can access elements using their index. The syntax is identical to list indexing</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solidFill>
                <a:srgbClr val="000000"/>
              </a:solidFill>
              <a:latin typeface="Montserrat" pitchFamily="34" charset="0"/>
              <a:ea typeface="Montserrat" pitchFamily="34" charset="-122"/>
              <a:cs typeface="Montserrat" pitchFamily="34" charset="-120"/>
            </a:endParaRPr>
          </a:p>
          <a:p>
            <a:pPr>
              <a:lnSpc>
                <a:spcPts val="1333"/>
              </a:lnSpc>
            </a:pPr>
            <a:r>
              <a:rPr lang="en-US" sz="1800" dirty="0">
                <a:solidFill>
                  <a:srgbClr val="000000"/>
                </a:solidFill>
                <a:highlight>
                  <a:srgbClr val="F2F2F2"/>
                </a:highlight>
                <a:latin typeface="Consolas" pitchFamily="34" charset="0"/>
                <a:ea typeface="Consolas" pitchFamily="34" charset="-122"/>
                <a:cs typeface="Consolas" pitchFamily="34" charset="-120"/>
              </a:rPr>
              <a:t>fruits = ('apple', 'banana', 'cherry’) # Access by positive index print(fruits[0])  # Output: apple # Access by negative index</a:t>
            </a:r>
          </a:p>
          <a:p>
            <a:pPr>
              <a:lnSpc>
                <a:spcPts val="1333"/>
              </a:lnSpc>
            </a:pPr>
            <a:r>
              <a:rPr lang="en-US" sz="1800" dirty="0">
                <a:solidFill>
                  <a:srgbClr val="000000"/>
                </a:solidFill>
                <a:highlight>
                  <a:srgbClr val="F2F2F2"/>
                </a:highlight>
                <a:latin typeface="Consolas" pitchFamily="34" charset="0"/>
                <a:ea typeface="Consolas" pitchFamily="34" charset="-122"/>
                <a:cs typeface="Consolas" pitchFamily="34" charset="-120"/>
              </a:rPr>
              <a:t>print(fruits[-1])  # Output: cherry # Unpacking a tuple a, b, c = fruits print(b)  # Output: banana</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solidFill>
                <a:srgbClr val="000000"/>
              </a:solidFill>
              <a:latin typeface="Montserrat" pitchFamily="34" charset="0"/>
              <a:ea typeface="Montserrat" pitchFamily="34" charset="-122"/>
              <a:cs typeface="Montserrat" pitchFamily="34" charset="-12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Tuple unpacking is a powerful feature that allows you to assign multiple variables at once.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Slide number 27</a:t>
            </a:r>
          </a:p>
        </p:txBody>
      </p:sp>
      <p:sp>
        <p:nvSpPr>
          <p:cNvPr id="4" name="Slide Number Placeholder 3">
            <a:extLst>
              <a:ext uri="{FF2B5EF4-FFF2-40B4-BE49-F238E27FC236}">
                <a16:creationId xmlns:a16="http://schemas.microsoft.com/office/drawing/2014/main" id="{1AAAABEF-6153-69E3-CB14-CBB6A293BDBB}"/>
              </a:ext>
            </a:extLst>
          </p:cNvPr>
          <p:cNvSpPr>
            <a:spLocks noGrp="1"/>
          </p:cNvSpPr>
          <p:nvPr>
            <p:ph type="sldNum" sz="quarter" idx="5"/>
          </p:nvPr>
        </p:nvSpPr>
        <p:spPr/>
        <p:txBody>
          <a:bodyPr/>
          <a:lstStyle/>
          <a:p>
            <a:fld id="{1F1E027D-4684-4D2A-A457-B52C65DF2100}" type="slidenum">
              <a:rPr lang="en-GB" smtClean="0"/>
              <a:t>33</a:t>
            </a:fld>
            <a:endParaRPr lang="en-GB"/>
          </a:p>
        </p:txBody>
      </p:sp>
    </p:spTree>
    <p:extLst>
      <p:ext uri="{BB962C8B-B14F-4D97-AF65-F5344CB8AC3E}">
        <p14:creationId xmlns:p14="http://schemas.microsoft.com/office/powerpoint/2010/main" val="33314632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65DA-373D-5CA0-820A-1DD47A646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0A77F-3E68-17AF-996D-930105C02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D1610-189D-ECE8-2D61-32A46E63773D}"/>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Tuple Operations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While tuples are immutable, you can perform various operations such as slicing, concatenation, and repetition.</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solidFill>
                <a:srgbClr val="000000"/>
              </a:solidFill>
              <a:latin typeface="Montserrat" pitchFamily="34" charset="0"/>
            </a:endParaRPr>
          </a:p>
          <a:p>
            <a:pPr>
              <a:lnSpc>
                <a:spcPts val="1333"/>
              </a:lnSpc>
            </a:pPr>
            <a:r>
              <a:rPr lang="en-US" sz="1800" dirty="0">
                <a:solidFill>
                  <a:srgbClr val="000000"/>
                </a:solidFill>
                <a:highlight>
                  <a:srgbClr val="F2F2F2"/>
                </a:highlight>
                <a:latin typeface="Consolas" pitchFamily="34" charset="0"/>
                <a:ea typeface="Consolas" pitchFamily="34" charset="-122"/>
                <a:cs typeface="Consolas" pitchFamily="34" charset="-120"/>
              </a:rPr>
              <a:t>numbers = (1, 2, 3, 4) # Slicing print(numbers[1:3])  # Output: (2, 3) # Concatenation combined = numbers + (5, 6)  # (1, 2, 3, 4, 5, 6) # Repetition print(numbers * 2)  # (1, 2, 3, 4, 1, 2, 3, 4) # Finding min/max print(min(numbers))  # 1 print(max(numbers))  # 4 # Count occurrences print(</a:t>
            </a:r>
            <a:r>
              <a:rPr lang="en-US" sz="1800" dirty="0" err="1">
                <a:solidFill>
                  <a:srgbClr val="000000"/>
                </a:solidFill>
                <a:highlight>
                  <a:srgbClr val="F2F2F2"/>
                </a:highlight>
                <a:latin typeface="Consolas" pitchFamily="34" charset="0"/>
                <a:ea typeface="Consolas" pitchFamily="34" charset="-122"/>
                <a:cs typeface="Consolas" pitchFamily="34" charset="-120"/>
              </a:rPr>
              <a:t>numbers.count</a:t>
            </a:r>
            <a:r>
              <a:rPr lang="en-US" sz="1800" dirty="0">
                <a:solidFill>
                  <a:srgbClr val="000000"/>
                </a:solidFill>
                <a:highlight>
                  <a:srgbClr val="F2F2F2"/>
                </a:highlight>
                <a:latin typeface="Consolas" pitchFamily="34" charset="0"/>
                <a:ea typeface="Consolas" pitchFamily="34" charset="-122"/>
                <a:cs typeface="Consolas" pitchFamily="34" charset="-120"/>
              </a:rPr>
              <a:t>(2))  # 1</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Although you can't change a tuple directly, you can create new tuples based on existing ones.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Slide number 28</a:t>
            </a:r>
          </a:p>
        </p:txBody>
      </p:sp>
      <p:sp>
        <p:nvSpPr>
          <p:cNvPr id="4" name="Slide Number Placeholder 3">
            <a:extLst>
              <a:ext uri="{FF2B5EF4-FFF2-40B4-BE49-F238E27FC236}">
                <a16:creationId xmlns:a16="http://schemas.microsoft.com/office/drawing/2014/main" id="{081FB52C-D529-C7EC-10BE-09F51B9C0417}"/>
              </a:ext>
            </a:extLst>
          </p:cNvPr>
          <p:cNvSpPr>
            <a:spLocks noGrp="1"/>
          </p:cNvSpPr>
          <p:nvPr>
            <p:ph type="sldNum" sz="quarter" idx="5"/>
          </p:nvPr>
        </p:nvSpPr>
        <p:spPr/>
        <p:txBody>
          <a:bodyPr/>
          <a:lstStyle/>
          <a:p>
            <a:fld id="{1F1E027D-4684-4D2A-A457-B52C65DF2100}" type="slidenum">
              <a:rPr lang="en-GB" smtClean="0"/>
              <a:t>34</a:t>
            </a:fld>
            <a:endParaRPr lang="en-GB"/>
          </a:p>
        </p:txBody>
      </p:sp>
    </p:spTree>
    <p:extLst>
      <p:ext uri="{BB962C8B-B14F-4D97-AF65-F5344CB8AC3E}">
        <p14:creationId xmlns:p14="http://schemas.microsoft.com/office/powerpoint/2010/main" val="27726050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42198-1096-778C-11CC-EAF706BA7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D7309-8D67-1827-9ECF-E6D501AA4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F6683-4788-FA46-4F88-010E73C3F5CB}"/>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When to Use Tuples vs. Lists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Use Lists When: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need to modify the collection after creation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want to add or remove items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Your data needs to be sorted or rearranged</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You're collecting user input or growing a collection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Use Tuples When: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Your data should not change (constants)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need dictionary keys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want slightly better performance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You're returning multiple values from a function</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need to ensure data integrity</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2E4C5289-62D5-AC99-11EB-5CFED8115E59}"/>
              </a:ext>
            </a:extLst>
          </p:cNvPr>
          <p:cNvSpPr>
            <a:spLocks noGrp="1"/>
          </p:cNvSpPr>
          <p:nvPr>
            <p:ph type="sldNum" sz="quarter" idx="5"/>
          </p:nvPr>
        </p:nvSpPr>
        <p:spPr/>
        <p:txBody>
          <a:bodyPr/>
          <a:lstStyle/>
          <a:p>
            <a:fld id="{1F1E027D-4684-4D2A-A457-B52C65DF2100}" type="slidenum">
              <a:rPr lang="en-GB" smtClean="0"/>
              <a:t>35</a:t>
            </a:fld>
            <a:endParaRPr lang="en-GB"/>
          </a:p>
        </p:txBody>
      </p:sp>
    </p:spTree>
    <p:extLst>
      <p:ext uri="{BB962C8B-B14F-4D97-AF65-F5344CB8AC3E}">
        <p14:creationId xmlns:p14="http://schemas.microsoft.com/office/powerpoint/2010/main" val="3511372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20ADB-2B30-26AA-210A-EE30EAA72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E896E-80BD-8F02-24AB-9273134F6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43875-FE78-F1B5-DAC5-28E86CBC7A71}"/>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rPr>
              <a:t>What is sets in Python </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Imagine a set as a bag of unique items where the order doesn't matter, and there are no duplicates. This is similar to a set in mathematics, where each element is unique.</a:t>
            </a:r>
            <a:endParaRPr lang="en-US" sz="1800" kern="1200" dirty="0">
              <a:solidFill>
                <a:srgbClr val="000000"/>
              </a:solidFill>
              <a:effectLst/>
              <a:latin typeface="+mn-lt"/>
              <a:ea typeface="+mn-ea"/>
              <a:cs typeface="+mn-cs"/>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latin typeface="Montserrat Bold" pitchFamily="34" charset="0"/>
                <a:ea typeface="Montserrat Bold" pitchFamily="34" charset="-122"/>
                <a:cs typeface="Montserrat Bold" pitchFamily="34" charset="-120"/>
              </a:rPr>
              <a:t>Features of  Sets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Unordered collection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Elements have no specific order or position, so you can't access them by index</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No duplicate elements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Each element appears exactly once - duplicates are automatically removed</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Mutable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can add or remove elements after creating the set</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Image: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https://enterprise.shutterstock.com/catalog?q=python</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Infographic Repository Slide 91</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0F66CC2-1F2C-D25F-F89A-98B5FBAB7E4B}"/>
              </a:ext>
            </a:extLst>
          </p:cNvPr>
          <p:cNvSpPr>
            <a:spLocks noGrp="1"/>
          </p:cNvSpPr>
          <p:nvPr>
            <p:ph type="sldNum" sz="quarter" idx="5"/>
          </p:nvPr>
        </p:nvSpPr>
        <p:spPr/>
        <p:txBody>
          <a:bodyPr/>
          <a:lstStyle/>
          <a:p>
            <a:fld id="{1F1E027D-4684-4D2A-A457-B52C65DF2100}" type="slidenum">
              <a:rPr lang="en-GB" smtClean="0"/>
              <a:t>37</a:t>
            </a:fld>
            <a:endParaRPr lang="en-GB"/>
          </a:p>
        </p:txBody>
      </p:sp>
    </p:spTree>
    <p:extLst>
      <p:ext uri="{BB962C8B-B14F-4D97-AF65-F5344CB8AC3E}">
        <p14:creationId xmlns:p14="http://schemas.microsoft.com/office/powerpoint/2010/main" val="837188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6CAC9-51D2-125A-D7D5-38F36D685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927D4-A80C-5A3E-ABFD-2F619B233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4BE02-BD0F-FDC5-26F6-0A39AD502F23}"/>
              </a:ext>
            </a:extLst>
          </p:cNvPr>
          <p:cNvSpPr>
            <a:spLocks noGrp="1"/>
          </p:cNvSpPr>
          <p:nvPr>
            <p:ph type="body" idx="1"/>
          </p:nvPr>
        </p:nvSpPr>
        <p:spPr/>
        <p:txBody>
          <a:bodyPr/>
          <a:lstStyle/>
          <a:p>
            <a:pPr>
              <a:lnSpc>
                <a:spcPts val="2625"/>
              </a:lnSpc>
            </a:pPr>
            <a:r>
              <a:rPr lang="en-US" sz="1800" b="1" dirty="0">
                <a:solidFill>
                  <a:srgbClr val="25274D"/>
                </a:solidFill>
                <a:latin typeface="Montserrat Bold" pitchFamily="34" charset="0"/>
                <a:ea typeface="Montserrat Bold" pitchFamily="34" charset="-122"/>
                <a:cs typeface="Montserrat Bold" pitchFamily="34" charset="-120"/>
              </a:rPr>
              <a:t>How to Create a Set</a:t>
            </a:r>
          </a:p>
          <a:p>
            <a:pPr marL="0" marR="0" lvl="0" indent="0" algn="l" defTabSz="914400" rtl="0" eaLnBrk="1" fontAlgn="auto" latinLnBrk="0" hangingPunct="1">
              <a:lnSpc>
                <a:spcPts val="2625"/>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Creating a set in Python is straightforward. You can initialize a set using curly braces </a:t>
            </a:r>
            <a:r>
              <a:rPr lang="en-US" sz="1800" dirty="0">
                <a:solidFill>
                  <a:srgbClr val="000000"/>
                </a:solidFill>
                <a:highlight>
                  <a:srgbClr val="F2F2F2"/>
                </a:highlight>
                <a:latin typeface="Consolas" pitchFamily="34" charset="0"/>
                <a:ea typeface="Consolas" pitchFamily="34" charset="-122"/>
                <a:cs typeface="Consolas" pitchFamily="34" charset="-120"/>
              </a:rPr>
              <a:t>{}</a:t>
            </a:r>
            <a:r>
              <a:rPr lang="en-US" sz="1800" dirty="0">
                <a:solidFill>
                  <a:srgbClr val="000000"/>
                </a:solidFill>
                <a:latin typeface="Montserrat" pitchFamily="34" charset="0"/>
                <a:ea typeface="Montserrat" pitchFamily="34" charset="-122"/>
                <a:cs typeface="Montserrat" pitchFamily="34" charset="-120"/>
              </a:rPr>
              <a:t> or the </a:t>
            </a:r>
            <a:r>
              <a:rPr lang="en-US" sz="1800" dirty="0">
                <a:solidFill>
                  <a:srgbClr val="000000"/>
                </a:solidFill>
                <a:highlight>
                  <a:srgbClr val="F2F2F2"/>
                </a:highlight>
                <a:latin typeface="Consolas" pitchFamily="34" charset="0"/>
                <a:ea typeface="Consolas" pitchFamily="34" charset="-122"/>
                <a:cs typeface="Consolas" pitchFamily="34" charset="-120"/>
              </a:rPr>
              <a:t>set()</a:t>
            </a:r>
            <a:r>
              <a:rPr lang="en-US" sz="1800" dirty="0">
                <a:solidFill>
                  <a:srgbClr val="000000"/>
                </a:solidFill>
                <a:latin typeface="Montserrat" pitchFamily="34" charset="0"/>
                <a:ea typeface="Montserrat" pitchFamily="34" charset="-122"/>
                <a:cs typeface="Montserrat" pitchFamily="34" charset="-120"/>
              </a:rPr>
              <a:t> function.</a:t>
            </a:r>
          </a:p>
          <a:p>
            <a:pPr marL="0" marR="0" lvl="0" indent="0" algn="l" defTabSz="914400" rtl="0" eaLnBrk="1" fontAlgn="auto" latinLnBrk="0" hangingPunct="1">
              <a:lnSpc>
                <a:spcPts val="2625"/>
              </a:lnSpc>
              <a:spcBef>
                <a:spcPts val="0"/>
              </a:spcBef>
              <a:spcAft>
                <a:spcPts val="0"/>
              </a:spcAft>
              <a:buClrTx/>
              <a:buSzTx/>
              <a:buFontTx/>
              <a:buNone/>
              <a:tabLst/>
              <a:defRPr/>
            </a:pPr>
            <a:endParaRPr lang="en-US" sz="1800" dirty="0">
              <a:solidFill>
                <a:srgbClr val="000000"/>
              </a:solidFill>
              <a:latin typeface="Montserrat" pitchFamily="34" charset="0"/>
            </a:endParaRPr>
          </a:p>
          <a:p>
            <a:pPr>
              <a:lnSpc>
                <a:spcPts val="1333"/>
              </a:lnSpc>
            </a:pPr>
            <a:r>
              <a:rPr lang="en-US" sz="1800" dirty="0">
                <a:solidFill>
                  <a:srgbClr val="000000"/>
                </a:solidFill>
                <a:highlight>
                  <a:srgbClr val="F2F2F2"/>
                </a:highlight>
                <a:latin typeface="Consolas" pitchFamily="34" charset="0"/>
                <a:ea typeface="Consolas" pitchFamily="34" charset="-122"/>
                <a:cs typeface="Consolas" pitchFamily="34" charset="-120"/>
              </a:rPr>
              <a:t># Empty </a:t>
            </a:r>
            <a:r>
              <a:rPr lang="en-US" sz="1800" dirty="0" err="1">
                <a:solidFill>
                  <a:srgbClr val="000000"/>
                </a:solidFill>
                <a:highlight>
                  <a:srgbClr val="F2F2F2"/>
                </a:highlight>
                <a:latin typeface="Consolas" pitchFamily="34" charset="0"/>
                <a:ea typeface="Consolas" pitchFamily="34" charset="-122"/>
                <a:cs typeface="Consolas" pitchFamily="34" charset="-120"/>
              </a:rPr>
              <a:t>setempty_set</a:t>
            </a:r>
            <a:r>
              <a:rPr lang="en-US" sz="1800" dirty="0">
                <a:solidFill>
                  <a:srgbClr val="000000"/>
                </a:solidFill>
                <a:highlight>
                  <a:srgbClr val="F2F2F2"/>
                </a:highlight>
                <a:latin typeface="Consolas" pitchFamily="34" charset="0"/>
                <a:ea typeface="Consolas" pitchFamily="34" charset="-122"/>
                <a:cs typeface="Consolas" pitchFamily="34" charset="-120"/>
              </a:rPr>
              <a:t> = set()  # NOT {} which creates an empty dictionary# Set with elements fruits = {'apple', 'banana', 'cherry’} # Set with different data types </a:t>
            </a:r>
            <a:r>
              <a:rPr lang="en-US" sz="1800" dirty="0" err="1">
                <a:solidFill>
                  <a:srgbClr val="000000"/>
                </a:solidFill>
                <a:highlight>
                  <a:srgbClr val="F2F2F2"/>
                </a:highlight>
                <a:latin typeface="Consolas" pitchFamily="34" charset="0"/>
                <a:ea typeface="Consolas" pitchFamily="34" charset="-122"/>
                <a:cs typeface="Consolas" pitchFamily="34" charset="-120"/>
              </a:rPr>
              <a:t>mixed_set</a:t>
            </a:r>
            <a:r>
              <a:rPr lang="en-US" sz="1800" dirty="0">
                <a:solidFill>
                  <a:srgbClr val="000000"/>
                </a:solidFill>
                <a:highlight>
                  <a:srgbClr val="F2F2F2"/>
                </a:highlight>
                <a:latin typeface="Consolas" pitchFamily="34" charset="0"/>
                <a:ea typeface="Consolas" pitchFamily="34" charset="-122"/>
                <a:cs typeface="Consolas" pitchFamily="34" charset="-120"/>
              </a:rPr>
              <a:t> = {1, 'apple', 3.5} # Creating a set from another </a:t>
            </a:r>
            <a:r>
              <a:rPr lang="en-US" sz="1800" dirty="0" err="1">
                <a:solidFill>
                  <a:srgbClr val="000000"/>
                </a:solidFill>
                <a:highlight>
                  <a:srgbClr val="F2F2F2"/>
                </a:highlight>
                <a:latin typeface="Consolas" pitchFamily="34" charset="0"/>
                <a:ea typeface="Consolas" pitchFamily="34" charset="-122"/>
                <a:cs typeface="Consolas" pitchFamily="34" charset="-120"/>
              </a:rPr>
              <a:t>iterable</a:t>
            </a:r>
            <a:r>
              <a:rPr lang="en-US" sz="1800" dirty="0">
                <a:solidFill>
                  <a:srgbClr val="000000"/>
                </a:solidFill>
                <a:highlight>
                  <a:srgbClr val="F2F2F2"/>
                </a:highlight>
                <a:latin typeface="Consolas" pitchFamily="34" charset="0"/>
                <a:ea typeface="Consolas" pitchFamily="34" charset="-122"/>
                <a:cs typeface="Consolas" pitchFamily="34" charset="-120"/>
              </a:rPr>
              <a:t> numbers = set([1, 2, 2, 3, 4, 4])  # Duplicates removed # Result: {1, 2, 3, 4}</a:t>
            </a:r>
            <a:endParaRPr lang="en-US" sz="1800" dirty="0"/>
          </a:p>
          <a:p>
            <a:pPr marL="0" marR="0" lvl="0" indent="0" algn="l" defTabSz="914400" rtl="0" eaLnBrk="1" fontAlgn="auto" latinLnBrk="0" hangingPunct="1">
              <a:lnSpc>
                <a:spcPts val="2625"/>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2625"/>
              </a:lnSpc>
              <a:spcBef>
                <a:spcPts val="0"/>
              </a:spcBef>
              <a:spcAft>
                <a:spcPts val="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Note:</a:t>
            </a:r>
            <a:r>
              <a:rPr lang="en-US" sz="1800" dirty="0">
                <a:solidFill>
                  <a:srgbClr val="000000"/>
                </a:solidFill>
                <a:latin typeface="Montserrat" pitchFamily="34" charset="0"/>
                <a:ea typeface="Montserrat" pitchFamily="34" charset="-122"/>
                <a:cs typeface="Montserrat" pitchFamily="34" charset="-120"/>
              </a:rPr>
              <a:t> </a:t>
            </a:r>
            <a:r>
              <a:rPr lang="en-US" sz="1800" dirty="0">
                <a:solidFill>
                  <a:srgbClr val="25274D"/>
                </a:solidFill>
                <a:latin typeface="Montserrat" pitchFamily="34" charset="0"/>
                <a:ea typeface="Montserrat" pitchFamily="34" charset="-122"/>
                <a:cs typeface="Montserrat" pitchFamily="34" charset="-120"/>
              </a:rPr>
              <a:t>To create an empty set, you must use </a:t>
            </a:r>
            <a:r>
              <a:rPr lang="en-US" sz="1800" dirty="0">
                <a:solidFill>
                  <a:srgbClr val="000000"/>
                </a:solidFill>
                <a:highlight>
                  <a:srgbClr val="F2F2F2"/>
                </a:highlight>
                <a:latin typeface="Consolas" pitchFamily="34" charset="0"/>
                <a:ea typeface="Consolas" pitchFamily="34" charset="-122"/>
                <a:cs typeface="Consolas" pitchFamily="34" charset="-120"/>
              </a:rPr>
              <a:t>set()</a:t>
            </a:r>
            <a:r>
              <a:rPr lang="en-US" sz="1800" dirty="0">
                <a:solidFill>
                  <a:srgbClr val="25274D"/>
                </a:solidFill>
                <a:latin typeface="Montserrat" pitchFamily="34" charset="0"/>
                <a:ea typeface="Montserrat" pitchFamily="34" charset="-122"/>
                <a:cs typeface="Montserrat" pitchFamily="34" charset="-120"/>
              </a:rPr>
              <a:t>, not </a:t>
            </a:r>
            <a:r>
              <a:rPr lang="en-US" sz="1800" dirty="0">
                <a:solidFill>
                  <a:srgbClr val="000000"/>
                </a:solidFill>
                <a:highlight>
                  <a:srgbClr val="F2F2F2"/>
                </a:highlight>
                <a:latin typeface="Consolas" pitchFamily="34" charset="0"/>
                <a:ea typeface="Consolas" pitchFamily="34" charset="-122"/>
                <a:cs typeface="Consolas" pitchFamily="34" charset="-120"/>
              </a:rPr>
              <a:t>{}</a:t>
            </a:r>
            <a:r>
              <a:rPr lang="en-US" sz="1800" dirty="0">
                <a:solidFill>
                  <a:srgbClr val="000000"/>
                </a:solidFill>
                <a:latin typeface="Montserrat" pitchFamily="34" charset="0"/>
                <a:ea typeface="Montserrat" pitchFamily="34" charset="-122"/>
                <a:cs typeface="Montserrat" pitchFamily="34" charset="-120"/>
              </a:rPr>
              <a:t> (which creates an empty dictionary).</a:t>
            </a:r>
          </a:p>
          <a:p>
            <a:pPr marL="0" marR="0" lvl="0" indent="0" algn="l" defTabSz="914400" rtl="0" eaLnBrk="1" fontAlgn="auto" latinLnBrk="0" hangingPunct="1">
              <a:lnSpc>
                <a:spcPts val="2625"/>
              </a:lnSpc>
              <a:spcBef>
                <a:spcPts val="0"/>
              </a:spcBef>
              <a:spcAft>
                <a:spcPts val="0"/>
              </a:spcAft>
              <a:buClrTx/>
              <a:buSzTx/>
              <a:buFontTx/>
              <a:buNone/>
              <a:tabLst/>
              <a:defRPr/>
            </a:pPr>
            <a:endParaRPr lang="en-US" sz="1800" dirty="0">
              <a:solidFill>
                <a:srgbClr val="000000"/>
              </a:solidFill>
              <a:latin typeface="Montserrat" pitchFamily="34" charset="0"/>
            </a:endParaRPr>
          </a:p>
          <a:p>
            <a:pPr marL="0" marR="0" lvl="0" indent="0" algn="l" defTabSz="914400" rtl="0" eaLnBrk="1" fontAlgn="auto" latinLnBrk="0" hangingPunct="1">
              <a:lnSpc>
                <a:spcPts val="2625"/>
              </a:lnSpc>
              <a:spcBef>
                <a:spcPts val="0"/>
              </a:spcBef>
              <a:spcAft>
                <a:spcPts val="0"/>
              </a:spcAft>
              <a:buClrTx/>
              <a:buSzTx/>
              <a:buFontTx/>
              <a:buNone/>
              <a:tabLst/>
              <a:defRPr/>
            </a:pPr>
            <a:r>
              <a:rPr lang="en-US" sz="1800" dirty="0">
                <a:solidFill>
                  <a:srgbClr val="000000"/>
                </a:solidFill>
                <a:latin typeface="Montserrat" pitchFamily="34" charset="0"/>
              </a:rPr>
              <a:t>Image: Slide number: 32</a:t>
            </a:r>
            <a:endParaRPr lang="en-US" sz="1800" dirty="0"/>
          </a:p>
          <a:p>
            <a:pPr>
              <a:lnSpc>
                <a:spcPts val="2625"/>
              </a:lnSpc>
            </a:pPr>
            <a:endParaRPr lang="en-US" sz="1800" dirty="0"/>
          </a:p>
        </p:txBody>
      </p:sp>
      <p:sp>
        <p:nvSpPr>
          <p:cNvPr id="4" name="Slide Number Placeholder 3">
            <a:extLst>
              <a:ext uri="{FF2B5EF4-FFF2-40B4-BE49-F238E27FC236}">
                <a16:creationId xmlns:a16="http://schemas.microsoft.com/office/drawing/2014/main" id="{E3643DF0-6070-4FC4-D41C-26168CE41E0C}"/>
              </a:ext>
            </a:extLst>
          </p:cNvPr>
          <p:cNvSpPr>
            <a:spLocks noGrp="1"/>
          </p:cNvSpPr>
          <p:nvPr>
            <p:ph type="sldNum" sz="quarter" idx="5"/>
          </p:nvPr>
        </p:nvSpPr>
        <p:spPr/>
        <p:txBody>
          <a:bodyPr/>
          <a:lstStyle/>
          <a:p>
            <a:fld id="{1F1E027D-4684-4D2A-A457-B52C65DF2100}" type="slidenum">
              <a:rPr lang="en-GB" smtClean="0"/>
              <a:t>38</a:t>
            </a:fld>
            <a:endParaRPr lang="en-GB"/>
          </a:p>
        </p:txBody>
      </p:sp>
    </p:spTree>
    <p:extLst>
      <p:ext uri="{BB962C8B-B14F-4D97-AF65-F5344CB8AC3E}">
        <p14:creationId xmlns:p14="http://schemas.microsoft.com/office/powerpoint/2010/main" val="19678435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A642A-417C-6CD2-6DC1-8941F08C5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90914-099C-40EB-BCE3-6301A92D0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BEA0B-EB2F-EE87-A553-1B4AE1A6F2BF}"/>
              </a:ext>
            </a:extLst>
          </p:cNvPr>
          <p:cNvSpPr>
            <a:spLocks noGrp="1"/>
          </p:cNvSpPr>
          <p:nvPr>
            <p:ph type="body" idx="1"/>
          </p:nvPr>
        </p:nvSpPr>
        <p:spPr/>
        <p:txBody>
          <a:bodyPr/>
          <a:lstStyle/>
          <a:p>
            <a:pPr>
              <a:lnSpc>
                <a:spcPts val="4042"/>
              </a:lnSpc>
            </a:pPr>
            <a:r>
              <a:rPr lang="en-US" sz="1800" b="1" dirty="0">
                <a:solidFill>
                  <a:srgbClr val="25274D"/>
                </a:solidFill>
                <a:latin typeface="Montserrat Bold" pitchFamily="34" charset="0"/>
                <a:ea typeface="Montserrat Bold" pitchFamily="34" charset="-122"/>
                <a:cs typeface="Montserrat Bold" pitchFamily="34" charset="-120"/>
              </a:rPr>
              <a:t>Properties of Sets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Sets have unique characteristics that differentiate them from other data structures like lists and tuples.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Unordered</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Elements in a set have no specific order, making indexing or slicing impossible:</a:t>
            </a:r>
            <a:endParaRPr lang="en-US" sz="1800" dirty="0"/>
          </a:p>
          <a:p>
            <a:pPr>
              <a:lnSpc>
                <a:spcPts val="2083"/>
              </a:lnSpc>
            </a:pPr>
            <a:r>
              <a:rPr lang="en-US" sz="1800" dirty="0">
                <a:solidFill>
                  <a:srgbClr val="000000"/>
                </a:solidFill>
                <a:highlight>
                  <a:srgbClr val="F2F2F2"/>
                </a:highlight>
                <a:latin typeface="Consolas" pitchFamily="34" charset="0"/>
                <a:ea typeface="Consolas" pitchFamily="34" charset="-122"/>
                <a:cs typeface="Consolas" pitchFamily="34" charset="-120"/>
              </a:rPr>
              <a:t>fruits = {'apple', 'banana', 'cherry’} # This will raise an error:# print(fruits[0])</a:t>
            </a:r>
          </a:p>
          <a:p>
            <a:pPr>
              <a:lnSpc>
                <a:spcPts val="2083"/>
              </a:lnSpc>
            </a:pPr>
            <a:endParaRPr lang="en-US" sz="1800" dirty="0">
              <a:solidFill>
                <a:srgbClr val="000000"/>
              </a:solidFill>
              <a:highlight>
                <a:srgbClr val="F2F2F2"/>
              </a:highlight>
              <a:latin typeface="Consolas" pitchFamily="34"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highlight>
                  <a:srgbClr val="F2F2F2"/>
                </a:highlight>
                <a:latin typeface="Montserrat Bold" pitchFamily="34" charset="0"/>
                <a:ea typeface="Montserrat Bold" pitchFamily="34" charset="-122"/>
                <a:cs typeface="Montserrat Bold" pitchFamily="34" charset="-120"/>
              </a:rPr>
              <a:t>Unique Elements</a:t>
            </a:r>
            <a:endParaRPr lang="en-US" sz="1800" dirty="0">
              <a:highlight>
                <a:srgbClr val="F2F2F2"/>
              </a:highlight>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highlight>
                <a:srgbClr val="F2F2F2"/>
              </a:highligh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highlight>
                  <a:srgbClr val="F2F2F2"/>
                </a:highlight>
                <a:latin typeface="Montserrat" pitchFamily="34" charset="0"/>
                <a:ea typeface="Montserrat" pitchFamily="34" charset="-122"/>
                <a:cs typeface="Montserrat" pitchFamily="34" charset="-120"/>
              </a:rPr>
              <a:t>Duplicates are automatically removed when creating a set</a:t>
            </a:r>
            <a:endParaRPr lang="en-IN" sz="1800" kern="100" dirty="0">
              <a:effectLst/>
              <a:highlight>
                <a:srgbClr val="F2F2F2"/>
              </a:highligh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highlight>
                <a:srgbClr val="F2F2F2"/>
              </a:highlight>
              <a:latin typeface="Aptos" panose="020B0004020202020204" pitchFamily="34" charset="0"/>
              <a:ea typeface="Aptos" panose="020B0004020202020204" pitchFamily="34" charset="0"/>
              <a:cs typeface="Times New Roman" panose="02020603050405020304" pitchFamily="18" charset="0"/>
            </a:endParaRPr>
          </a:p>
          <a:p>
            <a:pPr>
              <a:lnSpc>
                <a:spcPts val="2083"/>
              </a:lnSpc>
            </a:pPr>
            <a:r>
              <a:rPr lang="en-US" sz="1800" dirty="0">
                <a:solidFill>
                  <a:srgbClr val="000000"/>
                </a:solidFill>
                <a:highlight>
                  <a:srgbClr val="F2F2F2"/>
                </a:highlight>
                <a:latin typeface="Consolas" pitchFamily="34" charset="0"/>
                <a:ea typeface="Consolas" pitchFamily="34" charset="-122"/>
                <a:cs typeface="Consolas" pitchFamily="34" charset="-120"/>
              </a:rPr>
              <a:t>numbers = set([1, 2, 2, 3, 3, 3]) print(numbers)  # {1, 2, 3}</a:t>
            </a:r>
            <a:endParaRPr lang="en-US" sz="1800" dirty="0">
              <a:highlight>
                <a:srgbClr val="F2F2F2"/>
              </a:highlight>
            </a:endParaRPr>
          </a:p>
          <a:p>
            <a:pPr>
              <a:lnSpc>
                <a:spcPts val="2083"/>
              </a:lnSpc>
            </a:pPr>
            <a:endParaRPr lang="en-US" sz="1800" dirty="0">
              <a:solidFill>
                <a:srgbClr val="000000"/>
              </a:solidFill>
              <a:highlight>
                <a:srgbClr val="F2F2F2"/>
              </a:highlight>
              <a:latin typeface="Consolas" pitchFamily="34"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highlight>
                  <a:srgbClr val="F2F2F2"/>
                </a:highlight>
                <a:latin typeface="Montserrat Bold" pitchFamily="34" charset="0"/>
                <a:ea typeface="Montserrat Bold" pitchFamily="34" charset="-122"/>
                <a:cs typeface="Montserrat Bold" pitchFamily="34" charset="-120"/>
              </a:rPr>
              <a:t>Mutable but with Restrictions</a:t>
            </a:r>
            <a:endParaRPr lang="en-US" sz="1800" dirty="0">
              <a:highlight>
                <a:srgbClr val="F2F2F2"/>
              </a:highlight>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highlight>
                <a:srgbClr val="F2F2F2"/>
              </a:highligh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highlight>
                  <a:srgbClr val="F2F2F2"/>
                </a:highlight>
                <a:latin typeface="Montserrat" pitchFamily="34" charset="0"/>
                <a:ea typeface="Montserrat" pitchFamily="34" charset="-122"/>
                <a:cs typeface="Montserrat" pitchFamily="34" charset="-120"/>
              </a:rPr>
              <a:t>Sets can be modified, but can only contain immutable elements:</a:t>
            </a:r>
          </a:p>
          <a:p>
            <a:pPr>
              <a:lnSpc>
                <a:spcPts val="2083"/>
              </a:lnSpc>
            </a:pPr>
            <a:r>
              <a:rPr lang="en-US" sz="1800" dirty="0">
                <a:solidFill>
                  <a:srgbClr val="000000"/>
                </a:solidFill>
                <a:highlight>
                  <a:srgbClr val="F2F2F2"/>
                </a:highlight>
                <a:latin typeface="Consolas" pitchFamily="34" charset="0"/>
                <a:ea typeface="Consolas" pitchFamily="34" charset="-122"/>
                <a:cs typeface="Consolas" pitchFamily="34" charset="-120"/>
              </a:rPr>
              <a:t># This works: s = {1, 2, (3, 4)} # This raises an error:#  s = {1, 2, [3, 4]}</a:t>
            </a:r>
          </a:p>
          <a:p>
            <a:pPr>
              <a:lnSpc>
                <a:spcPts val="2083"/>
              </a:lnSpc>
            </a:pPr>
            <a:endParaRPr lang="en-US" sz="1800" dirty="0">
              <a:solidFill>
                <a:srgbClr val="000000"/>
              </a:solidFill>
              <a:highlight>
                <a:srgbClr val="F2F2F2"/>
              </a:highlight>
              <a:latin typeface="Consolas" pitchFamily="34" charset="0"/>
            </a:endParaRPr>
          </a:p>
          <a:p>
            <a:pPr>
              <a:lnSpc>
                <a:spcPts val="2083"/>
              </a:lnSpc>
            </a:pPr>
            <a:endParaRPr lang="en-US" sz="1800" dirty="0">
              <a:solidFill>
                <a:srgbClr val="000000"/>
              </a:solidFill>
              <a:highlight>
                <a:srgbClr val="F2F2F2"/>
              </a:highlight>
              <a:latin typeface="Consolas" pitchFamily="34" charset="0"/>
            </a:endParaRPr>
          </a:p>
          <a:p>
            <a:pPr>
              <a:lnSpc>
                <a:spcPts val="2083"/>
              </a:lnSpc>
            </a:pPr>
            <a:endParaRPr lang="en-US" sz="1800" dirty="0">
              <a:solidFill>
                <a:srgbClr val="000000"/>
              </a:solidFill>
              <a:highlight>
                <a:srgbClr val="F2F2F2"/>
              </a:highlight>
              <a:latin typeface="Consolas" pitchFamily="34" charset="0"/>
            </a:endParaRPr>
          </a:p>
          <a:p>
            <a:pPr>
              <a:lnSpc>
                <a:spcPts val="2083"/>
              </a:lnSpc>
            </a:pPr>
            <a:endParaRPr lang="en-US" sz="1800" dirty="0">
              <a:solidFill>
                <a:srgbClr val="000000"/>
              </a:solidFill>
              <a:highlight>
                <a:srgbClr val="F2F2F2"/>
              </a:highlight>
              <a:latin typeface="Consolas" pitchFamily="34" charset="0"/>
            </a:endParaRPr>
          </a:p>
          <a:p>
            <a:pPr>
              <a:lnSpc>
                <a:spcPts val="2083"/>
              </a:lnSpc>
            </a:pPr>
            <a:r>
              <a:rPr lang="en-US" sz="1800" dirty="0">
                <a:solidFill>
                  <a:srgbClr val="000000"/>
                </a:solidFill>
                <a:highlight>
                  <a:srgbClr val="F2F2F2"/>
                </a:highlight>
                <a:latin typeface="Consolas" pitchFamily="34" charset="0"/>
              </a:rPr>
              <a:t>Image: Slide number 33</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C259F71-E3A4-5DDA-B454-02DCD4D5492D}"/>
              </a:ext>
            </a:extLst>
          </p:cNvPr>
          <p:cNvSpPr>
            <a:spLocks noGrp="1"/>
          </p:cNvSpPr>
          <p:nvPr>
            <p:ph type="sldNum" sz="quarter" idx="5"/>
          </p:nvPr>
        </p:nvSpPr>
        <p:spPr/>
        <p:txBody>
          <a:bodyPr/>
          <a:lstStyle/>
          <a:p>
            <a:fld id="{1F1E027D-4684-4D2A-A457-B52C65DF2100}" type="slidenum">
              <a:rPr lang="en-GB" smtClean="0"/>
              <a:t>39</a:t>
            </a:fld>
            <a:endParaRPr lang="en-GB"/>
          </a:p>
        </p:txBody>
      </p:sp>
    </p:spTree>
    <p:extLst>
      <p:ext uri="{BB962C8B-B14F-4D97-AF65-F5344CB8AC3E}">
        <p14:creationId xmlns:p14="http://schemas.microsoft.com/office/powerpoint/2010/main" val="2888323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6C3EF-6E56-CE74-0D32-1EF101C8E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84505-338A-96AD-163B-58EA5D09B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FC1AE-584A-30DE-73A3-848B17AAC32A}"/>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Common Operations on Sets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Python sets support various operations for adding, removing, and checking membership.</a:t>
            </a:r>
          </a:p>
          <a:p>
            <a:pPr>
              <a:lnSpc>
                <a:spcPts val="1000"/>
              </a:lnSpc>
            </a:pPr>
            <a:r>
              <a:rPr lang="en-US" sz="700" dirty="0">
                <a:solidFill>
                  <a:srgbClr val="000000"/>
                </a:solidFill>
                <a:highlight>
                  <a:srgbClr val="F2F2F2"/>
                </a:highlight>
                <a:latin typeface="Consolas" pitchFamily="34" charset="0"/>
                <a:ea typeface="Consolas" pitchFamily="34" charset="-122"/>
                <a:cs typeface="Consolas" pitchFamily="34" charset="-120"/>
              </a:rPr>
              <a:t># Starting set fruits = {'apple', 'banana', 'cherry’} # Adding elements </a:t>
            </a:r>
            <a:r>
              <a:rPr lang="en-US" sz="700" dirty="0" err="1">
                <a:solidFill>
                  <a:srgbClr val="000000"/>
                </a:solidFill>
                <a:highlight>
                  <a:srgbClr val="F2F2F2"/>
                </a:highlight>
                <a:latin typeface="Consolas" pitchFamily="34" charset="0"/>
                <a:ea typeface="Consolas" pitchFamily="34" charset="-122"/>
                <a:cs typeface="Consolas" pitchFamily="34" charset="-120"/>
              </a:rPr>
              <a:t>fruits.add</a:t>
            </a:r>
            <a:r>
              <a:rPr lang="en-US" sz="700" dirty="0">
                <a:solidFill>
                  <a:srgbClr val="000000"/>
                </a:solidFill>
                <a:highlight>
                  <a:srgbClr val="F2F2F2"/>
                </a:highlight>
                <a:latin typeface="Consolas" pitchFamily="34" charset="0"/>
                <a:ea typeface="Consolas" pitchFamily="34" charset="-122"/>
                <a:cs typeface="Consolas" pitchFamily="34" charset="-120"/>
              </a:rPr>
              <a:t>('orange')  # {'apple', 'banana', 'cherry', 'orange’} # Removing elements </a:t>
            </a:r>
            <a:r>
              <a:rPr lang="en-US" sz="700" dirty="0" err="1">
                <a:solidFill>
                  <a:srgbClr val="000000"/>
                </a:solidFill>
                <a:highlight>
                  <a:srgbClr val="F2F2F2"/>
                </a:highlight>
                <a:latin typeface="Consolas" pitchFamily="34" charset="0"/>
                <a:ea typeface="Consolas" pitchFamily="34" charset="-122"/>
                <a:cs typeface="Consolas" pitchFamily="34" charset="-120"/>
              </a:rPr>
              <a:t>fruits.remove</a:t>
            </a:r>
            <a:r>
              <a:rPr lang="en-US" sz="700" dirty="0">
                <a:solidFill>
                  <a:srgbClr val="000000"/>
                </a:solidFill>
                <a:highlight>
                  <a:srgbClr val="F2F2F2"/>
                </a:highlight>
                <a:latin typeface="Consolas" pitchFamily="34" charset="0"/>
                <a:ea typeface="Consolas" pitchFamily="34" charset="-122"/>
                <a:cs typeface="Consolas" pitchFamily="34" charset="-120"/>
              </a:rPr>
              <a:t>('banana')  # Error if not found # {'apple', 'cherry', 'orange’} </a:t>
            </a:r>
            <a:r>
              <a:rPr lang="en-US" sz="700" dirty="0" err="1">
                <a:solidFill>
                  <a:srgbClr val="000000"/>
                </a:solidFill>
                <a:highlight>
                  <a:srgbClr val="F2F2F2"/>
                </a:highlight>
                <a:latin typeface="Consolas" pitchFamily="34" charset="0"/>
                <a:ea typeface="Consolas" pitchFamily="34" charset="-122"/>
                <a:cs typeface="Consolas" pitchFamily="34" charset="-120"/>
              </a:rPr>
              <a:t>fruits.discard</a:t>
            </a:r>
            <a:r>
              <a:rPr lang="en-US" sz="700" dirty="0">
                <a:solidFill>
                  <a:srgbClr val="000000"/>
                </a:solidFill>
                <a:highlight>
                  <a:srgbClr val="F2F2F2"/>
                </a:highlight>
                <a:latin typeface="Consolas" pitchFamily="34" charset="0"/>
                <a:ea typeface="Consolas" pitchFamily="34" charset="-122"/>
                <a:cs typeface="Consolas" pitchFamily="34" charset="-120"/>
              </a:rPr>
              <a:t>('pear')  # No error if not found# {'apple', 'cherry', 'orange’} # Checking membership print('apple' in fruits)  # True # Length of a set print(</a:t>
            </a:r>
            <a:r>
              <a:rPr lang="en-US" sz="700" dirty="0" err="1">
                <a:solidFill>
                  <a:srgbClr val="000000"/>
                </a:solidFill>
                <a:highlight>
                  <a:srgbClr val="F2F2F2"/>
                </a:highlight>
                <a:latin typeface="Consolas" pitchFamily="34" charset="0"/>
                <a:ea typeface="Consolas" pitchFamily="34" charset="-122"/>
                <a:cs typeface="Consolas" pitchFamily="34" charset="-120"/>
              </a:rPr>
              <a:t>len</a:t>
            </a:r>
            <a:r>
              <a:rPr lang="en-US" sz="700" dirty="0">
                <a:solidFill>
                  <a:srgbClr val="000000"/>
                </a:solidFill>
                <a:highlight>
                  <a:srgbClr val="F2F2F2"/>
                </a:highlight>
                <a:latin typeface="Consolas" pitchFamily="34" charset="0"/>
                <a:ea typeface="Consolas" pitchFamily="34" charset="-122"/>
                <a:cs typeface="Consolas" pitchFamily="34" charset="-120"/>
              </a:rPr>
              <a:t>(fruits))  # 3</a:t>
            </a:r>
            <a:endParaRPr lang="en-US" sz="7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b="1" dirty="0">
                <a:solidFill>
                  <a:srgbClr val="25274D"/>
                </a:solidFill>
                <a:latin typeface="Montserrat" pitchFamily="34" charset="0"/>
                <a:ea typeface="Montserrat" pitchFamily="34" charset="-122"/>
                <a:cs typeface="Montserrat" pitchFamily="34" charset="-120"/>
              </a:rPr>
              <a:t>Key Difference:</a:t>
            </a:r>
            <a:r>
              <a:rPr lang="en-US" sz="800" dirty="0">
                <a:solidFill>
                  <a:srgbClr val="000000"/>
                </a:solidFill>
                <a:latin typeface="Montserrat" pitchFamily="34" charset="0"/>
                <a:ea typeface="Montserrat" pitchFamily="34" charset="-122"/>
                <a:cs typeface="Montserrat" pitchFamily="34" charset="-120"/>
              </a:rPr>
              <a:t> </a:t>
            </a:r>
            <a:r>
              <a:rPr lang="en-US" sz="800" dirty="0">
                <a:solidFill>
                  <a:srgbClr val="000000"/>
                </a:solidFill>
                <a:highlight>
                  <a:srgbClr val="F2F2F2"/>
                </a:highlight>
                <a:latin typeface="Consolas" pitchFamily="34" charset="0"/>
                <a:ea typeface="Consolas" pitchFamily="34" charset="-122"/>
                <a:cs typeface="Consolas" pitchFamily="34" charset="-120"/>
              </a:rPr>
              <a:t>remove()</a:t>
            </a:r>
            <a:r>
              <a:rPr lang="en-US" sz="800" dirty="0">
                <a:solidFill>
                  <a:srgbClr val="000000"/>
                </a:solidFill>
                <a:latin typeface="Montserrat" pitchFamily="34" charset="0"/>
                <a:ea typeface="Montserrat" pitchFamily="34" charset="-122"/>
                <a:cs typeface="Montserrat" pitchFamily="34" charset="-120"/>
              </a:rPr>
              <a:t> raises a </a:t>
            </a:r>
            <a:r>
              <a:rPr lang="en-US" sz="800" dirty="0" err="1">
                <a:solidFill>
                  <a:srgbClr val="000000"/>
                </a:solidFill>
                <a:highlight>
                  <a:srgbClr val="F2F2F2"/>
                </a:highlight>
                <a:latin typeface="Consolas" pitchFamily="34" charset="0"/>
                <a:ea typeface="Consolas" pitchFamily="34" charset="-122"/>
                <a:cs typeface="Consolas" pitchFamily="34" charset="-120"/>
              </a:rPr>
              <a:t>KeyError</a:t>
            </a:r>
            <a:r>
              <a:rPr lang="en-US" sz="800" dirty="0">
                <a:solidFill>
                  <a:srgbClr val="000000"/>
                </a:solidFill>
                <a:latin typeface="Montserrat" pitchFamily="34" charset="0"/>
                <a:ea typeface="Montserrat" pitchFamily="34" charset="-122"/>
                <a:cs typeface="Montserrat" pitchFamily="34" charset="-120"/>
              </a:rPr>
              <a:t> if the element isn't found, while </a:t>
            </a:r>
            <a:r>
              <a:rPr lang="en-US" sz="800" dirty="0">
                <a:solidFill>
                  <a:srgbClr val="000000"/>
                </a:solidFill>
                <a:highlight>
                  <a:srgbClr val="F2F2F2"/>
                </a:highlight>
                <a:latin typeface="Consolas" pitchFamily="34" charset="0"/>
                <a:ea typeface="Consolas" pitchFamily="34" charset="-122"/>
                <a:cs typeface="Consolas" pitchFamily="34" charset="-120"/>
              </a:rPr>
              <a:t>discard()</a:t>
            </a:r>
            <a:r>
              <a:rPr lang="en-US" sz="800" dirty="0">
                <a:solidFill>
                  <a:srgbClr val="000000"/>
                </a:solidFill>
                <a:latin typeface="Montserrat" pitchFamily="34" charset="0"/>
                <a:ea typeface="Montserrat" pitchFamily="34" charset="-122"/>
                <a:cs typeface="Montserrat" pitchFamily="34" charset="-120"/>
              </a:rPr>
              <a:t> quietly does nothing.</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Image: Slide number 34</a:t>
            </a:r>
          </a:p>
        </p:txBody>
      </p:sp>
      <p:sp>
        <p:nvSpPr>
          <p:cNvPr id="4" name="Slide Number Placeholder 3">
            <a:extLst>
              <a:ext uri="{FF2B5EF4-FFF2-40B4-BE49-F238E27FC236}">
                <a16:creationId xmlns:a16="http://schemas.microsoft.com/office/drawing/2014/main" id="{BC25F74F-790B-0EE5-3ADD-76D22D38F880}"/>
              </a:ext>
            </a:extLst>
          </p:cNvPr>
          <p:cNvSpPr>
            <a:spLocks noGrp="1"/>
          </p:cNvSpPr>
          <p:nvPr>
            <p:ph type="sldNum" sz="quarter" idx="5"/>
          </p:nvPr>
        </p:nvSpPr>
        <p:spPr/>
        <p:txBody>
          <a:bodyPr/>
          <a:lstStyle/>
          <a:p>
            <a:fld id="{1F1E027D-4684-4D2A-A457-B52C65DF2100}" type="slidenum">
              <a:rPr lang="en-GB" smtClean="0"/>
              <a:t>40</a:t>
            </a:fld>
            <a:endParaRPr lang="en-GB"/>
          </a:p>
        </p:txBody>
      </p:sp>
    </p:spTree>
    <p:extLst>
      <p:ext uri="{BB962C8B-B14F-4D97-AF65-F5344CB8AC3E}">
        <p14:creationId xmlns:p14="http://schemas.microsoft.com/office/powerpoint/2010/main" val="4269028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D549B-2A80-5DA8-9038-C1F577CD2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6415D-0F4B-2115-6238-3E50CBC400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A20A8-844E-7749-7518-F16708747D82}"/>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Other useful methods include:</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highlight>
                  <a:srgbClr val="F2F2F2"/>
                </a:highlight>
                <a:latin typeface="Consolas" pitchFamily="34" charset="0"/>
                <a:ea typeface="Consolas" pitchFamily="34" charset="-122"/>
                <a:cs typeface="Consolas" pitchFamily="34" charset="-120"/>
              </a:rPr>
              <a:t>pop()</a:t>
            </a:r>
            <a:r>
              <a:rPr lang="en-US" sz="800" dirty="0">
                <a:solidFill>
                  <a:srgbClr val="000000"/>
                </a:solidFill>
                <a:latin typeface="Montserrat" pitchFamily="34" charset="0"/>
                <a:ea typeface="Montserrat" pitchFamily="34" charset="-122"/>
                <a:cs typeface="Montserrat" pitchFamily="34" charset="-120"/>
              </a:rPr>
              <a:t> - Removes and returns an arbitrary element</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highlight>
                  <a:srgbClr val="F2F2F2"/>
                </a:highlight>
                <a:latin typeface="Consolas" pitchFamily="34" charset="0"/>
                <a:ea typeface="Consolas" pitchFamily="34" charset="-122"/>
                <a:cs typeface="Consolas" pitchFamily="34" charset="-120"/>
              </a:rPr>
              <a:t>clear()</a:t>
            </a:r>
            <a:r>
              <a:rPr lang="en-US" sz="800" dirty="0">
                <a:solidFill>
                  <a:srgbClr val="000000"/>
                </a:solidFill>
                <a:latin typeface="Montserrat" pitchFamily="34" charset="0"/>
                <a:ea typeface="Montserrat" pitchFamily="34" charset="-122"/>
                <a:cs typeface="Montserrat" pitchFamily="34" charset="-120"/>
              </a:rPr>
              <a:t> - Removes all elements</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highlight>
                  <a:srgbClr val="F2F2F2"/>
                </a:highlight>
                <a:latin typeface="Consolas" pitchFamily="34" charset="0"/>
                <a:ea typeface="Consolas" pitchFamily="34" charset="-122"/>
                <a:cs typeface="Consolas" pitchFamily="34" charset="-120"/>
              </a:rPr>
              <a:t>copy()</a:t>
            </a:r>
            <a:r>
              <a:rPr lang="en-US" sz="800" dirty="0">
                <a:solidFill>
                  <a:srgbClr val="000000"/>
                </a:solidFill>
                <a:latin typeface="Montserrat" pitchFamily="34" charset="0"/>
                <a:ea typeface="Montserrat" pitchFamily="34" charset="-122"/>
                <a:cs typeface="Montserrat" pitchFamily="34" charset="-120"/>
              </a:rPr>
              <a:t> - Returns a shallow copy</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Infographic  Repository Slide 91</a:t>
            </a:r>
          </a:p>
        </p:txBody>
      </p:sp>
      <p:sp>
        <p:nvSpPr>
          <p:cNvPr id="4" name="Slide Number Placeholder 3">
            <a:extLst>
              <a:ext uri="{FF2B5EF4-FFF2-40B4-BE49-F238E27FC236}">
                <a16:creationId xmlns:a16="http://schemas.microsoft.com/office/drawing/2014/main" id="{0EDA05BA-91B2-1FDD-F441-259A3FF24AFF}"/>
              </a:ext>
            </a:extLst>
          </p:cNvPr>
          <p:cNvSpPr>
            <a:spLocks noGrp="1"/>
          </p:cNvSpPr>
          <p:nvPr>
            <p:ph type="sldNum" sz="quarter" idx="5"/>
          </p:nvPr>
        </p:nvSpPr>
        <p:spPr/>
        <p:txBody>
          <a:bodyPr/>
          <a:lstStyle/>
          <a:p>
            <a:fld id="{1F1E027D-4684-4D2A-A457-B52C65DF2100}" type="slidenum">
              <a:rPr lang="en-GB" smtClean="0"/>
              <a:t>41</a:t>
            </a:fld>
            <a:endParaRPr lang="en-GB"/>
          </a:p>
        </p:txBody>
      </p:sp>
    </p:spTree>
    <p:extLst>
      <p:ext uri="{BB962C8B-B14F-4D97-AF65-F5344CB8AC3E}">
        <p14:creationId xmlns:p14="http://schemas.microsoft.com/office/powerpoint/2010/main" val="857022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234F5-ED5E-DF48-9ABB-BE541BC83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44455-C576-97AC-6E3F-BDF757BC9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A89C6-A57D-8024-9273-1E337F79650D}"/>
              </a:ext>
            </a:extLst>
          </p:cNvPr>
          <p:cNvSpPr>
            <a:spLocks noGrp="1"/>
          </p:cNvSpPr>
          <p:nvPr>
            <p:ph type="body" idx="1"/>
          </p:nvPr>
        </p:nvSpPr>
        <p:spPr/>
        <p:txBody>
          <a:bodyPr/>
          <a:lstStyle/>
          <a:p>
            <a:pPr>
              <a:lnSpc>
                <a:spcPts val="2167"/>
              </a:lnSpc>
            </a:pPr>
            <a:r>
              <a:rPr lang="en-US" sz="1800" b="1" dirty="0">
                <a:solidFill>
                  <a:srgbClr val="25274D"/>
                </a:solidFill>
                <a:latin typeface="Montserrat Bold" pitchFamily="34" charset="0"/>
                <a:ea typeface="Montserrat Bold" pitchFamily="34" charset="-122"/>
                <a:cs typeface="Montserrat Bold" pitchFamily="34" charset="-120"/>
              </a:rPr>
              <a:t>Mathematical Operations on Sets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Sets in Python can perform operations similar to mathematical set theory, making them perfect for comparing and combining collections.</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Union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Combines elements from both sets:</a:t>
            </a:r>
            <a:endParaRPr lang="en-US" sz="800" dirty="0"/>
          </a:p>
          <a:p>
            <a:pPr>
              <a:lnSpc>
                <a:spcPts val="1083"/>
              </a:lnSpc>
            </a:pPr>
            <a:r>
              <a:rPr lang="en-US" sz="800" dirty="0">
                <a:solidFill>
                  <a:srgbClr val="000000"/>
                </a:solidFill>
                <a:highlight>
                  <a:srgbClr val="F2F2F2"/>
                </a:highlight>
                <a:latin typeface="Consolas" pitchFamily="34" charset="0"/>
                <a:ea typeface="Consolas" pitchFamily="34" charset="-122"/>
                <a:cs typeface="Consolas" pitchFamily="34" charset="-120"/>
              </a:rPr>
              <a:t>set1 = {1, 2, 3}set2 = {3, 4, 5}print(set1 | set2)  # {1, 2, 3, 4, 5}# OR print(set1.union(set2))</a:t>
            </a:r>
            <a:endParaRPr lang="en-US" sz="800" dirty="0"/>
          </a:p>
          <a:p>
            <a:pPr marL="0" indent="0">
              <a:lnSpc>
                <a:spcPts val="1083"/>
              </a:lnSpc>
              <a:buFont typeface="Wingdings" panose="05000000000000000000" pitchFamily="2" charset="2"/>
              <a:buNone/>
            </a:pPr>
            <a:r>
              <a:rPr lang="en-US" sz="1800" b="1" dirty="0">
                <a:solidFill>
                  <a:srgbClr val="000000"/>
                </a:solidFill>
                <a:latin typeface="Montserrat Bold" pitchFamily="34" charset="0"/>
                <a:ea typeface="Montserrat Bold" pitchFamily="34" charset="-122"/>
                <a:cs typeface="Montserrat Bold" pitchFamily="34" charset="-120"/>
              </a:rPr>
              <a:t>Intersection</a:t>
            </a:r>
            <a:endParaRPr lang="en-US" sz="1800" b="1" dirty="0">
              <a:solidFill>
                <a:srgbClr val="000000"/>
              </a:solidFill>
              <a:latin typeface="Montserrat Bold" pitchFamily="34" charset="0"/>
            </a:endParaRPr>
          </a:p>
          <a:p>
            <a:pPr marL="0" indent="0">
              <a:lnSpc>
                <a:spcPts val="1083"/>
              </a:lnSpc>
              <a:buFont typeface="Wingdings" panose="05000000000000000000" pitchFamily="2" charset="2"/>
              <a:buNone/>
            </a:pPr>
            <a:r>
              <a:rPr lang="en-US" sz="1800" dirty="0">
                <a:solidFill>
                  <a:srgbClr val="000000"/>
                </a:solidFill>
                <a:latin typeface="Montserrat" pitchFamily="34" charset="0"/>
                <a:ea typeface="Montserrat" pitchFamily="34" charset="-122"/>
                <a:cs typeface="Montserrat" pitchFamily="34" charset="-120"/>
              </a:rPr>
              <a:t>Contains elements common to both sets:</a:t>
            </a:r>
            <a:endParaRPr lang="en-US" sz="800" dirty="0"/>
          </a:p>
          <a:p>
            <a:pPr>
              <a:lnSpc>
                <a:spcPts val="1083"/>
              </a:lnSpc>
            </a:pPr>
            <a:r>
              <a:rPr lang="en-US" sz="800" dirty="0">
                <a:solidFill>
                  <a:srgbClr val="000000"/>
                </a:solidFill>
                <a:highlight>
                  <a:srgbClr val="F2F2F2"/>
                </a:highlight>
                <a:latin typeface="Consolas" pitchFamily="34" charset="0"/>
                <a:ea typeface="Consolas" pitchFamily="34" charset="-122"/>
                <a:cs typeface="Consolas" pitchFamily="34" charset="-120"/>
              </a:rPr>
              <a:t>print(set1 &amp; set2)  # {3}# OR print(set1.intersection(set2))</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Images : Slide number 35</a:t>
            </a:r>
          </a:p>
        </p:txBody>
      </p:sp>
      <p:sp>
        <p:nvSpPr>
          <p:cNvPr id="4" name="Slide Number Placeholder 3">
            <a:extLst>
              <a:ext uri="{FF2B5EF4-FFF2-40B4-BE49-F238E27FC236}">
                <a16:creationId xmlns:a16="http://schemas.microsoft.com/office/drawing/2014/main" id="{25D4BDB5-9F61-28AF-590B-59FDFC6AB1C1}"/>
              </a:ext>
            </a:extLst>
          </p:cNvPr>
          <p:cNvSpPr>
            <a:spLocks noGrp="1"/>
          </p:cNvSpPr>
          <p:nvPr>
            <p:ph type="sldNum" sz="quarter" idx="5"/>
          </p:nvPr>
        </p:nvSpPr>
        <p:spPr/>
        <p:txBody>
          <a:bodyPr/>
          <a:lstStyle/>
          <a:p>
            <a:fld id="{1F1E027D-4684-4D2A-A457-B52C65DF2100}" type="slidenum">
              <a:rPr lang="en-GB" smtClean="0"/>
              <a:t>42</a:t>
            </a:fld>
            <a:endParaRPr lang="en-GB"/>
          </a:p>
        </p:txBody>
      </p:sp>
    </p:spTree>
    <p:extLst>
      <p:ext uri="{BB962C8B-B14F-4D97-AF65-F5344CB8AC3E}">
        <p14:creationId xmlns:p14="http://schemas.microsoft.com/office/powerpoint/2010/main" val="30154912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38924-F50F-13B0-52ED-A3CF84731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A1433-E0FB-004F-CAB5-0858E51AF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B2862-A5C1-00AA-B34B-6B63C69CB166}"/>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Difference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Contains elements in first set but not in second:</a:t>
            </a:r>
          </a:p>
          <a:p>
            <a:pPr>
              <a:lnSpc>
                <a:spcPts val="1083"/>
              </a:lnSpc>
            </a:pPr>
            <a:r>
              <a:rPr lang="en-US" sz="800" dirty="0">
                <a:solidFill>
                  <a:srgbClr val="000000"/>
                </a:solidFill>
                <a:highlight>
                  <a:srgbClr val="F2F2F2"/>
                </a:highlight>
                <a:latin typeface="Consolas" pitchFamily="34" charset="0"/>
                <a:ea typeface="Consolas" pitchFamily="34" charset="-122"/>
                <a:cs typeface="Consolas" pitchFamily="34" charset="-120"/>
              </a:rPr>
              <a:t>print(set1 - set2)  # {1, 2}# OR print(set1.difference(set2))</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Symmetric Difference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Contains elements in either set but not both:</a:t>
            </a:r>
            <a:endParaRPr lang="en-US" sz="800" dirty="0"/>
          </a:p>
          <a:p>
            <a:pPr>
              <a:lnSpc>
                <a:spcPts val="1083"/>
              </a:lnSpc>
            </a:pPr>
            <a:r>
              <a:rPr lang="en-US" sz="800" dirty="0">
                <a:solidFill>
                  <a:srgbClr val="000000"/>
                </a:solidFill>
                <a:highlight>
                  <a:srgbClr val="F2F2F2"/>
                </a:highlight>
                <a:latin typeface="Consolas" pitchFamily="34" charset="0"/>
                <a:ea typeface="Consolas" pitchFamily="34" charset="-122"/>
                <a:cs typeface="Consolas" pitchFamily="34" charset="-120"/>
              </a:rPr>
              <a:t>print(set1 ^ set2) # {1, 2, 4, 5} # OR print(set1.symmetric_difference(set2))</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Images: Slide number 35</a:t>
            </a:r>
          </a:p>
        </p:txBody>
      </p:sp>
      <p:sp>
        <p:nvSpPr>
          <p:cNvPr id="4" name="Slide Number Placeholder 3">
            <a:extLst>
              <a:ext uri="{FF2B5EF4-FFF2-40B4-BE49-F238E27FC236}">
                <a16:creationId xmlns:a16="http://schemas.microsoft.com/office/drawing/2014/main" id="{CE126AD3-8AC6-456D-E813-D78BBD86F8F1}"/>
              </a:ext>
            </a:extLst>
          </p:cNvPr>
          <p:cNvSpPr>
            <a:spLocks noGrp="1"/>
          </p:cNvSpPr>
          <p:nvPr>
            <p:ph type="sldNum" sz="quarter" idx="5"/>
          </p:nvPr>
        </p:nvSpPr>
        <p:spPr/>
        <p:txBody>
          <a:bodyPr/>
          <a:lstStyle/>
          <a:p>
            <a:fld id="{1F1E027D-4684-4D2A-A457-B52C65DF2100}" type="slidenum">
              <a:rPr lang="en-GB" smtClean="0"/>
              <a:t>43</a:t>
            </a:fld>
            <a:endParaRPr lang="en-GB"/>
          </a:p>
        </p:txBody>
      </p:sp>
    </p:spTree>
    <p:extLst>
      <p:ext uri="{BB962C8B-B14F-4D97-AF65-F5344CB8AC3E}">
        <p14:creationId xmlns:p14="http://schemas.microsoft.com/office/powerpoint/2010/main" val="586476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7DEC-0A7C-1AF0-DF8E-9F2EA3A57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88E14-E5DE-322F-447F-BBC0A49C0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27C9C-2306-A141-304B-97F55CAE67B5}"/>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Use Cases of Sets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Sets are particularly useful when dealing with collections where uniqueness and membership are essential.</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Removing Duplicates</a:t>
            </a:r>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items = ['apple', 'banana', 'apple', 'orange’] </a:t>
            </a:r>
            <a:r>
              <a:rPr lang="en-US" sz="800" dirty="0" err="1">
                <a:solidFill>
                  <a:srgbClr val="000000"/>
                </a:solidFill>
                <a:highlight>
                  <a:srgbClr val="F2F2F2"/>
                </a:highlight>
                <a:latin typeface="Consolas" pitchFamily="34" charset="0"/>
                <a:ea typeface="Consolas" pitchFamily="34" charset="-122"/>
                <a:cs typeface="Consolas" pitchFamily="34" charset="-120"/>
              </a:rPr>
              <a:t>unique_items</a:t>
            </a:r>
            <a:r>
              <a:rPr lang="en-US" sz="800" dirty="0">
                <a:solidFill>
                  <a:srgbClr val="000000"/>
                </a:solidFill>
                <a:highlight>
                  <a:srgbClr val="F2F2F2"/>
                </a:highlight>
                <a:latin typeface="Consolas" pitchFamily="34" charset="0"/>
                <a:ea typeface="Consolas" pitchFamily="34" charset="-122"/>
                <a:cs typeface="Consolas" pitchFamily="34" charset="-120"/>
              </a:rPr>
              <a:t> = set(items)# Output: {'orange', 'banana', 'apple'}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Membership Testing</a:t>
            </a:r>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fruits = {'apple', 'banana', 'cherry’}# Much faster than list for large collections print('banana' in fruits)  # True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Finding Unique or Common Elements</a:t>
            </a:r>
            <a:endParaRPr lang="en-US" sz="1800" dirty="0"/>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visitors_day1 = {'Alice', 'Bob', 'Charlie’} visitors_day2 = {'Bob', 'David', 'Eve’} returning = visitors_day1 &amp; visitors_day2  # {'Bob’} </a:t>
            </a:r>
            <a:r>
              <a:rPr lang="en-US" sz="800" dirty="0" err="1">
                <a:solidFill>
                  <a:srgbClr val="000000"/>
                </a:solidFill>
                <a:highlight>
                  <a:srgbClr val="F2F2F2"/>
                </a:highlight>
                <a:latin typeface="Consolas" pitchFamily="34" charset="0"/>
                <a:ea typeface="Consolas" pitchFamily="34" charset="-122"/>
                <a:cs typeface="Consolas" pitchFamily="34" charset="-120"/>
              </a:rPr>
              <a:t>all_visitors</a:t>
            </a:r>
            <a:r>
              <a:rPr lang="en-US" sz="800" dirty="0">
                <a:solidFill>
                  <a:srgbClr val="000000"/>
                </a:solidFill>
                <a:highlight>
                  <a:srgbClr val="F2F2F2"/>
                </a:highlight>
                <a:latin typeface="Consolas" pitchFamily="34" charset="0"/>
                <a:ea typeface="Consolas" pitchFamily="34" charset="-122"/>
                <a:cs typeface="Consolas" pitchFamily="34" charset="-120"/>
              </a:rPr>
              <a:t> = visitors_day1 | visitors_day2</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Sets provide </a:t>
            </a:r>
            <a:r>
              <a:rPr lang="en-US" sz="800" b="1" dirty="0">
                <a:solidFill>
                  <a:srgbClr val="25274D"/>
                </a:solidFill>
                <a:latin typeface="Montserrat" pitchFamily="34" charset="0"/>
                <a:ea typeface="Montserrat" pitchFamily="34" charset="-122"/>
                <a:cs typeface="Montserrat" pitchFamily="34" charset="-120"/>
              </a:rPr>
              <a:t>O(1) average time complexity</a:t>
            </a:r>
            <a:r>
              <a:rPr lang="en-US" sz="800" dirty="0">
                <a:solidFill>
                  <a:srgbClr val="000000"/>
                </a:solidFill>
                <a:latin typeface="Montserrat" pitchFamily="34" charset="0"/>
                <a:ea typeface="Montserrat" pitchFamily="34" charset="-122"/>
                <a:cs typeface="Montserrat" pitchFamily="34" charset="-120"/>
              </a:rPr>
              <a:t> for add, remove, and membership testing operations, making them significantly faster than lists for these operations when working with large data sets.</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B9E0CE5-FC11-F325-3C34-43EA0AABB246}"/>
              </a:ext>
            </a:extLst>
          </p:cNvPr>
          <p:cNvSpPr>
            <a:spLocks noGrp="1"/>
          </p:cNvSpPr>
          <p:nvPr>
            <p:ph type="sldNum" sz="quarter" idx="5"/>
          </p:nvPr>
        </p:nvSpPr>
        <p:spPr/>
        <p:txBody>
          <a:bodyPr/>
          <a:lstStyle/>
          <a:p>
            <a:fld id="{1F1E027D-4684-4D2A-A457-B52C65DF2100}" type="slidenum">
              <a:rPr lang="en-GB" smtClean="0"/>
              <a:t>44</a:t>
            </a:fld>
            <a:endParaRPr lang="en-GB"/>
          </a:p>
        </p:txBody>
      </p:sp>
    </p:spTree>
    <p:extLst>
      <p:ext uri="{BB962C8B-B14F-4D97-AF65-F5344CB8AC3E}">
        <p14:creationId xmlns:p14="http://schemas.microsoft.com/office/powerpoint/2010/main" val="35252703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D8A1D-323A-67D8-7E7C-D89772751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CFA3B-CE71-1340-0566-E6218A734D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42BF0A-68CA-8B9C-F1E9-2E4C557BE8AB}"/>
              </a:ext>
            </a:extLst>
          </p:cNvPr>
          <p:cNvSpPr>
            <a:spLocks noGrp="1"/>
          </p:cNvSpPr>
          <p:nvPr>
            <p:ph type="body" idx="1"/>
          </p:nvPr>
        </p:nvSpPr>
        <p:spPr/>
        <p:txBody>
          <a:bodyPr/>
          <a:lstStyle/>
          <a:p>
            <a:pPr>
              <a:lnSpc>
                <a:spcPts val="2625"/>
              </a:lnSpc>
            </a:pPr>
            <a:r>
              <a:rPr lang="en-US" sz="1800" b="1" dirty="0">
                <a:solidFill>
                  <a:srgbClr val="25274D"/>
                </a:solidFill>
                <a:latin typeface="Montserrat Bold" pitchFamily="34" charset="0"/>
                <a:ea typeface="Montserrat Bold" pitchFamily="34" charset="-122"/>
                <a:cs typeface="Montserrat Bold" pitchFamily="34" charset="-120"/>
              </a:rPr>
              <a:t>Limitations of Sets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No Indexing or Slicing</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Unlike lists, you cannot access elements by position or extract subsets using slice notation. This makes sets unsuitable when order matters.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Cannot Store Mutable Elements</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Sets can only contain </a:t>
            </a:r>
            <a:r>
              <a:rPr lang="en-US" sz="1800" dirty="0" err="1">
                <a:solidFill>
                  <a:srgbClr val="000000"/>
                </a:solidFill>
                <a:latin typeface="Montserrat" pitchFamily="34" charset="0"/>
                <a:ea typeface="Montserrat" pitchFamily="34" charset="-122"/>
                <a:cs typeface="Montserrat" pitchFamily="34" charset="-120"/>
              </a:rPr>
              <a:t>hashable</a:t>
            </a:r>
            <a:r>
              <a:rPr lang="en-US" sz="1800" dirty="0">
                <a:solidFill>
                  <a:srgbClr val="000000"/>
                </a:solidFill>
                <a:latin typeface="Montserrat" pitchFamily="34" charset="0"/>
                <a:ea typeface="Montserrat" pitchFamily="34" charset="-122"/>
                <a:cs typeface="Montserrat" pitchFamily="34" charset="-120"/>
              </a:rPr>
              <a:t> (immutable) elements. You cannot store lists or other sets directly as elements within a set.</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Silent Operations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Methods like discard() and update() don't raise errors if elements aren't found, which may mask logical errors in your code.</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Repository Slide no: 86</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Icons have been take from the deck slide number: 37</a:t>
            </a:r>
          </a:p>
        </p:txBody>
      </p:sp>
      <p:sp>
        <p:nvSpPr>
          <p:cNvPr id="4" name="Slide Number Placeholder 3">
            <a:extLst>
              <a:ext uri="{FF2B5EF4-FFF2-40B4-BE49-F238E27FC236}">
                <a16:creationId xmlns:a16="http://schemas.microsoft.com/office/drawing/2014/main" id="{2F4390D7-D63C-DB1E-1DE4-346CF3510C69}"/>
              </a:ext>
            </a:extLst>
          </p:cNvPr>
          <p:cNvSpPr>
            <a:spLocks noGrp="1"/>
          </p:cNvSpPr>
          <p:nvPr>
            <p:ph type="sldNum" sz="quarter" idx="5"/>
          </p:nvPr>
        </p:nvSpPr>
        <p:spPr/>
        <p:txBody>
          <a:bodyPr/>
          <a:lstStyle/>
          <a:p>
            <a:fld id="{1F1E027D-4684-4D2A-A457-B52C65DF2100}" type="slidenum">
              <a:rPr lang="en-GB" smtClean="0"/>
              <a:t>45</a:t>
            </a:fld>
            <a:endParaRPr lang="en-GB"/>
          </a:p>
        </p:txBody>
      </p:sp>
    </p:spTree>
    <p:extLst>
      <p:ext uri="{BB962C8B-B14F-4D97-AF65-F5344CB8AC3E}">
        <p14:creationId xmlns:p14="http://schemas.microsoft.com/office/powerpoint/2010/main" val="3852238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480D9-5D6A-E20D-D643-339F98646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F3A8C-181D-4DBC-7D85-BB4D7CBA0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1C1D4-43B6-31F3-E2DF-F6A20734C9AA}"/>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What is a Dictionary in Python?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Think of a dictionary as a real-world dictionary where each word (key) maps to its definition (value). In Python, a dictionary is a collection of key-value pairs, allowing you to store and retrieve data efficiently.</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Key-Value Pairs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Each element consists of a key and its associated value, linked together</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Unordered (Pre-Python 3.7)</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Traditionally unordered, though Python 3.7+ preserves insertion order</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Mutable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Can add, modify, or remove key-value pairs after creation</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Unique Keys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Keys must be unique and immutable (strings, numbers, tuples), while values can be any type</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t>Repository Slide no: 31</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Icon 1:https://enterprise.shutterstock.com/image-vector/variable-icon-set-multiple-style-collection- 2594193181</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Icon 2: https://enterprise.shutterstock.com/image-vector/software-development-flat-line-icons-set- 1499630609</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Icon 3: https://enterprise.shutterstock.com/image-vector/software-development-flat-line-icons-set- 1499630609</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Icon 4: https://enterprise.shutterstock.com/image-vector/website-promotion-seo-icons-set-search- 554662960</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BCC1C38-10E4-8327-5F4D-B458EF1759A1}"/>
              </a:ext>
            </a:extLst>
          </p:cNvPr>
          <p:cNvSpPr>
            <a:spLocks noGrp="1"/>
          </p:cNvSpPr>
          <p:nvPr>
            <p:ph type="sldNum" sz="quarter" idx="5"/>
          </p:nvPr>
        </p:nvSpPr>
        <p:spPr/>
        <p:txBody>
          <a:bodyPr/>
          <a:lstStyle/>
          <a:p>
            <a:fld id="{1F1E027D-4684-4D2A-A457-B52C65DF2100}" type="slidenum">
              <a:rPr lang="en-GB" smtClean="0"/>
              <a:t>47</a:t>
            </a:fld>
            <a:endParaRPr lang="en-GB"/>
          </a:p>
        </p:txBody>
      </p:sp>
    </p:spTree>
    <p:extLst>
      <p:ext uri="{BB962C8B-B14F-4D97-AF65-F5344CB8AC3E}">
        <p14:creationId xmlns:p14="http://schemas.microsoft.com/office/powerpoint/2010/main" val="7561266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5B21C-C941-4643-65B7-74F4EF4EF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B872D-68B2-E2AE-7106-1313BB6A8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78565-F5D8-A359-BA08-965E2BAA91A5}"/>
              </a:ext>
            </a:extLst>
          </p:cNvPr>
          <p:cNvSpPr>
            <a:spLocks noGrp="1"/>
          </p:cNvSpPr>
          <p:nvPr>
            <p:ph type="body" idx="1"/>
          </p:nvPr>
        </p:nvSpPr>
        <p:spPr/>
        <p:txBody>
          <a:bodyPr/>
          <a:lstStyle/>
          <a:p>
            <a:pPr>
              <a:lnSpc>
                <a:spcPts val="2625"/>
              </a:lnSpc>
            </a:pPr>
            <a:r>
              <a:rPr lang="en-US" sz="1800" b="1" dirty="0">
                <a:solidFill>
                  <a:srgbClr val="25274D"/>
                </a:solidFill>
                <a:latin typeface="Montserrat Bold" pitchFamily="34" charset="0"/>
                <a:ea typeface="Montserrat Bold" pitchFamily="34" charset="-122"/>
                <a:cs typeface="Montserrat Bold" pitchFamily="34" charset="-120"/>
              </a:rPr>
              <a:t>How to Create a Dictionary </a:t>
            </a:r>
          </a:p>
          <a:p>
            <a:pPr marL="0" marR="0" lvl="0" indent="0" algn="l" defTabSz="914400" rtl="0" eaLnBrk="1" fontAlgn="auto" latinLnBrk="0" hangingPunct="1">
              <a:lnSpc>
                <a:spcPts val="2625"/>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Creating a dictionary in Python is straightforward. You can use curly braces </a:t>
            </a:r>
            <a:r>
              <a:rPr lang="en-US" sz="1800" dirty="0">
                <a:solidFill>
                  <a:srgbClr val="000000"/>
                </a:solidFill>
                <a:highlight>
                  <a:srgbClr val="F2F2F2"/>
                </a:highlight>
                <a:latin typeface="Consolas" pitchFamily="34" charset="0"/>
                <a:ea typeface="Consolas" pitchFamily="34" charset="-122"/>
                <a:cs typeface="Consolas" pitchFamily="34" charset="-120"/>
              </a:rPr>
              <a:t>{}</a:t>
            </a:r>
            <a:r>
              <a:rPr lang="en-US" sz="1800" dirty="0">
                <a:solidFill>
                  <a:srgbClr val="000000"/>
                </a:solidFill>
                <a:latin typeface="Montserrat" pitchFamily="34" charset="0"/>
                <a:ea typeface="Montserrat" pitchFamily="34" charset="-122"/>
                <a:cs typeface="Montserrat" pitchFamily="34" charset="-120"/>
              </a:rPr>
              <a:t> with key-value pairs or the </a:t>
            </a:r>
            <a:r>
              <a:rPr lang="en-US" sz="1800" dirty="0">
                <a:solidFill>
                  <a:srgbClr val="000000"/>
                </a:solidFill>
                <a:highlight>
                  <a:srgbClr val="F2F2F2"/>
                </a:highlight>
                <a:latin typeface="Consolas" pitchFamily="34" charset="0"/>
                <a:ea typeface="Consolas" pitchFamily="34" charset="-122"/>
                <a:cs typeface="Consolas" pitchFamily="34" charset="-120"/>
              </a:rPr>
              <a:t>dict()</a:t>
            </a:r>
            <a:r>
              <a:rPr lang="en-US" sz="1800" dirty="0">
                <a:solidFill>
                  <a:srgbClr val="000000"/>
                </a:solidFill>
                <a:latin typeface="Montserrat" pitchFamily="34" charset="0"/>
                <a:ea typeface="Montserrat" pitchFamily="34" charset="-122"/>
                <a:cs typeface="Montserrat" pitchFamily="34" charset="-120"/>
              </a:rPr>
              <a:t> function.</a:t>
            </a:r>
            <a:endParaRPr lang="en-US" sz="1800" dirty="0"/>
          </a:p>
          <a:p>
            <a:pPr>
              <a:lnSpc>
                <a:spcPts val="1333"/>
              </a:lnSpc>
            </a:pPr>
            <a:r>
              <a:rPr lang="en-US" sz="1800" dirty="0">
                <a:solidFill>
                  <a:srgbClr val="000000"/>
                </a:solidFill>
                <a:highlight>
                  <a:srgbClr val="F2F2F2"/>
                </a:highlight>
                <a:latin typeface="Consolas" pitchFamily="34" charset="0"/>
                <a:ea typeface="Consolas" pitchFamily="34" charset="-122"/>
                <a:cs typeface="Consolas" pitchFamily="34" charset="-120"/>
              </a:rPr>
              <a:t># Empty dictionary </a:t>
            </a:r>
            <a:r>
              <a:rPr lang="en-US" sz="1800" dirty="0" err="1">
                <a:solidFill>
                  <a:srgbClr val="000000"/>
                </a:solidFill>
                <a:highlight>
                  <a:srgbClr val="F2F2F2"/>
                </a:highlight>
                <a:latin typeface="Consolas" pitchFamily="34" charset="0"/>
                <a:ea typeface="Consolas" pitchFamily="34" charset="-122"/>
                <a:cs typeface="Consolas" pitchFamily="34" charset="-120"/>
              </a:rPr>
              <a:t>empty_dict</a:t>
            </a:r>
            <a:r>
              <a:rPr lang="en-US" sz="1800" dirty="0">
                <a:solidFill>
                  <a:srgbClr val="000000"/>
                </a:solidFill>
                <a:highlight>
                  <a:srgbClr val="F2F2F2"/>
                </a:highlight>
                <a:latin typeface="Consolas" pitchFamily="34" charset="0"/>
                <a:ea typeface="Consolas" pitchFamily="34" charset="-122"/>
                <a:cs typeface="Consolas" pitchFamily="34" charset="-120"/>
              </a:rPr>
              <a:t> = {}  # OR dict() # Dictionary with items person = {'name': 'Alice', 'age': 25, 'city': 'New York’} # Using dict() constructor car = dict(make='Toyota', model='Corolla', year=2020) # Dictionary from list of tuples items = [('apples', 5), ('bananas', 3)] </a:t>
            </a:r>
            <a:r>
              <a:rPr lang="en-US" sz="1800" dirty="0" err="1">
                <a:solidFill>
                  <a:srgbClr val="000000"/>
                </a:solidFill>
                <a:highlight>
                  <a:srgbClr val="F2F2F2"/>
                </a:highlight>
                <a:latin typeface="Consolas" pitchFamily="34" charset="0"/>
                <a:ea typeface="Consolas" pitchFamily="34" charset="-122"/>
                <a:cs typeface="Consolas" pitchFamily="34" charset="-120"/>
              </a:rPr>
              <a:t>fruit_count</a:t>
            </a:r>
            <a:r>
              <a:rPr lang="en-US" sz="1800" dirty="0">
                <a:solidFill>
                  <a:srgbClr val="000000"/>
                </a:solidFill>
                <a:highlight>
                  <a:srgbClr val="F2F2F2"/>
                </a:highlight>
                <a:latin typeface="Consolas" pitchFamily="34" charset="0"/>
                <a:ea typeface="Consolas" pitchFamily="34" charset="-122"/>
                <a:cs typeface="Consolas" pitchFamily="34" charset="-120"/>
              </a:rPr>
              <a:t> = dict(items)  # {'apples': 5, 'bananas': 3} # Dictionary comprehension squares = {x: x**2 for x in range(6)} # {0: 0, 1: 1, 2: 4, 3: 9, 4: 16, 5: 25}</a:t>
            </a:r>
            <a:endParaRPr lang="en-US" sz="1800" dirty="0"/>
          </a:p>
          <a:p>
            <a:pPr>
              <a:lnSpc>
                <a:spcPts val="2625"/>
              </a:lnSpc>
            </a:pPr>
            <a:endParaRPr lang="en-US" sz="1800" dirty="0"/>
          </a:p>
          <a:p>
            <a:pPr marL="0" marR="0" lvl="0" indent="0" algn="l" defTabSz="914400" rtl="0" eaLnBrk="1" fontAlgn="auto" latinLnBrk="0" hangingPunct="1">
              <a:lnSpc>
                <a:spcPts val="2625"/>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a:t>
            </a:r>
            <a:r>
              <a:rPr lang="en-US" sz="1800" dirty="0">
                <a:solidFill>
                  <a:srgbClr val="25274D"/>
                </a:solidFill>
                <a:latin typeface="Montserrat" pitchFamily="34" charset="0"/>
                <a:ea typeface="Montserrat" pitchFamily="34" charset="-122"/>
                <a:cs typeface="Montserrat" pitchFamily="34" charset="-120"/>
              </a:rPr>
              <a:t>dictionary comprehension</a:t>
            </a:r>
            <a:r>
              <a:rPr lang="en-US" sz="1800" dirty="0">
                <a:solidFill>
                  <a:srgbClr val="000000"/>
                </a:solidFill>
                <a:latin typeface="Montserrat" pitchFamily="34" charset="0"/>
                <a:ea typeface="Montserrat" pitchFamily="34" charset="-122"/>
                <a:cs typeface="Montserrat" pitchFamily="34" charset="-120"/>
              </a:rPr>
              <a:t> syntax (bottom example) is a powerful way to create dictionaries from </a:t>
            </a:r>
            <a:r>
              <a:rPr lang="en-US" sz="1800" dirty="0" err="1">
                <a:solidFill>
                  <a:srgbClr val="000000"/>
                </a:solidFill>
                <a:latin typeface="Montserrat" pitchFamily="34" charset="0"/>
                <a:ea typeface="Montserrat" pitchFamily="34" charset="-122"/>
                <a:cs typeface="Montserrat" pitchFamily="34" charset="-120"/>
              </a:rPr>
              <a:t>iterables</a:t>
            </a:r>
            <a:r>
              <a:rPr lang="en-US" sz="1800" dirty="0">
                <a:solidFill>
                  <a:srgbClr val="000000"/>
                </a:solidFill>
                <a:latin typeface="Montserrat" pitchFamily="34" charset="0"/>
                <a:ea typeface="Montserrat" pitchFamily="34" charset="-122"/>
                <a:cs typeface="Montserrat" pitchFamily="34" charset="-120"/>
              </a:rPr>
              <a:t>, similar to list comprehensions.</a:t>
            </a:r>
            <a:endParaRPr lang="en-US" sz="1800" dirty="0"/>
          </a:p>
          <a:p>
            <a:pPr>
              <a:lnSpc>
                <a:spcPts val="2625"/>
              </a:lnSpc>
            </a:pPr>
            <a:endParaRPr lang="en-US" sz="1800" dirty="0"/>
          </a:p>
          <a:p>
            <a:pPr>
              <a:lnSpc>
                <a:spcPts val="2625"/>
              </a:lnSpc>
            </a:pPr>
            <a:r>
              <a:rPr lang="en-US" sz="1800" dirty="0"/>
              <a:t>Image: Slide number: 40</a:t>
            </a:r>
          </a:p>
        </p:txBody>
      </p:sp>
      <p:sp>
        <p:nvSpPr>
          <p:cNvPr id="4" name="Slide Number Placeholder 3">
            <a:extLst>
              <a:ext uri="{FF2B5EF4-FFF2-40B4-BE49-F238E27FC236}">
                <a16:creationId xmlns:a16="http://schemas.microsoft.com/office/drawing/2014/main" id="{57BA31AA-99D3-9D70-0214-658C682A923D}"/>
              </a:ext>
            </a:extLst>
          </p:cNvPr>
          <p:cNvSpPr>
            <a:spLocks noGrp="1"/>
          </p:cNvSpPr>
          <p:nvPr>
            <p:ph type="sldNum" sz="quarter" idx="5"/>
          </p:nvPr>
        </p:nvSpPr>
        <p:spPr/>
        <p:txBody>
          <a:bodyPr/>
          <a:lstStyle/>
          <a:p>
            <a:fld id="{1F1E027D-4684-4D2A-A457-B52C65DF2100}" type="slidenum">
              <a:rPr lang="en-GB" smtClean="0"/>
              <a:t>48</a:t>
            </a:fld>
            <a:endParaRPr lang="en-GB"/>
          </a:p>
        </p:txBody>
      </p:sp>
    </p:spTree>
    <p:extLst>
      <p:ext uri="{BB962C8B-B14F-4D97-AF65-F5344CB8AC3E}">
        <p14:creationId xmlns:p14="http://schemas.microsoft.com/office/powerpoint/2010/main" val="17005193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6599C-5524-D565-3878-977957360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97D8F-3784-57D8-3CB7-E337CD31E4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E5C6F4-3710-5541-6236-C404E890AA15}"/>
              </a:ext>
            </a:extLst>
          </p:cNvPr>
          <p:cNvSpPr>
            <a:spLocks noGrp="1"/>
          </p:cNvSpPr>
          <p:nvPr>
            <p:ph type="body" idx="1"/>
          </p:nvPr>
        </p:nvSpPr>
        <p:spPr/>
        <p:txBody>
          <a:bodyPr/>
          <a:lstStyle/>
          <a:p>
            <a:pPr>
              <a:lnSpc>
                <a:spcPts val="2542"/>
              </a:lnSpc>
            </a:pPr>
            <a:r>
              <a:rPr lang="en-US" sz="1800" b="1" dirty="0">
                <a:solidFill>
                  <a:srgbClr val="25274D"/>
                </a:solidFill>
                <a:latin typeface="Montserrat Bold" pitchFamily="34" charset="0"/>
                <a:ea typeface="Montserrat Bold" pitchFamily="34" charset="-122"/>
                <a:cs typeface="Montserrat Bold" pitchFamily="34" charset="-120"/>
              </a:rPr>
              <a:t>Accessing and Modifying Dictionary Elements</a:t>
            </a:r>
          </a:p>
          <a:p>
            <a:pPr marL="0" marR="0" lvl="0" indent="0" algn="l" defTabSz="914400" rtl="0" eaLnBrk="1" fontAlgn="auto" latinLnBrk="0" hangingPunct="1">
              <a:lnSpc>
                <a:spcPts val="25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can access, add, modify, and remove elements in a dictionary using keys:</a:t>
            </a:r>
            <a:endParaRPr lang="en-US" sz="1800" dirty="0"/>
          </a:p>
          <a:p>
            <a:pPr marL="0" marR="0" lvl="0" indent="0" algn="l" defTabSz="914400" rtl="0" eaLnBrk="1" fontAlgn="auto" latinLnBrk="0" hangingPunct="1">
              <a:lnSpc>
                <a:spcPts val="25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Accessing Values</a:t>
            </a:r>
            <a:endParaRPr lang="en-US" sz="1800" dirty="0"/>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person = {'name': 'Alice', 'age': 25} print(person['name'])  # Output: Alice # Using get() - safer if key might not exist print(</a:t>
            </a:r>
            <a:r>
              <a:rPr lang="en-US" sz="800" dirty="0" err="1">
                <a:solidFill>
                  <a:srgbClr val="000000"/>
                </a:solidFill>
                <a:highlight>
                  <a:srgbClr val="F2F2F2"/>
                </a:highlight>
                <a:latin typeface="Consolas" pitchFamily="34" charset="0"/>
                <a:ea typeface="Consolas" pitchFamily="34" charset="-122"/>
                <a:cs typeface="Consolas" pitchFamily="34" charset="-120"/>
              </a:rPr>
              <a:t>person.get</a:t>
            </a:r>
            <a:r>
              <a:rPr lang="en-US" sz="800" dirty="0">
                <a:solidFill>
                  <a:srgbClr val="000000"/>
                </a:solidFill>
                <a:highlight>
                  <a:srgbClr val="F2F2F2"/>
                </a:highlight>
                <a:latin typeface="Consolas" pitchFamily="34" charset="0"/>
                <a:ea typeface="Consolas" pitchFamily="34" charset="-122"/>
                <a:cs typeface="Consolas" pitchFamily="34" charset="-120"/>
              </a:rPr>
              <a:t>('city'))  # Output: None print(</a:t>
            </a:r>
            <a:r>
              <a:rPr lang="en-US" sz="800" dirty="0" err="1">
                <a:solidFill>
                  <a:srgbClr val="000000"/>
                </a:solidFill>
                <a:highlight>
                  <a:srgbClr val="F2F2F2"/>
                </a:highlight>
                <a:latin typeface="Consolas" pitchFamily="34" charset="0"/>
                <a:ea typeface="Consolas" pitchFamily="34" charset="-122"/>
                <a:cs typeface="Consolas" pitchFamily="34" charset="-120"/>
              </a:rPr>
              <a:t>person.get</a:t>
            </a:r>
            <a:r>
              <a:rPr lang="en-US" sz="800" dirty="0">
                <a:solidFill>
                  <a:srgbClr val="000000"/>
                </a:solidFill>
                <a:highlight>
                  <a:srgbClr val="F2F2F2"/>
                </a:highlight>
                <a:latin typeface="Consolas" pitchFamily="34" charset="0"/>
                <a:ea typeface="Consolas" pitchFamily="34" charset="-122"/>
                <a:cs typeface="Consolas" pitchFamily="34" charset="-120"/>
              </a:rPr>
              <a:t>('city', 'Unknown'))  # Output: Unknown</a:t>
            </a:r>
            <a:endParaRPr lang="en-US" sz="800" dirty="0"/>
          </a:p>
          <a:p>
            <a:pPr marL="0" marR="0" lvl="0" indent="0" algn="l" defTabSz="914400" rtl="0" eaLnBrk="1" fontAlgn="auto" latinLnBrk="0" hangingPunct="1">
              <a:lnSpc>
                <a:spcPts val="25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Adding &amp; Updating</a:t>
            </a:r>
            <a:endParaRPr lang="en-US" sz="1800" dirty="0"/>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 Adding a new key-value pair person['city'] = 'New York’ # Updating an existing value person['age'] = 26 # Update multiple values at once </a:t>
            </a:r>
            <a:r>
              <a:rPr lang="en-US" sz="800" dirty="0" err="1">
                <a:solidFill>
                  <a:srgbClr val="000000"/>
                </a:solidFill>
                <a:highlight>
                  <a:srgbClr val="F2F2F2"/>
                </a:highlight>
                <a:latin typeface="Consolas" pitchFamily="34" charset="0"/>
                <a:ea typeface="Consolas" pitchFamily="34" charset="-122"/>
                <a:cs typeface="Consolas" pitchFamily="34" charset="-120"/>
              </a:rPr>
              <a:t>person.update</a:t>
            </a:r>
            <a:r>
              <a:rPr lang="en-US" sz="800" dirty="0">
                <a:solidFill>
                  <a:srgbClr val="000000"/>
                </a:solidFill>
                <a:highlight>
                  <a:srgbClr val="F2F2F2"/>
                </a:highlight>
                <a:latin typeface="Consolas" pitchFamily="34" charset="0"/>
                <a:ea typeface="Consolas" pitchFamily="34" charset="-122"/>
                <a:cs typeface="Consolas" pitchFamily="34" charset="-120"/>
              </a:rPr>
              <a:t>({'age': 27, 'job': 'Engineer’})</a:t>
            </a:r>
          </a:p>
          <a:p>
            <a:pPr marL="0" marR="0" lvl="0" indent="0" algn="l" defTabSz="914400" rtl="0" eaLnBrk="1" fontAlgn="auto" latinLnBrk="0" hangingPunct="1">
              <a:lnSpc>
                <a:spcPts val="1292"/>
              </a:lnSpc>
              <a:spcBef>
                <a:spcPts val="0"/>
              </a:spcBef>
              <a:spcAft>
                <a:spcPts val="0"/>
              </a:spcAft>
              <a:buClrTx/>
              <a:buSzTx/>
              <a:buFontTx/>
              <a:buNone/>
              <a:tabLst/>
              <a:defRPr/>
            </a:pPr>
            <a:r>
              <a:rPr lang="en-US" sz="800" b="1" dirty="0">
                <a:solidFill>
                  <a:srgbClr val="000000"/>
                </a:solidFill>
                <a:latin typeface="Montserrat Bold" pitchFamily="34" charset="0"/>
                <a:ea typeface="Montserrat Bold" pitchFamily="34" charset="-122"/>
                <a:cs typeface="Montserrat Bold" pitchFamily="34" charset="-120"/>
              </a:rPr>
              <a:t>Removing Items</a:t>
            </a:r>
            <a:endParaRPr lang="en-US" sz="800" dirty="0"/>
          </a:p>
          <a:p>
            <a:pPr>
              <a:lnSpc>
                <a:spcPts val="1292"/>
              </a:lnSpc>
            </a:pPr>
            <a:r>
              <a:rPr lang="en-US" sz="800" dirty="0">
                <a:solidFill>
                  <a:srgbClr val="000000"/>
                </a:solidFill>
                <a:highlight>
                  <a:srgbClr val="F2F2F2"/>
                </a:highlight>
                <a:latin typeface="Consolas" pitchFamily="34" charset="0"/>
                <a:ea typeface="Consolas" pitchFamily="34" charset="-122"/>
                <a:cs typeface="Consolas" pitchFamily="34" charset="-120"/>
              </a:rPr>
              <a:t># Remove a specific key-value pair del person['city’] # Remove and return a value job = </a:t>
            </a:r>
            <a:r>
              <a:rPr lang="en-US" sz="800" dirty="0" err="1">
                <a:solidFill>
                  <a:srgbClr val="000000"/>
                </a:solidFill>
                <a:highlight>
                  <a:srgbClr val="F2F2F2"/>
                </a:highlight>
                <a:latin typeface="Consolas" pitchFamily="34" charset="0"/>
                <a:ea typeface="Consolas" pitchFamily="34" charset="-122"/>
                <a:cs typeface="Consolas" pitchFamily="34" charset="-120"/>
              </a:rPr>
              <a:t>person.pop</a:t>
            </a:r>
            <a:r>
              <a:rPr lang="en-US" sz="800" dirty="0">
                <a:solidFill>
                  <a:srgbClr val="000000"/>
                </a:solidFill>
                <a:highlight>
                  <a:srgbClr val="F2F2F2"/>
                </a:highlight>
                <a:latin typeface="Consolas" pitchFamily="34" charset="0"/>
                <a:ea typeface="Consolas" pitchFamily="34" charset="-122"/>
                <a:cs typeface="Consolas" pitchFamily="34" charset="-120"/>
              </a:rPr>
              <a:t>('job') # Returns 'Engineer’ # Remove and return last inserted item</a:t>
            </a:r>
          </a:p>
          <a:p>
            <a:pPr>
              <a:lnSpc>
                <a:spcPts val="1292"/>
              </a:lnSpc>
            </a:pPr>
            <a:r>
              <a:rPr lang="en-US" sz="800" dirty="0" err="1">
                <a:solidFill>
                  <a:srgbClr val="000000"/>
                </a:solidFill>
                <a:highlight>
                  <a:srgbClr val="F2F2F2"/>
                </a:highlight>
                <a:latin typeface="Consolas" pitchFamily="34" charset="0"/>
                <a:ea typeface="Consolas" pitchFamily="34" charset="-122"/>
                <a:cs typeface="Consolas" pitchFamily="34" charset="-120"/>
              </a:rPr>
              <a:t>last_item</a:t>
            </a:r>
            <a:r>
              <a:rPr lang="en-US" sz="800" dirty="0">
                <a:solidFill>
                  <a:srgbClr val="000000"/>
                </a:solidFill>
                <a:highlight>
                  <a:srgbClr val="F2F2F2"/>
                </a:highlight>
                <a:latin typeface="Consolas" pitchFamily="34" charset="0"/>
                <a:ea typeface="Consolas" pitchFamily="34" charset="-122"/>
                <a:cs typeface="Consolas" pitchFamily="34" charset="-120"/>
              </a:rPr>
              <a:t> = </a:t>
            </a:r>
            <a:r>
              <a:rPr lang="en-US" sz="800" dirty="0" err="1">
                <a:solidFill>
                  <a:srgbClr val="000000"/>
                </a:solidFill>
                <a:highlight>
                  <a:srgbClr val="F2F2F2"/>
                </a:highlight>
                <a:latin typeface="Consolas" pitchFamily="34" charset="0"/>
                <a:ea typeface="Consolas" pitchFamily="34" charset="-122"/>
                <a:cs typeface="Consolas" pitchFamily="34" charset="-120"/>
              </a:rPr>
              <a:t>person.popitem</a:t>
            </a:r>
            <a:r>
              <a:rPr lang="en-US" sz="800" dirty="0">
                <a:solidFill>
                  <a:srgbClr val="000000"/>
                </a:solidFill>
                <a:highlight>
                  <a:srgbClr val="F2F2F2"/>
                </a:highlight>
                <a:latin typeface="Consolas" pitchFamily="34" charset="0"/>
                <a:ea typeface="Consolas" pitchFamily="34" charset="-122"/>
                <a:cs typeface="Consolas" pitchFamily="34" charset="-120"/>
              </a:rPr>
              <a:t>() # Remove all items </a:t>
            </a:r>
            <a:r>
              <a:rPr lang="en-US" sz="800" dirty="0" err="1">
                <a:solidFill>
                  <a:srgbClr val="000000"/>
                </a:solidFill>
                <a:highlight>
                  <a:srgbClr val="F2F2F2"/>
                </a:highlight>
                <a:latin typeface="Consolas" pitchFamily="34" charset="0"/>
                <a:ea typeface="Consolas" pitchFamily="34" charset="-122"/>
                <a:cs typeface="Consolas" pitchFamily="34" charset="-120"/>
              </a:rPr>
              <a:t>person.clear</a:t>
            </a:r>
            <a:r>
              <a:rPr lang="en-US" sz="800" dirty="0">
                <a:solidFill>
                  <a:srgbClr val="000000"/>
                </a:solidFill>
                <a:highlight>
                  <a:srgbClr val="F2F2F2"/>
                </a:highlight>
                <a:latin typeface="Consolas" pitchFamily="34" charset="0"/>
                <a:ea typeface="Consolas" pitchFamily="34" charset="-122"/>
                <a:cs typeface="Consolas" pitchFamily="34" charset="-120"/>
              </a:rPr>
              <a:t>()</a:t>
            </a:r>
            <a:endParaRPr lang="en-US" sz="800" dirty="0"/>
          </a:p>
          <a:p>
            <a:pPr>
              <a:lnSpc>
                <a:spcPts val="2542"/>
              </a:lnSpc>
            </a:pPr>
            <a:endParaRPr lang="en-US" sz="1800" dirty="0"/>
          </a:p>
          <a:p>
            <a:pPr>
              <a:lnSpc>
                <a:spcPts val="2542"/>
              </a:lnSpc>
            </a:pPr>
            <a:r>
              <a:rPr lang="en-US" sz="1800" dirty="0"/>
              <a:t>Image: Slide number: 41</a:t>
            </a:r>
          </a:p>
        </p:txBody>
      </p:sp>
      <p:sp>
        <p:nvSpPr>
          <p:cNvPr id="4" name="Slide Number Placeholder 3">
            <a:extLst>
              <a:ext uri="{FF2B5EF4-FFF2-40B4-BE49-F238E27FC236}">
                <a16:creationId xmlns:a16="http://schemas.microsoft.com/office/drawing/2014/main" id="{3CE3E5E6-3AF4-4FD5-3C9A-9C18EC0567A8}"/>
              </a:ext>
            </a:extLst>
          </p:cNvPr>
          <p:cNvSpPr>
            <a:spLocks noGrp="1"/>
          </p:cNvSpPr>
          <p:nvPr>
            <p:ph type="sldNum" sz="quarter" idx="5"/>
          </p:nvPr>
        </p:nvSpPr>
        <p:spPr/>
        <p:txBody>
          <a:bodyPr/>
          <a:lstStyle/>
          <a:p>
            <a:fld id="{1F1E027D-4684-4D2A-A457-B52C65DF2100}" type="slidenum">
              <a:rPr lang="en-GB" smtClean="0"/>
              <a:t>49</a:t>
            </a:fld>
            <a:endParaRPr lang="en-GB"/>
          </a:p>
        </p:txBody>
      </p:sp>
    </p:spTree>
    <p:extLst>
      <p:ext uri="{BB962C8B-B14F-4D97-AF65-F5344CB8AC3E}">
        <p14:creationId xmlns:p14="http://schemas.microsoft.com/office/powerpoint/2010/main" val="19896839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91158-62A4-F4D1-77B0-732044C18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28CA2-E94E-5DF0-A359-8D570072A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11565D-9A52-4B27-5933-8FBC9B8DBA3D}"/>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latin typeface="Montserrat Bold" pitchFamily="34" charset="0"/>
                <a:ea typeface="Montserrat Bold" pitchFamily="34" charset="-122"/>
                <a:cs typeface="Montserrat Bold" pitchFamily="34" charset="-120"/>
              </a:rPr>
              <a:t>Dictionary Methods</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kern="100" dirty="0">
              <a:effectLst/>
              <a:latin typeface="Montserrat Bold"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Dictionaries come with several built-in methods that make data manipulation easy.</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800" dirty="0"/>
          </a:p>
          <a:p>
            <a:pPr>
              <a:lnSpc>
                <a:spcPts val="917"/>
              </a:lnSpc>
            </a:pPr>
            <a:r>
              <a:rPr lang="en-US" sz="800" dirty="0">
                <a:solidFill>
                  <a:srgbClr val="000000"/>
                </a:solidFill>
                <a:highlight>
                  <a:srgbClr val="F2F2F2"/>
                </a:highlight>
                <a:latin typeface="Consolas" pitchFamily="34" charset="0"/>
                <a:ea typeface="Consolas" pitchFamily="34" charset="-122"/>
                <a:cs typeface="Consolas" pitchFamily="34" charset="-120"/>
              </a:rPr>
              <a:t>person = {'name': 'Alice', 'age': 25} # Getting keys as a view object keys = </a:t>
            </a:r>
            <a:r>
              <a:rPr lang="en-US" sz="800" dirty="0" err="1">
                <a:solidFill>
                  <a:srgbClr val="000000"/>
                </a:solidFill>
                <a:highlight>
                  <a:srgbClr val="F2F2F2"/>
                </a:highlight>
                <a:latin typeface="Consolas" pitchFamily="34" charset="0"/>
                <a:ea typeface="Consolas" pitchFamily="34" charset="-122"/>
                <a:cs typeface="Consolas" pitchFamily="34" charset="-120"/>
              </a:rPr>
              <a:t>person.keys</a:t>
            </a:r>
            <a:r>
              <a:rPr lang="en-US" sz="800" dirty="0">
                <a:solidFill>
                  <a:srgbClr val="000000"/>
                </a:solidFill>
                <a:highlight>
                  <a:srgbClr val="F2F2F2"/>
                </a:highlight>
                <a:latin typeface="Consolas" pitchFamily="34" charset="0"/>
                <a:ea typeface="Consolas" pitchFamily="34" charset="-122"/>
                <a:cs typeface="Consolas" pitchFamily="34" charset="-120"/>
              </a:rPr>
              <a:t>()  # </a:t>
            </a:r>
            <a:r>
              <a:rPr lang="en-US" sz="800" dirty="0" err="1">
                <a:solidFill>
                  <a:srgbClr val="000000"/>
                </a:solidFill>
                <a:highlight>
                  <a:srgbClr val="F2F2F2"/>
                </a:highlight>
                <a:latin typeface="Consolas" pitchFamily="34" charset="0"/>
                <a:ea typeface="Consolas" pitchFamily="34" charset="-122"/>
                <a:cs typeface="Consolas" pitchFamily="34" charset="-120"/>
              </a:rPr>
              <a:t>dict_keys</a:t>
            </a:r>
            <a:r>
              <a:rPr lang="en-US" sz="800" dirty="0">
                <a:solidFill>
                  <a:srgbClr val="000000"/>
                </a:solidFill>
                <a:highlight>
                  <a:srgbClr val="F2F2F2"/>
                </a:highlight>
                <a:latin typeface="Consolas" pitchFamily="34" charset="0"/>
                <a:ea typeface="Consolas" pitchFamily="34" charset="-122"/>
                <a:cs typeface="Consolas" pitchFamily="34" charset="-120"/>
              </a:rPr>
              <a:t>(['name', 'age’]) # Getting values as a view object</a:t>
            </a:r>
          </a:p>
          <a:p>
            <a:pPr>
              <a:lnSpc>
                <a:spcPts val="917"/>
              </a:lnSpc>
            </a:pPr>
            <a:r>
              <a:rPr lang="en-US" sz="800" dirty="0">
                <a:solidFill>
                  <a:srgbClr val="000000"/>
                </a:solidFill>
                <a:highlight>
                  <a:srgbClr val="F2F2F2"/>
                </a:highlight>
                <a:latin typeface="Consolas" pitchFamily="34" charset="0"/>
                <a:ea typeface="Consolas" pitchFamily="34" charset="-122"/>
                <a:cs typeface="Consolas" pitchFamily="34" charset="-120"/>
              </a:rPr>
              <a:t>values = </a:t>
            </a:r>
            <a:r>
              <a:rPr lang="en-US" sz="800" dirty="0" err="1">
                <a:solidFill>
                  <a:srgbClr val="000000"/>
                </a:solidFill>
                <a:highlight>
                  <a:srgbClr val="F2F2F2"/>
                </a:highlight>
                <a:latin typeface="Consolas" pitchFamily="34" charset="0"/>
                <a:ea typeface="Consolas" pitchFamily="34" charset="-122"/>
                <a:cs typeface="Consolas" pitchFamily="34" charset="-120"/>
              </a:rPr>
              <a:t>person.values</a:t>
            </a:r>
            <a:r>
              <a:rPr lang="en-US" sz="800" dirty="0">
                <a:solidFill>
                  <a:srgbClr val="000000"/>
                </a:solidFill>
                <a:highlight>
                  <a:srgbClr val="F2F2F2"/>
                </a:highlight>
                <a:latin typeface="Consolas" pitchFamily="34" charset="0"/>
                <a:ea typeface="Consolas" pitchFamily="34" charset="-122"/>
                <a:cs typeface="Consolas" pitchFamily="34" charset="-120"/>
              </a:rPr>
              <a:t>()  # </a:t>
            </a:r>
            <a:r>
              <a:rPr lang="en-US" sz="800" dirty="0" err="1">
                <a:solidFill>
                  <a:srgbClr val="000000"/>
                </a:solidFill>
                <a:highlight>
                  <a:srgbClr val="F2F2F2"/>
                </a:highlight>
                <a:latin typeface="Consolas" pitchFamily="34" charset="0"/>
                <a:ea typeface="Consolas" pitchFamily="34" charset="-122"/>
                <a:cs typeface="Consolas" pitchFamily="34" charset="-120"/>
              </a:rPr>
              <a:t>dict_values</a:t>
            </a:r>
            <a:r>
              <a:rPr lang="en-US" sz="800" dirty="0">
                <a:solidFill>
                  <a:srgbClr val="000000"/>
                </a:solidFill>
                <a:highlight>
                  <a:srgbClr val="F2F2F2"/>
                </a:highlight>
                <a:latin typeface="Consolas" pitchFamily="34" charset="0"/>
                <a:ea typeface="Consolas" pitchFamily="34" charset="-122"/>
                <a:cs typeface="Consolas" pitchFamily="34" charset="-120"/>
              </a:rPr>
              <a:t>(['Alice', 25]) # Getting key-value pairs as a view object items = </a:t>
            </a:r>
            <a:r>
              <a:rPr lang="en-US" sz="800" dirty="0" err="1">
                <a:solidFill>
                  <a:srgbClr val="000000"/>
                </a:solidFill>
                <a:highlight>
                  <a:srgbClr val="F2F2F2"/>
                </a:highlight>
                <a:latin typeface="Consolas" pitchFamily="34" charset="0"/>
                <a:ea typeface="Consolas" pitchFamily="34" charset="-122"/>
                <a:cs typeface="Consolas" pitchFamily="34" charset="-120"/>
              </a:rPr>
              <a:t>person.items</a:t>
            </a:r>
            <a:r>
              <a:rPr lang="en-US" sz="800" dirty="0">
                <a:solidFill>
                  <a:srgbClr val="000000"/>
                </a:solidFill>
                <a:highlight>
                  <a:srgbClr val="F2F2F2"/>
                </a:highlight>
                <a:latin typeface="Consolas" pitchFamily="34" charset="0"/>
                <a:ea typeface="Consolas" pitchFamily="34" charset="-122"/>
                <a:cs typeface="Consolas" pitchFamily="34" charset="-120"/>
              </a:rPr>
              <a:t>()  # </a:t>
            </a:r>
            <a:r>
              <a:rPr lang="en-US" sz="800" dirty="0" err="1">
                <a:solidFill>
                  <a:srgbClr val="000000"/>
                </a:solidFill>
                <a:highlight>
                  <a:srgbClr val="F2F2F2"/>
                </a:highlight>
                <a:latin typeface="Consolas" pitchFamily="34" charset="0"/>
                <a:ea typeface="Consolas" pitchFamily="34" charset="-122"/>
                <a:cs typeface="Consolas" pitchFamily="34" charset="-120"/>
              </a:rPr>
              <a:t>dict_items</a:t>
            </a:r>
            <a:r>
              <a:rPr lang="en-US" sz="800" dirty="0">
                <a:solidFill>
                  <a:srgbClr val="000000"/>
                </a:solidFill>
                <a:highlight>
                  <a:srgbClr val="F2F2F2"/>
                </a:highlight>
                <a:latin typeface="Consolas" pitchFamily="34" charset="0"/>
                <a:ea typeface="Consolas" pitchFamily="34" charset="-122"/>
                <a:cs typeface="Consolas" pitchFamily="34" charset="-120"/>
              </a:rPr>
              <a:t>([('name', 'Alice'), ('age', 25)]) # Copy a dictionary </a:t>
            </a:r>
            <a:r>
              <a:rPr lang="en-US" sz="800" dirty="0" err="1">
                <a:solidFill>
                  <a:srgbClr val="000000"/>
                </a:solidFill>
                <a:highlight>
                  <a:srgbClr val="F2F2F2"/>
                </a:highlight>
                <a:latin typeface="Consolas" pitchFamily="34" charset="0"/>
                <a:ea typeface="Consolas" pitchFamily="34" charset="-122"/>
                <a:cs typeface="Consolas" pitchFamily="34" charset="-120"/>
              </a:rPr>
              <a:t>person_copy</a:t>
            </a:r>
            <a:r>
              <a:rPr lang="en-US" sz="800" dirty="0">
                <a:solidFill>
                  <a:srgbClr val="000000"/>
                </a:solidFill>
                <a:highlight>
                  <a:srgbClr val="F2F2F2"/>
                </a:highlight>
                <a:latin typeface="Consolas" pitchFamily="34" charset="0"/>
                <a:ea typeface="Consolas" pitchFamily="34" charset="-122"/>
                <a:cs typeface="Consolas" pitchFamily="34" charset="-120"/>
              </a:rPr>
              <a:t> = </a:t>
            </a:r>
            <a:r>
              <a:rPr lang="en-US" sz="800" dirty="0" err="1">
                <a:solidFill>
                  <a:srgbClr val="000000"/>
                </a:solidFill>
                <a:highlight>
                  <a:srgbClr val="F2F2F2"/>
                </a:highlight>
                <a:latin typeface="Consolas" pitchFamily="34" charset="0"/>
                <a:ea typeface="Consolas" pitchFamily="34" charset="-122"/>
                <a:cs typeface="Consolas" pitchFamily="34" charset="-120"/>
              </a:rPr>
              <a:t>person.copy</a:t>
            </a:r>
            <a:r>
              <a:rPr lang="en-US" sz="800" dirty="0">
                <a:solidFill>
                  <a:srgbClr val="000000"/>
                </a:solidFill>
                <a:highlight>
                  <a:srgbClr val="F2F2F2"/>
                </a:highlight>
                <a:latin typeface="Consolas" pitchFamily="34" charset="0"/>
                <a:ea typeface="Consolas" pitchFamily="34" charset="-122"/>
                <a:cs typeface="Consolas" pitchFamily="34" charset="-120"/>
              </a:rPr>
              <a:t>() # Create new dictionary with default values template = </a:t>
            </a:r>
            <a:r>
              <a:rPr lang="en-US" sz="800" dirty="0" err="1">
                <a:solidFill>
                  <a:srgbClr val="000000"/>
                </a:solidFill>
                <a:highlight>
                  <a:srgbClr val="F2F2F2"/>
                </a:highlight>
                <a:latin typeface="Consolas" pitchFamily="34" charset="0"/>
                <a:ea typeface="Consolas" pitchFamily="34" charset="-122"/>
                <a:cs typeface="Consolas" pitchFamily="34" charset="-120"/>
              </a:rPr>
              <a:t>dict.fromkeys</a:t>
            </a:r>
            <a:r>
              <a:rPr lang="en-US" sz="800" dirty="0">
                <a:solidFill>
                  <a:srgbClr val="000000"/>
                </a:solidFill>
                <a:highlight>
                  <a:srgbClr val="F2F2F2"/>
                </a:highlight>
                <a:latin typeface="Consolas" pitchFamily="34" charset="0"/>
                <a:ea typeface="Consolas" pitchFamily="34" charset="-122"/>
                <a:cs typeface="Consolas" pitchFamily="34" charset="-120"/>
              </a:rPr>
              <a:t>(['name', 'age', 'city'], 'Unknown’) # {'name': 'Unknown', 'age': 'Unknown', 'city': 'Unknown’}</a:t>
            </a:r>
            <a:r>
              <a:rPr lang="en-US" sz="800" dirty="0">
                <a:solidFill>
                  <a:srgbClr val="000000"/>
                </a:solidFill>
                <a:latin typeface="Consolas" pitchFamily="34" charset="0"/>
                <a:ea typeface="Consolas" pitchFamily="34" charset="-122"/>
                <a:cs typeface="Consolas" pitchFamily="34" charset="-120"/>
              </a:rPr>
              <a:t> </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71128C5-DA59-EF08-999D-13922B74956F}"/>
              </a:ext>
            </a:extLst>
          </p:cNvPr>
          <p:cNvSpPr>
            <a:spLocks noGrp="1"/>
          </p:cNvSpPr>
          <p:nvPr>
            <p:ph type="sldNum" sz="quarter" idx="5"/>
          </p:nvPr>
        </p:nvSpPr>
        <p:spPr/>
        <p:txBody>
          <a:bodyPr/>
          <a:lstStyle/>
          <a:p>
            <a:fld id="{1F1E027D-4684-4D2A-A457-B52C65DF2100}" type="slidenum">
              <a:rPr lang="en-GB" smtClean="0"/>
              <a:t>50</a:t>
            </a:fld>
            <a:endParaRPr lang="en-GB"/>
          </a:p>
        </p:txBody>
      </p:sp>
    </p:spTree>
    <p:extLst>
      <p:ext uri="{BB962C8B-B14F-4D97-AF65-F5344CB8AC3E}">
        <p14:creationId xmlns:p14="http://schemas.microsoft.com/office/powerpoint/2010/main" val="4711668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0A30D-A897-4721-460B-4B68F466B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B2CA8-CE5A-3BCD-CF4C-46E111D13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DF234-C587-9AF4-4D41-B1517376EB37}"/>
              </a:ext>
            </a:extLst>
          </p:cNvPr>
          <p:cNvSpPr>
            <a:spLocks noGrp="1"/>
          </p:cNvSpPr>
          <p:nvPr>
            <p:ph type="body" idx="1"/>
          </p:nvPr>
        </p:nvSpPr>
        <p:spPr/>
        <p:txBody>
          <a:bodyPr/>
          <a:lstStyle/>
          <a:p>
            <a:pPr marL="0" marR="0" lvl="0" indent="0" algn="l" defTabSz="914400" rtl="0" eaLnBrk="1" fontAlgn="auto" latinLnBrk="0" hangingPunct="1">
              <a:lnSpc>
                <a:spcPts val="917"/>
              </a:lnSpc>
              <a:spcBef>
                <a:spcPts val="0"/>
              </a:spcBef>
              <a:spcAft>
                <a:spcPts val="0"/>
              </a:spcAft>
              <a:buClrTx/>
              <a:buSzTx/>
              <a:buFontTx/>
              <a:buNone/>
              <a:tabLst/>
              <a:defRPr/>
            </a:pPr>
            <a:r>
              <a:rPr lang="en-US" sz="600" b="1" dirty="0">
                <a:solidFill>
                  <a:srgbClr val="25274D"/>
                </a:solidFill>
                <a:latin typeface="Montserrat" pitchFamily="34" charset="0"/>
                <a:ea typeface="Montserrat" pitchFamily="34" charset="-122"/>
                <a:cs typeface="Montserrat" pitchFamily="34" charset="-120"/>
              </a:rPr>
              <a:t>View Objects:</a:t>
            </a:r>
            <a:r>
              <a:rPr lang="en-US" sz="600" dirty="0">
                <a:solidFill>
                  <a:srgbClr val="000000"/>
                </a:solidFill>
                <a:latin typeface="Montserrat" pitchFamily="34" charset="0"/>
                <a:ea typeface="Montserrat" pitchFamily="34" charset="-122"/>
                <a:cs typeface="Montserrat" pitchFamily="34" charset="-120"/>
              </a:rPr>
              <a:t> The </a:t>
            </a:r>
            <a:r>
              <a:rPr lang="en-US" sz="600" dirty="0">
                <a:solidFill>
                  <a:srgbClr val="000000"/>
                </a:solidFill>
                <a:highlight>
                  <a:srgbClr val="F2F2F2"/>
                </a:highlight>
                <a:latin typeface="Consolas" pitchFamily="34" charset="0"/>
                <a:ea typeface="Consolas" pitchFamily="34" charset="-122"/>
                <a:cs typeface="Consolas" pitchFamily="34" charset="-120"/>
              </a:rPr>
              <a:t>keys()</a:t>
            </a:r>
            <a:r>
              <a:rPr lang="en-US" sz="600" dirty="0">
                <a:solidFill>
                  <a:srgbClr val="000000"/>
                </a:solidFill>
                <a:latin typeface="Montserrat" pitchFamily="34" charset="0"/>
                <a:ea typeface="Montserrat" pitchFamily="34" charset="-122"/>
                <a:cs typeface="Montserrat" pitchFamily="34" charset="-120"/>
              </a:rPr>
              <a:t>, </a:t>
            </a:r>
            <a:r>
              <a:rPr lang="en-US" sz="600" dirty="0">
                <a:solidFill>
                  <a:srgbClr val="000000"/>
                </a:solidFill>
                <a:highlight>
                  <a:srgbClr val="F2F2F2"/>
                </a:highlight>
                <a:latin typeface="Consolas" pitchFamily="34" charset="0"/>
                <a:ea typeface="Consolas" pitchFamily="34" charset="-122"/>
                <a:cs typeface="Consolas" pitchFamily="34" charset="-120"/>
              </a:rPr>
              <a:t>values()</a:t>
            </a:r>
            <a:r>
              <a:rPr lang="en-US" sz="600" dirty="0">
                <a:solidFill>
                  <a:srgbClr val="000000"/>
                </a:solidFill>
                <a:latin typeface="Montserrat" pitchFamily="34" charset="0"/>
                <a:ea typeface="Montserrat" pitchFamily="34" charset="-122"/>
                <a:cs typeface="Montserrat" pitchFamily="34" charset="-120"/>
              </a:rPr>
              <a:t>, and </a:t>
            </a:r>
            <a:r>
              <a:rPr lang="en-US" sz="600" dirty="0">
                <a:solidFill>
                  <a:srgbClr val="000000"/>
                </a:solidFill>
                <a:highlight>
                  <a:srgbClr val="F2F2F2"/>
                </a:highlight>
                <a:latin typeface="Consolas" pitchFamily="34" charset="0"/>
                <a:ea typeface="Consolas" pitchFamily="34" charset="-122"/>
                <a:cs typeface="Consolas" pitchFamily="34" charset="-120"/>
              </a:rPr>
              <a:t>items()</a:t>
            </a:r>
            <a:r>
              <a:rPr lang="en-US" sz="600" dirty="0">
                <a:solidFill>
                  <a:srgbClr val="000000"/>
                </a:solidFill>
                <a:latin typeface="Montserrat" pitchFamily="34" charset="0"/>
                <a:ea typeface="Montserrat" pitchFamily="34" charset="-122"/>
                <a:cs typeface="Montserrat" pitchFamily="34" charset="-120"/>
              </a:rPr>
              <a:t> methods return dynamic view objects that reflect changes to the dictionary.</a:t>
            </a:r>
            <a:endParaRPr lang="en-US" sz="800" dirty="0">
              <a:solidFill>
                <a:srgbClr val="000000"/>
              </a:solidFill>
              <a:latin typeface="Consolas" pitchFamily="34" charset="0"/>
              <a:ea typeface="Consolas" pitchFamily="34" charset="-122"/>
              <a:cs typeface="Consolas" pitchFamily="34" charset="-120"/>
            </a:endParaRPr>
          </a:p>
          <a:p>
            <a:pPr>
              <a:lnSpc>
                <a:spcPts val="917"/>
              </a:lnSpc>
            </a:pPr>
            <a:r>
              <a:rPr lang="en-US" sz="800" dirty="0">
                <a:solidFill>
                  <a:srgbClr val="000000"/>
                </a:solidFill>
                <a:latin typeface="Consolas" pitchFamily="34" charset="0"/>
                <a:ea typeface="Consolas" pitchFamily="34" charset="-122"/>
                <a:cs typeface="Consolas" pitchFamily="34" charset="-120"/>
              </a:rPr>
              <a:t>person = {'name': 'Alice'}k = </a:t>
            </a:r>
            <a:r>
              <a:rPr lang="en-US" sz="800" dirty="0" err="1">
                <a:solidFill>
                  <a:srgbClr val="000000"/>
                </a:solidFill>
                <a:latin typeface="Consolas" pitchFamily="34" charset="0"/>
                <a:ea typeface="Consolas" pitchFamily="34" charset="-122"/>
                <a:cs typeface="Consolas" pitchFamily="34" charset="-120"/>
              </a:rPr>
              <a:t>person.keys</a:t>
            </a:r>
            <a:r>
              <a:rPr lang="en-US" sz="800" dirty="0">
                <a:solidFill>
                  <a:srgbClr val="000000"/>
                </a:solidFill>
                <a:latin typeface="Consolas" pitchFamily="34" charset="0"/>
                <a:ea typeface="Consolas" pitchFamily="34" charset="-122"/>
                <a:cs typeface="Consolas" pitchFamily="34" charset="-120"/>
              </a:rPr>
              <a:t>()print(k) # </a:t>
            </a:r>
            <a:r>
              <a:rPr lang="en-US" sz="800" dirty="0" err="1">
                <a:solidFill>
                  <a:srgbClr val="000000"/>
                </a:solidFill>
                <a:latin typeface="Consolas" pitchFamily="34" charset="0"/>
                <a:ea typeface="Consolas" pitchFamily="34" charset="-122"/>
                <a:cs typeface="Consolas" pitchFamily="34" charset="-120"/>
              </a:rPr>
              <a:t>dict_keys</a:t>
            </a:r>
            <a:r>
              <a:rPr lang="en-US" sz="800" dirty="0">
                <a:solidFill>
                  <a:srgbClr val="000000"/>
                </a:solidFill>
                <a:latin typeface="Consolas" pitchFamily="34" charset="0"/>
                <a:ea typeface="Consolas" pitchFamily="34" charset="-122"/>
                <a:cs typeface="Consolas" pitchFamily="34" charset="-120"/>
              </a:rPr>
              <a:t>(['name'])person['age'] = 25print(k) # </a:t>
            </a:r>
            <a:r>
              <a:rPr lang="en-US" sz="800" dirty="0" err="1">
                <a:solidFill>
                  <a:srgbClr val="000000"/>
                </a:solidFill>
                <a:latin typeface="Consolas" pitchFamily="34" charset="0"/>
                <a:ea typeface="Consolas" pitchFamily="34" charset="-122"/>
                <a:cs typeface="Consolas" pitchFamily="34" charset="-120"/>
              </a:rPr>
              <a:t>dict_keys</a:t>
            </a:r>
            <a:r>
              <a:rPr lang="en-US" sz="800" dirty="0">
                <a:solidFill>
                  <a:srgbClr val="000000"/>
                </a:solidFill>
                <a:latin typeface="Consolas" pitchFamily="34" charset="0"/>
                <a:ea typeface="Consolas" pitchFamily="34" charset="-122"/>
                <a:cs typeface="Consolas" pitchFamily="34" charset="-120"/>
              </a:rPr>
              <a:t>(['name', 'age'])# The view automatically updates!</a:t>
            </a:r>
            <a:endParaRPr lang="en-US" sz="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68DE0B1-6641-DF6D-FCBC-94581D9EFA66}"/>
              </a:ext>
            </a:extLst>
          </p:cNvPr>
          <p:cNvSpPr>
            <a:spLocks noGrp="1"/>
          </p:cNvSpPr>
          <p:nvPr>
            <p:ph type="sldNum" sz="quarter" idx="5"/>
          </p:nvPr>
        </p:nvSpPr>
        <p:spPr/>
        <p:txBody>
          <a:bodyPr/>
          <a:lstStyle/>
          <a:p>
            <a:fld id="{1F1E027D-4684-4D2A-A457-B52C65DF2100}" type="slidenum">
              <a:rPr lang="en-GB" smtClean="0"/>
              <a:t>51</a:t>
            </a:fld>
            <a:endParaRPr lang="en-GB"/>
          </a:p>
        </p:txBody>
      </p:sp>
    </p:spTree>
    <p:extLst>
      <p:ext uri="{BB962C8B-B14F-4D97-AF65-F5344CB8AC3E}">
        <p14:creationId xmlns:p14="http://schemas.microsoft.com/office/powerpoint/2010/main" val="39630582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27EAB-443D-C93E-5DBC-7D955A448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1723D-A653-C0B6-5D15-108067B62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DDCDD-C10F-5E49-C53B-2B5F55A00B32}"/>
              </a:ext>
            </a:extLst>
          </p:cNvPr>
          <p:cNvSpPr>
            <a:spLocks noGrp="1"/>
          </p:cNvSpPr>
          <p:nvPr>
            <p:ph type="body" idx="1"/>
          </p:nvPr>
        </p:nvSpPr>
        <p:spPr/>
        <p:txBody>
          <a:bodyPr/>
          <a:lstStyle/>
          <a:p>
            <a:pPr>
              <a:lnSpc>
                <a:spcPts val="1875"/>
              </a:lnSpc>
            </a:pPr>
            <a:r>
              <a:rPr lang="en-US" sz="1800" b="1" dirty="0">
                <a:solidFill>
                  <a:srgbClr val="25274D"/>
                </a:solidFill>
                <a:latin typeface="Montserrat Bold" pitchFamily="34" charset="0"/>
                <a:ea typeface="Montserrat Bold" pitchFamily="34" charset="-122"/>
                <a:cs typeface="Montserrat Bold" pitchFamily="34" charset="-120"/>
              </a:rPr>
              <a:t>Nested Dictionaries</a:t>
            </a:r>
          </a:p>
          <a:p>
            <a:pPr marL="0" marR="0" lvl="0" indent="0" algn="l" defTabSz="914400" rtl="0" eaLnBrk="1" fontAlgn="auto" latinLnBrk="0" hangingPunct="1">
              <a:lnSpc>
                <a:spcPts val="1875"/>
              </a:lnSpc>
              <a:spcBef>
                <a:spcPts val="0"/>
              </a:spcBef>
              <a:spcAft>
                <a:spcPts val="0"/>
              </a:spcAft>
              <a:buClrTx/>
              <a:buSzTx/>
              <a:buFontTx/>
              <a:buNone/>
              <a:tabLst/>
              <a:defRPr/>
            </a:pPr>
            <a:r>
              <a:rPr lang="en-US" sz="800" dirty="0">
                <a:solidFill>
                  <a:srgbClr val="000000"/>
                </a:solidFill>
                <a:latin typeface="Montserrat" pitchFamily="34" charset="0"/>
                <a:ea typeface="Montserrat" pitchFamily="34" charset="-122"/>
                <a:cs typeface="Montserrat" pitchFamily="34" charset="-120"/>
              </a:rPr>
              <a:t>Dictionaries can also contain other dictionaries, creating a nested structure. This is useful for representing more complex data relationships.</a:t>
            </a:r>
          </a:p>
          <a:p>
            <a:pPr marL="0" marR="0" lvl="0" indent="0" algn="l" defTabSz="914400" rtl="0" eaLnBrk="1" fontAlgn="auto" latinLnBrk="0" hangingPunct="1">
              <a:lnSpc>
                <a:spcPts val="1875"/>
              </a:lnSpc>
              <a:spcBef>
                <a:spcPts val="0"/>
              </a:spcBef>
              <a:spcAft>
                <a:spcPts val="0"/>
              </a:spcAft>
              <a:buClrTx/>
              <a:buSzTx/>
              <a:buFontTx/>
              <a:buNone/>
              <a:tabLst/>
              <a:defRPr/>
            </a:pPr>
            <a:endParaRPr lang="en-US" sz="800" dirty="0"/>
          </a:p>
          <a:p>
            <a:pPr>
              <a:lnSpc>
                <a:spcPts val="958"/>
              </a:lnSpc>
            </a:pPr>
            <a:r>
              <a:rPr lang="en-US" sz="800" dirty="0">
                <a:solidFill>
                  <a:srgbClr val="000000"/>
                </a:solidFill>
                <a:latin typeface="Consolas" pitchFamily="34" charset="0"/>
                <a:ea typeface="Consolas" pitchFamily="34" charset="-122"/>
                <a:cs typeface="Consolas" pitchFamily="34" charset="-120"/>
              </a:rPr>
              <a:t># Employee records with nested information employees = {    'emp1': { 'name': 'Alice', 'age': 25,  'skills': ['Python', 'SQL’],  'contact’: { 'email': '</a:t>
            </a:r>
            <a:r>
              <a:rPr lang="en-US" sz="800" dirty="0" err="1">
                <a:solidFill>
                  <a:srgbClr val="000000"/>
                </a:solidFill>
                <a:latin typeface="Consolas" pitchFamily="34" charset="0"/>
                <a:ea typeface="Consolas" pitchFamily="34" charset="-122"/>
                <a:cs typeface="Consolas" pitchFamily="34" charset="-120"/>
              </a:rPr>
              <a:t>alice@example.com','phone</a:t>
            </a:r>
            <a:r>
              <a:rPr lang="en-US" sz="800" dirty="0">
                <a:solidFill>
                  <a:srgbClr val="000000"/>
                </a:solidFill>
                <a:latin typeface="Consolas" pitchFamily="34" charset="0"/>
                <a:ea typeface="Consolas" pitchFamily="34" charset="-122"/>
                <a:cs typeface="Consolas" pitchFamily="34" charset="-120"/>
              </a:rPr>
              <a:t>': '555-1234' } }, 'emp2': { 'name': 'Bob’ 'age’:  'skills': ['Java', 'C++'],'contact’:  'email': 'bob@example.com', 'phone': '555-5678' } }}# Accessing nested data</a:t>
            </a:r>
          </a:p>
          <a:p>
            <a:pPr>
              <a:lnSpc>
                <a:spcPts val="958"/>
              </a:lnSpc>
            </a:pPr>
            <a:r>
              <a:rPr lang="en-US" sz="800" dirty="0">
                <a:solidFill>
                  <a:srgbClr val="000000"/>
                </a:solidFill>
                <a:latin typeface="Consolas" pitchFamily="34" charset="0"/>
                <a:ea typeface="Consolas" pitchFamily="34" charset="-122"/>
                <a:cs typeface="Consolas" pitchFamily="34" charset="-120"/>
              </a:rPr>
              <a:t>print(employees['emp1']['name']) # Alice print(employees['emp2']['contact']['email'])  # bob@example.com</a:t>
            </a:r>
          </a:p>
          <a:p>
            <a:pPr>
              <a:lnSpc>
                <a:spcPts val="1875"/>
              </a:lnSpc>
            </a:pPr>
            <a:endParaRPr lang="en-US" sz="1800" dirty="0"/>
          </a:p>
        </p:txBody>
      </p:sp>
      <p:sp>
        <p:nvSpPr>
          <p:cNvPr id="4" name="Slide Number Placeholder 3">
            <a:extLst>
              <a:ext uri="{FF2B5EF4-FFF2-40B4-BE49-F238E27FC236}">
                <a16:creationId xmlns:a16="http://schemas.microsoft.com/office/drawing/2014/main" id="{ABA81032-EA83-9536-4F32-FEB6BC4C4243}"/>
              </a:ext>
            </a:extLst>
          </p:cNvPr>
          <p:cNvSpPr>
            <a:spLocks noGrp="1"/>
          </p:cNvSpPr>
          <p:nvPr>
            <p:ph type="sldNum" sz="quarter" idx="5"/>
          </p:nvPr>
        </p:nvSpPr>
        <p:spPr/>
        <p:txBody>
          <a:bodyPr/>
          <a:lstStyle/>
          <a:p>
            <a:fld id="{1F1E027D-4684-4D2A-A457-B52C65DF2100}" type="slidenum">
              <a:rPr lang="en-GB" smtClean="0"/>
              <a:t>52</a:t>
            </a:fld>
            <a:endParaRPr lang="en-GB"/>
          </a:p>
        </p:txBody>
      </p:sp>
    </p:spTree>
    <p:extLst>
      <p:ext uri="{BB962C8B-B14F-4D97-AF65-F5344CB8AC3E}">
        <p14:creationId xmlns:p14="http://schemas.microsoft.com/office/powerpoint/2010/main" val="24792311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C682-A80D-5711-39DB-734199378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33A5F-67F4-E342-6959-29800623D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C7C8FE-BDBB-6E76-C34B-CDE2932A46E0}"/>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Nested dictionaries are perfect for:</a:t>
            </a:r>
            <a:endParaRPr lang="en-US" sz="1800" b="1"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Representing hierarchical data</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Storing complex objects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Organizing related information</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Working with JSON-like data structures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Infographic Repository Slide 81</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1: https://www.shutterstock.com/image-vector/vector-icon-representing-tree-diagram-aipowered- 2669388295</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2: https://www.shutterstock.com/image-vector/single-black-financial-report-line-icon- 2436811839</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3: https://www.shutterstock.com/image-vector/customisable-real-line-icon-flow-chart- 1666653664</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Icon 4: https://www.shutterstock.com/image-vector/data-structure-icon-simple-element-organization- 1641734344</a:t>
            </a:r>
          </a:p>
        </p:txBody>
      </p:sp>
      <p:sp>
        <p:nvSpPr>
          <p:cNvPr id="4" name="Slide Number Placeholder 3">
            <a:extLst>
              <a:ext uri="{FF2B5EF4-FFF2-40B4-BE49-F238E27FC236}">
                <a16:creationId xmlns:a16="http://schemas.microsoft.com/office/drawing/2014/main" id="{0DD3C4EC-9924-A2A8-AC22-1794705920DA}"/>
              </a:ext>
            </a:extLst>
          </p:cNvPr>
          <p:cNvSpPr>
            <a:spLocks noGrp="1"/>
          </p:cNvSpPr>
          <p:nvPr>
            <p:ph type="sldNum" sz="quarter" idx="5"/>
          </p:nvPr>
        </p:nvSpPr>
        <p:spPr/>
        <p:txBody>
          <a:bodyPr/>
          <a:lstStyle/>
          <a:p>
            <a:fld id="{1F1E027D-4684-4D2A-A457-B52C65DF2100}" type="slidenum">
              <a:rPr lang="en-GB" smtClean="0"/>
              <a:t>53</a:t>
            </a:fld>
            <a:endParaRPr lang="en-GB"/>
          </a:p>
        </p:txBody>
      </p:sp>
    </p:spTree>
    <p:extLst>
      <p:ext uri="{BB962C8B-B14F-4D97-AF65-F5344CB8AC3E}">
        <p14:creationId xmlns:p14="http://schemas.microsoft.com/office/powerpoint/2010/main" val="3341704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C748F-6DB3-4A6B-D686-67852934F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EFDF5-D948-5CD0-24D2-4085D2790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9C6F3-A3BD-141A-D785-B70C2ABADBAC}"/>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pitchFamily="34" charset="0"/>
                <a:ea typeface="Montserrat" pitchFamily="34" charset="-122"/>
                <a:cs typeface="Montserrat" pitchFamily="34" charset="-120"/>
              </a:rPr>
              <a:t>Tip:</a:t>
            </a:r>
            <a:r>
              <a:rPr lang="en-US" sz="1800" dirty="0">
                <a:solidFill>
                  <a:srgbClr val="000000"/>
                </a:solidFill>
                <a:latin typeface="Montserrat" pitchFamily="34" charset="0"/>
                <a:ea typeface="Montserrat" pitchFamily="34" charset="-122"/>
                <a:cs typeface="Montserrat" pitchFamily="34" charset="-120"/>
              </a:rPr>
              <a:t> To avoid errors when accessing deeply nested dictionaries, use the </a:t>
            </a:r>
            <a:r>
              <a:rPr lang="en-US" sz="1800" dirty="0">
                <a:solidFill>
                  <a:srgbClr val="000000"/>
                </a:solidFill>
                <a:highlight>
                  <a:srgbClr val="F2F2F2"/>
                </a:highlight>
                <a:latin typeface="Consolas" pitchFamily="34" charset="0"/>
                <a:ea typeface="Consolas" pitchFamily="34" charset="-122"/>
                <a:cs typeface="Consolas" pitchFamily="34" charset="-120"/>
              </a:rPr>
              <a:t>get()</a:t>
            </a:r>
            <a:r>
              <a:rPr lang="en-US" sz="1800" dirty="0">
                <a:solidFill>
                  <a:srgbClr val="000000"/>
                </a:solidFill>
                <a:latin typeface="Montserrat" pitchFamily="34" charset="0"/>
                <a:ea typeface="Montserrat" pitchFamily="34" charset="-122"/>
                <a:cs typeface="Montserrat" pitchFamily="34" charset="-120"/>
              </a:rPr>
              <a:t> method:</a:t>
            </a:r>
            <a:endParaRPr lang="en-US" sz="1800" dirty="0"/>
          </a:p>
          <a:p>
            <a:pPr>
              <a:lnSpc>
                <a:spcPts val="958"/>
              </a:lnSpc>
            </a:pPr>
            <a:r>
              <a:rPr lang="en-US" sz="1800" dirty="0">
                <a:solidFill>
                  <a:srgbClr val="000000"/>
                </a:solidFill>
                <a:latin typeface="Consolas" pitchFamily="34" charset="0"/>
                <a:ea typeface="Consolas" pitchFamily="34" charset="-122"/>
                <a:cs typeface="Consolas" pitchFamily="34" charset="-120"/>
              </a:rPr>
              <a:t># Safely trying to access emp3's email </a:t>
            </a:r>
            <a:r>
              <a:rPr lang="en-US" sz="1800" dirty="0" err="1">
                <a:solidFill>
                  <a:srgbClr val="000000"/>
                </a:solidFill>
                <a:latin typeface="Consolas" pitchFamily="34" charset="0"/>
                <a:ea typeface="Consolas" pitchFamily="34" charset="-122"/>
                <a:cs typeface="Consolas" pitchFamily="34" charset="-120"/>
              </a:rPr>
              <a:t>email</a:t>
            </a:r>
            <a:r>
              <a:rPr lang="en-US" sz="1800" dirty="0">
                <a:solidFill>
                  <a:srgbClr val="000000"/>
                </a:solidFill>
                <a:latin typeface="Consolas" pitchFamily="34" charset="0"/>
                <a:ea typeface="Consolas" pitchFamily="34" charset="-122"/>
                <a:cs typeface="Consolas" pitchFamily="34" charset="-120"/>
              </a:rPr>
              <a:t> = </a:t>
            </a:r>
            <a:r>
              <a:rPr lang="en-US" sz="1800" dirty="0" err="1">
                <a:solidFill>
                  <a:srgbClr val="000000"/>
                </a:solidFill>
                <a:latin typeface="Consolas" pitchFamily="34" charset="0"/>
                <a:ea typeface="Consolas" pitchFamily="34" charset="-122"/>
                <a:cs typeface="Consolas" pitchFamily="34" charset="-120"/>
              </a:rPr>
              <a:t>employees.get</a:t>
            </a:r>
            <a:r>
              <a:rPr lang="en-US" sz="1800" dirty="0">
                <a:solidFill>
                  <a:srgbClr val="000000"/>
                </a:solidFill>
                <a:latin typeface="Consolas" pitchFamily="34" charset="0"/>
                <a:ea typeface="Consolas" pitchFamily="34" charset="-122"/>
                <a:cs typeface="Consolas" pitchFamily="34" charset="-120"/>
              </a:rPr>
              <a:t>('emp3', {}).get('contact', {}).get('email’) print(email)   # None (since 'emp3' does not exist)</a:t>
            </a:r>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50DE723-DBF3-5EA1-E2F6-552D0BE90FDD}"/>
              </a:ext>
            </a:extLst>
          </p:cNvPr>
          <p:cNvSpPr>
            <a:spLocks noGrp="1"/>
          </p:cNvSpPr>
          <p:nvPr>
            <p:ph type="sldNum" sz="quarter" idx="5"/>
          </p:nvPr>
        </p:nvSpPr>
        <p:spPr/>
        <p:txBody>
          <a:bodyPr/>
          <a:lstStyle/>
          <a:p>
            <a:fld id="{1F1E027D-4684-4D2A-A457-B52C65DF2100}" type="slidenum">
              <a:rPr lang="en-GB" smtClean="0"/>
              <a:t>54</a:t>
            </a:fld>
            <a:endParaRPr lang="en-GB"/>
          </a:p>
        </p:txBody>
      </p:sp>
    </p:spTree>
    <p:extLst>
      <p:ext uri="{BB962C8B-B14F-4D97-AF65-F5344CB8AC3E}">
        <p14:creationId xmlns:p14="http://schemas.microsoft.com/office/powerpoint/2010/main" val="21285736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3E93-2AFD-EDD8-43AE-86A60BC87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DFEF8-7F1C-396E-4204-930EB91D9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18184-AE94-9A19-552E-7E8BDDAD16BA}"/>
              </a:ext>
            </a:extLst>
          </p:cNvPr>
          <p:cNvSpPr>
            <a:spLocks noGrp="1"/>
          </p:cNvSpPr>
          <p:nvPr>
            <p:ph type="body" idx="1"/>
          </p:nvPr>
        </p:nvSpPr>
        <p:spPr/>
        <p:txBody>
          <a:bodyPr/>
          <a:lstStyle/>
          <a:p>
            <a:pPr>
              <a:lnSpc>
                <a:spcPts val="2625"/>
              </a:lnSpc>
            </a:pPr>
            <a:r>
              <a:rPr lang="en-US" sz="1800" b="1" dirty="0">
                <a:solidFill>
                  <a:srgbClr val="25274D"/>
                </a:solidFill>
                <a:latin typeface="Montserrat Bold" pitchFamily="34" charset="0"/>
                <a:ea typeface="Montserrat Bold" pitchFamily="34" charset="-122"/>
                <a:cs typeface="Montserrat Bold" pitchFamily="34" charset="-120"/>
              </a:rPr>
              <a:t>Limitations of Dictionaries </a:t>
            </a:r>
          </a:p>
          <a:p>
            <a:pPr marL="0" marR="0" lvl="0" indent="0" algn="l" defTabSz="914400" rtl="0" eaLnBrk="1" fontAlgn="auto" latinLnBrk="0" hangingPunct="1">
              <a:lnSpc>
                <a:spcPts val="2625"/>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Key Restrictions</a:t>
            </a:r>
            <a:endParaRPr lang="en-US" sz="1800" dirty="0"/>
          </a:p>
          <a:p>
            <a:pPr marL="0" marR="0" lvl="0" indent="0" algn="l" defTabSz="914400" rtl="0" eaLnBrk="1" fontAlgn="auto" latinLnBrk="0" hangingPunct="1">
              <a:lnSpc>
                <a:spcPts val="2625"/>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Keys must be unique and immutable (</a:t>
            </a:r>
            <a:r>
              <a:rPr lang="en-US" sz="1800" dirty="0" err="1">
                <a:solidFill>
                  <a:srgbClr val="000000"/>
                </a:solidFill>
                <a:latin typeface="Montserrat" pitchFamily="34" charset="0"/>
                <a:ea typeface="Montserrat" pitchFamily="34" charset="-122"/>
                <a:cs typeface="Montserrat" pitchFamily="34" charset="-120"/>
              </a:rPr>
              <a:t>hashable</a:t>
            </a:r>
            <a:r>
              <a:rPr lang="en-US" sz="1800" dirty="0">
                <a:solidFill>
                  <a:srgbClr val="000000"/>
                </a:solidFill>
                <a:latin typeface="Montserrat" pitchFamily="34" charset="0"/>
                <a:ea typeface="Montserrat" pitchFamily="34" charset="-122"/>
                <a:cs typeface="Montserrat" pitchFamily="34" charset="-120"/>
              </a:rPr>
              <a:t>). You cannot use lists, sets, or other dictionaries as keys, though you can use tuples if they contain only immutable elements.</a:t>
            </a:r>
            <a:endParaRPr lang="en-US" sz="1800" dirty="0"/>
          </a:p>
          <a:p>
            <a:pPr>
              <a:lnSpc>
                <a:spcPts val="2625"/>
              </a:lnSpc>
            </a:pPr>
            <a:r>
              <a:rPr lang="en-US" sz="1800" dirty="0"/>
              <a:t># ✅ Works: tuple as a dictionary </a:t>
            </a:r>
            <a:r>
              <a:rPr lang="en-US" sz="1800" dirty="0" err="1"/>
              <a:t>keyd</a:t>
            </a:r>
            <a:r>
              <a:rPr lang="en-US" sz="1800" dirty="0"/>
              <a:t> = {(1, 2): 'tuple key'}print(d[(1, 2)])   # tuple key# ❌ Raises </a:t>
            </a:r>
            <a:r>
              <a:rPr lang="en-US" sz="1800" dirty="0" err="1"/>
              <a:t>TypeError</a:t>
            </a:r>
            <a:r>
              <a:rPr lang="en-US" sz="1800" dirty="0"/>
              <a:t>: lists are mutable, hence </a:t>
            </a:r>
            <a:r>
              <a:rPr lang="en-US" sz="1800" dirty="0" err="1"/>
              <a:t>unhashable</a:t>
            </a:r>
            <a:r>
              <a:rPr lang="en-US" sz="1800" dirty="0"/>
              <a:t># d = {[1, 2]: 'list key'}# ❌ Raises </a:t>
            </a:r>
            <a:r>
              <a:rPr lang="en-US" sz="1800" dirty="0" err="1"/>
              <a:t>TypeError</a:t>
            </a:r>
            <a:r>
              <a:rPr lang="en-US" sz="1800" dirty="0"/>
              <a:t>: sets are mutable, hence </a:t>
            </a:r>
            <a:r>
              <a:rPr lang="en-US" sz="1800" dirty="0" err="1"/>
              <a:t>unhashable</a:t>
            </a:r>
            <a:r>
              <a:rPr lang="en-US" sz="1800" dirty="0"/>
              <a:t># d = {{1, 2}: 'set key’}</a:t>
            </a:r>
          </a:p>
          <a:p>
            <a:pPr marL="0" marR="0" lvl="0" indent="0" algn="l" defTabSz="914400" rtl="0" eaLnBrk="1" fontAlgn="auto" latinLnBrk="0" hangingPunct="1">
              <a:lnSpc>
                <a:spcPts val="2625"/>
              </a:lnSpc>
              <a:spcBef>
                <a:spcPts val="0"/>
              </a:spcBef>
              <a:spcAft>
                <a:spcPts val="0"/>
              </a:spcAft>
              <a:buClrTx/>
              <a:buSzTx/>
              <a:buFontTx/>
              <a:buNone/>
              <a:tabLst/>
              <a:defRPr/>
            </a:pPr>
            <a:endParaRPr lang="en-US" sz="1800" dirty="0"/>
          </a:p>
          <a:p>
            <a:pPr>
              <a:lnSpc>
                <a:spcPts val="2625"/>
              </a:lnSpc>
            </a:pPr>
            <a:r>
              <a:rPr lang="en-US" sz="1800" dirty="0"/>
              <a:t>Image:</a:t>
            </a:r>
          </a:p>
          <a:p>
            <a:pPr>
              <a:lnSpc>
                <a:spcPts val="2625"/>
              </a:lnSpc>
            </a:pPr>
            <a:r>
              <a:rPr lang="en-US" sz="1800" dirty="0"/>
              <a:t>Infographic Repository Slide 85</a:t>
            </a:r>
          </a:p>
        </p:txBody>
      </p:sp>
      <p:sp>
        <p:nvSpPr>
          <p:cNvPr id="4" name="Slide Number Placeholder 3">
            <a:extLst>
              <a:ext uri="{FF2B5EF4-FFF2-40B4-BE49-F238E27FC236}">
                <a16:creationId xmlns:a16="http://schemas.microsoft.com/office/drawing/2014/main" id="{58C3D715-1775-73BB-1291-71362D1897D1}"/>
              </a:ext>
            </a:extLst>
          </p:cNvPr>
          <p:cNvSpPr>
            <a:spLocks noGrp="1"/>
          </p:cNvSpPr>
          <p:nvPr>
            <p:ph type="sldNum" sz="quarter" idx="5"/>
          </p:nvPr>
        </p:nvSpPr>
        <p:spPr/>
        <p:txBody>
          <a:bodyPr/>
          <a:lstStyle/>
          <a:p>
            <a:fld id="{1F1E027D-4684-4D2A-A457-B52C65DF2100}" type="slidenum">
              <a:rPr lang="en-GB" smtClean="0"/>
              <a:t>55</a:t>
            </a:fld>
            <a:endParaRPr lang="en-GB"/>
          </a:p>
        </p:txBody>
      </p:sp>
    </p:spTree>
    <p:extLst>
      <p:ext uri="{BB962C8B-B14F-4D97-AF65-F5344CB8AC3E}">
        <p14:creationId xmlns:p14="http://schemas.microsoft.com/office/powerpoint/2010/main" val="16763501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CF6EB-345F-6669-EE47-0E729F6A7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3DB36-45E5-EA2D-2689-1AD058051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D7C595-E511-A346-1711-3E5311EC8E1C}"/>
              </a:ext>
            </a:extLst>
          </p:cNvPr>
          <p:cNvSpPr>
            <a:spLocks noGrp="1"/>
          </p:cNvSpPr>
          <p:nvPr>
            <p:ph type="body" idx="1"/>
          </p:nvPr>
        </p:nvSpPr>
        <p:spPr/>
        <p:txBody>
          <a:bodyPr/>
          <a:lstStyle/>
          <a:p>
            <a:pPr marL="0" marR="0" lvl="0" indent="0" algn="l" defTabSz="914400" rtl="0" eaLnBrk="1" fontAlgn="auto" latinLnBrk="0" hangingPunct="1">
              <a:lnSpc>
                <a:spcPts val="2625"/>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Memory Usage</a:t>
            </a:r>
          </a:p>
          <a:p>
            <a:pPr marL="0" marR="0" lvl="0" indent="0" algn="l" defTabSz="914400" rtl="0" eaLnBrk="1" fontAlgn="auto" latinLnBrk="0" hangingPunct="1">
              <a:lnSpc>
                <a:spcPts val="2625"/>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Dictionaries typically consume more memory than lists or tuples for the same amount of data, due to their hash table implementation and the overhead of storing both keys and values.</a:t>
            </a:r>
          </a:p>
          <a:p>
            <a:pPr marL="0" marR="0" lvl="0" indent="0" algn="l" defTabSz="914400" rtl="0" eaLnBrk="1" fontAlgn="auto" latinLnBrk="0" hangingPunct="1">
              <a:lnSpc>
                <a:spcPts val="2625"/>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Order Considerations</a:t>
            </a:r>
            <a:endParaRPr lang="en-US" sz="1800" dirty="0"/>
          </a:p>
          <a:p>
            <a:pPr marL="0" marR="0" lvl="0" indent="0" algn="l" defTabSz="914400" rtl="0" eaLnBrk="1" fontAlgn="auto" latinLnBrk="0" hangingPunct="1">
              <a:lnSpc>
                <a:spcPts val="2625"/>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While dictionaries preserve insertion order in Python 3.7+, this was not true in earlier versions. Code that relies on dictionary ordering might not work with older Python versions.</a:t>
            </a:r>
            <a:endParaRPr lang="en-US" sz="1800" dirty="0"/>
          </a:p>
          <a:p>
            <a:pPr marL="0" marR="0" lvl="0" indent="0" algn="l" defTabSz="914400" rtl="0" eaLnBrk="1" fontAlgn="auto" latinLnBrk="0" hangingPunct="1">
              <a:lnSpc>
                <a:spcPts val="2625"/>
              </a:lnSpc>
              <a:spcBef>
                <a:spcPts val="0"/>
              </a:spcBef>
              <a:spcAft>
                <a:spcPts val="0"/>
              </a:spcAft>
              <a:buClrTx/>
              <a:buSzTx/>
              <a:buFontTx/>
              <a:buNone/>
              <a:tabLst/>
              <a:defRPr/>
            </a:pPr>
            <a:endParaRPr lang="en-US" sz="1800" dirty="0"/>
          </a:p>
          <a:p>
            <a:pPr>
              <a:lnSpc>
                <a:spcPts val="2625"/>
              </a:lnSpc>
            </a:pPr>
            <a:r>
              <a:rPr lang="en-US" sz="1800" dirty="0"/>
              <a:t>Image:</a:t>
            </a:r>
          </a:p>
          <a:p>
            <a:pPr>
              <a:lnSpc>
                <a:spcPts val="2625"/>
              </a:lnSpc>
            </a:pPr>
            <a:r>
              <a:rPr lang="en-US" sz="1800" dirty="0"/>
              <a:t>Infographic Repository Slide 85</a:t>
            </a:r>
          </a:p>
        </p:txBody>
      </p:sp>
      <p:sp>
        <p:nvSpPr>
          <p:cNvPr id="4" name="Slide Number Placeholder 3">
            <a:extLst>
              <a:ext uri="{FF2B5EF4-FFF2-40B4-BE49-F238E27FC236}">
                <a16:creationId xmlns:a16="http://schemas.microsoft.com/office/drawing/2014/main" id="{30A928F1-D75E-B9E6-A423-7B0C511C99B7}"/>
              </a:ext>
            </a:extLst>
          </p:cNvPr>
          <p:cNvSpPr>
            <a:spLocks noGrp="1"/>
          </p:cNvSpPr>
          <p:nvPr>
            <p:ph type="sldNum" sz="quarter" idx="5"/>
          </p:nvPr>
        </p:nvSpPr>
        <p:spPr/>
        <p:txBody>
          <a:bodyPr/>
          <a:lstStyle/>
          <a:p>
            <a:fld id="{1F1E027D-4684-4D2A-A457-B52C65DF2100}" type="slidenum">
              <a:rPr lang="en-GB" smtClean="0"/>
              <a:t>56</a:t>
            </a:fld>
            <a:endParaRPr lang="en-GB"/>
          </a:p>
        </p:txBody>
      </p:sp>
    </p:spTree>
    <p:extLst>
      <p:ext uri="{BB962C8B-B14F-4D97-AF65-F5344CB8AC3E}">
        <p14:creationId xmlns:p14="http://schemas.microsoft.com/office/powerpoint/2010/main" val="40212380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2EB46-7855-9955-5A18-7E44C2025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F2A91-CCA7-1599-9576-ED16BFC4D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6D23E-5FA4-7453-8BC7-97DAACBD16F2}"/>
              </a:ext>
            </a:extLst>
          </p:cNvPr>
          <p:cNvSpPr>
            <a:spLocks noGrp="1"/>
          </p:cNvSpPr>
          <p:nvPr>
            <p:ph type="body" idx="1"/>
          </p:nvPr>
        </p:nvSpPr>
        <p:spPr/>
        <p:txBody>
          <a:bodyPr/>
          <a:lstStyle/>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Why Conditional Statements?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Programs need to </a:t>
            </a:r>
            <a:r>
              <a:rPr lang="en-US" sz="1800" b="1" dirty="0">
                <a:solidFill>
                  <a:srgbClr val="25274D"/>
                </a:solidFill>
                <a:latin typeface="Montserrat Bold" pitchFamily="34" charset="0"/>
                <a:ea typeface="Montserrat Bold" pitchFamily="34" charset="-122"/>
                <a:cs typeface="Montserrat Bold" pitchFamily="34" charset="-120"/>
              </a:rPr>
              <a:t>make decisions</a:t>
            </a:r>
            <a:endParaRPr lang="en-US" sz="1800" dirty="0"/>
          </a:p>
          <a:p>
            <a:pPr>
              <a:lnSpc>
                <a:spcPts val="2292"/>
              </a:lnSpc>
            </a:pPr>
            <a:r>
              <a:rPr lang="en-US" sz="1800" b="1" dirty="0">
                <a:solidFill>
                  <a:srgbClr val="000000"/>
                </a:solidFill>
                <a:latin typeface="Montserrat Bold" pitchFamily="34" charset="0"/>
                <a:ea typeface="Montserrat Bold" pitchFamily="34" charset="-122"/>
                <a:cs typeface="Montserrat Bold" pitchFamily="34" charset="-120"/>
              </a:rPr>
              <a:t>Run different code </a:t>
            </a:r>
            <a:r>
              <a:rPr lang="en-US" sz="1800" b="1" dirty="0">
                <a:solidFill>
                  <a:srgbClr val="25274D"/>
                </a:solidFill>
                <a:latin typeface="Montserrat Bold" pitchFamily="34" charset="0"/>
                <a:ea typeface="Montserrat Bold" pitchFamily="34" charset="-122"/>
                <a:cs typeface="Montserrat Bold" pitchFamily="34" charset="-120"/>
              </a:rPr>
              <a:t>based on conditions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Example:</a:t>
            </a:r>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If a student's score ≥ 50 → Pass</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Else → Fail</a:t>
            </a:r>
            <a:endParaRPr lang="en-US" sz="1800" dirty="0"/>
          </a:p>
          <a:p>
            <a:pPr marL="0" marR="0" lvl="0" indent="0" algn="l" defTabSz="914400" rtl="0" eaLnBrk="1" fontAlgn="auto" latinLnBrk="0" hangingPunct="1">
              <a:lnSpc>
                <a:spcPct val="115000"/>
              </a:lnSpc>
              <a:spcBef>
                <a:spcPts val="800"/>
              </a:spcBef>
              <a:spcAft>
                <a:spcPts val="400"/>
              </a:spcAft>
              <a:buClrTx/>
              <a:buSzTx/>
              <a:buFontTx/>
              <a:buNone/>
              <a:tabLst/>
              <a:defRP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800"/>
              </a:spcBef>
              <a:spcAft>
                <a:spcPts val="400"/>
              </a:spcAft>
              <a:buClrTx/>
              <a:buSzTx/>
              <a:buFontTx/>
              <a:buNone/>
              <a:tabLst/>
              <a:defRP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https://enterprise.shutterstock.com/catalog?q=python</a:t>
            </a:r>
          </a:p>
        </p:txBody>
      </p:sp>
      <p:sp>
        <p:nvSpPr>
          <p:cNvPr id="4" name="Slide Number Placeholder 3">
            <a:extLst>
              <a:ext uri="{FF2B5EF4-FFF2-40B4-BE49-F238E27FC236}">
                <a16:creationId xmlns:a16="http://schemas.microsoft.com/office/drawing/2014/main" id="{93EFC9B3-85B8-B700-D5E2-BFEACF078C74}"/>
              </a:ext>
            </a:extLst>
          </p:cNvPr>
          <p:cNvSpPr>
            <a:spLocks noGrp="1"/>
          </p:cNvSpPr>
          <p:nvPr>
            <p:ph type="sldNum" sz="quarter" idx="5"/>
          </p:nvPr>
        </p:nvSpPr>
        <p:spPr/>
        <p:txBody>
          <a:bodyPr/>
          <a:lstStyle/>
          <a:p>
            <a:fld id="{1F1E027D-4684-4D2A-A457-B52C65DF2100}" type="slidenum">
              <a:rPr lang="en-GB" smtClean="0"/>
              <a:t>58</a:t>
            </a:fld>
            <a:endParaRPr lang="en-GB"/>
          </a:p>
        </p:txBody>
      </p:sp>
    </p:spTree>
    <p:extLst>
      <p:ext uri="{BB962C8B-B14F-4D97-AF65-F5344CB8AC3E}">
        <p14:creationId xmlns:p14="http://schemas.microsoft.com/office/powerpoint/2010/main" val="32641831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12DC5-064C-9825-A44E-1C8785C61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2ED40-A478-12BB-B067-08F8EA081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BEF9D-A795-6D7E-743B-DCF9865B32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b="1" dirty="0">
                <a:solidFill>
                  <a:srgbClr val="25274D"/>
                </a:solidFill>
                <a:latin typeface="Montserrat Bold" pitchFamily="34" charset="0"/>
                <a:ea typeface="Montserrat Bold" pitchFamily="34" charset="-122"/>
                <a:cs typeface="Montserrat Bold" pitchFamily="34" charset="-120"/>
              </a:rPr>
              <a:t>The if Statement</a:t>
            </a:r>
            <a:endParaRPr lang="en-US" sz="1800" dirty="0"/>
          </a:p>
          <a:p>
            <a:pPr>
              <a:lnSpc>
                <a:spcPts val="1583"/>
              </a:lnSpc>
            </a:pPr>
            <a:r>
              <a:rPr lang="en-US" sz="1800" dirty="0">
                <a:solidFill>
                  <a:srgbClr val="000000"/>
                </a:solidFill>
                <a:highlight>
                  <a:srgbClr val="F2F2F2"/>
                </a:highlight>
                <a:latin typeface="Consolas" pitchFamily="34" charset="0"/>
                <a:ea typeface="Consolas" pitchFamily="34" charset="-122"/>
                <a:cs typeface="Consolas" pitchFamily="34" charset="-120"/>
              </a:rPr>
              <a:t>x = 10if x &gt; 5:    print("x is greater than 5") </a:t>
            </a:r>
          </a:p>
          <a:p>
            <a:pPr marL="0" marR="0" lvl="0" indent="0" algn="l" defTabSz="914400" rtl="0" eaLnBrk="1" fontAlgn="auto" latinLnBrk="0" hangingPunct="1">
              <a:lnSpc>
                <a:spcPts val="1583"/>
              </a:lnSpc>
              <a:spcBef>
                <a:spcPts val="0"/>
              </a:spcBef>
              <a:spcAft>
                <a:spcPts val="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Explanation:</a:t>
            </a:r>
            <a:endParaRPr lang="en-US" sz="1800" dirty="0"/>
          </a:p>
          <a:p>
            <a:pPr marL="0" marR="0" lvl="0" indent="0" algn="l" defTabSz="914400" rtl="0" eaLnBrk="1" fontAlgn="auto" latinLnBrk="0" hangingPunct="1">
              <a:lnSpc>
                <a:spcPts val="1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condition (x &gt; 5) is evaluated</a:t>
            </a:r>
            <a:endParaRPr lang="en-US" sz="1800" dirty="0"/>
          </a:p>
          <a:p>
            <a:pPr marL="0" marR="0" lvl="0" indent="0" algn="l" defTabSz="914400" rtl="0" eaLnBrk="1" fontAlgn="auto" latinLnBrk="0" hangingPunct="1">
              <a:lnSpc>
                <a:spcPts val="1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If the condition is </a:t>
            </a:r>
            <a:r>
              <a:rPr lang="en-US" sz="1800" b="1" dirty="0">
                <a:solidFill>
                  <a:srgbClr val="25274D"/>
                </a:solidFill>
                <a:latin typeface="Montserrat" pitchFamily="34" charset="0"/>
                <a:ea typeface="Montserrat" pitchFamily="34" charset="-122"/>
                <a:cs typeface="Montserrat" pitchFamily="34" charset="-120"/>
              </a:rPr>
              <a:t>True</a:t>
            </a:r>
            <a:r>
              <a:rPr lang="en-US" sz="1800" dirty="0">
                <a:solidFill>
                  <a:srgbClr val="000000"/>
                </a:solidFill>
                <a:latin typeface="Montserrat" pitchFamily="34" charset="0"/>
                <a:ea typeface="Montserrat" pitchFamily="34" charset="-122"/>
                <a:cs typeface="Montserrat" pitchFamily="34" charset="-120"/>
              </a:rPr>
              <a:t>, the indented code block runs</a:t>
            </a:r>
            <a:endParaRPr lang="en-US" sz="1800" dirty="0"/>
          </a:p>
          <a:p>
            <a:pPr marL="0" marR="0" lvl="0" indent="0" algn="l" defTabSz="914400" rtl="0" eaLnBrk="1" fontAlgn="auto" latinLnBrk="0" hangingPunct="1">
              <a:lnSpc>
                <a:spcPts val="1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If the condition is </a:t>
            </a:r>
            <a:r>
              <a:rPr lang="en-US" sz="1800" b="1" dirty="0">
                <a:solidFill>
                  <a:srgbClr val="000000"/>
                </a:solidFill>
                <a:latin typeface="Montserrat" pitchFamily="34" charset="0"/>
                <a:ea typeface="Montserrat" pitchFamily="34" charset="-122"/>
                <a:cs typeface="Montserrat" pitchFamily="34" charset="-120"/>
              </a:rPr>
              <a:t>False</a:t>
            </a:r>
            <a:r>
              <a:rPr lang="en-US" sz="1800" dirty="0">
                <a:solidFill>
                  <a:srgbClr val="000000"/>
                </a:solidFill>
                <a:latin typeface="Montserrat" pitchFamily="34" charset="0"/>
                <a:ea typeface="Montserrat" pitchFamily="34" charset="-122"/>
                <a:cs typeface="Montserrat" pitchFamily="34" charset="-120"/>
              </a:rPr>
              <a:t>, the indented code is skipped</a:t>
            </a:r>
            <a:endParaRPr lang="en-US" sz="1800" dirty="0"/>
          </a:p>
          <a:p>
            <a:pPr>
              <a:lnSpc>
                <a:spcPts val="1583"/>
              </a:lnSpc>
            </a:pPr>
            <a:endParaRPr lang="en-US" sz="1800" dirty="0"/>
          </a:p>
          <a:p>
            <a:pPr>
              <a:lnSpc>
                <a:spcPts val="1583"/>
              </a:lnSpc>
            </a:pPr>
            <a:r>
              <a:rPr lang="en-US" sz="1800" dirty="0"/>
              <a:t>Image: Slide number: 47</a:t>
            </a:r>
          </a:p>
        </p:txBody>
      </p:sp>
      <p:sp>
        <p:nvSpPr>
          <p:cNvPr id="4" name="Slide Number Placeholder 3">
            <a:extLst>
              <a:ext uri="{FF2B5EF4-FFF2-40B4-BE49-F238E27FC236}">
                <a16:creationId xmlns:a16="http://schemas.microsoft.com/office/drawing/2014/main" id="{2CA0A807-69A7-172A-693B-8B7471A78AA5}"/>
              </a:ext>
            </a:extLst>
          </p:cNvPr>
          <p:cNvSpPr>
            <a:spLocks noGrp="1"/>
          </p:cNvSpPr>
          <p:nvPr>
            <p:ph type="sldNum" sz="quarter" idx="5"/>
          </p:nvPr>
        </p:nvSpPr>
        <p:spPr/>
        <p:txBody>
          <a:bodyPr/>
          <a:lstStyle/>
          <a:p>
            <a:fld id="{1F1E027D-4684-4D2A-A457-B52C65DF2100}" type="slidenum">
              <a:rPr lang="en-GB" smtClean="0"/>
              <a:t>59</a:t>
            </a:fld>
            <a:endParaRPr lang="en-GB"/>
          </a:p>
        </p:txBody>
      </p:sp>
    </p:spTree>
    <p:extLst>
      <p:ext uri="{BB962C8B-B14F-4D97-AF65-F5344CB8AC3E}">
        <p14:creationId xmlns:p14="http://schemas.microsoft.com/office/powerpoint/2010/main" val="5455230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9ACC7-3B10-7617-205B-825CD8DE2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96B7E-E0F3-9982-0EF6-DE2BD8295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7E8C6-E1F8-5BB3-1F80-314C6D6FE0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dirty="0">
                <a:latin typeface="Montserrat Bold" pitchFamily="34" charset="0"/>
                <a:ea typeface="Montserrat Bold" pitchFamily="34" charset="-122"/>
                <a:cs typeface="Montserrat Bold" pitchFamily="34" charset="-120"/>
              </a:rPr>
              <a:t>The if- else Statement</a:t>
            </a:r>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x = 3 if x % 2 == 0  print("Even number") else:   print("Odd number")</a:t>
            </a:r>
            <a:endParaRPr lang="en-US" sz="1800" dirty="0"/>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b="1" dirty="0">
                <a:solidFill>
                  <a:srgbClr val="000000"/>
                </a:solidFill>
                <a:latin typeface="Montserrat Bold" pitchFamily="34" charset="0"/>
                <a:ea typeface="Montserrat Bold" pitchFamily="34" charset="-122"/>
                <a:cs typeface="Montserrat Bold" pitchFamily="34" charset="-120"/>
              </a:rPr>
              <a:t>Condition Check</a:t>
            </a:r>
            <a:endParaRPr lang="en-US" sz="1800" dirty="0"/>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dirty="0">
                <a:solidFill>
                  <a:srgbClr val="000000"/>
                </a:solidFill>
                <a:latin typeface="Montserrat" pitchFamily="34" charset="0"/>
                <a:ea typeface="Montserrat" pitchFamily="34" charset="-122"/>
                <a:cs typeface="Montserrat" pitchFamily="34" charset="-120"/>
              </a:rPr>
              <a:t>Evaluate if x % 2 == 0</a:t>
            </a:r>
            <a:endParaRPr lang="en-US" sz="1800" dirty="0"/>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b="1" dirty="0">
                <a:solidFill>
                  <a:srgbClr val="000000"/>
                </a:solidFill>
                <a:latin typeface="Montserrat Bold" pitchFamily="34" charset="0"/>
                <a:ea typeface="Montserrat Bold" pitchFamily="34" charset="-122"/>
                <a:cs typeface="Montserrat Bold" pitchFamily="34" charset="-120"/>
              </a:rPr>
              <a:t>Decision Point</a:t>
            </a:r>
            <a:endParaRPr lang="en-US" sz="1800" dirty="0"/>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dirty="0">
                <a:solidFill>
                  <a:srgbClr val="000000"/>
                </a:solidFill>
                <a:latin typeface="Montserrat" pitchFamily="34" charset="0"/>
                <a:ea typeface="Montserrat" pitchFamily="34" charset="-122"/>
                <a:cs typeface="Montserrat" pitchFamily="34" charset="-120"/>
              </a:rPr>
              <a:t>Based on True/False result</a:t>
            </a:r>
            <a:endParaRPr lang="en-US" sz="1800" dirty="0"/>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b="1" dirty="0">
                <a:solidFill>
                  <a:srgbClr val="000000"/>
                </a:solidFill>
                <a:latin typeface="Montserrat Bold" pitchFamily="34" charset="0"/>
                <a:ea typeface="Montserrat Bold" pitchFamily="34" charset="-122"/>
                <a:cs typeface="Montserrat Bold" pitchFamily="34" charset="-120"/>
              </a:rPr>
              <a:t>Execution</a:t>
            </a:r>
            <a:endParaRPr lang="en-US" sz="1800" dirty="0"/>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dirty="0">
                <a:solidFill>
                  <a:srgbClr val="000000"/>
                </a:solidFill>
                <a:latin typeface="Montserrat" pitchFamily="34" charset="0"/>
                <a:ea typeface="Montserrat" pitchFamily="34" charset="-122"/>
                <a:cs typeface="Montserrat" pitchFamily="34" charset="-120"/>
              </a:rPr>
              <a:t>Run either the if block or the else block</a:t>
            </a:r>
            <a:endParaRPr lang="en-US" sz="1800" dirty="0"/>
          </a:p>
          <a:p>
            <a:pPr marL="0" marR="0" lvl="0" indent="0" algn="l" defTabSz="914400" rtl="0" eaLnBrk="1" fontAlgn="auto" latinLnBrk="0" hangingPunct="1">
              <a:lnSpc>
                <a:spcPct val="100000"/>
              </a:lnSpc>
              <a:spcBef>
                <a:spcPts val="0"/>
              </a:spcBef>
              <a:spcAft>
                <a:spcPts val="0"/>
              </a:spcAft>
              <a:buClrTx/>
              <a:buSzTx/>
              <a:buFont typeface="Arial" panose="020F0502020204030204" pitchFamily="34" charset="0"/>
              <a:buNone/>
              <a:tabLst/>
              <a:defRPr/>
            </a:pPr>
            <a:r>
              <a:rPr lang="en-US" sz="1800" b="1" dirty="0">
                <a:solidFill>
                  <a:srgbClr val="000000"/>
                </a:solidFill>
                <a:latin typeface="Montserrat" pitchFamily="34" charset="0"/>
                <a:ea typeface="Montserrat" pitchFamily="34" charset="-122"/>
                <a:cs typeface="Montserrat" pitchFamily="34" charset="-120"/>
              </a:rPr>
              <a:t>Key Point:</a:t>
            </a:r>
            <a:r>
              <a:rPr lang="en-US" sz="1800" dirty="0">
                <a:solidFill>
                  <a:srgbClr val="000000"/>
                </a:solidFill>
                <a:latin typeface="Montserrat" pitchFamily="34" charset="0"/>
                <a:ea typeface="Montserrat" pitchFamily="34" charset="-122"/>
                <a:cs typeface="Montserrat" pitchFamily="34" charset="-120"/>
              </a:rPr>
              <a:t> The if-else statement provides </a:t>
            </a:r>
            <a:r>
              <a:rPr lang="en-US" sz="1800" b="1" dirty="0">
                <a:solidFill>
                  <a:srgbClr val="25274D"/>
                </a:solidFill>
                <a:latin typeface="Montserrat" pitchFamily="34" charset="0"/>
                <a:ea typeface="Montserrat" pitchFamily="34" charset="-122"/>
                <a:cs typeface="Montserrat" pitchFamily="34" charset="-120"/>
              </a:rPr>
              <a:t>exactly two possible paths</a:t>
            </a:r>
            <a:r>
              <a:rPr lang="en-US" sz="1800" dirty="0">
                <a:solidFill>
                  <a:srgbClr val="000000"/>
                </a:solidFill>
                <a:latin typeface="Montserrat" pitchFamily="34" charset="0"/>
                <a:ea typeface="Montserrat" pitchFamily="34" charset="-122"/>
                <a:cs typeface="Montserrat" pitchFamily="34" charset="-120"/>
              </a:rPr>
              <a:t> for your code to follow, ensuring that one of the blocks will always execute.</a:t>
            </a:r>
            <a:endParaRPr lang="en-US" sz="1800" dirty="0"/>
          </a:p>
          <a:p>
            <a:pPr>
              <a:buFont typeface="Arial" panose="020F0502020204030204" pitchFamily="34" charset="0"/>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p>
          <a:p>
            <a:pPr>
              <a:buFont typeface="Arial" panose="020F0502020204030204" pitchFamily="34" charset="0"/>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Image: Slide number: 48</a:t>
            </a:r>
          </a:p>
        </p:txBody>
      </p:sp>
      <p:sp>
        <p:nvSpPr>
          <p:cNvPr id="4" name="Slide Number Placeholder 3">
            <a:extLst>
              <a:ext uri="{FF2B5EF4-FFF2-40B4-BE49-F238E27FC236}">
                <a16:creationId xmlns:a16="http://schemas.microsoft.com/office/drawing/2014/main" id="{7975F717-FC93-C563-DE4E-CEF081AE2FC9}"/>
              </a:ext>
            </a:extLst>
          </p:cNvPr>
          <p:cNvSpPr>
            <a:spLocks noGrp="1"/>
          </p:cNvSpPr>
          <p:nvPr>
            <p:ph type="sldNum" sz="quarter" idx="5"/>
          </p:nvPr>
        </p:nvSpPr>
        <p:spPr/>
        <p:txBody>
          <a:bodyPr/>
          <a:lstStyle/>
          <a:p>
            <a:fld id="{1F1E027D-4684-4D2A-A457-B52C65DF2100}" type="slidenum">
              <a:rPr lang="en-GB" smtClean="0"/>
              <a:t>60</a:t>
            </a:fld>
            <a:endParaRPr lang="en-GB"/>
          </a:p>
        </p:txBody>
      </p:sp>
    </p:spTree>
    <p:extLst>
      <p:ext uri="{BB962C8B-B14F-4D97-AF65-F5344CB8AC3E}">
        <p14:creationId xmlns:p14="http://schemas.microsoft.com/office/powerpoint/2010/main" val="19747953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80EF-BF45-D221-2B81-443CCE993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4B66A-4F1D-25A2-77A5-95B7CF756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E8308-690B-DE29-1962-8F856EA8BC60}"/>
              </a:ext>
            </a:extLst>
          </p:cNvPr>
          <p:cNvSpPr>
            <a:spLocks noGrp="1"/>
          </p:cNvSpPr>
          <p:nvPr>
            <p:ph type="body" idx="1"/>
          </p:nvPr>
        </p:nvSpPr>
        <p:spPr/>
        <p:txBody>
          <a:bodyPr/>
          <a:lstStyle/>
          <a:p>
            <a:pPr>
              <a:lnSpc>
                <a:spcPts val="4042"/>
              </a:lnSpc>
            </a:pPr>
            <a:r>
              <a:rPr lang="en-US" sz="1800" b="1" dirty="0">
                <a:solidFill>
                  <a:srgbClr val="25274D"/>
                </a:solidFill>
                <a:latin typeface="Montserrat Bold" pitchFamily="34" charset="0"/>
                <a:ea typeface="Montserrat Bold" pitchFamily="34" charset="-122"/>
                <a:cs typeface="Montserrat Bold" pitchFamily="34" charset="-120"/>
              </a:rPr>
              <a:t>The if-</a:t>
            </a:r>
            <a:r>
              <a:rPr lang="en-US" sz="1800" b="1" dirty="0" err="1">
                <a:solidFill>
                  <a:srgbClr val="25274D"/>
                </a:solidFill>
                <a:latin typeface="Montserrat Bold" pitchFamily="34" charset="0"/>
                <a:ea typeface="Montserrat Bold" pitchFamily="34" charset="-122"/>
                <a:cs typeface="Montserrat Bold" pitchFamily="34" charset="-120"/>
              </a:rPr>
              <a:t>elif</a:t>
            </a:r>
            <a:r>
              <a:rPr lang="en-US" sz="1800" b="1" dirty="0">
                <a:solidFill>
                  <a:srgbClr val="25274D"/>
                </a:solidFill>
                <a:latin typeface="Montserrat Bold" pitchFamily="34" charset="0"/>
                <a:ea typeface="Montserrat Bold" pitchFamily="34" charset="-122"/>
                <a:cs typeface="Montserrat Bold" pitchFamily="34" charset="-120"/>
              </a:rPr>
              <a:t>-else Statement</a:t>
            </a:r>
          </a:p>
          <a:p>
            <a:pPr>
              <a:lnSpc>
                <a:spcPts val="2083"/>
              </a:lnSpc>
            </a:pPr>
            <a:r>
              <a:rPr lang="en-US" sz="1800" dirty="0">
                <a:solidFill>
                  <a:srgbClr val="000000"/>
                </a:solidFill>
                <a:latin typeface="Consolas" pitchFamily="34" charset="0"/>
                <a:ea typeface="Consolas" pitchFamily="34" charset="-122"/>
                <a:cs typeface="Consolas" pitchFamily="34" charset="-120"/>
              </a:rPr>
              <a:t>score = 85 if score &gt;= 90: print("Grade A") </a:t>
            </a:r>
            <a:r>
              <a:rPr lang="en-US" sz="1800" dirty="0" err="1">
                <a:solidFill>
                  <a:srgbClr val="000000"/>
                </a:solidFill>
                <a:latin typeface="Consolas" pitchFamily="34" charset="0"/>
                <a:ea typeface="Consolas" pitchFamily="34" charset="-122"/>
                <a:cs typeface="Consolas" pitchFamily="34" charset="-120"/>
              </a:rPr>
              <a:t>elif</a:t>
            </a:r>
            <a:r>
              <a:rPr lang="en-US" sz="1800" dirty="0">
                <a:solidFill>
                  <a:srgbClr val="000000"/>
                </a:solidFill>
                <a:latin typeface="Consolas" pitchFamily="34" charset="0"/>
                <a:ea typeface="Consolas" pitchFamily="34" charset="-122"/>
                <a:cs typeface="Consolas" pitchFamily="34" charset="-120"/>
              </a:rPr>
              <a:t> score &gt;= 75: print("Grade B") </a:t>
            </a:r>
            <a:r>
              <a:rPr lang="en-US" sz="1800" dirty="0" err="1">
                <a:solidFill>
                  <a:srgbClr val="000000"/>
                </a:solidFill>
                <a:latin typeface="Consolas" pitchFamily="34" charset="0"/>
                <a:ea typeface="Consolas" pitchFamily="34" charset="-122"/>
                <a:cs typeface="Consolas" pitchFamily="34" charset="-120"/>
              </a:rPr>
              <a:t>elif</a:t>
            </a:r>
            <a:r>
              <a:rPr lang="en-US" sz="1800" dirty="0">
                <a:solidFill>
                  <a:srgbClr val="000000"/>
                </a:solidFill>
                <a:latin typeface="Consolas" pitchFamily="34" charset="0"/>
                <a:ea typeface="Consolas" pitchFamily="34" charset="-122"/>
                <a:cs typeface="Consolas" pitchFamily="34" charset="-120"/>
              </a:rPr>
              <a:t> score &gt;= 60 print("Grade C") else:  print("Grade D")</a:t>
            </a:r>
          </a:p>
          <a:p>
            <a:pPr>
              <a:lnSpc>
                <a:spcPts val="4042"/>
              </a:lnSpc>
            </a:pPr>
            <a:r>
              <a:rPr lang="en-US" sz="1800" dirty="0"/>
              <a:t>Explanation:</a:t>
            </a:r>
          </a:p>
          <a:p>
            <a:pPr>
              <a:lnSpc>
                <a:spcPts val="4042"/>
              </a:lnSpc>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Conditions are checked </a:t>
            </a:r>
            <a:r>
              <a:rPr lang="en-US" sz="1800" b="1" dirty="0">
                <a:solidFill>
                  <a:srgbClr val="25274D"/>
                </a:solidFill>
                <a:latin typeface="Montserrat" pitchFamily="34" charset="0"/>
                <a:ea typeface="Montserrat" pitchFamily="34" charset="-122"/>
                <a:cs typeface="Montserrat" pitchFamily="34" charset="-120"/>
              </a:rPr>
              <a:t>in order</a:t>
            </a:r>
            <a:r>
              <a:rPr lang="en-US" sz="1800" dirty="0">
                <a:solidFill>
                  <a:srgbClr val="000000"/>
                </a:solidFill>
                <a:latin typeface="Montserrat" pitchFamily="34" charset="0"/>
                <a:ea typeface="Montserrat" pitchFamily="34" charset="-122"/>
                <a:cs typeface="Montserrat" pitchFamily="34" charset="-120"/>
              </a:rPr>
              <a:t> from top to bottom</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first condition that evaluates to True will execute its code block</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Once a matching condition is found, all other conditions are skipped</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else block executes only if all conditions are False</a:t>
            </a:r>
            <a:endParaRPr lang="en-US" sz="1800" dirty="0"/>
          </a:p>
          <a:p>
            <a:pPr>
              <a:lnSpc>
                <a:spcPts val="4042"/>
              </a:lnSpc>
            </a:pPr>
            <a:r>
              <a:rPr lang="en-US" sz="1800" dirty="0"/>
              <a:t>Image slide number: 49</a:t>
            </a:r>
          </a:p>
        </p:txBody>
      </p:sp>
      <p:sp>
        <p:nvSpPr>
          <p:cNvPr id="4" name="Slide Number Placeholder 3">
            <a:extLst>
              <a:ext uri="{FF2B5EF4-FFF2-40B4-BE49-F238E27FC236}">
                <a16:creationId xmlns:a16="http://schemas.microsoft.com/office/drawing/2014/main" id="{C56A1438-8EAA-9F41-6AE7-838B1C2E061C}"/>
              </a:ext>
            </a:extLst>
          </p:cNvPr>
          <p:cNvSpPr>
            <a:spLocks noGrp="1"/>
          </p:cNvSpPr>
          <p:nvPr>
            <p:ph type="sldNum" sz="quarter" idx="5"/>
          </p:nvPr>
        </p:nvSpPr>
        <p:spPr/>
        <p:txBody>
          <a:bodyPr/>
          <a:lstStyle/>
          <a:p>
            <a:fld id="{1F1E027D-4684-4D2A-A457-B52C65DF2100}" type="slidenum">
              <a:rPr lang="en-GB" smtClean="0"/>
              <a:t>61</a:t>
            </a:fld>
            <a:endParaRPr lang="en-GB"/>
          </a:p>
        </p:txBody>
      </p:sp>
    </p:spTree>
    <p:extLst>
      <p:ext uri="{BB962C8B-B14F-4D97-AF65-F5344CB8AC3E}">
        <p14:creationId xmlns:p14="http://schemas.microsoft.com/office/powerpoint/2010/main" val="14031267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1DBC2-64BC-8910-A593-25E45B2CF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13F32-42C8-2969-64FB-4B58AF3E3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827AF-DE51-DE74-B274-EB53A359B054}"/>
              </a:ext>
            </a:extLst>
          </p:cNvPr>
          <p:cNvSpPr>
            <a:spLocks noGrp="1"/>
          </p:cNvSpPr>
          <p:nvPr>
            <p:ph type="body" idx="1"/>
          </p:nvPr>
        </p:nvSpPr>
        <p:spPr/>
        <p:txBody>
          <a:bodyPr/>
          <a:lstStyle/>
          <a:p>
            <a:pPr>
              <a:lnSpc>
                <a:spcPts val="3917"/>
              </a:lnSpc>
            </a:pPr>
            <a:r>
              <a:rPr lang="en-US" sz="1800" b="1" dirty="0">
                <a:solidFill>
                  <a:srgbClr val="25274D"/>
                </a:solidFill>
                <a:latin typeface="Montserrat Bold" pitchFamily="34" charset="0"/>
                <a:ea typeface="Montserrat Bold" pitchFamily="34" charset="-122"/>
                <a:cs typeface="Montserrat Bold" pitchFamily="34" charset="-120"/>
              </a:rPr>
              <a:t>Nested if Statements</a:t>
            </a:r>
          </a:p>
          <a:p>
            <a:pPr>
              <a:lnSpc>
                <a:spcPts val="2000"/>
              </a:lnSpc>
            </a:pPr>
            <a:r>
              <a:rPr lang="en-US" sz="1800" dirty="0">
                <a:solidFill>
                  <a:srgbClr val="000000"/>
                </a:solidFill>
                <a:latin typeface="Consolas" pitchFamily="34" charset="0"/>
                <a:ea typeface="Consolas" pitchFamily="34" charset="-122"/>
                <a:cs typeface="Consolas" pitchFamily="34" charset="-120"/>
              </a:rPr>
              <a:t>age = 20if age &gt;= 18:if age &lt; 21:print("Young Adult")</a:t>
            </a:r>
            <a:r>
              <a:rPr lang="en-US" sz="1800" dirty="0" err="1">
                <a:solidFill>
                  <a:srgbClr val="000000"/>
                </a:solidFill>
                <a:latin typeface="Consolas" pitchFamily="34" charset="0"/>
                <a:ea typeface="Consolas" pitchFamily="34" charset="-122"/>
                <a:cs typeface="Consolas" pitchFamily="34" charset="-120"/>
              </a:rPr>
              <a:t>else:print</a:t>
            </a:r>
            <a:r>
              <a:rPr lang="en-US" sz="1800" dirty="0">
                <a:solidFill>
                  <a:srgbClr val="000000"/>
                </a:solidFill>
                <a:latin typeface="Consolas" pitchFamily="34" charset="0"/>
                <a:ea typeface="Consolas" pitchFamily="34" charset="-122"/>
                <a:cs typeface="Consolas" pitchFamily="34" charset="-120"/>
              </a:rPr>
              <a:t>("Adult")</a:t>
            </a:r>
            <a:r>
              <a:rPr lang="en-US" sz="1800" dirty="0" err="1">
                <a:solidFill>
                  <a:srgbClr val="000000"/>
                </a:solidFill>
                <a:latin typeface="Consolas" pitchFamily="34" charset="0"/>
                <a:ea typeface="Consolas" pitchFamily="34" charset="-122"/>
                <a:cs typeface="Consolas" pitchFamily="34" charset="-120"/>
              </a:rPr>
              <a:t>else:print</a:t>
            </a:r>
            <a:r>
              <a:rPr lang="en-US" sz="1800" dirty="0">
                <a:solidFill>
                  <a:srgbClr val="000000"/>
                </a:solidFill>
                <a:latin typeface="Consolas" pitchFamily="34" charset="0"/>
                <a:ea typeface="Consolas" pitchFamily="34" charset="-122"/>
                <a:cs typeface="Consolas" pitchFamily="34" charset="-120"/>
              </a:rPr>
              <a:t>("Minor")</a:t>
            </a:r>
          </a:p>
          <a:p>
            <a:pPr marL="0" marR="0" lvl="0" indent="0" algn="l" defTabSz="914400" rtl="0" eaLnBrk="1" fontAlgn="auto" latinLnBrk="0" hangingPunct="1">
              <a:lnSpc>
                <a:spcPts val="3917"/>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Nested if statements allow you to check for conditions within conditions, creating more complex decision trees in your code.</a:t>
            </a:r>
            <a:endParaRPr lang="en-US" sz="1800" dirty="0"/>
          </a:p>
          <a:p>
            <a:pPr marL="0" marR="0" lvl="0" indent="0" algn="l" defTabSz="914400" rtl="0" eaLnBrk="1" fontAlgn="auto" latinLnBrk="0" hangingPunct="1">
              <a:lnSpc>
                <a:spcPts val="3917"/>
              </a:lnSpc>
              <a:spcBef>
                <a:spcPts val="0"/>
              </a:spcBef>
              <a:spcAft>
                <a:spcPts val="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Use with caution</a:t>
            </a:r>
            <a:r>
              <a:rPr lang="en-US" sz="1800" dirty="0">
                <a:solidFill>
                  <a:srgbClr val="000000"/>
                </a:solidFill>
                <a:latin typeface="Montserrat" pitchFamily="34" charset="0"/>
                <a:ea typeface="Montserrat" pitchFamily="34" charset="-122"/>
                <a:cs typeface="Montserrat" pitchFamily="34" charset="-120"/>
              </a:rPr>
              <a:t> → Deeply nested conditions can reduce code readability and make debugging difficult.</a:t>
            </a:r>
            <a:endParaRPr lang="en-US" sz="1800" dirty="0"/>
          </a:p>
          <a:p>
            <a:pPr marL="0" marR="0" lvl="0" indent="0" algn="l" defTabSz="914400" rtl="0" eaLnBrk="1" fontAlgn="auto" latinLnBrk="0" hangingPunct="1">
              <a:lnSpc>
                <a:spcPts val="3917"/>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Consider using if-</a:t>
            </a:r>
            <a:r>
              <a:rPr lang="en-US" sz="1800" dirty="0" err="1">
                <a:solidFill>
                  <a:srgbClr val="000000"/>
                </a:solidFill>
                <a:latin typeface="Montserrat" pitchFamily="34" charset="0"/>
                <a:ea typeface="Montserrat" pitchFamily="34" charset="-122"/>
                <a:cs typeface="Montserrat" pitchFamily="34" charset="-120"/>
              </a:rPr>
              <a:t>elif</a:t>
            </a:r>
            <a:r>
              <a:rPr lang="en-US" sz="1800" dirty="0">
                <a:solidFill>
                  <a:srgbClr val="000000"/>
                </a:solidFill>
                <a:latin typeface="Montserrat" pitchFamily="34" charset="0"/>
                <a:ea typeface="Montserrat" pitchFamily="34" charset="-122"/>
                <a:cs typeface="Montserrat" pitchFamily="34" charset="-120"/>
              </a:rPr>
              <a:t>-else chains when possible for better readability. Flatten your logic whenever you can.</a:t>
            </a:r>
            <a:endParaRPr lang="en-US" sz="1800" dirty="0"/>
          </a:p>
          <a:p>
            <a:pPr>
              <a:lnSpc>
                <a:spcPts val="3917"/>
              </a:lnSpc>
            </a:pPr>
            <a:endParaRPr lang="en-US" sz="1800" dirty="0"/>
          </a:p>
          <a:p>
            <a:pPr>
              <a:lnSpc>
                <a:spcPts val="3917"/>
              </a:lnSpc>
            </a:pPr>
            <a:r>
              <a:rPr lang="en-US" sz="1800" dirty="0"/>
              <a:t>Image: Slide number: 50</a:t>
            </a:r>
          </a:p>
        </p:txBody>
      </p:sp>
      <p:sp>
        <p:nvSpPr>
          <p:cNvPr id="4" name="Slide Number Placeholder 3">
            <a:extLst>
              <a:ext uri="{FF2B5EF4-FFF2-40B4-BE49-F238E27FC236}">
                <a16:creationId xmlns:a16="http://schemas.microsoft.com/office/drawing/2014/main" id="{6F28FEEF-D80A-26C2-B15B-F6C5A013297D}"/>
              </a:ext>
            </a:extLst>
          </p:cNvPr>
          <p:cNvSpPr>
            <a:spLocks noGrp="1"/>
          </p:cNvSpPr>
          <p:nvPr>
            <p:ph type="sldNum" sz="quarter" idx="5"/>
          </p:nvPr>
        </p:nvSpPr>
        <p:spPr/>
        <p:txBody>
          <a:bodyPr/>
          <a:lstStyle/>
          <a:p>
            <a:fld id="{1F1E027D-4684-4D2A-A457-B52C65DF2100}" type="slidenum">
              <a:rPr lang="en-GB" smtClean="0"/>
              <a:t>62</a:t>
            </a:fld>
            <a:endParaRPr lang="en-GB"/>
          </a:p>
        </p:txBody>
      </p:sp>
    </p:spTree>
    <p:extLst>
      <p:ext uri="{BB962C8B-B14F-4D97-AF65-F5344CB8AC3E}">
        <p14:creationId xmlns:p14="http://schemas.microsoft.com/office/powerpoint/2010/main" val="36035646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63C7A-D35D-F3C1-27BE-273DAF5BC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45B4F-12AD-7EDD-65F5-C17CA7508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62F71-FB90-82F7-0F9F-C8EBD1767F47}"/>
              </a:ext>
            </a:extLst>
          </p:cNvPr>
          <p:cNvSpPr>
            <a:spLocks noGrp="1"/>
          </p:cNvSpPr>
          <p:nvPr>
            <p:ph type="body" idx="1"/>
          </p:nvPr>
        </p:nvSpPr>
        <p:spPr/>
        <p:txBody>
          <a:bodyPr/>
          <a:lstStyle/>
          <a:p>
            <a:pPr>
              <a:lnSpc>
                <a:spcPts val="3583"/>
              </a:lnSpc>
            </a:pPr>
            <a:r>
              <a:rPr lang="en-US" sz="1800" b="1" dirty="0">
                <a:solidFill>
                  <a:srgbClr val="25274D"/>
                </a:solidFill>
                <a:latin typeface="Montserrat Bold" pitchFamily="34" charset="0"/>
                <a:ea typeface="Montserrat Bold" pitchFamily="34" charset="-122"/>
                <a:cs typeface="Montserrat Bold" pitchFamily="34" charset="-120"/>
              </a:rPr>
              <a:t>Conditional Expressions (Ternary Operator) </a:t>
            </a:r>
          </a:p>
          <a:p>
            <a:pPr marL="0" marR="0" lvl="0" indent="0" algn="l" defTabSz="914400" rtl="0" eaLnBrk="1" fontAlgn="auto" latinLnBrk="0" hangingPunct="1">
              <a:lnSpc>
                <a:spcPts val="3583"/>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Standard if-else</a:t>
            </a:r>
            <a:endParaRPr lang="en-US" sz="1800" dirty="0"/>
          </a:p>
          <a:p>
            <a:pPr>
              <a:lnSpc>
                <a:spcPts val="1833"/>
              </a:lnSpc>
            </a:pPr>
            <a:r>
              <a:rPr lang="en-US" sz="1800" dirty="0">
                <a:solidFill>
                  <a:srgbClr val="000000"/>
                </a:solidFill>
                <a:latin typeface="Consolas" pitchFamily="34" charset="0"/>
                <a:ea typeface="Consolas" pitchFamily="34" charset="-122"/>
                <a:cs typeface="Consolas" pitchFamily="34" charset="-120"/>
              </a:rPr>
              <a:t>if x % 2 == 0:result = "</a:t>
            </a:r>
            <a:r>
              <a:rPr lang="en-US" sz="1800" dirty="0" err="1">
                <a:solidFill>
                  <a:srgbClr val="000000"/>
                </a:solidFill>
                <a:latin typeface="Consolas" pitchFamily="34" charset="0"/>
                <a:ea typeface="Consolas" pitchFamily="34" charset="-122"/>
                <a:cs typeface="Consolas" pitchFamily="34" charset="-120"/>
              </a:rPr>
              <a:t>Even"else:result</a:t>
            </a:r>
            <a:r>
              <a:rPr lang="en-US" sz="1800" dirty="0">
                <a:solidFill>
                  <a:srgbClr val="000000"/>
                </a:solidFill>
                <a:latin typeface="Consolas" pitchFamily="34" charset="0"/>
                <a:ea typeface="Consolas" pitchFamily="34" charset="-122"/>
                <a:cs typeface="Consolas" pitchFamily="34" charset="-120"/>
              </a:rPr>
              <a:t> = "</a:t>
            </a:r>
            <a:r>
              <a:rPr lang="en-US" sz="1800" dirty="0" err="1">
                <a:solidFill>
                  <a:srgbClr val="000000"/>
                </a:solidFill>
                <a:latin typeface="Consolas" pitchFamily="34" charset="0"/>
                <a:ea typeface="Consolas" pitchFamily="34" charset="-122"/>
                <a:cs typeface="Consolas" pitchFamily="34" charset="-120"/>
              </a:rPr>
              <a:t>Odd"print</a:t>
            </a:r>
            <a:r>
              <a:rPr lang="en-US" sz="1800" dirty="0">
                <a:solidFill>
                  <a:srgbClr val="000000"/>
                </a:solidFill>
                <a:latin typeface="Consolas" pitchFamily="34" charset="0"/>
                <a:ea typeface="Consolas" pitchFamily="34" charset="-122"/>
                <a:cs typeface="Consolas" pitchFamily="34" charset="-120"/>
              </a:rPr>
              <a:t>(result)</a:t>
            </a:r>
          </a:p>
          <a:p>
            <a:pPr marL="0" marR="0" lvl="0" indent="0" algn="l" defTabSz="914400" rtl="0" eaLnBrk="1" fontAlgn="auto" latinLnBrk="0" hangingPunct="1">
              <a:lnSpc>
                <a:spcPts val="3583"/>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Ternary Operator</a:t>
            </a:r>
            <a:endParaRPr lang="en-US" sz="1800" dirty="0"/>
          </a:p>
          <a:p>
            <a:pPr marL="0" marR="0" lvl="0" indent="0" algn="l" defTabSz="914400" rtl="0" eaLnBrk="1" fontAlgn="auto" latinLnBrk="0" hangingPunct="1">
              <a:lnSpc>
                <a:spcPts val="3583"/>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result = "Even" if x % 2 == 0 else "Odd"</a:t>
            </a:r>
            <a:endParaRPr lang="en-US" sz="1800" dirty="0"/>
          </a:p>
          <a:p>
            <a:pPr marL="0" marR="0" lvl="0" indent="0" algn="l" defTabSz="914400" rtl="0" eaLnBrk="1" fontAlgn="auto" latinLnBrk="0" hangingPunct="1">
              <a:lnSpc>
                <a:spcPts val="3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ternary operator provides a </a:t>
            </a:r>
            <a:r>
              <a:rPr lang="en-US" sz="1800" b="1" dirty="0">
                <a:solidFill>
                  <a:srgbClr val="25274D"/>
                </a:solidFill>
                <a:latin typeface="Montserrat" pitchFamily="34" charset="0"/>
                <a:ea typeface="Montserrat" pitchFamily="34" charset="-122"/>
                <a:cs typeface="Montserrat" pitchFamily="34" charset="-120"/>
              </a:rPr>
              <a:t>compact syntax</a:t>
            </a:r>
            <a:r>
              <a:rPr lang="en-US" sz="1800" dirty="0">
                <a:solidFill>
                  <a:srgbClr val="000000"/>
                </a:solidFill>
                <a:latin typeface="Montserrat" pitchFamily="34" charset="0"/>
                <a:ea typeface="Montserrat" pitchFamily="34" charset="-122"/>
                <a:cs typeface="Montserrat" pitchFamily="34" charset="-120"/>
              </a:rPr>
              <a:t> for simple if-else conditions, making your code more concise.</a:t>
            </a:r>
            <a:endParaRPr lang="en-US" sz="1800" dirty="0"/>
          </a:p>
          <a:p>
            <a:pPr marL="0" marR="0" lvl="0" indent="0" algn="l" defTabSz="914400" rtl="0" eaLnBrk="1" fontAlgn="auto" latinLnBrk="0" hangingPunct="1">
              <a:lnSpc>
                <a:spcPts val="3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This is especially useful when assigning values based on conditions or for simple expressions where readability isn't compromised by the condensed format.</a:t>
            </a:r>
            <a:endParaRPr lang="en-US" sz="1800" dirty="0"/>
          </a:p>
          <a:p>
            <a:pPr>
              <a:lnSpc>
                <a:spcPts val="3583"/>
              </a:lnSpc>
            </a:pPr>
            <a:endParaRPr lang="en-US" sz="1800" dirty="0"/>
          </a:p>
          <a:p>
            <a:pPr>
              <a:lnSpc>
                <a:spcPts val="3583"/>
              </a:lnSpc>
            </a:pPr>
            <a:r>
              <a:rPr lang="en-US" sz="1800" dirty="0"/>
              <a:t>Image: Slide number: 51</a:t>
            </a:r>
          </a:p>
        </p:txBody>
      </p:sp>
      <p:sp>
        <p:nvSpPr>
          <p:cNvPr id="4" name="Slide Number Placeholder 3">
            <a:extLst>
              <a:ext uri="{FF2B5EF4-FFF2-40B4-BE49-F238E27FC236}">
                <a16:creationId xmlns:a16="http://schemas.microsoft.com/office/drawing/2014/main" id="{3C8DBC4A-1795-D602-897D-D1A278EB408E}"/>
              </a:ext>
            </a:extLst>
          </p:cNvPr>
          <p:cNvSpPr>
            <a:spLocks noGrp="1"/>
          </p:cNvSpPr>
          <p:nvPr>
            <p:ph type="sldNum" sz="quarter" idx="5"/>
          </p:nvPr>
        </p:nvSpPr>
        <p:spPr/>
        <p:txBody>
          <a:bodyPr/>
          <a:lstStyle/>
          <a:p>
            <a:fld id="{1F1E027D-4684-4D2A-A457-B52C65DF2100}" type="slidenum">
              <a:rPr lang="en-GB" smtClean="0"/>
              <a:t>63</a:t>
            </a:fld>
            <a:endParaRPr lang="en-GB"/>
          </a:p>
        </p:txBody>
      </p:sp>
    </p:spTree>
    <p:extLst>
      <p:ext uri="{BB962C8B-B14F-4D97-AF65-F5344CB8AC3E}">
        <p14:creationId xmlns:p14="http://schemas.microsoft.com/office/powerpoint/2010/main" val="24273122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5C10A-F4CC-7163-F0FF-8973EBE4D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09A98-2D6A-A270-8951-8886344ED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52E70-832F-4E86-CB22-CA229FAB19BA}"/>
              </a:ext>
            </a:extLst>
          </p:cNvPr>
          <p:cNvSpPr>
            <a:spLocks noGrp="1"/>
          </p:cNvSpPr>
          <p:nvPr>
            <p:ph type="body" idx="1"/>
          </p:nvPr>
        </p:nvSpPr>
        <p:spPr/>
        <p:txBody>
          <a:bodyPr/>
          <a:lstStyle/>
          <a:p>
            <a:pPr>
              <a:lnSpc>
                <a:spcPts val="4042"/>
              </a:lnSpc>
            </a:pPr>
            <a:r>
              <a:rPr lang="en-US" sz="1800" b="1" dirty="0">
                <a:solidFill>
                  <a:srgbClr val="25274D"/>
                </a:solidFill>
                <a:latin typeface="Montserrat Bold" pitchFamily="34" charset="0"/>
                <a:ea typeface="Montserrat Bold" pitchFamily="34" charset="-122"/>
                <a:cs typeface="Montserrat Bold" pitchFamily="34" charset="-120"/>
              </a:rPr>
              <a:t>Logical Operators in Conditions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And</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Returns True only if </a:t>
            </a:r>
            <a:r>
              <a:rPr lang="en-US" sz="1800" b="1" dirty="0">
                <a:solidFill>
                  <a:srgbClr val="25274D"/>
                </a:solidFill>
                <a:latin typeface="Montserrat" pitchFamily="34" charset="0"/>
                <a:ea typeface="Montserrat" pitchFamily="34" charset="-122"/>
                <a:cs typeface="Montserrat" pitchFamily="34" charset="-120"/>
              </a:rPr>
              <a:t>both conditions</a:t>
            </a:r>
            <a:r>
              <a:rPr lang="en-US" sz="1800" dirty="0">
                <a:solidFill>
                  <a:srgbClr val="000000"/>
                </a:solidFill>
                <a:latin typeface="Montserrat" pitchFamily="34" charset="0"/>
                <a:ea typeface="Montserrat" pitchFamily="34" charset="-122"/>
                <a:cs typeface="Montserrat" pitchFamily="34" charset="-120"/>
              </a:rPr>
              <a:t> are True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if x &gt; 10 and x &lt; 20:</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Or</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Returns True if </a:t>
            </a:r>
            <a:r>
              <a:rPr lang="en-US" sz="1800" b="1" dirty="0">
                <a:solidFill>
                  <a:srgbClr val="25274D"/>
                </a:solidFill>
                <a:latin typeface="Montserrat" pitchFamily="34" charset="0"/>
                <a:ea typeface="Montserrat" pitchFamily="34" charset="-122"/>
                <a:cs typeface="Montserrat" pitchFamily="34" charset="-120"/>
              </a:rPr>
              <a:t>at least one condition</a:t>
            </a:r>
            <a:r>
              <a:rPr lang="en-US" sz="1800" dirty="0">
                <a:solidFill>
                  <a:srgbClr val="000000"/>
                </a:solidFill>
                <a:latin typeface="Montserrat" pitchFamily="34" charset="0"/>
                <a:ea typeface="Montserrat" pitchFamily="34" charset="-122"/>
                <a:cs typeface="Montserrat" pitchFamily="34" charset="-120"/>
              </a:rPr>
              <a:t> is True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if x &lt; 5 or x &gt; 15:</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Not</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pitchFamily="34" charset="0"/>
                <a:ea typeface="Montserrat" pitchFamily="34" charset="-122"/>
                <a:cs typeface="Montserrat" pitchFamily="34" charset="-120"/>
              </a:rPr>
              <a:t>Reverses</a:t>
            </a:r>
            <a:r>
              <a:rPr lang="en-US" sz="1800" dirty="0">
                <a:solidFill>
                  <a:srgbClr val="000000"/>
                </a:solidFill>
                <a:latin typeface="Montserrat" pitchFamily="34" charset="0"/>
                <a:ea typeface="Montserrat" pitchFamily="34" charset="-122"/>
                <a:cs typeface="Montserrat" pitchFamily="34" charset="-120"/>
              </a:rPr>
              <a:t> the </a:t>
            </a:r>
            <a:r>
              <a:rPr lang="en-US" sz="1800" dirty="0" err="1">
                <a:solidFill>
                  <a:srgbClr val="000000"/>
                </a:solidFill>
                <a:latin typeface="Montserrat" pitchFamily="34" charset="0"/>
                <a:ea typeface="Montserrat" pitchFamily="34" charset="-122"/>
                <a:cs typeface="Montserrat" pitchFamily="34" charset="-120"/>
              </a:rPr>
              <a:t>boolean</a:t>
            </a:r>
            <a:r>
              <a:rPr lang="en-US" sz="1800" dirty="0">
                <a:solidFill>
                  <a:srgbClr val="000000"/>
                </a:solidFill>
                <a:latin typeface="Montserrat" pitchFamily="34" charset="0"/>
                <a:ea typeface="Montserrat" pitchFamily="34" charset="-122"/>
                <a:cs typeface="Montserrat" pitchFamily="34" charset="-120"/>
              </a:rPr>
              <a:t> value of a condition</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if not (x == 10):</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Logical operators allow you to combine multiple conditions into a single expression, enabling more complex decision-making in your code.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a:lnSpc>
                <a:spcPts val="4042"/>
              </a:lnSpc>
            </a:pPr>
            <a:endParaRPr lang="en-US" sz="1800" dirty="0"/>
          </a:p>
        </p:txBody>
      </p:sp>
      <p:sp>
        <p:nvSpPr>
          <p:cNvPr id="4" name="Slide Number Placeholder 3">
            <a:extLst>
              <a:ext uri="{FF2B5EF4-FFF2-40B4-BE49-F238E27FC236}">
                <a16:creationId xmlns:a16="http://schemas.microsoft.com/office/drawing/2014/main" id="{B300F12D-CBE6-DD98-E4D8-1A4E153E7593}"/>
              </a:ext>
            </a:extLst>
          </p:cNvPr>
          <p:cNvSpPr>
            <a:spLocks noGrp="1"/>
          </p:cNvSpPr>
          <p:nvPr>
            <p:ph type="sldNum" sz="quarter" idx="5"/>
          </p:nvPr>
        </p:nvSpPr>
        <p:spPr/>
        <p:txBody>
          <a:bodyPr/>
          <a:lstStyle/>
          <a:p>
            <a:fld id="{1F1E027D-4684-4D2A-A457-B52C65DF2100}" type="slidenum">
              <a:rPr lang="en-GB" smtClean="0"/>
              <a:t>64</a:t>
            </a:fld>
            <a:endParaRPr lang="en-GB"/>
          </a:p>
        </p:txBody>
      </p:sp>
    </p:spTree>
    <p:extLst>
      <p:ext uri="{BB962C8B-B14F-4D97-AF65-F5344CB8AC3E}">
        <p14:creationId xmlns:p14="http://schemas.microsoft.com/office/powerpoint/2010/main" val="11273428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8814F-384F-2A4B-4DF4-F7DA8A28B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A4D5E-C261-75F5-E7A1-5C9359165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3E8E9-ADB3-99D3-5847-D9B220EDF33F}"/>
              </a:ext>
            </a:extLst>
          </p:cNvPr>
          <p:cNvSpPr>
            <a:spLocks noGrp="1"/>
          </p:cNvSpPr>
          <p:nvPr>
            <p:ph type="body" idx="1"/>
          </p:nvPr>
        </p:nvSpPr>
        <p:spPr/>
        <p:txBody>
          <a:bodyPr/>
          <a:lstStyle/>
          <a:p>
            <a:pPr>
              <a:lnSpc>
                <a:spcPts val="4042"/>
              </a:lnSpc>
            </a:pPr>
            <a:r>
              <a:rPr lang="en-US" sz="1800" b="1" dirty="0">
                <a:solidFill>
                  <a:srgbClr val="25274D"/>
                </a:solidFill>
                <a:latin typeface="Montserrat Bold" pitchFamily="34" charset="0"/>
                <a:ea typeface="Montserrat Bold" pitchFamily="34" charset="-122"/>
                <a:cs typeface="Montserrat Bold" pitchFamily="34" charset="-120"/>
              </a:rPr>
              <a:t>Common Mistakes to Avoid</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Using = instead of == for comparison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if x = 5:</a:t>
            </a:r>
            <a:r>
              <a:rPr lang="en-US" sz="1800" dirty="0">
                <a:solidFill>
                  <a:srgbClr val="000000"/>
                </a:solidFill>
                <a:latin typeface="Montserrat" pitchFamily="34" charset="0"/>
                <a:ea typeface="Montserrat" pitchFamily="34" charset="-122"/>
                <a:cs typeface="Montserrat" pitchFamily="34" charset="-120"/>
              </a:rPr>
              <a:t> (assignment) vs. </a:t>
            </a:r>
            <a:r>
              <a:rPr lang="en-US" sz="1800" dirty="0">
                <a:solidFill>
                  <a:srgbClr val="000000"/>
                </a:solidFill>
                <a:highlight>
                  <a:srgbClr val="F2F2F2"/>
                </a:highlight>
                <a:latin typeface="Consolas" pitchFamily="34" charset="0"/>
                <a:ea typeface="Consolas" pitchFamily="34" charset="-122"/>
                <a:cs typeface="Consolas" pitchFamily="34" charset="-120"/>
              </a:rPr>
              <a:t>if x == 5:</a:t>
            </a:r>
            <a:r>
              <a:rPr lang="en-US" sz="1800" dirty="0">
                <a:solidFill>
                  <a:srgbClr val="000000"/>
                </a:solidFill>
                <a:latin typeface="Montserrat" pitchFamily="34" charset="0"/>
                <a:ea typeface="Montserrat" pitchFamily="34" charset="-122"/>
                <a:cs typeface="Montserrat" pitchFamily="34" charset="-120"/>
              </a:rPr>
              <a:t> (comparison)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Forgetting indentation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Python relies on indentation to define code blocks, unlike languages that use braces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Overusing nested if statements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Complex nested conditions make code hard to read and maintain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Confusing </a:t>
            </a:r>
            <a:r>
              <a:rPr lang="en-US" sz="1800" b="1" dirty="0" err="1">
                <a:solidFill>
                  <a:srgbClr val="000000"/>
                </a:solidFill>
                <a:latin typeface="Montserrat Bold" pitchFamily="34" charset="0"/>
                <a:ea typeface="Montserrat Bold" pitchFamily="34" charset="-122"/>
                <a:cs typeface="Montserrat Bold" pitchFamily="34" charset="-120"/>
              </a:rPr>
              <a:t>boolean</a:t>
            </a:r>
            <a:r>
              <a:rPr lang="en-US" sz="1800" b="1" dirty="0">
                <a:solidFill>
                  <a:srgbClr val="000000"/>
                </a:solidFill>
                <a:latin typeface="Montserrat Bold" pitchFamily="34" charset="0"/>
                <a:ea typeface="Montserrat Bold" pitchFamily="34" charset="-122"/>
                <a:cs typeface="Montserrat Bold" pitchFamily="34" charset="-120"/>
              </a:rPr>
              <a:t> expressions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Using </a:t>
            </a:r>
            <a:r>
              <a:rPr lang="en-US" sz="1800" dirty="0">
                <a:solidFill>
                  <a:srgbClr val="000000"/>
                </a:solidFill>
                <a:highlight>
                  <a:srgbClr val="F2F2F2"/>
                </a:highlight>
                <a:latin typeface="Consolas" pitchFamily="34" charset="0"/>
                <a:ea typeface="Consolas" pitchFamily="34" charset="-122"/>
                <a:cs typeface="Consolas" pitchFamily="34" charset="-120"/>
              </a:rPr>
              <a:t>if x</a:t>
            </a:r>
            <a:r>
              <a:rPr lang="en-US" sz="1800" dirty="0">
                <a:solidFill>
                  <a:srgbClr val="000000"/>
                </a:solidFill>
                <a:latin typeface="Montserrat" pitchFamily="34" charset="0"/>
                <a:ea typeface="Montserrat" pitchFamily="34" charset="-122"/>
                <a:cs typeface="Montserrat" pitchFamily="34" charset="-120"/>
              </a:rPr>
              <a:t> when you mean </a:t>
            </a:r>
            <a:r>
              <a:rPr lang="en-US" sz="1800" dirty="0">
                <a:solidFill>
                  <a:srgbClr val="000000"/>
                </a:solidFill>
                <a:highlight>
                  <a:srgbClr val="F2F2F2"/>
                </a:highlight>
                <a:latin typeface="Consolas" pitchFamily="34" charset="0"/>
                <a:ea typeface="Consolas" pitchFamily="34" charset="-122"/>
                <a:cs typeface="Consolas" pitchFamily="34" charset="-120"/>
              </a:rPr>
              <a:t>if x is not None</a:t>
            </a:r>
            <a:r>
              <a:rPr lang="en-US" sz="1800" dirty="0">
                <a:solidFill>
                  <a:srgbClr val="000000"/>
                </a:solidFill>
                <a:latin typeface="Montserrat" pitchFamily="34" charset="0"/>
                <a:ea typeface="Montserrat" pitchFamily="34" charset="-122"/>
                <a:cs typeface="Montserrat" pitchFamily="34" charset="-120"/>
              </a:rPr>
              <a:t> or if x != 0</a:t>
            </a:r>
            <a:endParaRPr lang="en-US" sz="1800" dirty="0"/>
          </a:p>
          <a:p>
            <a:pPr>
              <a:lnSpc>
                <a:spcPts val="4042"/>
              </a:lnSpc>
            </a:pPr>
            <a:endParaRPr lang="en-US" sz="1800" dirty="0"/>
          </a:p>
          <a:p>
            <a:pPr>
              <a:lnSpc>
                <a:spcPts val="4042"/>
              </a:lnSpc>
            </a:pPr>
            <a:r>
              <a:rPr lang="en-US" sz="1800" dirty="0"/>
              <a:t>Remove the icons from the infographics</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85</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4042"/>
              </a:lnSpc>
            </a:pPr>
            <a:endParaRPr lang="en-US" sz="1800" dirty="0"/>
          </a:p>
        </p:txBody>
      </p:sp>
      <p:sp>
        <p:nvSpPr>
          <p:cNvPr id="4" name="Slide Number Placeholder 3">
            <a:extLst>
              <a:ext uri="{FF2B5EF4-FFF2-40B4-BE49-F238E27FC236}">
                <a16:creationId xmlns:a16="http://schemas.microsoft.com/office/drawing/2014/main" id="{A845354C-0F73-66F8-E071-CE50E28F54EC}"/>
              </a:ext>
            </a:extLst>
          </p:cNvPr>
          <p:cNvSpPr>
            <a:spLocks noGrp="1"/>
          </p:cNvSpPr>
          <p:nvPr>
            <p:ph type="sldNum" sz="quarter" idx="5"/>
          </p:nvPr>
        </p:nvSpPr>
        <p:spPr/>
        <p:txBody>
          <a:bodyPr/>
          <a:lstStyle/>
          <a:p>
            <a:fld id="{1F1E027D-4684-4D2A-A457-B52C65DF2100}" type="slidenum">
              <a:rPr lang="en-GB" smtClean="0"/>
              <a:t>65</a:t>
            </a:fld>
            <a:endParaRPr lang="en-GB"/>
          </a:p>
        </p:txBody>
      </p:sp>
    </p:spTree>
    <p:extLst>
      <p:ext uri="{BB962C8B-B14F-4D97-AF65-F5344CB8AC3E}">
        <p14:creationId xmlns:p14="http://schemas.microsoft.com/office/powerpoint/2010/main" val="19459227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8C80-A9CE-C55E-9EDF-98D996EEB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C760A-7563-DEC7-BA31-AC92B9E71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63657B-FB5C-FE0B-7F09-AE83A161FE5D}"/>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Why Use Loops?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The Problem: Repetition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Without loops, you'd need to write the same code multiple times:</a:t>
            </a:r>
            <a:endParaRPr lang="en-US" sz="1800" dirty="0"/>
          </a:p>
          <a:p>
            <a:pPr>
              <a:lnSpc>
                <a:spcPts val="1958"/>
              </a:lnSpc>
            </a:pPr>
            <a:r>
              <a:rPr lang="en-US" sz="1800" dirty="0">
                <a:solidFill>
                  <a:srgbClr val="000000"/>
                </a:solidFill>
                <a:latin typeface="Consolas" pitchFamily="34" charset="0"/>
                <a:ea typeface="Consolas" pitchFamily="34" charset="-122"/>
                <a:cs typeface="Consolas" pitchFamily="34" charset="-120"/>
              </a:rPr>
              <a:t># Creating Counter- Inefficient </a:t>
            </a:r>
            <a:r>
              <a:rPr lang="en-US" sz="1800" dirty="0" err="1">
                <a:solidFill>
                  <a:srgbClr val="000000"/>
                </a:solidFill>
                <a:latin typeface="Consolas" pitchFamily="34" charset="0"/>
                <a:ea typeface="Consolas" pitchFamily="34" charset="-122"/>
                <a:cs typeface="Consolas" pitchFamily="34" charset="-120"/>
              </a:rPr>
              <a:t>wayprint</a:t>
            </a:r>
            <a:r>
              <a:rPr lang="en-US" sz="1800" dirty="0">
                <a:solidFill>
                  <a:srgbClr val="000000"/>
                </a:solidFill>
                <a:latin typeface="Consolas" pitchFamily="34" charset="0"/>
                <a:ea typeface="Consolas" pitchFamily="34" charset="-122"/>
                <a:cs typeface="Consolas" pitchFamily="34" charset="-120"/>
              </a:rPr>
              <a:t>(1)print(2)print(3)# ...print(10)# Efficient way using a </a:t>
            </a:r>
            <a:r>
              <a:rPr lang="en-US" sz="1800" dirty="0" err="1">
                <a:solidFill>
                  <a:srgbClr val="000000"/>
                </a:solidFill>
                <a:latin typeface="Consolas" pitchFamily="34" charset="0"/>
                <a:ea typeface="Consolas" pitchFamily="34" charset="-122"/>
                <a:cs typeface="Consolas" pitchFamily="34" charset="-120"/>
              </a:rPr>
              <a:t>loopfor</a:t>
            </a:r>
            <a:r>
              <a:rPr lang="en-US" sz="1800" dirty="0">
                <a:solidFill>
                  <a:srgbClr val="000000"/>
                </a:solidFill>
                <a:latin typeface="Consolas" pitchFamily="34" charset="0"/>
                <a:ea typeface="Consolas" pitchFamily="34" charset="-122"/>
                <a:cs typeface="Consolas" pitchFamily="34" charset="-120"/>
              </a:rPr>
              <a:t> </a:t>
            </a:r>
            <a:r>
              <a:rPr lang="en-US" sz="1800" dirty="0" err="1">
                <a:solidFill>
                  <a:srgbClr val="000000"/>
                </a:solidFill>
                <a:latin typeface="Consolas" pitchFamily="34" charset="0"/>
                <a:ea typeface="Consolas" pitchFamily="34" charset="-122"/>
                <a:cs typeface="Consolas" pitchFamily="34" charset="-120"/>
              </a:rPr>
              <a:t>i</a:t>
            </a:r>
            <a:r>
              <a:rPr lang="en-US" sz="1800" dirty="0">
                <a:solidFill>
                  <a:srgbClr val="000000"/>
                </a:solidFill>
                <a:latin typeface="Consolas" pitchFamily="34" charset="0"/>
                <a:ea typeface="Consolas" pitchFamily="34" charset="-122"/>
                <a:cs typeface="Consolas" pitchFamily="34" charset="-120"/>
              </a:rPr>
              <a:t> in range(1, 11):  print(</a:t>
            </a:r>
            <a:r>
              <a:rPr lang="en-US" sz="1800" dirty="0" err="1">
                <a:solidFill>
                  <a:srgbClr val="000000"/>
                </a:solidFill>
                <a:latin typeface="Consolas" pitchFamily="34" charset="0"/>
                <a:ea typeface="Consolas" pitchFamily="34" charset="-122"/>
                <a:cs typeface="Consolas" pitchFamily="34" charset="-120"/>
              </a:rPr>
              <a:t>i</a:t>
            </a:r>
            <a:r>
              <a:rPr lang="en-US" sz="1800" dirty="0">
                <a:solidFill>
                  <a:srgbClr val="000000"/>
                </a:solidFill>
                <a:latin typeface="Consolas" pitchFamily="34" charset="0"/>
                <a:ea typeface="Consolas" pitchFamily="34" charset="-122"/>
                <a:cs typeface="Consolas" pitchFamily="34" charset="-120"/>
              </a:rPr>
              <a:t>)</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Loops solve this by allowing you to execute code blocks repeatedly with different values, making your code more efficient, readable, and maintainable.</a:t>
            </a:r>
            <a:endParaRPr lang="en-US" sz="1800" dirty="0"/>
          </a:p>
          <a:p>
            <a:pPr>
              <a:lnSpc>
                <a:spcPts val="1958"/>
              </a:lnSpc>
            </a:pPr>
            <a:r>
              <a:rPr lang="en-US" sz="1800" dirty="0">
                <a:solidFill>
                  <a:srgbClr val="000000"/>
                </a:solidFill>
                <a:latin typeface="Consolas" pitchFamily="34" charset="0"/>
                <a:ea typeface="Consolas" pitchFamily="34" charset="-122"/>
                <a:cs typeface="Consolas" pitchFamily="34" charset="-120"/>
              </a:rPr>
              <a:t># Efficient way using a </a:t>
            </a:r>
            <a:r>
              <a:rPr lang="en-US" sz="1800" dirty="0" err="1">
                <a:solidFill>
                  <a:srgbClr val="000000"/>
                </a:solidFill>
                <a:latin typeface="Consolas" pitchFamily="34" charset="0"/>
                <a:ea typeface="Consolas" pitchFamily="34" charset="-122"/>
                <a:cs typeface="Consolas" pitchFamily="34" charset="-120"/>
              </a:rPr>
              <a:t>loopfor</a:t>
            </a:r>
            <a:r>
              <a:rPr lang="en-US" sz="1800" dirty="0">
                <a:solidFill>
                  <a:srgbClr val="000000"/>
                </a:solidFill>
                <a:latin typeface="Consolas" pitchFamily="34" charset="0"/>
                <a:ea typeface="Consolas" pitchFamily="34" charset="-122"/>
                <a:cs typeface="Consolas" pitchFamily="34" charset="-120"/>
              </a:rPr>
              <a:t> </a:t>
            </a:r>
            <a:r>
              <a:rPr lang="en-US" sz="1800" dirty="0" err="1">
                <a:solidFill>
                  <a:srgbClr val="000000"/>
                </a:solidFill>
                <a:latin typeface="Consolas" pitchFamily="34" charset="0"/>
                <a:ea typeface="Consolas" pitchFamily="34" charset="-122"/>
                <a:cs typeface="Consolas" pitchFamily="34" charset="-120"/>
              </a:rPr>
              <a:t>i</a:t>
            </a:r>
            <a:r>
              <a:rPr lang="en-US" sz="1800" dirty="0">
                <a:solidFill>
                  <a:srgbClr val="000000"/>
                </a:solidFill>
                <a:latin typeface="Consolas" pitchFamily="34" charset="0"/>
                <a:ea typeface="Consolas" pitchFamily="34" charset="-122"/>
                <a:cs typeface="Consolas" pitchFamily="34" charset="-120"/>
              </a:rPr>
              <a:t> in range(1, 11): print(</a:t>
            </a:r>
            <a:r>
              <a:rPr lang="en-US" sz="1800" dirty="0" err="1">
                <a:solidFill>
                  <a:srgbClr val="000000"/>
                </a:solidFill>
                <a:latin typeface="Consolas" pitchFamily="34" charset="0"/>
                <a:ea typeface="Consolas" pitchFamily="34" charset="-122"/>
                <a:cs typeface="Consolas" pitchFamily="34" charset="-120"/>
              </a:rPr>
              <a:t>i</a:t>
            </a:r>
            <a:r>
              <a:rPr lang="en-US" sz="1800" dirty="0">
                <a:solidFill>
                  <a:srgbClr val="000000"/>
                </a:solidFill>
                <a:latin typeface="Consolas" pitchFamily="34" charset="0"/>
                <a:ea typeface="Consolas" pitchFamily="34" charset="-122"/>
                <a:cs typeface="Consolas" pitchFamily="34" charset="-120"/>
              </a:rPr>
              <a:t>)</a:t>
            </a:r>
          </a:p>
          <a:p>
            <a:pPr>
              <a:lnSpc>
                <a:spcPts val="4042"/>
              </a:lnSpc>
            </a:pPr>
            <a:endParaRPr lang="en-US" sz="1800" dirty="0"/>
          </a:p>
          <a:p>
            <a:pPr>
              <a:lnSpc>
                <a:spcPts val="4042"/>
              </a:lnSpc>
            </a:pPr>
            <a:r>
              <a:rPr lang="en-US" sz="1800" dirty="0"/>
              <a:t>Image: Slide number: 55</a:t>
            </a:r>
          </a:p>
        </p:txBody>
      </p:sp>
      <p:sp>
        <p:nvSpPr>
          <p:cNvPr id="4" name="Slide Number Placeholder 3">
            <a:extLst>
              <a:ext uri="{FF2B5EF4-FFF2-40B4-BE49-F238E27FC236}">
                <a16:creationId xmlns:a16="http://schemas.microsoft.com/office/drawing/2014/main" id="{29385197-B646-6118-9237-7ECEB2656813}"/>
              </a:ext>
            </a:extLst>
          </p:cNvPr>
          <p:cNvSpPr>
            <a:spLocks noGrp="1"/>
          </p:cNvSpPr>
          <p:nvPr>
            <p:ph type="sldNum" sz="quarter" idx="5"/>
          </p:nvPr>
        </p:nvSpPr>
        <p:spPr/>
        <p:txBody>
          <a:bodyPr/>
          <a:lstStyle/>
          <a:p>
            <a:fld id="{1F1E027D-4684-4D2A-A457-B52C65DF2100}" type="slidenum">
              <a:rPr lang="en-GB" smtClean="0"/>
              <a:t>67</a:t>
            </a:fld>
            <a:endParaRPr lang="en-GB"/>
          </a:p>
        </p:txBody>
      </p:sp>
    </p:spTree>
    <p:extLst>
      <p:ext uri="{BB962C8B-B14F-4D97-AF65-F5344CB8AC3E}">
        <p14:creationId xmlns:p14="http://schemas.microsoft.com/office/powerpoint/2010/main" val="40411992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8803-B665-C2BC-E9EB-69E4EF82A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061C0-4636-1C70-DE6C-DA2F9FA520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B878C-ADE7-C6EA-F101-EE5837C7008A}"/>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Types of Loops in Python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for Loop</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Iterates over sequences like lists, strings, or ranges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Use when: You know exactly how many iterations you need</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Consolas" pitchFamily="34" charset="0"/>
                <a:ea typeface="Consolas" pitchFamily="34" charset="-122"/>
                <a:cs typeface="Consolas" pitchFamily="34" charset="-120"/>
              </a:rPr>
              <a:t>for item in sequence:    # code to repeat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while Loop</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Repeats as long as a condition remains True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Use when: You don't know the exact number of iterations in advance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Consolas" pitchFamily="34" charset="0"/>
                <a:ea typeface="Consolas" pitchFamily="34" charset="-122"/>
                <a:cs typeface="Consolas" pitchFamily="34" charset="-120"/>
              </a:rPr>
              <a:t>while condition:    # code to repeat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Nested Loops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Loops inside other loops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Use when: Working with multi-dimensional data or complex patterns</a:t>
            </a:r>
            <a:endParaRPr lang="en-US" sz="1800" dirty="0"/>
          </a:p>
          <a:p>
            <a:pPr>
              <a:lnSpc>
                <a:spcPts val="2083"/>
              </a:lnSpc>
            </a:pPr>
            <a:r>
              <a:rPr lang="en-US" sz="1800" dirty="0">
                <a:latin typeface="Consolas" pitchFamily="34" charset="0"/>
                <a:ea typeface="Consolas" pitchFamily="34" charset="-122"/>
                <a:cs typeface="Consolas" pitchFamily="34" charset="-120"/>
              </a:rPr>
              <a:t>for outer in sequence: for inner in another: # code to repeat</a:t>
            </a:r>
            <a:endParaRPr lang="en-US" sz="1800" dirty="0"/>
          </a:p>
          <a:p>
            <a:pPr>
              <a:lnSpc>
                <a:spcPts val="4042"/>
              </a:lnSpc>
            </a:pPr>
            <a:endParaRPr lang="en-US" sz="1800" dirty="0"/>
          </a:p>
          <a:p>
            <a:pPr>
              <a:lnSpc>
                <a:spcPts val="4042"/>
              </a:lnSpc>
            </a:pPr>
            <a:r>
              <a:rPr lang="en-US" sz="1800" dirty="0"/>
              <a:t>Image: Slide number 56</a:t>
            </a:r>
          </a:p>
        </p:txBody>
      </p:sp>
      <p:sp>
        <p:nvSpPr>
          <p:cNvPr id="4" name="Slide Number Placeholder 3">
            <a:extLst>
              <a:ext uri="{FF2B5EF4-FFF2-40B4-BE49-F238E27FC236}">
                <a16:creationId xmlns:a16="http://schemas.microsoft.com/office/drawing/2014/main" id="{271F238E-9F8C-F081-0144-4B39B02FFF51}"/>
              </a:ext>
            </a:extLst>
          </p:cNvPr>
          <p:cNvSpPr>
            <a:spLocks noGrp="1"/>
          </p:cNvSpPr>
          <p:nvPr>
            <p:ph type="sldNum" sz="quarter" idx="5"/>
          </p:nvPr>
        </p:nvSpPr>
        <p:spPr/>
        <p:txBody>
          <a:bodyPr/>
          <a:lstStyle/>
          <a:p>
            <a:fld id="{1F1E027D-4684-4D2A-A457-B52C65DF2100}" type="slidenum">
              <a:rPr lang="en-GB" smtClean="0"/>
              <a:t>68</a:t>
            </a:fld>
            <a:endParaRPr lang="en-GB"/>
          </a:p>
        </p:txBody>
      </p:sp>
    </p:spTree>
    <p:extLst>
      <p:ext uri="{BB962C8B-B14F-4D97-AF65-F5344CB8AC3E}">
        <p14:creationId xmlns:p14="http://schemas.microsoft.com/office/powerpoint/2010/main" val="15205972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7B11E-F7D1-1A25-5E5C-BB3FCB8BD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BB796-1ED5-1737-5ECF-59BC7AE8CC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469A8-9C81-E25D-A100-4695E04D5CB5}"/>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The for Loop: Iterating Over Sequences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a:t>
            </a:r>
            <a:r>
              <a:rPr lang="en-US" sz="1800" dirty="0">
                <a:solidFill>
                  <a:srgbClr val="000000"/>
                </a:solidFill>
                <a:highlight>
                  <a:srgbClr val="F2F2F2"/>
                </a:highlight>
                <a:latin typeface="Consolas" pitchFamily="34" charset="0"/>
                <a:ea typeface="Consolas" pitchFamily="34" charset="-122"/>
                <a:cs typeface="Consolas" pitchFamily="34" charset="-120"/>
              </a:rPr>
              <a:t>for</a:t>
            </a:r>
            <a:r>
              <a:rPr lang="en-US" sz="1800" dirty="0">
                <a:solidFill>
                  <a:srgbClr val="000000"/>
                </a:solidFill>
                <a:latin typeface="Montserrat" pitchFamily="34" charset="0"/>
                <a:ea typeface="Montserrat" pitchFamily="34" charset="-122"/>
                <a:cs typeface="Montserrat" pitchFamily="34" charset="-120"/>
              </a:rPr>
              <a:t> loop directly iterates through each item in a sequence, executing the indented code block once per item.</a:t>
            </a:r>
          </a:p>
          <a:p>
            <a:pPr>
              <a:lnSpc>
                <a:spcPts val="1333"/>
              </a:lnSpc>
            </a:pPr>
            <a:r>
              <a:rPr lang="en-US" sz="1800" dirty="0">
                <a:solidFill>
                  <a:srgbClr val="000000"/>
                </a:solidFill>
                <a:latin typeface="Consolas" pitchFamily="34" charset="0"/>
                <a:ea typeface="Consolas" pitchFamily="34" charset="-122"/>
                <a:cs typeface="Consolas" pitchFamily="34" charset="-120"/>
              </a:rPr>
              <a:t>fruits = ["apple", "banana", "cherry"]for fruit in fruits:   print(fruit)</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This approach is perfect when you need to process each element in a collection without worrying about indices or counters.</a:t>
            </a:r>
            <a:endParaRPr lang="en-US" sz="1800" dirty="0"/>
          </a:p>
          <a:p>
            <a:pPr>
              <a:lnSpc>
                <a:spcPts val="4042"/>
              </a:lnSpc>
            </a:pPr>
            <a:endParaRPr lang="en-US" sz="1800" dirty="0"/>
          </a:p>
          <a:p>
            <a:pPr>
              <a:lnSpc>
                <a:spcPts val="4042"/>
              </a:lnSpc>
            </a:pPr>
            <a:r>
              <a:rPr lang="en-US" sz="1800" dirty="0"/>
              <a:t>Image : Slide number: 57</a:t>
            </a:r>
          </a:p>
        </p:txBody>
      </p:sp>
      <p:sp>
        <p:nvSpPr>
          <p:cNvPr id="4" name="Slide Number Placeholder 3">
            <a:extLst>
              <a:ext uri="{FF2B5EF4-FFF2-40B4-BE49-F238E27FC236}">
                <a16:creationId xmlns:a16="http://schemas.microsoft.com/office/drawing/2014/main" id="{FCC1C782-D53F-7B53-6B04-F47AB96855F7}"/>
              </a:ext>
            </a:extLst>
          </p:cNvPr>
          <p:cNvSpPr>
            <a:spLocks noGrp="1"/>
          </p:cNvSpPr>
          <p:nvPr>
            <p:ph type="sldNum" sz="quarter" idx="5"/>
          </p:nvPr>
        </p:nvSpPr>
        <p:spPr/>
        <p:txBody>
          <a:bodyPr/>
          <a:lstStyle/>
          <a:p>
            <a:fld id="{1F1E027D-4684-4D2A-A457-B52C65DF2100}" type="slidenum">
              <a:rPr lang="en-GB" smtClean="0"/>
              <a:t>69</a:t>
            </a:fld>
            <a:endParaRPr lang="en-GB"/>
          </a:p>
        </p:txBody>
      </p:sp>
    </p:spTree>
    <p:extLst>
      <p:ext uri="{BB962C8B-B14F-4D97-AF65-F5344CB8AC3E}">
        <p14:creationId xmlns:p14="http://schemas.microsoft.com/office/powerpoint/2010/main" val="32097786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333A7-9F9F-8BBB-6049-12FC6C228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91D61-3DDA-C2FC-B031-59BAB5D53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11D67-CACC-CE52-EED2-29FC2DEABA94}"/>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Using range() with for Loops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The range() Function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Generates a sequence of numbers for iteration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range(stop)</a:t>
            </a:r>
            <a:r>
              <a:rPr lang="en-US" sz="1800" dirty="0">
                <a:solidFill>
                  <a:srgbClr val="000000"/>
                </a:solidFill>
                <a:latin typeface="Montserrat" pitchFamily="34" charset="0"/>
                <a:ea typeface="Montserrat" pitchFamily="34" charset="-122"/>
                <a:cs typeface="Montserrat" pitchFamily="34" charset="-120"/>
              </a:rPr>
              <a:t> - 0 to stop-1</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range(start, stop)</a:t>
            </a:r>
            <a:r>
              <a:rPr lang="en-US" sz="1800" dirty="0">
                <a:solidFill>
                  <a:srgbClr val="000000"/>
                </a:solidFill>
                <a:latin typeface="Montserrat" pitchFamily="34" charset="0"/>
                <a:ea typeface="Montserrat" pitchFamily="34" charset="-122"/>
                <a:cs typeface="Montserrat" pitchFamily="34" charset="-120"/>
              </a:rPr>
              <a:t> - start to stop-1</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range(start, stop, step)</a:t>
            </a:r>
            <a:r>
              <a:rPr lang="en-US" sz="1800" dirty="0">
                <a:solidFill>
                  <a:srgbClr val="000000"/>
                </a:solidFill>
                <a:latin typeface="Montserrat" pitchFamily="34" charset="0"/>
                <a:ea typeface="Montserrat" pitchFamily="34" charset="-122"/>
                <a:cs typeface="Montserrat" pitchFamily="34" charset="-120"/>
              </a:rPr>
              <a:t> - with custom increments</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solidFill>
                <a:srgbClr val="000000"/>
              </a:solidFill>
              <a:latin typeface="Montserrat" pitchFamily="34"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solidFill>
                <a:srgbClr val="000000"/>
              </a:solidFill>
              <a:latin typeface="Montserrat" pitchFamily="34" charset="0"/>
            </a:endParaRP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Infographic Repository Slide 86</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38BFEFAB-D8B2-97C0-B575-A71BB16C153E}"/>
              </a:ext>
            </a:extLst>
          </p:cNvPr>
          <p:cNvSpPr>
            <a:spLocks noGrp="1"/>
          </p:cNvSpPr>
          <p:nvPr>
            <p:ph type="sldNum" sz="quarter" idx="5"/>
          </p:nvPr>
        </p:nvSpPr>
        <p:spPr/>
        <p:txBody>
          <a:bodyPr/>
          <a:lstStyle/>
          <a:p>
            <a:fld id="{1F1E027D-4684-4D2A-A457-B52C65DF2100}" type="slidenum">
              <a:rPr lang="en-GB" smtClean="0"/>
              <a:t>70</a:t>
            </a:fld>
            <a:endParaRPr lang="en-GB"/>
          </a:p>
        </p:txBody>
      </p:sp>
    </p:spTree>
    <p:extLst>
      <p:ext uri="{BB962C8B-B14F-4D97-AF65-F5344CB8AC3E}">
        <p14:creationId xmlns:p14="http://schemas.microsoft.com/office/powerpoint/2010/main" val="39241169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66CF3-4FB4-54F2-66C2-B7C346F7B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CE507-4070-3ED2-2C67-254500C0DA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EC14A-7D76-F204-DCB1-99389F0B9AF8}"/>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Example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for </a:t>
            </a:r>
            <a:r>
              <a:rPr lang="en-US" sz="1800" dirty="0" err="1">
                <a:solidFill>
                  <a:srgbClr val="000000"/>
                </a:solidFill>
                <a:highlight>
                  <a:srgbClr val="F2F2F2"/>
                </a:highlight>
                <a:latin typeface="Consolas" pitchFamily="34" charset="0"/>
                <a:ea typeface="Consolas" pitchFamily="34" charset="-122"/>
                <a:cs typeface="Consolas" pitchFamily="34" charset="-120"/>
              </a:rPr>
              <a:t>i</a:t>
            </a:r>
            <a:r>
              <a:rPr lang="en-US" sz="1800" dirty="0">
                <a:solidFill>
                  <a:srgbClr val="000000"/>
                </a:solidFill>
                <a:highlight>
                  <a:srgbClr val="F2F2F2"/>
                </a:highlight>
                <a:latin typeface="Consolas" pitchFamily="34" charset="0"/>
                <a:ea typeface="Consolas" pitchFamily="34" charset="-122"/>
                <a:cs typeface="Consolas" pitchFamily="34" charset="-120"/>
              </a:rPr>
              <a:t> in range(1, 6):    	print(</a:t>
            </a:r>
            <a:r>
              <a:rPr lang="en-US" sz="1800" dirty="0" err="1">
                <a:solidFill>
                  <a:srgbClr val="000000"/>
                </a:solidFill>
                <a:highlight>
                  <a:srgbClr val="F2F2F2"/>
                </a:highlight>
                <a:latin typeface="Consolas" pitchFamily="34" charset="0"/>
                <a:ea typeface="Consolas" pitchFamily="34" charset="-122"/>
                <a:cs typeface="Consolas" pitchFamily="34" charset="-120"/>
              </a:rPr>
              <a:t>i</a:t>
            </a:r>
            <a:r>
              <a:rPr lang="en-US" sz="1800" dirty="0">
                <a:solidFill>
                  <a:srgbClr val="000000"/>
                </a:solidFill>
                <a:highlight>
                  <a:srgbClr val="F2F2F2"/>
                </a:highlight>
                <a:latin typeface="Consolas" pitchFamily="34" charset="0"/>
                <a:ea typeface="Consolas" pitchFamily="34" charset="-122"/>
                <a:cs typeface="Consolas" pitchFamily="34" charset="-120"/>
              </a:rPr>
              <a:t>)    </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This code will print numbers 1 through 5, stopping before it reaches 6.</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solidFill>
                <a:srgbClr val="000000"/>
              </a:solidFill>
              <a:latin typeface="Montserrat" pitchFamily="34" charset="0"/>
            </a:endParaRP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Output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12345    </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a:t>
            </a:r>
            <a:r>
              <a:rPr lang="en-US" sz="1800" dirty="0">
                <a:solidFill>
                  <a:srgbClr val="000000"/>
                </a:solidFill>
                <a:highlight>
                  <a:srgbClr val="F2F2F2"/>
                </a:highlight>
                <a:latin typeface="Consolas" pitchFamily="34" charset="0"/>
                <a:ea typeface="Consolas" pitchFamily="34" charset="-122"/>
                <a:cs typeface="Consolas" pitchFamily="34" charset="-120"/>
              </a:rPr>
              <a:t>range()</a:t>
            </a:r>
            <a:r>
              <a:rPr lang="en-US" sz="1800" dirty="0">
                <a:solidFill>
                  <a:srgbClr val="000000"/>
                </a:solidFill>
                <a:latin typeface="Montserrat" pitchFamily="34" charset="0"/>
                <a:ea typeface="Montserrat" pitchFamily="34" charset="-122"/>
                <a:cs typeface="Montserrat" pitchFamily="34" charset="-120"/>
              </a:rPr>
              <a:t> function is memory-efficient, as it generates values on-demand rather than storing the entire sequence.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solidFill>
                <a:srgbClr val="000000"/>
              </a:solidFill>
              <a:latin typeface="Montserrat" pitchFamily="34"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a:lnSpc>
                <a:spcPts val="4042"/>
              </a:lnSpc>
            </a:pPr>
            <a:r>
              <a:rPr lang="en-US" sz="1800" dirty="0"/>
              <a:t>Image: Slide number: 58</a:t>
            </a:r>
          </a:p>
        </p:txBody>
      </p:sp>
      <p:sp>
        <p:nvSpPr>
          <p:cNvPr id="4" name="Slide Number Placeholder 3">
            <a:extLst>
              <a:ext uri="{FF2B5EF4-FFF2-40B4-BE49-F238E27FC236}">
                <a16:creationId xmlns:a16="http://schemas.microsoft.com/office/drawing/2014/main" id="{2BA8C2D8-69C2-3D79-58B6-AD06787D05FC}"/>
              </a:ext>
            </a:extLst>
          </p:cNvPr>
          <p:cNvSpPr>
            <a:spLocks noGrp="1"/>
          </p:cNvSpPr>
          <p:nvPr>
            <p:ph type="sldNum" sz="quarter" idx="5"/>
          </p:nvPr>
        </p:nvSpPr>
        <p:spPr/>
        <p:txBody>
          <a:bodyPr/>
          <a:lstStyle/>
          <a:p>
            <a:fld id="{1F1E027D-4684-4D2A-A457-B52C65DF2100}" type="slidenum">
              <a:rPr lang="en-GB" smtClean="0"/>
              <a:t>71</a:t>
            </a:fld>
            <a:endParaRPr lang="en-GB"/>
          </a:p>
        </p:txBody>
      </p:sp>
    </p:spTree>
    <p:extLst>
      <p:ext uri="{BB962C8B-B14F-4D97-AF65-F5344CB8AC3E}">
        <p14:creationId xmlns:p14="http://schemas.microsoft.com/office/powerpoint/2010/main" val="38135265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ADFDD-A75C-D7D5-234A-65857217C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675AE-4F78-9DA0-9AA7-5F2EB3944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68B18-5459-59D7-DBC6-1915E325DE11}"/>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The while Loop: Condition-Based Repetition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How It Works</a:t>
            </a:r>
            <a:endParaRPr lang="en-US" sz="1800" dirty="0"/>
          </a:p>
          <a:p>
            <a:pPr>
              <a:lnSpc>
                <a:spcPts val="1500"/>
              </a:lnSpc>
            </a:pPr>
            <a:r>
              <a:rPr lang="en-US" sz="1800" dirty="0">
                <a:solidFill>
                  <a:srgbClr val="000000"/>
                </a:solidFill>
                <a:latin typeface="Consolas" pitchFamily="34" charset="0"/>
                <a:ea typeface="Consolas" pitchFamily="34" charset="-122"/>
                <a:cs typeface="Consolas" pitchFamily="34" charset="-120"/>
              </a:rPr>
              <a:t>count = 1while count &lt;= 5:print(count)  count += 1</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 </a:t>
            </a:r>
            <a:r>
              <a:rPr lang="en-US" sz="1800" dirty="0">
                <a:solidFill>
                  <a:srgbClr val="000000"/>
                </a:solidFill>
                <a:highlight>
                  <a:srgbClr val="F2F2F2"/>
                </a:highlight>
                <a:latin typeface="Consolas" pitchFamily="34" charset="0"/>
                <a:ea typeface="Consolas" pitchFamily="34" charset="-122"/>
                <a:cs typeface="Consolas" pitchFamily="34" charset="-120"/>
              </a:rPr>
              <a:t>while</a:t>
            </a:r>
            <a:r>
              <a:rPr lang="en-US" sz="1800" dirty="0">
                <a:solidFill>
                  <a:srgbClr val="000000"/>
                </a:solidFill>
                <a:latin typeface="Montserrat" pitchFamily="34" charset="0"/>
                <a:ea typeface="Montserrat" pitchFamily="34" charset="-122"/>
                <a:cs typeface="Montserrat" pitchFamily="34" charset="-120"/>
              </a:rPr>
              <a:t> loop continues to execute as long as its condition evaluates to </a:t>
            </a:r>
            <a:r>
              <a:rPr lang="en-US" sz="1800" dirty="0">
                <a:solidFill>
                  <a:srgbClr val="000000"/>
                </a:solidFill>
                <a:highlight>
                  <a:srgbClr val="F2F2F2"/>
                </a:highlight>
                <a:latin typeface="Consolas" pitchFamily="34" charset="0"/>
                <a:ea typeface="Consolas" pitchFamily="34" charset="-122"/>
                <a:cs typeface="Consolas" pitchFamily="34" charset="-120"/>
              </a:rPr>
              <a:t>True</a:t>
            </a:r>
            <a:r>
              <a:rPr lang="en-US" sz="1800" dirty="0">
                <a:solidFill>
                  <a:srgbClr val="000000"/>
                </a:solidFill>
                <a:latin typeface="Montserrat" pitchFamily="34" charset="0"/>
                <a:ea typeface="Montserrat" pitchFamily="34" charset="-122"/>
                <a:cs typeface="Montserrat" pitchFamily="34" charset="-120"/>
              </a:rPr>
              <a:t>. It's critical to include a statement that eventually makes the condition </a:t>
            </a:r>
            <a:r>
              <a:rPr lang="en-US" sz="1800" dirty="0">
                <a:solidFill>
                  <a:srgbClr val="000000"/>
                </a:solidFill>
                <a:highlight>
                  <a:srgbClr val="F2F2F2"/>
                </a:highlight>
                <a:latin typeface="Consolas" pitchFamily="34" charset="0"/>
                <a:ea typeface="Consolas" pitchFamily="34" charset="-122"/>
                <a:cs typeface="Consolas" pitchFamily="34" charset="-120"/>
              </a:rPr>
              <a:t>False</a:t>
            </a:r>
            <a:r>
              <a:rPr lang="en-US" sz="1800" dirty="0">
                <a:solidFill>
                  <a:srgbClr val="000000"/>
                </a:solidFill>
                <a:latin typeface="Montserrat" pitchFamily="34" charset="0"/>
                <a:ea typeface="Montserrat" pitchFamily="34" charset="-122"/>
                <a:cs typeface="Montserrat" pitchFamily="34" charset="-120"/>
              </a:rPr>
              <a:t> to avoid infinite loops.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Warning:</a:t>
            </a:r>
            <a:r>
              <a:rPr lang="en-US" sz="1800" dirty="0">
                <a:solidFill>
                  <a:srgbClr val="000000"/>
                </a:solidFill>
                <a:latin typeface="Montserrat" pitchFamily="34" charset="0"/>
                <a:ea typeface="Montserrat" pitchFamily="34" charset="-122"/>
                <a:cs typeface="Montserrat" pitchFamily="34" charset="-120"/>
              </a:rPr>
              <a:t> Always ensure your while loop has a way to terminate! Without </a:t>
            </a:r>
            <a:r>
              <a:rPr lang="en-US" sz="1800" dirty="0">
                <a:solidFill>
                  <a:srgbClr val="000000"/>
                </a:solidFill>
                <a:highlight>
                  <a:srgbClr val="F2F2F2"/>
                </a:highlight>
                <a:latin typeface="Consolas" pitchFamily="34" charset="0"/>
                <a:ea typeface="Consolas" pitchFamily="34" charset="-122"/>
                <a:cs typeface="Consolas" pitchFamily="34" charset="-120"/>
              </a:rPr>
              <a:t>count += 1</a:t>
            </a:r>
            <a:r>
              <a:rPr lang="en-US" sz="1800" dirty="0">
                <a:solidFill>
                  <a:srgbClr val="000000"/>
                </a:solidFill>
                <a:latin typeface="Montserrat" pitchFamily="34" charset="0"/>
                <a:ea typeface="Montserrat" pitchFamily="34" charset="-122"/>
                <a:cs typeface="Montserrat" pitchFamily="34" charset="-120"/>
              </a:rPr>
              <a:t>, this example would run forever.</a:t>
            </a:r>
            <a:endParaRPr lang="en-US" sz="1800" dirty="0"/>
          </a:p>
          <a:p>
            <a:pPr>
              <a:lnSpc>
                <a:spcPts val="4042"/>
              </a:lnSpc>
            </a:pPr>
            <a:r>
              <a:rPr lang="en-US" sz="1800" dirty="0"/>
              <a:t>Image: Slide number 59</a:t>
            </a:r>
          </a:p>
        </p:txBody>
      </p:sp>
      <p:sp>
        <p:nvSpPr>
          <p:cNvPr id="4" name="Slide Number Placeholder 3">
            <a:extLst>
              <a:ext uri="{FF2B5EF4-FFF2-40B4-BE49-F238E27FC236}">
                <a16:creationId xmlns:a16="http://schemas.microsoft.com/office/drawing/2014/main" id="{B2D38273-20A4-5166-B1CB-087F9F4EC83F}"/>
              </a:ext>
            </a:extLst>
          </p:cNvPr>
          <p:cNvSpPr>
            <a:spLocks noGrp="1"/>
          </p:cNvSpPr>
          <p:nvPr>
            <p:ph type="sldNum" sz="quarter" idx="5"/>
          </p:nvPr>
        </p:nvSpPr>
        <p:spPr/>
        <p:txBody>
          <a:bodyPr/>
          <a:lstStyle/>
          <a:p>
            <a:fld id="{1F1E027D-4684-4D2A-A457-B52C65DF2100}" type="slidenum">
              <a:rPr lang="en-GB" smtClean="0"/>
              <a:t>72</a:t>
            </a:fld>
            <a:endParaRPr lang="en-GB"/>
          </a:p>
        </p:txBody>
      </p:sp>
    </p:spTree>
    <p:extLst>
      <p:ext uri="{BB962C8B-B14F-4D97-AF65-F5344CB8AC3E}">
        <p14:creationId xmlns:p14="http://schemas.microsoft.com/office/powerpoint/2010/main" val="4362835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0CF74-50D7-62D3-A7D9-7274D527F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B9F13-04AE-7AD8-F9D6-CF7E94A86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A92BA-EBD1-2B8F-2AC9-486CB1DE898E}"/>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Loop Control Statements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Continue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Skip remainder, go to next iteration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Break</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Exit loop immediately and stop</a:t>
            </a:r>
            <a:endParaRPr lang="en-US" sz="1800" dirty="0"/>
          </a:p>
          <a:p>
            <a:r>
              <a:rPr lang="en-US" sz="1200" b="1" kern="1200" dirty="0">
                <a:solidFill>
                  <a:schemeClr val="tx1"/>
                </a:solidFill>
                <a:effectLst/>
                <a:latin typeface="+mn-lt"/>
                <a:ea typeface="+mn-ea"/>
                <a:cs typeface="+mn-cs"/>
              </a:rPr>
              <a:t>Pass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r>
              <a:rPr lang="en-US" sz="1200" dirty="0">
                <a:solidFill>
                  <a:srgbClr val="000000"/>
                </a:solidFill>
                <a:latin typeface="Montserrat" pitchFamily="34" charset="0"/>
                <a:ea typeface="Montserrat" pitchFamily="34" charset="-122"/>
                <a:cs typeface="Montserrat" pitchFamily="34" charset="-120"/>
              </a:rPr>
              <a:t>Do nothing, continue normal execution</a:t>
            </a:r>
            <a:endParaRPr lang="en-US" sz="1200" dirty="0"/>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3EBE194-9399-97B9-7E10-A0BB89CEC911}"/>
              </a:ext>
            </a:extLst>
          </p:cNvPr>
          <p:cNvSpPr>
            <a:spLocks noGrp="1"/>
          </p:cNvSpPr>
          <p:nvPr>
            <p:ph type="sldNum" sz="quarter" idx="5"/>
          </p:nvPr>
        </p:nvSpPr>
        <p:spPr/>
        <p:txBody>
          <a:bodyPr/>
          <a:lstStyle/>
          <a:p>
            <a:fld id="{1F1E027D-4684-4D2A-A457-B52C65DF2100}" type="slidenum">
              <a:rPr lang="en-GB" smtClean="0"/>
              <a:t>73</a:t>
            </a:fld>
            <a:endParaRPr lang="en-GB"/>
          </a:p>
        </p:txBody>
      </p:sp>
    </p:spTree>
    <p:extLst>
      <p:ext uri="{BB962C8B-B14F-4D97-AF65-F5344CB8AC3E}">
        <p14:creationId xmlns:p14="http://schemas.microsoft.com/office/powerpoint/2010/main" val="35757081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AB66F-42E3-51AE-D963-6A91DF87E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4569A-79B6-F20A-B97B-2718145824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5CB81-F07B-B30E-894C-1977EBB223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25274D"/>
                </a:solidFill>
                <a:latin typeface="Montserrat Bold" pitchFamily="34" charset="0"/>
                <a:ea typeface="Montserrat Bold" pitchFamily="34" charset="-122"/>
                <a:cs typeface="Montserrat Bold" pitchFamily="34" charset="-120"/>
              </a:rPr>
              <a:t>Example with continue</a:t>
            </a:r>
            <a:endParaRPr lang="en-US" dirty="0"/>
          </a:p>
          <a:p>
            <a:pPr>
              <a:lnSpc>
                <a:spcPts val="1042"/>
              </a:lnSpc>
            </a:pPr>
            <a:r>
              <a:rPr lang="en-US" sz="1200" dirty="0">
                <a:solidFill>
                  <a:srgbClr val="000000"/>
                </a:solidFill>
                <a:latin typeface="Consolas" pitchFamily="34" charset="0"/>
                <a:ea typeface="Consolas" pitchFamily="34" charset="-122"/>
                <a:cs typeface="Consolas" pitchFamily="34" charset="-120"/>
              </a:rPr>
              <a:t>for </a:t>
            </a:r>
            <a:r>
              <a:rPr lang="en-US" sz="1200" dirty="0" err="1">
                <a:solidFill>
                  <a:srgbClr val="000000"/>
                </a:solidFill>
                <a:latin typeface="Consolas" pitchFamily="34" charset="0"/>
                <a:ea typeface="Consolas" pitchFamily="34" charset="-122"/>
                <a:cs typeface="Consolas" pitchFamily="34" charset="-120"/>
              </a:rPr>
              <a:t>i</a:t>
            </a:r>
            <a:r>
              <a:rPr lang="en-US" sz="1200" dirty="0">
                <a:solidFill>
                  <a:srgbClr val="000000"/>
                </a:solidFill>
                <a:latin typeface="Consolas" pitchFamily="34" charset="0"/>
                <a:ea typeface="Consolas" pitchFamily="34" charset="-122"/>
                <a:cs typeface="Consolas" pitchFamily="34" charset="-120"/>
              </a:rPr>
              <a:t> in range(5): if </a:t>
            </a:r>
            <a:r>
              <a:rPr lang="en-US" sz="1200" dirty="0" err="1">
                <a:solidFill>
                  <a:srgbClr val="000000"/>
                </a:solidFill>
                <a:latin typeface="Consolas" pitchFamily="34" charset="0"/>
                <a:ea typeface="Consolas" pitchFamily="34" charset="-122"/>
                <a:cs typeface="Consolas" pitchFamily="34" charset="-120"/>
              </a:rPr>
              <a:t>i</a:t>
            </a:r>
            <a:r>
              <a:rPr lang="en-US" sz="1200" dirty="0">
                <a:solidFill>
                  <a:srgbClr val="000000"/>
                </a:solidFill>
                <a:latin typeface="Consolas" pitchFamily="34" charset="0"/>
                <a:ea typeface="Consolas" pitchFamily="34" charset="-122"/>
                <a:cs typeface="Consolas" pitchFamily="34" charset="-120"/>
              </a:rPr>
              <a:t> == 3: continue  # Skip 3print(</a:t>
            </a:r>
            <a:r>
              <a:rPr lang="en-US" sz="1200" dirty="0" err="1">
                <a:solidFill>
                  <a:srgbClr val="000000"/>
                </a:solidFill>
                <a:latin typeface="Consolas" pitchFamily="34" charset="0"/>
                <a:ea typeface="Consolas" pitchFamily="34" charset="-122"/>
                <a:cs typeface="Consolas" pitchFamily="34" charset="-120"/>
              </a:rPr>
              <a:t>i</a:t>
            </a:r>
            <a:r>
              <a:rPr lang="en-US" sz="1200" dirty="0">
                <a:solidFill>
                  <a:srgbClr val="000000"/>
                </a:solidFill>
                <a:latin typeface="Consolas" pitchFamily="34" charset="0"/>
                <a:ea typeface="Consolas" pitchFamily="34" charset="-122"/>
                <a:cs typeface="Consolas"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ontserrat" pitchFamily="34" charset="0"/>
                <a:ea typeface="Montserrat" pitchFamily="34" charset="-122"/>
                <a:cs typeface="Montserrat" pitchFamily="34" charset="-120"/>
              </a:rPr>
              <a:t>Output:</a:t>
            </a:r>
            <a:endParaRPr lang="en-US" sz="1200" dirty="0"/>
          </a:p>
          <a:p>
            <a:pPr>
              <a:lnSpc>
                <a:spcPts val="1042"/>
              </a:lnSpc>
            </a:pPr>
            <a:r>
              <a:rPr lang="en-US" sz="1200" dirty="0">
                <a:solidFill>
                  <a:srgbClr val="000000"/>
                </a:solidFill>
                <a:latin typeface="Consolas" pitchFamily="34" charset="0"/>
                <a:ea typeface="Consolas" pitchFamily="34" charset="-122"/>
                <a:cs typeface="Consolas" pitchFamily="34" charset="-120"/>
              </a:rPr>
              <a:t>0124</a:t>
            </a:r>
          </a:p>
          <a:p>
            <a:pPr>
              <a:lnSpc>
                <a:spcPts val="1042"/>
              </a:lnSpc>
            </a:pPr>
            <a:r>
              <a:rPr lang="en-US" sz="1200" dirty="0">
                <a:solidFill>
                  <a:srgbClr val="000000"/>
                </a:solidFill>
                <a:latin typeface="Consolas" pitchFamily="34" charset="0"/>
                <a:ea typeface="Consolas" pitchFamily="34" charset="-122"/>
                <a:cs typeface="Consolas" pitchFamily="34" charset="-120"/>
              </a:rPr>
              <a:t>Image: Slide number 60</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9C60909-2DCD-98C7-7BD4-C3841F3A599A}"/>
              </a:ext>
            </a:extLst>
          </p:cNvPr>
          <p:cNvSpPr>
            <a:spLocks noGrp="1"/>
          </p:cNvSpPr>
          <p:nvPr>
            <p:ph type="sldNum" sz="quarter" idx="5"/>
          </p:nvPr>
        </p:nvSpPr>
        <p:spPr/>
        <p:txBody>
          <a:bodyPr/>
          <a:lstStyle/>
          <a:p>
            <a:fld id="{1F1E027D-4684-4D2A-A457-B52C65DF2100}" type="slidenum">
              <a:rPr lang="en-GB" smtClean="0"/>
              <a:t>74</a:t>
            </a:fld>
            <a:endParaRPr lang="en-GB"/>
          </a:p>
        </p:txBody>
      </p:sp>
    </p:spTree>
    <p:extLst>
      <p:ext uri="{BB962C8B-B14F-4D97-AF65-F5344CB8AC3E}">
        <p14:creationId xmlns:p14="http://schemas.microsoft.com/office/powerpoint/2010/main" val="15816711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1EB0B-015F-8C5F-EF58-F3621F54D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38C7E-1EFA-5652-78DC-75506BF29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C7F11-7192-CC29-3E4A-5C0CD7C4A9FD}"/>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Nested Loops: Loops Within Loops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How It Works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For each iteration of the outer loop, the inner loop runs completely. This creates a pattern where the inner loop completes its cycle before the outer loop advances.</a:t>
            </a:r>
            <a:endParaRPr lang="en-US" sz="1800" dirty="0"/>
          </a:p>
          <a:p>
            <a:pPr>
              <a:lnSpc>
                <a:spcPts val="1917"/>
              </a:lnSpc>
            </a:pPr>
            <a:r>
              <a:rPr lang="en-US" sz="1800" dirty="0">
                <a:solidFill>
                  <a:schemeClr val="bg1"/>
                </a:solidFill>
                <a:latin typeface="Consolas" pitchFamily="34" charset="0"/>
                <a:ea typeface="Consolas" pitchFamily="34" charset="-122"/>
                <a:cs typeface="Consolas" pitchFamily="34" charset="-120"/>
              </a:rPr>
              <a:t>for </a:t>
            </a:r>
            <a:r>
              <a:rPr lang="en-US" sz="1800" dirty="0" err="1">
                <a:solidFill>
                  <a:schemeClr val="bg1"/>
                </a:solidFill>
                <a:latin typeface="Consolas" pitchFamily="34" charset="0"/>
                <a:ea typeface="Consolas" pitchFamily="34" charset="-122"/>
                <a:cs typeface="Consolas" pitchFamily="34" charset="-120"/>
              </a:rPr>
              <a:t>i</a:t>
            </a:r>
            <a:r>
              <a:rPr lang="en-US" sz="1800" dirty="0">
                <a:solidFill>
                  <a:schemeClr val="bg1"/>
                </a:solidFill>
                <a:latin typeface="Consolas" pitchFamily="34" charset="0"/>
                <a:ea typeface="Consolas" pitchFamily="34" charset="-122"/>
                <a:cs typeface="Consolas" pitchFamily="34" charset="-120"/>
              </a:rPr>
              <a:t> in range(1, 4):      # Outer loop (rows)  for j in range(1, 3):  # Inner loop (columns) print(</a:t>
            </a:r>
            <a:r>
              <a:rPr lang="en-US" sz="1800" dirty="0" err="1">
                <a:solidFill>
                  <a:schemeClr val="bg1"/>
                </a:solidFill>
                <a:latin typeface="Consolas" pitchFamily="34" charset="0"/>
                <a:ea typeface="Consolas" pitchFamily="34" charset="-122"/>
                <a:cs typeface="Consolas" pitchFamily="34" charset="-120"/>
              </a:rPr>
              <a:t>i</a:t>
            </a:r>
            <a:r>
              <a:rPr lang="en-US" sz="1800" dirty="0">
                <a:solidFill>
                  <a:schemeClr val="bg1"/>
                </a:solidFill>
                <a:latin typeface="Consolas" pitchFamily="34" charset="0"/>
                <a:ea typeface="Consolas" pitchFamily="34" charset="-122"/>
                <a:cs typeface="Consolas" pitchFamily="34" charset="-120"/>
              </a:rPr>
              <a:t>, j)</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pitchFamily="34" charset="0"/>
                <a:ea typeface="Montserrat" pitchFamily="34" charset="-122"/>
                <a:cs typeface="Montserrat" pitchFamily="34" charset="-120"/>
              </a:rPr>
              <a:t>Total iterations = outer loop count × inner loop count = 3 × 2 = 6</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Output</a:t>
            </a:r>
            <a:endParaRPr lang="en-US" sz="1800" dirty="0"/>
          </a:p>
          <a:p>
            <a:pPr>
              <a:lnSpc>
                <a:spcPts val="1917"/>
              </a:lnSpc>
            </a:pPr>
            <a:r>
              <a:rPr lang="en-US" sz="1800" dirty="0">
                <a:solidFill>
                  <a:schemeClr val="bg1"/>
                </a:solidFill>
                <a:latin typeface="Consolas" pitchFamily="34" charset="0"/>
                <a:ea typeface="Consolas" pitchFamily="34" charset="-122"/>
                <a:cs typeface="Consolas" pitchFamily="34" charset="-120"/>
              </a:rPr>
              <a:t>1 1 1 2 2 1 2 2 3 1 3 2</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61</a:t>
            </a:r>
          </a:p>
        </p:txBody>
      </p:sp>
      <p:sp>
        <p:nvSpPr>
          <p:cNvPr id="4" name="Slide Number Placeholder 3">
            <a:extLst>
              <a:ext uri="{FF2B5EF4-FFF2-40B4-BE49-F238E27FC236}">
                <a16:creationId xmlns:a16="http://schemas.microsoft.com/office/drawing/2014/main" id="{16912BC6-EB42-8A11-588F-038742205254}"/>
              </a:ext>
            </a:extLst>
          </p:cNvPr>
          <p:cNvSpPr>
            <a:spLocks noGrp="1"/>
          </p:cNvSpPr>
          <p:nvPr>
            <p:ph type="sldNum" sz="quarter" idx="5"/>
          </p:nvPr>
        </p:nvSpPr>
        <p:spPr/>
        <p:txBody>
          <a:bodyPr/>
          <a:lstStyle/>
          <a:p>
            <a:fld id="{1F1E027D-4684-4D2A-A457-B52C65DF2100}" type="slidenum">
              <a:rPr lang="en-GB" smtClean="0"/>
              <a:t>75</a:t>
            </a:fld>
            <a:endParaRPr lang="en-GB"/>
          </a:p>
        </p:txBody>
      </p:sp>
    </p:spTree>
    <p:extLst>
      <p:ext uri="{BB962C8B-B14F-4D97-AF65-F5344CB8AC3E}">
        <p14:creationId xmlns:p14="http://schemas.microsoft.com/office/powerpoint/2010/main" val="42782140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DA865-36F4-0919-23A0-6F5C3B3CE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C5A4F-C15B-49F9-7FB5-993788F61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50CB6-B28E-C8CE-F851-453CE0FF2157}"/>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latin typeface="Montserrat Bold" pitchFamily="34" charset="0"/>
                <a:ea typeface="Montserrat Bold" pitchFamily="34" charset="-122"/>
                <a:cs typeface="Montserrat Bold" pitchFamily="34" charset="-120"/>
              </a:rPr>
              <a:t>Iterating with enumerate()</a:t>
            </a:r>
            <a:br>
              <a:rPr lang="en-US" sz="1800" b="1" dirty="0"/>
            </a:br>
            <a:r>
              <a:rPr lang="en-US" sz="1800" dirty="0">
                <a:solidFill>
                  <a:srgbClr val="000000"/>
                </a:solidFill>
                <a:latin typeface="Montserrat" pitchFamily="34" charset="0"/>
                <a:ea typeface="Montserrat" pitchFamily="34" charset="-122"/>
                <a:cs typeface="Montserrat" pitchFamily="34" charset="-120"/>
              </a:rPr>
              <a:t>The </a:t>
            </a:r>
            <a:r>
              <a:rPr lang="en-US" sz="1800" dirty="0">
                <a:solidFill>
                  <a:srgbClr val="000000"/>
                </a:solidFill>
                <a:highlight>
                  <a:srgbClr val="F2F2F2"/>
                </a:highlight>
                <a:latin typeface="Consolas" pitchFamily="34" charset="0"/>
                <a:ea typeface="Consolas" pitchFamily="34" charset="-122"/>
                <a:cs typeface="Consolas" pitchFamily="34" charset="-120"/>
              </a:rPr>
              <a:t>enumerate()</a:t>
            </a:r>
            <a:r>
              <a:rPr lang="en-US" sz="1800" dirty="0">
                <a:solidFill>
                  <a:srgbClr val="000000"/>
                </a:solidFill>
                <a:latin typeface="Montserrat" pitchFamily="34" charset="0"/>
                <a:ea typeface="Montserrat" pitchFamily="34" charset="-122"/>
                <a:cs typeface="Montserrat" pitchFamily="34" charset="-120"/>
              </a:rPr>
              <a:t> function adds a counter to an </a:t>
            </a:r>
            <a:r>
              <a:rPr lang="en-US" sz="1800" dirty="0" err="1">
                <a:solidFill>
                  <a:srgbClr val="000000"/>
                </a:solidFill>
                <a:latin typeface="Montserrat" pitchFamily="34" charset="0"/>
                <a:ea typeface="Montserrat" pitchFamily="34" charset="-122"/>
                <a:cs typeface="Montserrat" pitchFamily="34" charset="-120"/>
              </a:rPr>
              <a:t>iterable</a:t>
            </a:r>
            <a:r>
              <a:rPr lang="en-US" sz="1800" dirty="0">
                <a:solidFill>
                  <a:srgbClr val="000000"/>
                </a:solidFill>
                <a:latin typeface="Montserrat" pitchFamily="34" charset="0"/>
                <a:ea typeface="Montserrat" pitchFamily="34" charset="-122"/>
                <a:cs typeface="Montserrat" pitchFamily="34" charset="-120"/>
              </a:rPr>
              <a:t>, returning pairs of (index, item). This is extremely useful when you need both the position and value during iteration.</a:t>
            </a:r>
            <a:endParaRPr lang="en-US" sz="1800" dirty="0"/>
          </a:p>
          <a:p>
            <a:pPr>
              <a:lnSpc>
                <a:spcPts val="1042"/>
              </a:lnSpc>
            </a:pPr>
            <a:r>
              <a:rPr lang="en-US" sz="1800" dirty="0">
                <a:solidFill>
                  <a:srgbClr val="000000"/>
                </a:solidFill>
                <a:latin typeface="Consolas" pitchFamily="34" charset="0"/>
                <a:ea typeface="Consolas" pitchFamily="34" charset="-122"/>
                <a:cs typeface="Consolas" pitchFamily="34" charset="-120"/>
              </a:rPr>
              <a:t>colors = ["red", "green", "blue"]for index, color in enumerate(colors):  print(index, color)</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can also start from a different index:</a:t>
            </a:r>
            <a:endParaRPr lang="en-US" sz="1800" dirty="0"/>
          </a:p>
          <a:p>
            <a:pPr>
              <a:lnSpc>
                <a:spcPts val="1042"/>
              </a:lnSpc>
              <a:spcBef>
                <a:spcPts val="600"/>
              </a:spcBef>
            </a:pPr>
            <a:r>
              <a:rPr lang="en-US" sz="1800" dirty="0">
                <a:solidFill>
                  <a:srgbClr val="000000"/>
                </a:solidFill>
                <a:latin typeface="Consolas" pitchFamily="34" charset="0"/>
                <a:ea typeface="Consolas" pitchFamily="34" charset="-122"/>
                <a:cs typeface="Consolas" pitchFamily="34" charset="-120"/>
              </a:rPr>
              <a:t>colors = ["red", "green", "blue"]# Start counting from 1 instead of 0for index, color in enumerate(colors, 1):print(index, color)</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62</a:t>
            </a:r>
          </a:p>
        </p:txBody>
      </p:sp>
      <p:sp>
        <p:nvSpPr>
          <p:cNvPr id="4" name="Slide Number Placeholder 3">
            <a:extLst>
              <a:ext uri="{FF2B5EF4-FFF2-40B4-BE49-F238E27FC236}">
                <a16:creationId xmlns:a16="http://schemas.microsoft.com/office/drawing/2014/main" id="{3266D03A-618D-12A1-6CE1-B7E8371E2DEF}"/>
              </a:ext>
            </a:extLst>
          </p:cNvPr>
          <p:cNvSpPr>
            <a:spLocks noGrp="1"/>
          </p:cNvSpPr>
          <p:nvPr>
            <p:ph type="sldNum" sz="quarter" idx="5"/>
          </p:nvPr>
        </p:nvSpPr>
        <p:spPr/>
        <p:txBody>
          <a:bodyPr/>
          <a:lstStyle/>
          <a:p>
            <a:fld id="{1F1E027D-4684-4D2A-A457-B52C65DF2100}" type="slidenum">
              <a:rPr lang="en-GB" smtClean="0"/>
              <a:t>76</a:t>
            </a:fld>
            <a:endParaRPr lang="en-GB"/>
          </a:p>
        </p:txBody>
      </p:sp>
    </p:spTree>
    <p:extLst>
      <p:ext uri="{BB962C8B-B14F-4D97-AF65-F5344CB8AC3E}">
        <p14:creationId xmlns:p14="http://schemas.microsoft.com/office/powerpoint/2010/main" val="11706862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03943-9821-2F54-906A-716480F79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61079-B822-178C-C5D8-6B1E13E5A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5147B-37E6-CF86-4FDB-42F36F38FE65}"/>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Mastering Python Loops: Key Takeaways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Choose the Right Loop</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Use </a:t>
            </a:r>
            <a:r>
              <a:rPr lang="en-US" sz="1800" dirty="0">
                <a:solidFill>
                  <a:srgbClr val="000000"/>
                </a:solidFill>
                <a:highlight>
                  <a:srgbClr val="F2F2F2"/>
                </a:highlight>
                <a:latin typeface="Consolas" pitchFamily="34" charset="0"/>
                <a:ea typeface="Consolas" pitchFamily="34" charset="-122"/>
                <a:cs typeface="Consolas" pitchFamily="34" charset="-120"/>
              </a:rPr>
              <a:t>for</a:t>
            </a:r>
            <a:r>
              <a:rPr lang="en-US" sz="1800" dirty="0">
                <a:solidFill>
                  <a:srgbClr val="000000"/>
                </a:solidFill>
                <a:latin typeface="Montserrat" pitchFamily="34" charset="0"/>
                <a:ea typeface="Montserrat" pitchFamily="34" charset="-122"/>
                <a:cs typeface="Montserrat" pitchFamily="34" charset="-120"/>
              </a:rPr>
              <a:t> loops when iterating over a known sequence. Use </a:t>
            </a:r>
            <a:r>
              <a:rPr lang="en-US" sz="1800" dirty="0">
                <a:solidFill>
                  <a:srgbClr val="000000"/>
                </a:solidFill>
                <a:highlight>
                  <a:srgbClr val="F2F2F2"/>
                </a:highlight>
                <a:latin typeface="Consolas" pitchFamily="34" charset="0"/>
                <a:ea typeface="Consolas" pitchFamily="34" charset="-122"/>
                <a:cs typeface="Consolas" pitchFamily="34" charset="-120"/>
              </a:rPr>
              <a:t>while</a:t>
            </a:r>
            <a:r>
              <a:rPr lang="en-US" sz="1800" dirty="0">
                <a:solidFill>
                  <a:srgbClr val="000000"/>
                </a:solidFill>
                <a:latin typeface="Montserrat" pitchFamily="34" charset="0"/>
                <a:ea typeface="Montserrat" pitchFamily="34" charset="-122"/>
                <a:cs typeface="Montserrat" pitchFamily="34" charset="-120"/>
              </a:rPr>
              <a:t> loops when the number of iterations depends on a condition.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Control Flow Tools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Master </a:t>
            </a:r>
            <a:r>
              <a:rPr lang="en-US" sz="1800" dirty="0">
                <a:solidFill>
                  <a:srgbClr val="000000"/>
                </a:solidFill>
                <a:highlight>
                  <a:srgbClr val="F2F2F2"/>
                </a:highlight>
                <a:latin typeface="Consolas" pitchFamily="34" charset="0"/>
                <a:ea typeface="Consolas" pitchFamily="34" charset="-122"/>
                <a:cs typeface="Consolas" pitchFamily="34" charset="-120"/>
              </a:rPr>
              <a:t>break</a:t>
            </a:r>
            <a:r>
              <a:rPr lang="en-US" sz="1800" dirty="0">
                <a:solidFill>
                  <a:srgbClr val="000000"/>
                </a:solidFill>
                <a:latin typeface="Montserrat" pitchFamily="34" charset="0"/>
                <a:ea typeface="Montserrat" pitchFamily="34" charset="-122"/>
                <a:cs typeface="Montserrat" pitchFamily="34" charset="-120"/>
              </a:rPr>
              <a:t>, </a:t>
            </a:r>
            <a:r>
              <a:rPr lang="en-US" sz="1800" dirty="0">
                <a:solidFill>
                  <a:srgbClr val="000000"/>
                </a:solidFill>
                <a:highlight>
                  <a:srgbClr val="F2F2F2"/>
                </a:highlight>
                <a:latin typeface="Consolas" pitchFamily="34" charset="0"/>
                <a:ea typeface="Consolas" pitchFamily="34" charset="-122"/>
                <a:cs typeface="Consolas" pitchFamily="34" charset="-120"/>
              </a:rPr>
              <a:t>continue</a:t>
            </a:r>
            <a:r>
              <a:rPr lang="en-US" sz="1800" dirty="0">
                <a:solidFill>
                  <a:srgbClr val="000000"/>
                </a:solidFill>
                <a:latin typeface="Montserrat" pitchFamily="34" charset="0"/>
                <a:ea typeface="Montserrat" pitchFamily="34" charset="-122"/>
                <a:cs typeface="Montserrat" pitchFamily="34" charset="-120"/>
              </a:rPr>
              <a:t>, and </a:t>
            </a:r>
            <a:r>
              <a:rPr lang="en-US" sz="1800" dirty="0">
                <a:solidFill>
                  <a:srgbClr val="000000"/>
                </a:solidFill>
                <a:highlight>
                  <a:srgbClr val="F2F2F2"/>
                </a:highlight>
                <a:latin typeface="Consolas" pitchFamily="34" charset="0"/>
                <a:ea typeface="Consolas" pitchFamily="34" charset="-122"/>
                <a:cs typeface="Consolas" pitchFamily="34" charset="-120"/>
              </a:rPr>
              <a:t>pass</a:t>
            </a:r>
            <a:r>
              <a:rPr lang="en-US" sz="1800" dirty="0">
                <a:solidFill>
                  <a:srgbClr val="000000"/>
                </a:solidFill>
                <a:latin typeface="Montserrat" pitchFamily="34" charset="0"/>
                <a:ea typeface="Montserrat" pitchFamily="34" charset="-122"/>
                <a:cs typeface="Montserrat" pitchFamily="34" charset="-120"/>
              </a:rPr>
              <a:t> to control loop execution precisely.</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Special Iterators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Use </a:t>
            </a:r>
            <a:r>
              <a:rPr lang="en-US" sz="1800" dirty="0">
                <a:solidFill>
                  <a:srgbClr val="000000"/>
                </a:solidFill>
                <a:highlight>
                  <a:srgbClr val="F2F2F2"/>
                </a:highlight>
                <a:latin typeface="Consolas" pitchFamily="34" charset="0"/>
                <a:ea typeface="Consolas" pitchFamily="34" charset="-122"/>
                <a:cs typeface="Consolas" pitchFamily="34" charset="-120"/>
              </a:rPr>
              <a:t>range()</a:t>
            </a:r>
            <a:r>
              <a:rPr lang="en-US" sz="1800" dirty="0">
                <a:solidFill>
                  <a:srgbClr val="000000"/>
                </a:solidFill>
                <a:latin typeface="Montserrat" pitchFamily="34" charset="0"/>
                <a:ea typeface="Montserrat" pitchFamily="34" charset="-122"/>
                <a:cs typeface="Montserrat" pitchFamily="34" charset="-120"/>
              </a:rPr>
              <a:t> for number sequences and </a:t>
            </a:r>
            <a:r>
              <a:rPr lang="en-US" sz="1800" dirty="0">
                <a:solidFill>
                  <a:srgbClr val="000000"/>
                </a:solidFill>
                <a:highlight>
                  <a:srgbClr val="F2F2F2"/>
                </a:highlight>
                <a:latin typeface="Consolas" pitchFamily="34" charset="0"/>
                <a:ea typeface="Consolas" pitchFamily="34" charset="-122"/>
                <a:cs typeface="Consolas" pitchFamily="34" charset="-120"/>
              </a:rPr>
              <a:t>enumerate()</a:t>
            </a:r>
            <a:r>
              <a:rPr lang="en-US" sz="1800" dirty="0">
                <a:solidFill>
                  <a:srgbClr val="000000"/>
                </a:solidFill>
                <a:latin typeface="Montserrat" pitchFamily="34" charset="0"/>
                <a:ea typeface="Montserrat" pitchFamily="34" charset="-122"/>
                <a:cs typeface="Montserrat" pitchFamily="34" charset="-120"/>
              </a:rPr>
              <a:t> when you need both indices and values.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Nested Loops</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Combine loops for multi-dimensional data, but be mindful of performance as complexity increases.</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a:lnSpc>
                <a:spcPts val="4042"/>
              </a:lnSpc>
            </a:pPr>
            <a:r>
              <a:rPr lang="en-US" sz="1800" dirty="0"/>
              <a:t>Remove the icons from the infographics and write the lead in texts inside the box.</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31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E7D63E9F-3B50-8407-DF39-292A8BDED9D2}"/>
              </a:ext>
            </a:extLst>
          </p:cNvPr>
          <p:cNvSpPr>
            <a:spLocks noGrp="1"/>
          </p:cNvSpPr>
          <p:nvPr>
            <p:ph type="sldNum" sz="quarter" idx="5"/>
          </p:nvPr>
        </p:nvSpPr>
        <p:spPr/>
        <p:txBody>
          <a:bodyPr/>
          <a:lstStyle/>
          <a:p>
            <a:fld id="{1F1E027D-4684-4D2A-A457-B52C65DF2100}" type="slidenum">
              <a:rPr lang="en-GB" smtClean="0"/>
              <a:t>77</a:t>
            </a:fld>
            <a:endParaRPr lang="en-GB"/>
          </a:p>
        </p:txBody>
      </p:sp>
    </p:spTree>
    <p:extLst>
      <p:ext uri="{BB962C8B-B14F-4D97-AF65-F5344CB8AC3E}">
        <p14:creationId xmlns:p14="http://schemas.microsoft.com/office/powerpoint/2010/main" val="14887485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CE306-EF8D-C535-F924-80309FF0A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753B8-358C-BCA5-281A-89D5336A0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7F8E2-7D0E-AB0E-50AF-D248C46FCCF9}"/>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Building a Simple Chatbot in Python</a:t>
            </a:r>
            <a:endParaRPr lang="en-US" sz="1800" dirty="0"/>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1" i="0" u="none" strike="noStrike" cap="none" normalizeH="0" baseline="0" dirty="0">
                <a:ln>
                  <a:noFill/>
                </a:ln>
                <a:solidFill>
                  <a:schemeClr val="tx1"/>
                </a:solidFill>
                <a:effectLst/>
              </a:rPr>
              <a:t>Objective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0" i="0" u="none" strike="noStrike" cap="none" normalizeH="0" baseline="0" dirty="0">
                <a:ln>
                  <a:noFill/>
                </a:ln>
                <a:solidFill>
                  <a:schemeClr val="tx1"/>
                </a:solidFill>
                <a:effectLst/>
              </a:rPr>
              <a:t>Learn how to use </a:t>
            </a:r>
            <a:r>
              <a:rPr kumimoji="0" lang="en-US" altLang="en-US" b="1" i="0" u="none" strike="noStrike" cap="none" normalizeH="0" baseline="0" dirty="0">
                <a:ln>
                  <a:noFill/>
                </a:ln>
                <a:solidFill>
                  <a:schemeClr val="tx1"/>
                </a:solidFill>
                <a:effectLst/>
              </a:rPr>
              <a:t>conditionals</a:t>
            </a:r>
            <a:r>
              <a:rPr kumimoji="0" lang="en-US" altLang="en-US" b="0" i="0" u="none" strike="noStrike" cap="none" normalizeH="0" baseline="0" dirty="0">
                <a:ln>
                  <a:noFill/>
                </a:ln>
                <a:solidFill>
                  <a:schemeClr val="tx1"/>
                </a:solidFill>
                <a:effectLst/>
              </a:rPr>
              <a:t> and </a:t>
            </a:r>
            <a:r>
              <a:rPr kumimoji="0" lang="en-US" altLang="en-US" b="1" i="0" u="none" strike="noStrike" cap="none" normalizeH="0" baseline="0" dirty="0">
                <a:ln>
                  <a:noFill/>
                </a:ln>
                <a:solidFill>
                  <a:schemeClr val="tx1"/>
                </a:solidFill>
                <a:effectLst/>
              </a:rPr>
              <a:t>loops</a:t>
            </a:r>
            <a:r>
              <a:rPr kumimoji="0" lang="en-US" altLang="en-US" b="0" i="0" u="none" strike="noStrike" cap="none" normalizeH="0" baseline="0" dirty="0">
                <a:ln>
                  <a:noFill/>
                </a:ln>
                <a:solidFill>
                  <a:schemeClr val="tx1"/>
                </a:solidFill>
                <a:effectLst/>
              </a:rPr>
              <a:t> to make programs interactive</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1" i="0" u="none" strike="noStrike" cap="none" normalizeH="0" baseline="0" dirty="0">
                <a:ln>
                  <a:noFill/>
                </a:ln>
                <a:solidFill>
                  <a:schemeClr val="tx1"/>
                </a:solidFill>
                <a:effectLst/>
              </a:rPr>
              <a:t>Scenario</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ts val="600"/>
              </a:spcBef>
              <a:spcAft>
                <a:spcPct val="0"/>
              </a:spcAft>
              <a:buClrTx/>
              <a:buSzTx/>
              <a:buFontTx/>
              <a:buChar char="•"/>
              <a:tabLst/>
            </a:pPr>
            <a:r>
              <a:rPr kumimoji="0" lang="en-US" altLang="en-US" b="0" i="0" u="none" strike="noStrike" cap="none" normalizeH="0" baseline="0" dirty="0">
                <a:ln>
                  <a:noFill/>
                </a:ln>
                <a:solidFill>
                  <a:schemeClr val="tx1"/>
                </a:solidFill>
                <a:effectLst/>
              </a:rPr>
              <a:t>A chatbot that:</a:t>
            </a:r>
          </a:p>
          <a:p>
            <a:pPr marL="0" marR="0" lvl="0" indent="0" algn="l" defTabSz="914400" rtl="0" eaLnBrk="0" fontAlgn="base" latinLnBrk="0" hangingPunct="0">
              <a:lnSpc>
                <a:spcPct val="150000"/>
              </a:lnSpc>
              <a:spcBef>
                <a:spcPts val="600"/>
              </a:spcBef>
              <a:spcAft>
                <a:spcPct val="0"/>
              </a:spcAft>
              <a:buClrTx/>
              <a:buSzTx/>
              <a:buFontTx/>
              <a:buChar char="•"/>
              <a:tabLst/>
            </a:pPr>
            <a:r>
              <a:rPr kumimoji="0" lang="en-US" altLang="en-US" b="0" i="0" u="none" strike="noStrike" cap="none" normalizeH="0" baseline="0" dirty="0">
                <a:ln>
                  <a:noFill/>
                </a:ln>
                <a:solidFill>
                  <a:schemeClr val="tx1"/>
                </a:solidFill>
                <a:effectLst/>
              </a:rPr>
              <a:t>Greets the user</a:t>
            </a:r>
          </a:p>
          <a:p>
            <a:pPr marL="0" marR="0" lvl="0" indent="0" algn="l" defTabSz="914400" rtl="0" eaLnBrk="0" fontAlgn="base" latinLnBrk="0" hangingPunct="0">
              <a:lnSpc>
                <a:spcPct val="150000"/>
              </a:lnSpc>
              <a:spcBef>
                <a:spcPts val="600"/>
              </a:spcBef>
              <a:spcAft>
                <a:spcPct val="0"/>
              </a:spcAft>
              <a:buClrTx/>
              <a:buSzTx/>
              <a:buFontTx/>
              <a:buChar char="•"/>
              <a:tabLst/>
            </a:pPr>
            <a:r>
              <a:rPr kumimoji="0" lang="en-US" altLang="en-US" b="0" i="0" u="none" strike="noStrike" cap="none" normalizeH="0" baseline="0" dirty="0">
                <a:ln>
                  <a:noFill/>
                </a:ln>
                <a:solidFill>
                  <a:schemeClr val="tx1"/>
                </a:solidFill>
                <a:effectLst/>
              </a:rPr>
              <a:t>Answers basic queries (name, time, help)</a:t>
            </a:r>
          </a:p>
          <a:p>
            <a:pPr marL="0" marR="0" lvl="0" indent="0" algn="l" defTabSz="914400" rtl="0" eaLnBrk="0" fontAlgn="base" latinLnBrk="0" hangingPunct="0">
              <a:lnSpc>
                <a:spcPct val="150000"/>
              </a:lnSpc>
              <a:spcBef>
                <a:spcPts val="600"/>
              </a:spcBef>
              <a:spcAft>
                <a:spcPct val="0"/>
              </a:spcAft>
              <a:buClrTx/>
              <a:buSzTx/>
              <a:buFontTx/>
              <a:buChar char="•"/>
              <a:tabLst/>
            </a:pPr>
            <a:r>
              <a:rPr kumimoji="0" lang="en-US" altLang="en-US" b="0" i="0" u="none" strike="noStrike" cap="none" normalizeH="0" baseline="0" dirty="0">
                <a:ln>
                  <a:noFill/>
                </a:ln>
                <a:solidFill>
                  <a:schemeClr val="tx1"/>
                </a:solidFill>
                <a:effectLst/>
              </a:rPr>
              <a:t>Keeps running until the user types "bye"</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1:https://enterprise.shutterstock.com/image-vector/action-plan-set-web-icons-line- 2474395423</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2:https://enterprise.shutterstock.com/image-vector/scenario-folder-icon-outline-vector-web- 1878419215</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43</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114EF271-1ADB-E3DC-8769-E9A40E0AAADC}"/>
              </a:ext>
            </a:extLst>
          </p:cNvPr>
          <p:cNvSpPr>
            <a:spLocks noGrp="1"/>
          </p:cNvSpPr>
          <p:nvPr>
            <p:ph type="sldNum" sz="quarter" idx="5"/>
          </p:nvPr>
        </p:nvSpPr>
        <p:spPr/>
        <p:txBody>
          <a:bodyPr/>
          <a:lstStyle/>
          <a:p>
            <a:fld id="{1F1E027D-4684-4D2A-A457-B52C65DF2100}" type="slidenum">
              <a:rPr lang="en-GB" smtClean="0"/>
              <a:t>79</a:t>
            </a:fld>
            <a:endParaRPr lang="en-GB"/>
          </a:p>
        </p:txBody>
      </p:sp>
    </p:spTree>
    <p:extLst>
      <p:ext uri="{BB962C8B-B14F-4D97-AF65-F5344CB8AC3E}">
        <p14:creationId xmlns:p14="http://schemas.microsoft.com/office/powerpoint/2010/main" val="2958864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C5B7-D64A-0F36-609E-FA7522471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AEFF8-9F1B-B906-F975-372A84162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70A1B-1FAD-84B2-1EB7-84780D894E9A}"/>
              </a:ext>
            </a:extLst>
          </p:cNvPr>
          <p:cNvSpPr>
            <a:spLocks noGrp="1"/>
          </p:cNvSpPr>
          <p:nvPr>
            <p:ph type="body" idx="1"/>
          </p:nvPr>
        </p:nvSpPr>
        <p:spPr/>
        <p:txBody>
          <a:bodyPr/>
          <a:lstStyle/>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sz="1800" b="1" i="0" u="none" strike="noStrike" cap="none" normalizeH="0" baseline="0" dirty="0">
                <a:ln>
                  <a:noFill/>
                </a:ln>
                <a:solidFill>
                  <a:schemeClr val="tx1"/>
                </a:solidFill>
                <a:effectLst/>
              </a:rPr>
              <a:t>Explanation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ts val="600"/>
              </a:spcBef>
              <a:spcAft>
                <a:spcPct val="0"/>
              </a:spcAft>
              <a:buClrTx/>
              <a:buSzTx/>
              <a:buFontTx/>
              <a:buChar char="•"/>
              <a:tabLst/>
            </a:pPr>
            <a:r>
              <a:rPr kumimoji="0" lang="en-US" altLang="en-US" sz="1800" b="1" i="0" u="none" strike="noStrike" cap="none" normalizeH="0" baseline="0" dirty="0">
                <a:ln>
                  <a:noFill/>
                </a:ln>
                <a:solidFill>
                  <a:schemeClr val="tx1"/>
                </a:solidFill>
                <a:effectLst/>
              </a:rPr>
              <a:t>Loop (while)</a:t>
            </a:r>
            <a:r>
              <a:rPr kumimoji="0" lang="en-US" altLang="en-US" sz="1800" b="0" i="0" u="none" strike="noStrike" cap="none" normalizeH="0" baseline="0" dirty="0">
                <a:ln>
                  <a:noFill/>
                </a:ln>
                <a:solidFill>
                  <a:schemeClr val="tx1"/>
                </a:solidFill>
                <a:effectLst/>
              </a:rPr>
              <a:t> keeps the chatbot active for multiple inputs</a:t>
            </a:r>
          </a:p>
          <a:p>
            <a:pPr marL="0" marR="0" lvl="0" indent="0" algn="l" defTabSz="914400" rtl="0" eaLnBrk="0" fontAlgn="base" latinLnBrk="0" hangingPunct="0">
              <a:lnSpc>
                <a:spcPct val="150000"/>
              </a:lnSpc>
              <a:spcBef>
                <a:spcPts val="600"/>
              </a:spcBef>
              <a:spcAft>
                <a:spcPct val="0"/>
              </a:spcAft>
              <a:buClrTx/>
              <a:buSzTx/>
              <a:buFontTx/>
              <a:buChar char="•"/>
              <a:tabLst/>
            </a:pPr>
            <a:r>
              <a:rPr kumimoji="0" lang="en-US" altLang="en-US" sz="1800" b="1" i="0" u="none" strike="noStrike" cap="none" normalizeH="0" baseline="0" dirty="0">
                <a:ln>
                  <a:noFill/>
                </a:ln>
                <a:solidFill>
                  <a:schemeClr val="tx1"/>
                </a:solidFill>
                <a:effectLst/>
              </a:rPr>
              <a:t>Conditionals (if-</a:t>
            </a:r>
            <a:r>
              <a:rPr kumimoji="0" lang="en-US" altLang="en-US" sz="1800" b="1" i="0" u="none" strike="noStrike" cap="none" normalizeH="0" baseline="0" dirty="0" err="1">
                <a:ln>
                  <a:noFill/>
                </a:ln>
                <a:solidFill>
                  <a:schemeClr val="tx1"/>
                </a:solidFill>
                <a:effectLst/>
              </a:rPr>
              <a:t>elif</a:t>
            </a:r>
            <a:r>
              <a:rPr kumimoji="0" lang="en-US" altLang="en-US" sz="1800" b="1" i="0" u="none" strike="noStrike" cap="none" normalizeH="0" baseline="0" dirty="0">
                <a:ln>
                  <a:noFill/>
                </a:ln>
                <a:solidFill>
                  <a:schemeClr val="tx1"/>
                </a:solidFill>
                <a:effectLst/>
              </a:rPr>
              <a:t>-else)</a:t>
            </a:r>
            <a:r>
              <a:rPr kumimoji="0" lang="en-US" altLang="en-US" sz="1800" b="0" i="0" u="none" strike="noStrike" cap="none" normalizeH="0" baseline="0" dirty="0">
                <a:ln>
                  <a:noFill/>
                </a:ln>
                <a:solidFill>
                  <a:schemeClr val="tx1"/>
                </a:solidFill>
                <a:effectLst/>
              </a:rPr>
              <a:t> decide responses based on user input</a:t>
            </a:r>
          </a:p>
          <a:p>
            <a:pPr marL="0" marR="0" lvl="0" indent="0" algn="l" defTabSz="914400" rtl="0" eaLnBrk="0" fontAlgn="base" latinLnBrk="0" hangingPunct="0">
              <a:lnSpc>
                <a:spcPct val="150000"/>
              </a:lnSpc>
              <a:spcBef>
                <a:spcPts val="600"/>
              </a:spcBef>
              <a:spcAft>
                <a:spcPct val="0"/>
              </a:spcAft>
              <a:buClrTx/>
              <a:buSzTx/>
              <a:buFontTx/>
              <a:buChar char="•"/>
              <a:tabLst/>
            </a:pPr>
            <a:r>
              <a:rPr kumimoji="0" lang="en-US" altLang="en-US" sz="1800" b="0" i="0" u="none" strike="noStrike" cap="none" normalizeH="0" baseline="0" dirty="0">
                <a:ln>
                  <a:noFill/>
                </a:ln>
                <a:solidFill>
                  <a:schemeClr val="tx1"/>
                </a:solidFill>
                <a:effectLst/>
              </a:rPr>
              <a:t>Demonstrates how </a:t>
            </a:r>
            <a:r>
              <a:rPr kumimoji="0" lang="en-US" altLang="en-US" sz="1800" b="1" i="0" u="none" strike="noStrike" cap="none" normalizeH="0" baseline="0" dirty="0">
                <a:ln>
                  <a:noFill/>
                </a:ln>
                <a:solidFill>
                  <a:schemeClr val="tx1"/>
                </a:solidFill>
                <a:effectLst/>
              </a:rPr>
              <a:t>logic + repetition</a:t>
            </a:r>
            <a:r>
              <a:rPr kumimoji="0" lang="en-US" altLang="en-US" sz="1800" b="0" i="0" u="none" strike="noStrike" cap="none" normalizeH="0" baseline="0" dirty="0">
                <a:ln>
                  <a:noFill/>
                </a:ln>
                <a:solidFill>
                  <a:schemeClr val="tx1"/>
                </a:solidFill>
                <a:effectLst/>
              </a:rPr>
              <a:t> create real-world applications</a:t>
            </a:r>
          </a:p>
          <a:p>
            <a:pPr marL="0" marR="0" lvl="0" indent="0" algn="l" defTabSz="914400" rtl="0" eaLnBrk="0" fontAlgn="base" latinLnBrk="0" hangingPunct="0">
              <a:lnSpc>
                <a:spcPct val="150000"/>
              </a:lnSpc>
              <a:spcBef>
                <a:spcPts val="60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91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866ABFD1-1A4F-FF61-95DE-CAC33062D977}"/>
              </a:ext>
            </a:extLst>
          </p:cNvPr>
          <p:cNvSpPr>
            <a:spLocks noGrp="1"/>
          </p:cNvSpPr>
          <p:nvPr>
            <p:ph type="sldNum" sz="quarter" idx="5"/>
          </p:nvPr>
        </p:nvSpPr>
        <p:spPr/>
        <p:txBody>
          <a:bodyPr/>
          <a:lstStyle/>
          <a:p>
            <a:fld id="{1F1E027D-4684-4D2A-A457-B52C65DF2100}" type="slidenum">
              <a:rPr lang="en-GB" smtClean="0"/>
              <a:t>80</a:t>
            </a:fld>
            <a:endParaRPr lang="en-GB"/>
          </a:p>
        </p:txBody>
      </p:sp>
    </p:spTree>
    <p:extLst>
      <p:ext uri="{BB962C8B-B14F-4D97-AF65-F5344CB8AC3E}">
        <p14:creationId xmlns:p14="http://schemas.microsoft.com/office/powerpoint/2010/main" val="9276251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3151-CE67-5E26-F652-B992110B0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BBDA9-657D-7072-2137-D9101D4B0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5F962-835F-C7AF-5038-ABF871846E63}"/>
              </a:ext>
            </a:extLst>
          </p:cNvPr>
          <p:cNvSpPr>
            <a:spLocks noGrp="1"/>
          </p:cNvSpPr>
          <p:nvPr>
            <p:ph type="body" idx="1"/>
          </p:nvPr>
        </p:nvSpPr>
        <p:spPr/>
        <p:txBody>
          <a:bodyPr/>
          <a:lstStyle/>
          <a:p>
            <a:r>
              <a:rPr lang="en-IN" sz="1800" dirty="0"/>
              <a:t>print("Welcome to </a:t>
            </a:r>
            <a:r>
              <a:rPr lang="en-IN" sz="1800" dirty="0" err="1"/>
              <a:t>ChatBot</a:t>
            </a:r>
            <a:r>
              <a:rPr lang="en-IN" sz="1800" dirty="0"/>
              <a:t>! (type 'bye' to exit)")while True:   # Loop keeps chatbot running  </a:t>
            </a:r>
            <a:r>
              <a:rPr lang="en-IN" sz="1800" dirty="0" err="1"/>
              <a:t>user_input</a:t>
            </a:r>
            <a:r>
              <a:rPr lang="en-IN" sz="1800" dirty="0"/>
              <a:t> = input("You: ").lower()   # Take user input in </a:t>
            </a:r>
            <a:r>
              <a:rPr lang="en-IN" sz="1800" dirty="0" err="1"/>
              <a:t>lowercaseif</a:t>
            </a:r>
            <a:r>
              <a:rPr lang="en-IN" sz="1800" dirty="0"/>
              <a:t> </a:t>
            </a:r>
            <a:r>
              <a:rPr lang="en-IN" sz="1800" dirty="0" err="1"/>
              <a:t>user_input</a:t>
            </a:r>
            <a:r>
              <a:rPr lang="en-IN" sz="1800" dirty="0"/>
              <a:t> == "hi" or </a:t>
            </a:r>
            <a:r>
              <a:rPr lang="en-IN" sz="1800" dirty="0" err="1"/>
              <a:t>user_input</a:t>
            </a:r>
            <a:r>
              <a:rPr lang="en-IN" sz="1800" dirty="0"/>
              <a:t> == "hello“ print("Bot: Hello there! How can I help you?") </a:t>
            </a:r>
            <a:r>
              <a:rPr lang="en-IN" sz="1800" dirty="0" err="1"/>
              <a:t>elif</a:t>
            </a:r>
            <a:r>
              <a:rPr lang="en-IN" sz="1800" dirty="0"/>
              <a:t> </a:t>
            </a:r>
            <a:r>
              <a:rPr lang="en-IN" sz="1800" dirty="0" err="1"/>
              <a:t>user_input</a:t>
            </a:r>
            <a:r>
              <a:rPr lang="en-IN" sz="1800" dirty="0"/>
              <a:t> == "how are you": print("Bot: I'm just a program, but I'm doing great! How about you?")</a:t>
            </a:r>
            <a:r>
              <a:rPr lang="en-IN" sz="1800" dirty="0" err="1"/>
              <a:t>elif</a:t>
            </a:r>
            <a:r>
              <a:rPr lang="en-IN" sz="1800" dirty="0"/>
              <a:t> </a:t>
            </a:r>
            <a:r>
              <a:rPr lang="en-IN" sz="1800" dirty="0" err="1"/>
              <a:t>user_input</a:t>
            </a:r>
            <a:r>
              <a:rPr lang="en-IN" sz="1800" dirty="0"/>
              <a:t> == "</a:t>
            </a:r>
            <a:r>
              <a:rPr lang="en-IN" sz="1800" dirty="0" err="1"/>
              <a:t>help":print</a:t>
            </a:r>
            <a:r>
              <a:rPr lang="en-IN" sz="1800" dirty="0"/>
              <a:t>("Bot: Sure! You can ask me about 'time', 'name', or say 'bye' to exit.")</a:t>
            </a:r>
            <a:r>
              <a:rPr lang="en-IN" sz="1800" dirty="0" err="1"/>
              <a:t>elif</a:t>
            </a:r>
            <a:r>
              <a:rPr lang="en-IN" sz="1800" dirty="0"/>
              <a:t> </a:t>
            </a:r>
            <a:r>
              <a:rPr lang="en-IN" sz="1800" dirty="0" err="1"/>
              <a:t>user_input</a:t>
            </a:r>
            <a:r>
              <a:rPr lang="en-IN" sz="1800" dirty="0"/>
              <a:t> == "</a:t>
            </a:r>
            <a:r>
              <a:rPr lang="en-IN" sz="1800" dirty="0" err="1"/>
              <a:t>time":from</a:t>
            </a:r>
            <a:r>
              <a:rPr lang="en-IN" sz="1800" dirty="0"/>
              <a:t> datetime import datetime print("Bot: Current time is", </a:t>
            </a:r>
            <a:r>
              <a:rPr lang="en-IN" sz="1800" dirty="0" err="1"/>
              <a:t>datetime.now</a:t>
            </a:r>
            <a:r>
              <a:rPr lang="en-IN" sz="1800" dirty="0"/>
              <a:t>().</a:t>
            </a:r>
            <a:r>
              <a:rPr lang="en-IN" sz="1800" dirty="0" err="1"/>
              <a:t>strftime</a:t>
            </a:r>
            <a:r>
              <a:rPr lang="en-IN" sz="1800" dirty="0"/>
              <a:t>("%H:%M:%S")) </a:t>
            </a:r>
            <a:r>
              <a:rPr lang="en-IN" sz="1800" dirty="0" err="1"/>
              <a:t>elif</a:t>
            </a:r>
            <a:r>
              <a:rPr lang="en-IN" sz="1800" dirty="0"/>
              <a:t> </a:t>
            </a:r>
            <a:r>
              <a:rPr lang="en-IN" sz="1800" dirty="0" err="1"/>
              <a:t>user_input</a:t>
            </a:r>
            <a:r>
              <a:rPr lang="en-IN" sz="1800" dirty="0"/>
              <a:t> == "name": print("Bot: I'm a simple Python chatbot created with loops and conditionals.")  </a:t>
            </a:r>
            <a:r>
              <a:rPr lang="en-IN" sz="1800" dirty="0" err="1"/>
              <a:t>elif</a:t>
            </a:r>
            <a:r>
              <a:rPr lang="en-IN" sz="1800" dirty="0"/>
              <a:t> </a:t>
            </a:r>
            <a:r>
              <a:rPr lang="en-IN" sz="1800" dirty="0" err="1"/>
              <a:t>user_input</a:t>
            </a:r>
            <a:r>
              <a:rPr lang="en-IN" sz="1800" dirty="0"/>
              <a:t> == "</a:t>
            </a:r>
            <a:r>
              <a:rPr lang="en-IN" sz="1800" dirty="0" err="1"/>
              <a:t>bye":print</a:t>
            </a:r>
            <a:r>
              <a:rPr lang="en-IN" sz="1800" dirty="0"/>
              <a:t>("Bot: Goodbye! Have a nice day.") break   # Exit loop  else: print("Bot: Sorry, I don't understand that. Try 'help'.")</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4A204311-646D-7F12-EC86-173814622BEB}"/>
              </a:ext>
            </a:extLst>
          </p:cNvPr>
          <p:cNvSpPr>
            <a:spLocks noGrp="1"/>
          </p:cNvSpPr>
          <p:nvPr>
            <p:ph type="sldNum" sz="quarter" idx="5"/>
          </p:nvPr>
        </p:nvSpPr>
        <p:spPr/>
        <p:txBody>
          <a:bodyPr/>
          <a:lstStyle/>
          <a:p>
            <a:fld id="{1F1E027D-4684-4D2A-A457-B52C65DF2100}" type="slidenum">
              <a:rPr lang="en-GB" smtClean="0"/>
              <a:t>81</a:t>
            </a:fld>
            <a:endParaRPr lang="en-GB"/>
          </a:p>
        </p:txBody>
      </p:sp>
    </p:spTree>
    <p:extLst>
      <p:ext uri="{BB962C8B-B14F-4D97-AF65-F5344CB8AC3E}">
        <p14:creationId xmlns:p14="http://schemas.microsoft.com/office/powerpoint/2010/main" val="233245611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74389-92E5-9ADE-ECCF-27411455E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43F77-7EB5-5D63-78A6-0422B2989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D6E093-287A-6F1F-F26E-9047874C01CE}"/>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Python Fundamentals: Building Your Programming Foundation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Recap of </a:t>
            </a:r>
            <a:r>
              <a:rPr lang="en-US" sz="1800" b="1" dirty="0" err="1">
                <a:solidFill>
                  <a:srgbClr val="25274D"/>
                </a:solidFill>
                <a:latin typeface="Montserrat Bold" pitchFamily="34" charset="0"/>
                <a:ea typeface="Montserrat Bold" pitchFamily="34" charset="-122"/>
                <a:cs typeface="Montserrat Bold" pitchFamily="34" charset="-120"/>
              </a:rPr>
              <a:t>Lession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Core Data Types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We explored variables, numbers, strings, lists, and dictionaries—the building blocks of Python programs.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Variable Operations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learned to declare variables, convert between types, and handle input/output for user interaction.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Data Structures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We practiced creating and manipulating lists and dictionaries to organize and access your data efficiently.</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Logic &amp; Control Flow</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You mastered writing logic-based branching statements and implementing loops with conditions.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Remove the icons and replace lead in it.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81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BB0F3D9A-F098-0555-0CF4-FF9A4EC89348}"/>
              </a:ext>
            </a:extLst>
          </p:cNvPr>
          <p:cNvSpPr>
            <a:spLocks noGrp="1"/>
          </p:cNvSpPr>
          <p:nvPr>
            <p:ph type="sldNum" sz="quarter" idx="5"/>
          </p:nvPr>
        </p:nvSpPr>
        <p:spPr/>
        <p:txBody>
          <a:bodyPr/>
          <a:lstStyle/>
          <a:p>
            <a:fld id="{1F1E027D-4684-4D2A-A457-B52C65DF2100}" type="slidenum">
              <a:rPr lang="en-GB" smtClean="0"/>
              <a:t>83</a:t>
            </a:fld>
            <a:endParaRPr lang="en-GB"/>
          </a:p>
        </p:txBody>
      </p:sp>
    </p:spTree>
    <p:extLst>
      <p:ext uri="{BB962C8B-B14F-4D97-AF65-F5344CB8AC3E}">
        <p14:creationId xmlns:p14="http://schemas.microsoft.com/office/powerpoint/2010/main" val="15293038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AECBA-B61A-597B-DC2F-B0158C59D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6BFD8-A322-BDB9-F565-A3F2E1EBE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006455-EE51-B182-8D71-EB17406F691E}"/>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Logic Flows in Everyday Life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Every program is built on </a:t>
            </a:r>
            <a:r>
              <a:rPr lang="en-US" sz="1800" b="1" dirty="0">
                <a:solidFill>
                  <a:srgbClr val="000000"/>
                </a:solidFill>
                <a:latin typeface="Montserrat" pitchFamily="34" charset="0"/>
                <a:ea typeface="Montserrat" pitchFamily="34" charset="-122"/>
                <a:cs typeface="Montserrat" pitchFamily="34" charset="-120"/>
              </a:rPr>
              <a:t>decisions and repetitions</a:t>
            </a:r>
            <a:r>
              <a:rPr lang="en-US" sz="1800" dirty="0">
                <a:solidFill>
                  <a:srgbClr val="000000"/>
                </a:solidFill>
                <a:latin typeface="Montserrat" pitchFamily="34" charset="0"/>
                <a:ea typeface="Montserrat" pitchFamily="34" charset="-122"/>
                <a:cs typeface="Montserrat" pitchFamily="34" charset="-120"/>
              </a:rPr>
              <a:t>—just like our daily lives. When you understand this connection, programming starts to </a:t>
            </a:r>
            <a:r>
              <a:rPr lang="en-US" sz="1800" b="1" dirty="0">
                <a:solidFill>
                  <a:srgbClr val="25274D"/>
                </a:solidFill>
                <a:latin typeface="Montserrat" pitchFamily="34" charset="0"/>
                <a:ea typeface="Montserrat" pitchFamily="34" charset="-122"/>
                <a:cs typeface="Montserrat" pitchFamily="34" charset="-120"/>
              </a:rPr>
              <a:t>feel natural</a:t>
            </a:r>
            <a:r>
              <a:rPr lang="en-US" sz="1800" dirty="0">
                <a:solidFill>
                  <a:srgbClr val="000000"/>
                </a:solidFill>
                <a:latin typeface="Montserrat" pitchFamily="34" charset="0"/>
                <a:ea typeface="Montserrat" pitchFamily="34" charset="-122"/>
                <a:cs typeface="Montserrat" pitchFamily="34" charset="-120"/>
              </a:rPr>
              <a: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Conditional Logic</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i="1" dirty="0">
                <a:solidFill>
                  <a:srgbClr val="000000"/>
                </a:solidFill>
                <a:latin typeface="Montserrat" pitchFamily="34" charset="0"/>
                <a:ea typeface="Montserrat" pitchFamily="34" charset="-122"/>
                <a:cs typeface="Montserrat" pitchFamily="34" charset="-120"/>
              </a:rPr>
              <a:t>If it's raining → take umbrella</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Loops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i="1" dirty="0">
                <a:solidFill>
                  <a:srgbClr val="000000"/>
                </a:solidFill>
                <a:latin typeface="Montserrat" pitchFamily="34" charset="0"/>
                <a:ea typeface="Montserrat" pitchFamily="34" charset="-122"/>
                <a:cs typeface="Montserrat" pitchFamily="34" charset="-120"/>
              </a:rPr>
              <a:t>Process emails until inbox is empty</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Branching</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i="1" dirty="0">
                <a:solidFill>
                  <a:srgbClr val="000000"/>
                </a:solidFill>
                <a:latin typeface="Montserrat" pitchFamily="34" charset="0"/>
                <a:ea typeface="Montserrat" pitchFamily="34" charset="-122"/>
                <a:cs typeface="Montserrat" pitchFamily="34" charset="-120"/>
              </a:rPr>
              <a:t>If traffic heavy, take metro, else drive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same logic patterns we use to navigate our world are the foundation of effective programming.</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The icons were taken from the slide deck slide number 69</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43</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C2D5F20F-3AAC-BB9A-2C75-12C3DBDC13BA}"/>
              </a:ext>
            </a:extLst>
          </p:cNvPr>
          <p:cNvSpPr>
            <a:spLocks noGrp="1"/>
          </p:cNvSpPr>
          <p:nvPr>
            <p:ph type="sldNum" sz="quarter" idx="5"/>
          </p:nvPr>
        </p:nvSpPr>
        <p:spPr/>
        <p:txBody>
          <a:bodyPr/>
          <a:lstStyle/>
          <a:p>
            <a:fld id="{1F1E027D-4684-4D2A-A457-B52C65DF2100}" type="slidenum">
              <a:rPr lang="en-GB" smtClean="0"/>
              <a:t>84</a:t>
            </a:fld>
            <a:endParaRPr lang="en-GB"/>
          </a:p>
        </p:txBody>
      </p:sp>
    </p:spTree>
    <p:extLst>
      <p:ext uri="{BB962C8B-B14F-4D97-AF65-F5344CB8AC3E}">
        <p14:creationId xmlns:p14="http://schemas.microsoft.com/office/powerpoint/2010/main" val="7873410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80F98-3554-4F94-0520-38537F20A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C3592-0A03-2DE5-DFE7-0EFD6E841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23E17-BED9-1805-662F-3AA113CF3CB8}"/>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a:cs typeface="Arial"/>
              </a:rPr>
              <a:t>What is a Function?</a:t>
            </a:r>
            <a:r>
              <a:rPr lang="en-US" sz="1800" dirty="0">
                <a:ea typeface="+mn-lt"/>
                <a:cs typeface="+mn-lt"/>
              </a:rPr>
              <a:t>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ea typeface="+mn-lt"/>
                <a:cs typeface="+mn-lt"/>
              </a:rPr>
              <a:t>A function is a reusable block of code that performs a specific task. Think of it like a kitchen appliance, such as a blender, that performs a specific function (blending) when you use it.</a:t>
            </a:r>
          </a:p>
          <a:p>
            <a:pPr marL="0" indent="0">
              <a:buFont typeface="Arial"/>
              <a:buNone/>
            </a:pPr>
            <a:endParaRPr lang="en-US" sz="1800" dirty="0">
              <a:ea typeface="+mn-lt"/>
              <a:cs typeface="+mn-lt"/>
            </a:endParaRPr>
          </a:p>
          <a:p>
            <a:pPr marL="0" indent="0">
              <a:buFont typeface="Arial"/>
              <a:buNone/>
            </a:pPr>
            <a:r>
              <a:rPr lang="en-US" sz="1800" dirty="0">
                <a:ea typeface="+mn-lt"/>
                <a:cs typeface="+mn-lt"/>
              </a:rPr>
              <a:t>Helps in code reusability and modularity</a:t>
            </a:r>
            <a:endParaRPr lang="en-US" sz="1800" dirty="0"/>
          </a:p>
          <a:p>
            <a:pPr marL="171450" indent="-171450">
              <a:buFont typeface="Arial"/>
              <a:buChar char="•"/>
            </a:pPr>
            <a:endParaRPr lang="en-US" sz="1800" dirty="0">
              <a:ea typeface="+mn-lt"/>
              <a:cs typeface="+mn-lt"/>
            </a:endParaRPr>
          </a:p>
          <a:p>
            <a:pPr marL="0" indent="0">
              <a:buFont typeface="Arial"/>
              <a:buNone/>
            </a:pPr>
            <a:r>
              <a:rPr lang="en-US" sz="1800" dirty="0">
                <a:ea typeface="+mn-lt"/>
                <a:cs typeface="+mn-lt"/>
              </a:rPr>
              <a:t>Simplifies complex problems by breaking them into smaller tasks</a:t>
            </a:r>
            <a:endParaRPr lang="en-US" sz="1800" dirty="0"/>
          </a:p>
          <a:p>
            <a:pPr marL="171450" indent="-171450">
              <a:buFont typeface="Arial"/>
              <a:buChar char="•"/>
            </a:pPr>
            <a:endParaRPr lang="en-US" sz="1800" dirty="0">
              <a:ea typeface="+mn-lt"/>
              <a:cs typeface="+mn-lt"/>
            </a:endParaRPr>
          </a:p>
          <a:p>
            <a:pPr marL="0" indent="0">
              <a:buFont typeface="Arial"/>
              <a:buNone/>
            </a:pPr>
            <a:r>
              <a:rPr lang="en-US" sz="1800" dirty="0">
                <a:ea typeface="+mn-lt"/>
                <a:cs typeface="+mn-lt"/>
              </a:rPr>
              <a:t>Reduces redundancy and improves code readability</a:t>
            </a:r>
          </a:p>
          <a:p>
            <a:pPr marL="0" indent="0">
              <a:buFont typeface="Arial"/>
              <a:buNone/>
            </a:pPr>
            <a:endParaRPr lang="en-US" sz="1800" dirty="0">
              <a:ea typeface="+mn-lt"/>
              <a:cs typeface="+mn-lt"/>
            </a:endParaRPr>
          </a:p>
          <a:p>
            <a:pPr marL="0" indent="0">
              <a:buFont typeface="Arial"/>
              <a:buNone/>
            </a:pPr>
            <a:r>
              <a:rPr lang="en-US" sz="1800" dirty="0">
                <a:ea typeface="+mn-lt"/>
                <a:cs typeface="+mn-lt"/>
              </a:rPr>
              <a:t>Image: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81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1:https://enterprise.shutterstock.com/image-vector/define-vector-icon-set-black-filled- 2552743225</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2:https://enterprise.shutterstock.com/image-vector/set-digital-marketing-line-icons-management- 2476803737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3:https://enterprise.shutterstock.com/image-vector/convenience-icon-set-quick-service-convenient- 2438255389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4: https://enterprise.shutterstock.com/image-vector/percentage-growth-decline-icons-percent-arrow- 2334835969</a:t>
            </a:r>
          </a:p>
        </p:txBody>
      </p:sp>
      <p:sp>
        <p:nvSpPr>
          <p:cNvPr id="4" name="Slide Number Placeholder 3">
            <a:extLst>
              <a:ext uri="{FF2B5EF4-FFF2-40B4-BE49-F238E27FC236}">
                <a16:creationId xmlns:a16="http://schemas.microsoft.com/office/drawing/2014/main" id="{5E18C4AC-E635-B9A9-C84F-6C16B878AA79}"/>
              </a:ext>
            </a:extLst>
          </p:cNvPr>
          <p:cNvSpPr>
            <a:spLocks noGrp="1"/>
          </p:cNvSpPr>
          <p:nvPr>
            <p:ph type="sldNum" sz="quarter" idx="5"/>
          </p:nvPr>
        </p:nvSpPr>
        <p:spPr/>
        <p:txBody>
          <a:bodyPr/>
          <a:lstStyle/>
          <a:p>
            <a:fld id="{1F1E027D-4684-4D2A-A457-B52C65DF2100}" type="slidenum">
              <a:rPr lang="en-GB" smtClean="0"/>
              <a:t>86</a:t>
            </a:fld>
            <a:endParaRPr lang="en-GB"/>
          </a:p>
        </p:txBody>
      </p:sp>
    </p:spTree>
    <p:extLst>
      <p:ext uri="{BB962C8B-B14F-4D97-AF65-F5344CB8AC3E}">
        <p14:creationId xmlns:p14="http://schemas.microsoft.com/office/powerpoint/2010/main" val="47279724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A671-05B4-2A92-F40C-03C6A298E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811B3-9052-934F-AE14-0E839FD52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F2AF1-D087-6EC6-59C6-C78FA55BDB3C}"/>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Why Do We Need Functions?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Without functions, programs become: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Long and repetitive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Difficult to maintain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Hard to debug</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Almost impossible to scale</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81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1: https://www.shutterstock.com/image-vector/green-check-mark-red-cross-icon- 2474370043 (Second icon)</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2:https://www.shutterstock.com/image-vector/green-check-mark-red-cross-icon- 2474370043 (First icon)</a:t>
            </a:r>
          </a:p>
        </p:txBody>
      </p:sp>
      <p:sp>
        <p:nvSpPr>
          <p:cNvPr id="4" name="Slide Number Placeholder 3">
            <a:extLst>
              <a:ext uri="{FF2B5EF4-FFF2-40B4-BE49-F238E27FC236}">
                <a16:creationId xmlns:a16="http://schemas.microsoft.com/office/drawing/2014/main" id="{42311932-7A66-C66E-38F0-F9A777969839}"/>
              </a:ext>
            </a:extLst>
          </p:cNvPr>
          <p:cNvSpPr>
            <a:spLocks noGrp="1"/>
          </p:cNvSpPr>
          <p:nvPr>
            <p:ph type="sldNum" sz="quarter" idx="5"/>
          </p:nvPr>
        </p:nvSpPr>
        <p:spPr/>
        <p:txBody>
          <a:bodyPr/>
          <a:lstStyle/>
          <a:p>
            <a:fld id="{1F1E027D-4684-4D2A-A457-B52C65DF2100}" type="slidenum">
              <a:rPr lang="en-GB" smtClean="0"/>
              <a:t>87</a:t>
            </a:fld>
            <a:endParaRPr lang="en-GB"/>
          </a:p>
        </p:txBody>
      </p:sp>
    </p:spTree>
    <p:extLst>
      <p:ext uri="{BB962C8B-B14F-4D97-AF65-F5344CB8AC3E}">
        <p14:creationId xmlns:p14="http://schemas.microsoft.com/office/powerpoint/2010/main" val="64547035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A9913-8D4A-8BC5-2A8A-E8680898A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11A86-E462-2A60-AF3A-53E6209DA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C42EF-2684-2442-55E1-63806159C4D7}"/>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Built-in vs User-Defined Functions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Built-in Functions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Provided by Python - ready to use!</a:t>
            </a:r>
            <a:endParaRPr lang="en-US" sz="1800" dirty="0"/>
          </a:p>
          <a:p>
            <a:pPr>
              <a:lnSpc>
                <a:spcPts val="1583"/>
              </a:lnSpc>
            </a:pPr>
            <a:r>
              <a:rPr lang="en-US" sz="1800" dirty="0">
                <a:solidFill>
                  <a:srgbClr val="000000"/>
                </a:solidFill>
                <a:highlight>
                  <a:srgbClr val="F2F2F2"/>
                </a:highlight>
                <a:latin typeface="Consolas" pitchFamily="34" charset="0"/>
                <a:ea typeface="Consolas" pitchFamily="34" charset="-122"/>
                <a:cs typeface="Consolas" pitchFamily="34" charset="-120"/>
              </a:rPr>
              <a:t>print("Hello world!")  # Output text </a:t>
            </a:r>
            <a:r>
              <a:rPr lang="en-US" sz="1800" dirty="0" err="1">
                <a:solidFill>
                  <a:srgbClr val="000000"/>
                </a:solidFill>
                <a:highlight>
                  <a:srgbClr val="F2F2F2"/>
                </a:highlight>
                <a:latin typeface="Consolas" pitchFamily="34" charset="0"/>
                <a:ea typeface="Consolas" pitchFamily="34" charset="-122"/>
                <a:cs typeface="Consolas" pitchFamily="34" charset="-120"/>
              </a:rPr>
              <a:t>len</a:t>
            </a:r>
            <a:r>
              <a:rPr lang="en-US" sz="1800" dirty="0">
                <a:solidFill>
                  <a:srgbClr val="000000"/>
                </a:solidFill>
                <a:highlight>
                  <a:srgbClr val="F2F2F2"/>
                </a:highlight>
                <a:latin typeface="Consolas" pitchFamily="34" charset="0"/>
                <a:ea typeface="Consolas" pitchFamily="34" charset="-122"/>
                <a:cs typeface="Consolas" pitchFamily="34" charset="-120"/>
              </a:rPr>
              <a:t>([1, 2, 3])        # Count items (returns 3) max(10, 5, 20)        # Find maximum (returns 20) round(3.14159, 2)     # Round number (returns 3.14</a:t>
            </a:r>
          </a:p>
          <a:p>
            <a:pPr marL="0" marR="0" lvl="0" indent="0" algn="l" defTabSz="914400" rtl="0" eaLnBrk="1" fontAlgn="auto" latinLnBrk="0" hangingPunct="1">
              <a:lnSpc>
                <a:spcPts val="1583"/>
              </a:lnSpc>
              <a:spcBef>
                <a:spcPts val="0"/>
              </a:spcBef>
              <a:spcAft>
                <a:spcPts val="0"/>
              </a:spcAft>
              <a:buClrTx/>
              <a:buSzTx/>
              <a:buFontTx/>
              <a:buNone/>
              <a:tabLst/>
              <a:defRPr/>
            </a:pPr>
            <a:endParaRPr lang="en-US" sz="1800" b="1" dirty="0">
              <a:solidFill>
                <a:srgbClr val="25274D"/>
              </a:solidFill>
              <a:latin typeface="Montserrat Bold" pitchFamily="34" charset="0"/>
              <a:ea typeface="Montserrat Bold" pitchFamily="34" charset="-122"/>
              <a:cs typeface="Montserrat Bold" pitchFamily="34" charset="-120"/>
            </a:endParaRPr>
          </a:p>
          <a:p>
            <a:pPr>
              <a:lnSpc>
                <a:spcPts val="1583"/>
              </a:lnSpc>
            </a:pPr>
            <a:endParaRPr lang="en-US" sz="1800" dirty="0"/>
          </a:p>
          <a:p>
            <a:pPr>
              <a:lnSpc>
                <a:spcPts val="1583"/>
              </a:lnSpc>
            </a:pPr>
            <a:r>
              <a:rPr lang="en-US" sz="1800" dirty="0"/>
              <a:t>Image: Slide number: 73</a:t>
            </a:r>
          </a:p>
        </p:txBody>
      </p:sp>
      <p:sp>
        <p:nvSpPr>
          <p:cNvPr id="4" name="Slide Number Placeholder 3">
            <a:extLst>
              <a:ext uri="{FF2B5EF4-FFF2-40B4-BE49-F238E27FC236}">
                <a16:creationId xmlns:a16="http://schemas.microsoft.com/office/drawing/2014/main" id="{5714E6C7-EDB5-81D9-86A1-A484F8843B1C}"/>
              </a:ext>
            </a:extLst>
          </p:cNvPr>
          <p:cNvSpPr>
            <a:spLocks noGrp="1"/>
          </p:cNvSpPr>
          <p:nvPr>
            <p:ph type="sldNum" sz="quarter" idx="5"/>
          </p:nvPr>
        </p:nvSpPr>
        <p:spPr/>
        <p:txBody>
          <a:bodyPr/>
          <a:lstStyle/>
          <a:p>
            <a:fld id="{1F1E027D-4684-4D2A-A457-B52C65DF2100}" type="slidenum">
              <a:rPr lang="en-GB" smtClean="0"/>
              <a:t>88</a:t>
            </a:fld>
            <a:endParaRPr lang="en-GB"/>
          </a:p>
        </p:txBody>
      </p:sp>
    </p:spTree>
    <p:extLst>
      <p:ext uri="{BB962C8B-B14F-4D97-AF65-F5344CB8AC3E}">
        <p14:creationId xmlns:p14="http://schemas.microsoft.com/office/powerpoint/2010/main" val="42653268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3618-9227-10A4-7909-1629CCD76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630C3-A2B8-13C4-EFE1-8998DE9AA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4A3B9-518B-DCC0-2102-CD5FFECA0F09}"/>
              </a:ext>
            </a:extLst>
          </p:cNvPr>
          <p:cNvSpPr>
            <a:spLocks noGrp="1"/>
          </p:cNvSpPr>
          <p:nvPr>
            <p:ph type="body" idx="1"/>
          </p:nvPr>
        </p:nvSpPr>
        <p:spPr/>
        <p:txBody>
          <a:bodyPr/>
          <a:lstStyle/>
          <a:p>
            <a:pPr marL="0" marR="0" lvl="0" indent="0" algn="l" defTabSz="914400" rtl="0" eaLnBrk="1" fontAlgn="auto" latinLnBrk="0" hangingPunct="1">
              <a:lnSpc>
                <a:spcPts val="1583"/>
              </a:lnSpc>
              <a:spcBef>
                <a:spcPts val="0"/>
              </a:spcBef>
              <a:spcAft>
                <a:spcPts val="0"/>
              </a:spcAft>
              <a:buClrTx/>
              <a:buSzTx/>
              <a:buFontTx/>
              <a:buNone/>
              <a:tabLst/>
              <a:defRPr/>
            </a:pPr>
            <a:endParaRPr lang="en-US" sz="1800" b="1" dirty="0">
              <a:solidFill>
                <a:srgbClr val="25274D"/>
              </a:solidFill>
              <a:latin typeface="Montserrat Bold" pitchFamily="34" charset="0"/>
              <a:ea typeface="Montserrat Bold" pitchFamily="34" charset="-122"/>
              <a:cs typeface="Montserrat Bold" pitchFamily="34" charset="-120"/>
            </a:endParaRPr>
          </a:p>
          <a:p>
            <a:pPr marL="0" marR="0" lvl="0" indent="0" algn="l" defTabSz="914400" rtl="0" eaLnBrk="1" fontAlgn="auto" latinLnBrk="0" hangingPunct="1">
              <a:lnSpc>
                <a:spcPts val="1583"/>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User-Defined Functions</a:t>
            </a:r>
            <a:endParaRPr lang="en-US" sz="1800" dirty="0"/>
          </a:p>
          <a:p>
            <a:pPr marL="0" marR="0" lvl="0" indent="0" algn="l" defTabSz="914400" rtl="0" eaLnBrk="1" fontAlgn="auto" latinLnBrk="0" hangingPunct="1">
              <a:lnSpc>
                <a:spcPts val="1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Created by </a:t>
            </a:r>
            <a:r>
              <a:rPr lang="en-US" sz="1800" b="1" dirty="0">
                <a:solidFill>
                  <a:srgbClr val="000000"/>
                </a:solidFill>
                <a:latin typeface="Montserrat" pitchFamily="34" charset="0"/>
                <a:ea typeface="Montserrat" pitchFamily="34" charset="-122"/>
                <a:cs typeface="Montserrat" pitchFamily="34" charset="-120"/>
              </a:rPr>
              <a:t>you</a:t>
            </a:r>
            <a:r>
              <a:rPr lang="en-US" sz="1800" dirty="0">
                <a:solidFill>
                  <a:srgbClr val="000000"/>
                </a:solidFill>
                <a:latin typeface="Montserrat" pitchFamily="34" charset="0"/>
                <a:ea typeface="Montserrat" pitchFamily="34" charset="-122"/>
                <a:cs typeface="Montserrat" pitchFamily="34" charset="-120"/>
              </a:rPr>
              <a:t> for specific tasks</a:t>
            </a:r>
            <a:endParaRPr lang="en-US" sz="1800" dirty="0"/>
          </a:p>
          <a:p>
            <a:pPr marL="0" marR="0" lvl="0" indent="0" algn="l" defTabSz="914400" rtl="0" eaLnBrk="1" fontAlgn="auto" latinLnBrk="0" hangingPunct="1">
              <a:lnSpc>
                <a:spcPts val="1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Tailored to your exact needs</a:t>
            </a:r>
            <a:endParaRPr lang="en-US" sz="1800" dirty="0"/>
          </a:p>
          <a:p>
            <a:pPr marL="0" marR="0" lvl="0" indent="0" algn="l" defTabSz="914400" rtl="0" eaLnBrk="1" fontAlgn="auto" latinLnBrk="0" hangingPunct="1">
              <a:lnSpc>
                <a:spcPts val="1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Extend Python's capabilities</a:t>
            </a:r>
            <a:endParaRPr lang="en-US" sz="1800" dirty="0"/>
          </a:p>
          <a:p>
            <a:pPr marL="0" marR="0" lvl="0" indent="0" algn="l" defTabSz="914400" rtl="0" eaLnBrk="1" fontAlgn="auto" latinLnBrk="0" hangingPunct="1">
              <a:lnSpc>
                <a:spcPts val="1583"/>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Encapsulate your problem-solving logic</a:t>
            </a:r>
            <a:endParaRPr lang="en-US" sz="1800" dirty="0"/>
          </a:p>
          <a:p>
            <a:pPr>
              <a:lnSpc>
                <a:spcPts val="1583"/>
              </a:lnSpc>
            </a:pPr>
            <a:endParaRPr lang="en-US" sz="1800" dirty="0"/>
          </a:p>
          <a:p>
            <a:pPr>
              <a:lnSpc>
                <a:spcPts val="1583"/>
              </a:lnSpc>
            </a:pPr>
            <a:r>
              <a:rPr lang="en-US" sz="1800" dirty="0"/>
              <a:t>Image: </a:t>
            </a:r>
          </a:p>
          <a:p>
            <a:pPr>
              <a:lnSpc>
                <a:spcPts val="1583"/>
              </a:lnSpc>
            </a:pPr>
            <a:r>
              <a:rPr lang="en-US" sz="1800" dirty="0"/>
              <a:t>Infographic Repository Slide 81</a:t>
            </a:r>
          </a:p>
        </p:txBody>
      </p:sp>
      <p:sp>
        <p:nvSpPr>
          <p:cNvPr id="4" name="Slide Number Placeholder 3">
            <a:extLst>
              <a:ext uri="{FF2B5EF4-FFF2-40B4-BE49-F238E27FC236}">
                <a16:creationId xmlns:a16="http://schemas.microsoft.com/office/drawing/2014/main" id="{68956D04-9784-61DF-1550-D09A2C2C02B1}"/>
              </a:ext>
            </a:extLst>
          </p:cNvPr>
          <p:cNvSpPr>
            <a:spLocks noGrp="1"/>
          </p:cNvSpPr>
          <p:nvPr>
            <p:ph type="sldNum" sz="quarter" idx="5"/>
          </p:nvPr>
        </p:nvSpPr>
        <p:spPr/>
        <p:txBody>
          <a:bodyPr/>
          <a:lstStyle/>
          <a:p>
            <a:fld id="{1F1E027D-4684-4D2A-A457-B52C65DF2100}" type="slidenum">
              <a:rPr lang="en-GB" smtClean="0"/>
              <a:t>89</a:t>
            </a:fld>
            <a:endParaRPr lang="en-GB"/>
          </a:p>
        </p:txBody>
      </p:sp>
    </p:spTree>
    <p:extLst>
      <p:ext uri="{BB962C8B-B14F-4D97-AF65-F5344CB8AC3E}">
        <p14:creationId xmlns:p14="http://schemas.microsoft.com/office/powerpoint/2010/main" val="291330824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1B492-0551-0110-1528-4A90E5548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8C376-967D-247E-9B54-87C9149FE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538406-4BF9-CF62-DE96-53C393537C38}"/>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Anatomy of a Function</a:t>
            </a:r>
            <a:endParaRPr lang="en-US" sz="1800" dirty="0"/>
          </a:p>
          <a:p>
            <a:pPr>
              <a:lnSpc>
                <a:spcPts val="2167"/>
              </a:lnSpc>
            </a:pPr>
            <a:r>
              <a:rPr lang="en-US" sz="1800" dirty="0">
                <a:solidFill>
                  <a:srgbClr val="000000"/>
                </a:solidFill>
                <a:latin typeface="Consolas" pitchFamily="34" charset="0"/>
                <a:ea typeface="Consolas" pitchFamily="34" charset="-122"/>
                <a:cs typeface="Consolas" pitchFamily="34" charset="-120"/>
              </a:rPr>
              <a:t>def </a:t>
            </a:r>
            <a:r>
              <a:rPr lang="en-US" sz="1800" dirty="0" err="1">
                <a:solidFill>
                  <a:srgbClr val="000000"/>
                </a:solidFill>
                <a:latin typeface="Consolas" pitchFamily="34" charset="0"/>
                <a:ea typeface="Consolas" pitchFamily="34" charset="-122"/>
                <a:cs typeface="Consolas" pitchFamily="34" charset="-120"/>
              </a:rPr>
              <a:t>function_name</a:t>
            </a:r>
            <a:r>
              <a:rPr lang="en-US" sz="1800" dirty="0">
                <a:solidFill>
                  <a:srgbClr val="000000"/>
                </a:solidFill>
                <a:latin typeface="Consolas" pitchFamily="34" charset="0"/>
                <a:ea typeface="Consolas" pitchFamily="34" charset="-122"/>
                <a:cs typeface="Consolas" pitchFamily="34" charset="-120"/>
              </a:rPr>
              <a:t>(parameters):""" Docstring (optional): describes the function """ function body - your code goes here  return value  # optional</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def Keyword</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Tells Python you're defining a function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err="1">
                <a:solidFill>
                  <a:srgbClr val="000000"/>
                </a:solidFill>
                <a:latin typeface="Montserrat Bold" pitchFamily="34" charset="0"/>
                <a:ea typeface="Montserrat Bold" pitchFamily="34" charset="-122"/>
                <a:cs typeface="Montserrat Bold" pitchFamily="34" charset="-120"/>
              </a:rPr>
              <a:t>function_name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Descriptive identifier (follows variable naming rules)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parameters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Inputs the function needs (optional)</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return statement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Sends output back to caller (optional)</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74</a:t>
            </a:r>
          </a:p>
        </p:txBody>
      </p:sp>
      <p:sp>
        <p:nvSpPr>
          <p:cNvPr id="4" name="Slide Number Placeholder 3">
            <a:extLst>
              <a:ext uri="{FF2B5EF4-FFF2-40B4-BE49-F238E27FC236}">
                <a16:creationId xmlns:a16="http://schemas.microsoft.com/office/drawing/2014/main" id="{82F21DA7-43F5-ED42-864C-F494B0DA9AB0}"/>
              </a:ext>
            </a:extLst>
          </p:cNvPr>
          <p:cNvSpPr>
            <a:spLocks noGrp="1"/>
          </p:cNvSpPr>
          <p:nvPr>
            <p:ph type="sldNum" sz="quarter" idx="5"/>
          </p:nvPr>
        </p:nvSpPr>
        <p:spPr/>
        <p:txBody>
          <a:bodyPr/>
          <a:lstStyle/>
          <a:p>
            <a:fld id="{1F1E027D-4684-4D2A-A457-B52C65DF2100}" type="slidenum">
              <a:rPr lang="en-GB" smtClean="0"/>
              <a:t>90</a:t>
            </a:fld>
            <a:endParaRPr lang="en-GB"/>
          </a:p>
        </p:txBody>
      </p:sp>
    </p:spTree>
    <p:extLst>
      <p:ext uri="{BB962C8B-B14F-4D97-AF65-F5344CB8AC3E}">
        <p14:creationId xmlns:p14="http://schemas.microsoft.com/office/powerpoint/2010/main" val="26654307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50D04-A160-A95D-59B1-A81B6E8C5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5C3F6-E1DF-C0B5-8C90-035BEDE45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D96076-DD43-D650-38F3-0A35EDDDDCBC}"/>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 </a:t>
            </a:r>
            <a:r>
              <a:rPr lang="en-US" sz="1800" b="1" dirty="0">
                <a:solidFill>
                  <a:srgbClr val="000000"/>
                </a:solidFill>
                <a:latin typeface="Montserrat" pitchFamily="34" charset="0"/>
                <a:ea typeface="Montserrat" pitchFamily="34" charset="-122"/>
                <a:cs typeface="Montserrat" pitchFamily="34" charset="-120"/>
              </a:rPr>
              <a:t>Define</a:t>
            </a:r>
            <a:r>
              <a:rPr lang="en-US" sz="1800" dirty="0">
                <a:solidFill>
                  <a:srgbClr val="000000"/>
                </a:solidFill>
                <a:latin typeface="Montserrat" pitchFamily="34" charset="0"/>
                <a:ea typeface="Montserrat" pitchFamily="34" charset="-122"/>
                <a:cs typeface="Montserrat" pitchFamily="34" charset="-120"/>
              </a:rPr>
              <a:t> the function once</a:t>
            </a:r>
            <a:endParaRPr lang="en-US" sz="1800" dirty="0"/>
          </a:p>
          <a:p>
            <a:pPr>
              <a:lnSpc>
                <a:spcPts val="1542"/>
              </a:lnSpc>
            </a:pPr>
            <a:r>
              <a:rPr lang="en-US" sz="1800" dirty="0">
                <a:solidFill>
                  <a:srgbClr val="000000"/>
                </a:solidFill>
                <a:latin typeface="Consolas" pitchFamily="34" charset="0"/>
                <a:ea typeface="Consolas" pitchFamily="34" charset="-122"/>
                <a:cs typeface="Consolas" pitchFamily="34" charset="-120"/>
              </a:rPr>
              <a:t>def greet():  print("Hello! Welcome to Python.")# Function </a:t>
            </a:r>
            <a:r>
              <a:rPr lang="en-US" sz="1800" dirty="0" err="1">
                <a:solidFill>
                  <a:srgbClr val="000000"/>
                </a:solidFill>
                <a:latin typeface="Consolas" pitchFamily="34" charset="0"/>
                <a:ea typeface="Consolas" pitchFamily="34" charset="-122"/>
                <a:cs typeface="Consolas" pitchFamily="34" charset="-120"/>
              </a:rPr>
              <a:t>callsgreet</a:t>
            </a:r>
            <a:r>
              <a:rPr lang="en-US" sz="1800" dirty="0">
                <a:solidFill>
                  <a:srgbClr val="000000"/>
                </a:solidFill>
                <a:latin typeface="Consolas" pitchFamily="34" charset="0"/>
                <a:ea typeface="Consolas" pitchFamily="34" charset="-122"/>
                <a:cs typeface="Consolas" pitchFamily="34" charset="-120"/>
              </a:rPr>
              <a:t>()</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pitchFamily="34" charset="0"/>
                <a:ea typeface="Montserrat" pitchFamily="34" charset="-122"/>
                <a:cs typeface="Montserrat" pitchFamily="34" charset="-120"/>
              </a:rPr>
              <a:t>Call</a:t>
            </a:r>
            <a:r>
              <a:rPr lang="en-US" sz="1800" dirty="0">
                <a:solidFill>
                  <a:srgbClr val="000000"/>
                </a:solidFill>
                <a:latin typeface="Montserrat" pitchFamily="34" charset="0"/>
                <a:ea typeface="Montserrat" pitchFamily="34" charset="-122"/>
                <a:cs typeface="Montserrat" pitchFamily="34" charset="-120"/>
              </a:rPr>
              <a:t> it as many times as needed</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Hello! Welcome to </a:t>
            </a:r>
            <a:r>
              <a:rPr lang="en-US" sz="1800" dirty="0" err="1">
                <a:solidFill>
                  <a:srgbClr val="000000"/>
                </a:solidFill>
                <a:highlight>
                  <a:srgbClr val="F2F2F2"/>
                </a:highlight>
                <a:latin typeface="Consolas" pitchFamily="34" charset="0"/>
                <a:ea typeface="Consolas" pitchFamily="34" charset="-122"/>
                <a:cs typeface="Consolas" pitchFamily="34" charset="-120"/>
              </a:rPr>
              <a:t>Python.Hello</a:t>
            </a:r>
            <a:r>
              <a:rPr lang="en-US" sz="1800" dirty="0">
                <a:solidFill>
                  <a:srgbClr val="000000"/>
                </a:solidFill>
                <a:highlight>
                  <a:srgbClr val="F2F2F2"/>
                </a:highlight>
                <a:latin typeface="Consolas" pitchFamily="34" charset="0"/>
                <a:ea typeface="Consolas" pitchFamily="34" charset="-122"/>
                <a:cs typeface="Consolas" pitchFamily="34" charset="-120"/>
              </a:rPr>
              <a:t>! Welcome to Python.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75 (Use the highlighting effect and fade out at the end of each audio cue.)</a:t>
            </a:r>
          </a:p>
        </p:txBody>
      </p:sp>
      <p:sp>
        <p:nvSpPr>
          <p:cNvPr id="4" name="Slide Number Placeholder 3">
            <a:extLst>
              <a:ext uri="{FF2B5EF4-FFF2-40B4-BE49-F238E27FC236}">
                <a16:creationId xmlns:a16="http://schemas.microsoft.com/office/drawing/2014/main" id="{4150BE25-E263-3AC1-496E-6C697B379C63}"/>
              </a:ext>
            </a:extLst>
          </p:cNvPr>
          <p:cNvSpPr>
            <a:spLocks noGrp="1"/>
          </p:cNvSpPr>
          <p:nvPr>
            <p:ph type="sldNum" sz="quarter" idx="5"/>
          </p:nvPr>
        </p:nvSpPr>
        <p:spPr/>
        <p:txBody>
          <a:bodyPr/>
          <a:lstStyle/>
          <a:p>
            <a:fld id="{1F1E027D-4684-4D2A-A457-B52C65DF2100}" type="slidenum">
              <a:rPr lang="en-GB" smtClean="0"/>
              <a:t>91</a:t>
            </a:fld>
            <a:endParaRPr lang="en-GB"/>
          </a:p>
        </p:txBody>
      </p:sp>
    </p:spTree>
    <p:extLst>
      <p:ext uri="{BB962C8B-B14F-4D97-AF65-F5344CB8AC3E}">
        <p14:creationId xmlns:p14="http://schemas.microsoft.com/office/powerpoint/2010/main" val="376248282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692D-E738-D4BC-ECEF-534FBCF9D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5C1E2-0FDD-8A08-F5B7-EC807EBC7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B5C65-7366-707D-4C31-5DA565E6ED8B}"/>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t>Function Parameters and Arguments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ea typeface="+mn-lt"/>
                <a:cs typeface="+mn-lt"/>
              </a:rPr>
              <a:t>Parameters are placeholders for data that you pass into a function, while arguments are the actual data you provide when calling the function.</a:t>
            </a:r>
          </a:p>
          <a:p>
            <a:pPr marL="0" indent="0">
              <a:buFont typeface="Arial"/>
              <a:buNone/>
            </a:pPr>
            <a:r>
              <a:rPr lang="en-US" sz="1800" dirty="0">
                <a:ea typeface="+mn-lt"/>
                <a:cs typeface="+mn-lt"/>
              </a:rPr>
              <a:t>Parameters are defined in the function header</a:t>
            </a:r>
            <a:endParaRPr lang="en-US" sz="1800" dirty="0"/>
          </a:p>
          <a:p>
            <a:pPr marL="0" indent="0">
              <a:buFont typeface="Arial"/>
              <a:buNone/>
            </a:pPr>
            <a:r>
              <a:rPr lang="en-US" sz="1800" dirty="0">
                <a:ea typeface="+mn-lt"/>
                <a:cs typeface="+mn-lt"/>
              </a:rPr>
              <a:t>Arguments are provided when the function is called</a:t>
            </a:r>
            <a:endParaRPr lang="en-US" sz="1800" dirty="0"/>
          </a:p>
          <a:p>
            <a:pPr marL="0" indent="0">
              <a:buFont typeface="Arial"/>
              <a:buNone/>
            </a:pPr>
            <a:r>
              <a:rPr lang="en-US" sz="1800" dirty="0">
                <a:ea typeface="+mn-lt"/>
                <a:cs typeface="+mn-lt"/>
              </a:rPr>
              <a:t>Supports default parameters, keyword arguments, and arbitrary arguments</a:t>
            </a:r>
          </a:p>
          <a:p>
            <a:endParaRPr lang="en-IN" sz="1800" dirty="0">
              <a:solidFill>
                <a:srgbClr val="FFFFFF"/>
              </a:solidFill>
              <a:ea typeface="+mn-lt"/>
              <a:cs typeface="+mn-lt"/>
            </a:endParaRPr>
          </a:p>
          <a:p>
            <a:r>
              <a:rPr lang="en-IN" sz="1800" dirty="0">
                <a:solidFill>
                  <a:srgbClr val="FFFFFF"/>
                </a:solidFill>
                <a:ea typeface="+mn-lt"/>
                <a:cs typeface="+mn-lt"/>
              </a:rPr>
              <a:t>Image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85</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B405A911-97AB-430B-F157-383A542F721D}"/>
              </a:ext>
            </a:extLst>
          </p:cNvPr>
          <p:cNvSpPr>
            <a:spLocks noGrp="1"/>
          </p:cNvSpPr>
          <p:nvPr>
            <p:ph type="sldNum" sz="quarter" idx="5"/>
          </p:nvPr>
        </p:nvSpPr>
        <p:spPr/>
        <p:txBody>
          <a:bodyPr/>
          <a:lstStyle/>
          <a:p>
            <a:fld id="{1F1E027D-4684-4D2A-A457-B52C65DF2100}" type="slidenum">
              <a:rPr lang="en-GB" smtClean="0"/>
              <a:t>92</a:t>
            </a:fld>
            <a:endParaRPr lang="en-GB"/>
          </a:p>
        </p:txBody>
      </p:sp>
    </p:spTree>
    <p:extLst>
      <p:ext uri="{BB962C8B-B14F-4D97-AF65-F5344CB8AC3E}">
        <p14:creationId xmlns:p14="http://schemas.microsoft.com/office/powerpoint/2010/main" val="134412774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AEBE0-7619-7B5F-8F99-57282B0CF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99318-DF61-5A15-9CD0-A439B89D1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8BCD9-A758-C679-33E2-5AAB05667329}"/>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ea typeface="+mn-lt"/>
              <a:cs typeface="+mn-lt"/>
            </a:endParaRPr>
          </a:p>
          <a:p>
            <a:r>
              <a:rPr lang="en-US" sz="1800" dirty="0">
                <a:ea typeface="+mn-lt"/>
                <a:cs typeface="+mn-lt"/>
              </a:rPr>
              <a:t>For example :</a:t>
            </a:r>
          </a:p>
          <a:p>
            <a:r>
              <a:rPr lang="en-IN" sz="1800" dirty="0">
                <a:solidFill>
                  <a:srgbClr val="FFFFFF"/>
                </a:solidFill>
                <a:ea typeface="+mn-lt"/>
                <a:cs typeface="+mn-lt"/>
              </a:rPr>
              <a:t>def greet(name):print(</a:t>
            </a:r>
            <a:r>
              <a:rPr lang="en-IN" sz="1800" dirty="0" err="1">
                <a:solidFill>
                  <a:srgbClr val="FFFFFF"/>
                </a:solidFill>
                <a:ea typeface="+mn-lt"/>
                <a:cs typeface="+mn-lt"/>
              </a:rPr>
              <a:t>f'Hello</a:t>
            </a:r>
            <a:r>
              <a:rPr lang="en-IN" sz="1800" dirty="0">
                <a:solidFill>
                  <a:srgbClr val="FFFFFF"/>
                </a:solidFill>
                <a:ea typeface="+mn-lt"/>
                <a:cs typeface="+mn-lt"/>
              </a:rPr>
              <a:t>, {name}!')greet('Alice')  # Output: Hello, Alice</a:t>
            </a:r>
          </a:p>
          <a:p>
            <a:endParaRPr lang="en-IN" sz="1800" dirty="0">
              <a:solidFill>
                <a:srgbClr val="FFFFFF"/>
              </a:solidFill>
              <a:ea typeface="+mn-lt"/>
              <a:cs typeface="+mn-lt"/>
            </a:endParaRPr>
          </a:p>
          <a:p>
            <a:r>
              <a:rPr lang="en-IN" sz="1800" dirty="0">
                <a:solidFill>
                  <a:srgbClr val="FFFFFF"/>
                </a:solidFill>
                <a:ea typeface="+mn-lt"/>
                <a:cs typeface="+mn-lt"/>
              </a:rPr>
              <a:t>Image from : 76</a:t>
            </a:r>
            <a:endParaRPr lang="en-US" sz="1800" dirty="0">
              <a:ea typeface="+mn-lt"/>
              <a:cs typeface="+mn-lt"/>
            </a:endParaRPr>
          </a:p>
          <a:p>
            <a:pPr marL="0" indent="0">
              <a:buFont typeface="Arial"/>
              <a:buNone/>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85</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C5931623-3C95-D357-7A40-A40B0C4E045F}"/>
              </a:ext>
            </a:extLst>
          </p:cNvPr>
          <p:cNvSpPr>
            <a:spLocks noGrp="1"/>
          </p:cNvSpPr>
          <p:nvPr>
            <p:ph type="sldNum" sz="quarter" idx="5"/>
          </p:nvPr>
        </p:nvSpPr>
        <p:spPr/>
        <p:txBody>
          <a:bodyPr/>
          <a:lstStyle/>
          <a:p>
            <a:fld id="{1F1E027D-4684-4D2A-A457-B52C65DF2100}" type="slidenum">
              <a:rPr lang="en-GB" smtClean="0"/>
              <a:t>93</a:t>
            </a:fld>
            <a:endParaRPr lang="en-GB"/>
          </a:p>
        </p:txBody>
      </p:sp>
    </p:spTree>
    <p:extLst>
      <p:ext uri="{BB962C8B-B14F-4D97-AF65-F5344CB8AC3E}">
        <p14:creationId xmlns:p14="http://schemas.microsoft.com/office/powerpoint/2010/main" val="7229769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D7819-3D79-127E-863B-58AD5F537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AFDF5-706E-B004-A0EB-2AE393E2C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E2204E-133C-DC7E-947D-44F0DB5B6773}"/>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t>Returning Values from Functions</a:t>
            </a:r>
          </a:p>
          <a:p>
            <a:r>
              <a:rPr lang="en-US" sz="1800" dirty="0">
                <a:ea typeface="+mn-lt"/>
                <a:cs typeface="+mn-lt"/>
              </a:rPr>
              <a:t>Functions can return values using the </a:t>
            </a:r>
            <a:r>
              <a:rPr lang="en-US" sz="1800" dirty="0">
                <a:latin typeface="Consolas"/>
                <a:ea typeface="+mn-lt"/>
                <a:cs typeface="+mn-lt"/>
              </a:rPr>
              <a:t>return</a:t>
            </a:r>
            <a:r>
              <a:rPr lang="en-US" sz="1800" dirty="0">
                <a:ea typeface="+mn-lt"/>
                <a:cs typeface="+mn-lt"/>
              </a:rPr>
              <a:t> statement, allowing you to pass the result of the function back to the caller.</a:t>
            </a:r>
          </a:p>
          <a:p>
            <a:pPr marL="0" indent="0">
              <a:buFont typeface="Arial"/>
              <a:buNone/>
            </a:pPr>
            <a:r>
              <a:rPr lang="en-US" sz="1800" dirty="0">
                <a:latin typeface="Consolas"/>
              </a:rPr>
              <a:t>return</a:t>
            </a:r>
            <a:r>
              <a:rPr lang="en-US" sz="1800" dirty="0">
                <a:ea typeface="+mn-lt"/>
                <a:cs typeface="+mn-lt"/>
              </a:rPr>
              <a:t> statement exits the function and optionally sends back a value</a:t>
            </a:r>
            <a:endParaRPr lang="en-US" sz="1800" dirty="0"/>
          </a:p>
          <a:p>
            <a:pPr marL="0" indent="0">
              <a:buFont typeface="Arial"/>
              <a:buNone/>
            </a:pPr>
            <a:r>
              <a:rPr lang="en-US" sz="1800" dirty="0">
                <a:ea typeface="+mn-lt"/>
                <a:cs typeface="+mn-lt"/>
              </a:rPr>
              <a:t>If no </a:t>
            </a:r>
            <a:r>
              <a:rPr lang="en-US" sz="1800" dirty="0">
                <a:latin typeface="Consolas"/>
              </a:rPr>
              <a:t>return</a:t>
            </a:r>
            <a:r>
              <a:rPr lang="en-US" sz="1800" dirty="0">
                <a:ea typeface="+mn-lt"/>
                <a:cs typeface="+mn-lt"/>
              </a:rPr>
              <a:t> statement is used, the function returns </a:t>
            </a:r>
            <a:r>
              <a:rPr lang="en-US" sz="1800" dirty="0">
                <a:latin typeface="Consolas"/>
              </a:rPr>
              <a:t>None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77</a:t>
            </a:r>
          </a:p>
        </p:txBody>
      </p:sp>
      <p:sp>
        <p:nvSpPr>
          <p:cNvPr id="4" name="Slide Number Placeholder 3">
            <a:extLst>
              <a:ext uri="{FF2B5EF4-FFF2-40B4-BE49-F238E27FC236}">
                <a16:creationId xmlns:a16="http://schemas.microsoft.com/office/drawing/2014/main" id="{DBBCDC71-F149-2CCC-F365-43849FC32A62}"/>
              </a:ext>
            </a:extLst>
          </p:cNvPr>
          <p:cNvSpPr>
            <a:spLocks noGrp="1"/>
          </p:cNvSpPr>
          <p:nvPr>
            <p:ph type="sldNum" sz="quarter" idx="5"/>
          </p:nvPr>
        </p:nvSpPr>
        <p:spPr/>
        <p:txBody>
          <a:bodyPr/>
          <a:lstStyle/>
          <a:p>
            <a:fld id="{1F1E027D-4684-4D2A-A457-B52C65DF2100}" type="slidenum">
              <a:rPr lang="en-GB" smtClean="0"/>
              <a:t>94</a:t>
            </a:fld>
            <a:endParaRPr lang="en-GB"/>
          </a:p>
        </p:txBody>
      </p:sp>
    </p:spTree>
    <p:extLst>
      <p:ext uri="{BB962C8B-B14F-4D97-AF65-F5344CB8AC3E}">
        <p14:creationId xmlns:p14="http://schemas.microsoft.com/office/powerpoint/2010/main" val="294878666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F26E4-9C88-E2BE-6801-C3DB90C43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3C3C9-30F3-ABD1-DEB0-E21588C695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CE430-6514-D2F9-9B4E-608186DBBAA5}"/>
              </a:ext>
            </a:extLst>
          </p:cNvPr>
          <p:cNvSpPr>
            <a:spLocks noGrp="1"/>
          </p:cNvSpPr>
          <p:nvPr>
            <p:ph type="body" idx="1"/>
          </p:nvPr>
        </p:nvSpPr>
        <p:spPr/>
        <p:txBody>
          <a:bodyPr/>
          <a:lstStyle/>
          <a:p>
            <a:r>
              <a:rPr lang="en-US" sz="1800" b="1" dirty="0"/>
              <a:t>For Example : </a:t>
            </a:r>
          </a:p>
          <a:p>
            <a:r>
              <a:rPr lang="en-IN" sz="1800" dirty="0">
                <a:solidFill>
                  <a:srgbClr val="FFFFFF"/>
                </a:solidFill>
                <a:ea typeface="+mn-lt"/>
                <a:cs typeface="+mn-lt"/>
              </a:rPr>
              <a:t>def add(a, b):return a + </a:t>
            </a:r>
            <a:r>
              <a:rPr lang="en-IN" sz="1800" dirty="0" err="1">
                <a:solidFill>
                  <a:srgbClr val="FFFFFF"/>
                </a:solidFill>
                <a:ea typeface="+mn-lt"/>
                <a:cs typeface="+mn-lt"/>
              </a:rPr>
              <a:t>bresult</a:t>
            </a:r>
            <a:r>
              <a:rPr lang="en-IN" sz="1800" dirty="0">
                <a:solidFill>
                  <a:srgbClr val="FFFFFF"/>
                </a:solidFill>
                <a:ea typeface="+mn-lt"/>
                <a:cs typeface="+mn-lt"/>
              </a:rPr>
              <a:t> = add(3, 5)  # Output: 8</a:t>
            </a:r>
            <a:endParaRPr lang="en-IN" sz="1800" dirty="0"/>
          </a:p>
          <a:p>
            <a:endParaRPr lang="en-IN"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77</a:t>
            </a:r>
          </a:p>
        </p:txBody>
      </p:sp>
      <p:sp>
        <p:nvSpPr>
          <p:cNvPr id="4" name="Slide Number Placeholder 3">
            <a:extLst>
              <a:ext uri="{FF2B5EF4-FFF2-40B4-BE49-F238E27FC236}">
                <a16:creationId xmlns:a16="http://schemas.microsoft.com/office/drawing/2014/main" id="{5CDF1A06-3C2C-D987-7FF4-6291FC4B91D1}"/>
              </a:ext>
            </a:extLst>
          </p:cNvPr>
          <p:cNvSpPr>
            <a:spLocks noGrp="1"/>
          </p:cNvSpPr>
          <p:nvPr>
            <p:ph type="sldNum" sz="quarter" idx="5"/>
          </p:nvPr>
        </p:nvSpPr>
        <p:spPr/>
        <p:txBody>
          <a:bodyPr/>
          <a:lstStyle/>
          <a:p>
            <a:fld id="{1F1E027D-4684-4D2A-A457-B52C65DF2100}" type="slidenum">
              <a:rPr lang="en-GB" smtClean="0"/>
              <a:t>95</a:t>
            </a:fld>
            <a:endParaRPr lang="en-GB"/>
          </a:p>
        </p:txBody>
      </p:sp>
    </p:spTree>
    <p:extLst>
      <p:ext uri="{BB962C8B-B14F-4D97-AF65-F5344CB8AC3E}">
        <p14:creationId xmlns:p14="http://schemas.microsoft.com/office/powerpoint/2010/main" val="107848716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23F4-CACA-9211-7DFA-A3B1F2B14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C31CD-5E06-FE50-5D1C-0529ED61B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552DD-B961-9E8C-0C54-6C512187671B}"/>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latin typeface="Montserrat Bold" pitchFamily="34" charset="0"/>
                <a:ea typeface="Montserrat Bold" pitchFamily="34" charset="-122"/>
                <a:cs typeface="Montserrat Bold" pitchFamily="34" charset="-120"/>
              </a:rPr>
              <a:t>Multiple Parameters &amp; Return Values</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Arial" panose="020B0604020202020204" pitchFamily="34" charset="0"/>
              </a:rPr>
              <a:t>Multiple Parameters</a:t>
            </a:r>
          </a:p>
          <a:p>
            <a:pPr>
              <a:lnSpc>
                <a:spcPts val="2375"/>
              </a:lnSpc>
            </a:pPr>
            <a:r>
              <a:rPr lang="en-US" sz="1800" dirty="0">
                <a:solidFill>
                  <a:srgbClr val="000000"/>
                </a:solidFill>
                <a:latin typeface="Consolas" pitchFamily="34" charset="0"/>
                <a:ea typeface="Consolas" pitchFamily="34" charset="-122"/>
                <a:cs typeface="Consolas" pitchFamily="34" charset="-120"/>
              </a:rPr>
              <a:t>def </a:t>
            </a:r>
            <a:r>
              <a:rPr lang="en-US" sz="1800" dirty="0" err="1">
                <a:solidFill>
                  <a:srgbClr val="000000"/>
                </a:solidFill>
                <a:latin typeface="Consolas" pitchFamily="34" charset="0"/>
                <a:ea typeface="Consolas" pitchFamily="34" charset="-122"/>
                <a:cs typeface="Consolas" pitchFamily="34" charset="-120"/>
              </a:rPr>
              <a:t>add_numbers</a:t>
            </a:r>
            <a:r>
              <a:rPr lang="en-US" sz="1800" dirty="0">
                <a:solidFill>
                  <a:srgbClr val="000000"/>
                </a:solidFill>
                <a:latin typeface="Consolas" pitchFamily="34" charset="0"/>
                <a:ea typeface="Consolas" pitchFamily="34" charset="-122"/>
                <a:cs typeface="Consolas" pitchFamily="34" charset="-120"/>
              </a:rPr>
              <a:t>(a, b): return a + </a:t>
            </a:r>
            <a:r>
              <a:rPr lang="en-US" sz="1800" dirty="0" err="1">
                <a:solidFill>
                  <a:srgbClr val="000000"/>
                </a:solidFill>
                <a:latin typeface="Consolas" pitchFamily="34" charset="0"/>
                <a:ea typeface="Consolas" pitchFamily="34" charset="-122"/>
                <a:cs typeface="Consolas" pitchFamily="34" charset="-120"/>
              </a:rPr>
              <a:t>bresult</a:t>
            </a:r>
            <a:r>
              <a:rPr lang="en-US" sz="1800" dirty="0">
                <a:solidFill>
                  <a:srgbClr val="000000"/>
                </a:solidFill>
                <a:latin typeface="Consolas" pitchFamily="34" charset="0"/>
                <a:ea typeface="Consolas" pitchFamily="34" charset="-122"/>
                <a:cs typeface="Consolas" pitchFamily="34" charset="-120"/>
              </a:rPr>
              <a:t> = </a:t>
            </a:r>
            <a:r>
              <a:rPr lang="en-US" sz="1800" dirty="0" err="1">
                <a:solidFill>
                  <a:srgbClr val="000000"/>
                </a:solidFill>
                <a:latin typeface="Consolas" pitchFamily="34" charset="0"/>
                <a:ea typeface="Consolas" pitchFamily="34" charset="-122"/>
                <a:cs typeface="Consolas" pitchFamily="34" charset="-120"/>
              </a:rPr>
              <a:t>add_numbers</a:t>
            </a:r>
            <a:r>
              <a:rPr lang="en-US" sz="1800" dirty="0">
                <a:solidFill>
                  <a:srgbClr val="000000"/>
                </a:solidFill>
                <a:latin typeface="Consolas" pitchFamily="34" charset="0"/>
                <a:ea typeface="Consolas" pitchFamily="34" charset="-122"/>
                <a:cs typeface="Consolas" pitchFamily="34" charset="-120"/>
              </a:rPr>
              <a:t>(5, 7)print(result)  # Output: 12</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Multiple Return Values</a:t>
            </a:r>
            <a:endParaRPr lang="en-US" sz="1800" dirty="0"/>
          </a:p>
          <a:p>
            <a:pPr>
              <a:lnSpc>
                <a:spcPts val="2375"/>
              </a:lnSpc>
            </a:pPr>
            <a:r>
              <a:rPr lang="en-US" sz="1800" dirty="0">
                <a:solidFill>
                  <a:srgbClr val="000000"/>
                </a:solidFill>
                <a:latin typeface="Consolas" pitchFamily="34" charset="0"/>
                <a:ea typeface="Consolas" pitchFamily="34" charset="-122"/>
                <a:cs typeface="Consolas" pitchFamily="34" charset="-120"/>
              </a:rPr>
              <a:t>def calculate(a, b): return a + b, a - b, a * b# Function calls, d, p = calculate(10, 5)print(s, d, p)  # Output: 15 5 50</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Python functions can accept multiple inputs and return multiple outputs as tuples!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Images: slide number 78</a:t>
            </a:r>
          </a:p>
        </p:txBody>
      </p:sp>
      <p:sp>
        <p:nvSpPr>
          <p:cNvPr id="4" name="Slide Number Placeholder 3">
            <a:extLst>
              <a:ext uri="{FF2B5EF4-FFF2-40B4-BE49-F238E27FC236}">
                <a16:creationId xmlns:a16="http://schemas.microsoft.com/office/drawing/2014/main" id="{0288DFEC-B1EA-F0C2-5177-9854456D6CF0}"/>
              </a:ext>
            </a:extLst>
          </p:cNvPr>
          <p:cNvSpPr>
            <a:spLocks noGrp="1"/>
          </p:cNvSpPr>
          <p:nvPr>
            <p:ph type="sldNum" sz="quarter" idx="5"/>
          </p:nvPr>
        </p:nvSpPr>
        <p:spPr/>
        <p:txBody>
          <a:bodyPr/>
          <a:lstStyle/>
          <a:p>
            <a:fld id="{1F1E027D-4684-4D2A-A457-B52C65DF2100}" type="slidenum">
              <a:rPr lang="en-GB" smtClean="0"/>
              <a:t>96</a:t>
            </a:fld>
            <a:endParaRPr lang="en-GB"/>
          </a:p>
        </p:txBody>
      </p:sp>
    </p:spTree>
    <p:extLst>
      <p:ext uri="{BB962C8B-B14F-4D97-AF65-F5344CB8AC3E}">
        <p14:creationId xmlns:p14="http://schemas.microsoft.com/office/powerpoint/2010/main" val="139805795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0E50B-19AE-065A-088A-DED91E6B2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C4367-F23C-F49D-6D14-4ED399559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CCD9B-0626-C103-2C98-24F9CC636683}"/>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Default Parameters</a:t>
            </a:r>
            <a:endParaRPr lang="en-US" sz="1800" dirty="0"/>
          </a:p>
          <a:p>
            <a:pPr>
              <a:lnSpc>
                <a:spcPts val="2292"/>
              </a:lnSpc>
            </a:pPr>
            <a:r>
              <a:rPr lang="en-US" sz="1800" dirty="0">
                <a:solidFill>
                  <a:srgbClr val="000000"/>
                </a:solidFill>
                <a:latin typeface="Consolas" pitchFamily="34" charset="0"/>
                <a:ea typeface="Consolas" pitchFamily="34" charset="-122"/>
                <a:cs typeface="Consolas" pitchFamily="34" charset="-120"/>
              </a:rPr>
              <a:t>def greet(name="Guest"):print(</a:t>
            </a:r>
            <a:r>
              <a:rPr lang="en-US" sz="1800" dirty="0" err="1">
                <a:solidFill>
                  <a:srgbClr val="000000"/>
                </a:solidFill>
                <a:latin typeface="Consolas" pitchFamily="34" charset="0"/>
                <a:ea typeface="Consolas" pitchFamily="34" charset="-122"/>
                <a:cs typeface="Consolas" pitchFamily="34" charset="-120"/>
              </a:rPr>
              <a:t>f"Hello</a:t>
            </a:r>
            <a:r>
              <a:rPr lang="en-US" sz="1800" dirty="0">
                <a:solidFill>
                  <a:srgbClr val="000000"/>
                </a:solidFill>
                <a:latin typeface="Consolas" pitchFamily="34" charset="0"/>
                <a:ea typeface="Consolas" pitchFamily="34" charset="-122"/>
                <a:cs typeface="Consolas" pitchFamily="34" charset="-120"/>
              </a:rPr>
              <a:t>, {name}!# Function </a:t>
            </a:r>
            <a:r>
              <a:rPr lang="en-US" sz="1800" dirty="0" err="1">
                <a:solidFill>
                  <a:srgbClr val="000000"/>
                </a:solidFill>
                <a:latin typeface="Consolas" pitchFamily="34" charset="0"/>
                <a:ea typeface="Consolas" pitchFamily="34" charset="-122"/>
                <a:cs typeface="Consolas" pitchFamily="34" charset="-120"/>
              </a:rPr>
              <a:t>callsgreet</a:t>
            </a:r>
            <a:r>
              <a:rPr lang="en-US" sz="1800" dirty="0">
                <a:solidFill>
                  <a:srgbClr val="000000"/>
                </a:solidFill>
                <a:latin typeface="Consolas" pitchFamily="34" charset="0"/>
                <a:ea typeface="Consolas" pitchFamily="34" charset="-122"/>
                <a:cs typeface="Consolas" pitchFamily="34" charset="-120"/>
              </a:rPr>
              <a:t>()          # Uses the default </a:t>
            </a:r>
            <a:r>
              <a:rPr lang="en-US" sz="1800" dirty="0" err="1">
                <a:solidFill>
                  <a:srgbClr val="000000"/>
                </a:solidFill>
                <a:latin typeface="Consolas" pitchFamily="34" charset="0"/>
                <a:ea typeface="Consolas" pitchFamily="34" charset="-122"/>
                <a:cs typeface="Consolas" pitchFamily="34" charset="-120"/>
              </a:rPr>
              <a:t>valuegreet</a:t>
            </a:r>
            <a:r>
              <a:rPr lang="en-US" sz="1800" dirty="0">
                <a:solidFill>
                  <a:srgbClr val="000000"/>
                </a:solidFill>
                <a:latin typeface="Consolas" pitchFamily="34" charset="0"/>
                <a:ea typeface="Consolas" pitchFamily="34" charset="-122"/>
                <a:cs typeface="Consolas" pitchFamily="34" charset="-120"/>
              </a:rPr>
              <a:t>("Amit")    # Uses the provided argument</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Output</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highlight>
                  <a:srgbClr val="F2F2F2"/>
                </a:highlight>
                <a:latin typeface="Consolas" pitchFamily="34" charset="0"/>
                <a:ea typeface="Consolas" pitchFamily="34" charset="-122"/>
                <a:cs typeface="Consolas" pitchFamily="34" charset="-120"/>
              </a:rPr>
              <a:t>Hello, </a:t>
            </a:r>
            <a:r>
              <a:rPr lang="en-US" sz="1800" dirty="0" err="1">
                <a:solidFill>
                  <a:srgbClr val="000000"/>
                </a:solidFill>
                <a:highlight>
                  <a:srgbClr val="F2F2F2"/>
                </a:highlight>
                <a:latin typeface="Consolas" pitchFamily="34" charset="0"/>
                <a:ea typeface="Consolas" pitchFamily="34" charset="-122"/>
                <a:cs typeface="Consolas" pitchFamily="34" charset="-120"/>
              </a:rPr>
              <a:t>Guest!Hello</a:t>
            </a:r>
            <a:r>
              <a:rPr lang="en-US" sz="1800" dirty="0">
                <a:solidFill>
                  <a:srgbClr val="000000"/>
                </a:solidFill>
                <a:highlight>
                  <a:srgbClr val="F2F2F2"/>
                </a:highlight>
                <a:latin typeface="Consolas" pitchFamily="34" charset="0"/>
                <a:ea typeface="Consolas" pitchFamily="34" charset="-122"/>
                <a:cs typeface="Consolas" pitchFamily="34" charset="-120"/>
              </a:rPr>
              <a:t>, Amit!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Default parameters make functions more flexible and user-friendly.</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Images: Slide number: 79</a:t>
            </a:r>
          </a:p>
        </p:txBody>
      </p:sp>
      <p:sp>
        <p:nvSpPr>
          <p:cNvPr id="4" name="Slide Number Placeholder 3">
            <a:extLst>
              <a:ext uri="{FF2B5EF4-FFF2-40B4-BE49-F238E27FC236}">
                <a16:creationId xmlns:a16="http://schemas.microsoft.com/office/drawing/2014/main" id="{E2C54D4D-28F2-BEB6-2A31-2321AACE9481}"/>
              </a:ext>
            </a:extLst>
          </p:cNvPr>
          <p:cNvSpPr>
            <a:spLocks noGrp="1"/>
          </p:cNvSpPr>
          <p:nvPr>
            <p:ph type="sldNum" sz="quarter" idx="5"/>
          </p:nvPr>
        </p:nvSpPr>
        <p:spPr/>
        <p:txBody>
          <a:bodyPr/>
          <a:lstStyle/>
          <a:p>
            <a:fld id="{1F1E027D-4684-4D2A-A457-B52C65DF2100}" type="slidenum">
              <a:rPr lang="en-GB" smtClean="0"/>
              <a:t>97</a:t>
            </a:fld>
            <a:endParaRPr lang="en-GB"/>
          </a:p>
        </p:txBody>
      </p:sp>
    </p:spTree>
    <p:extLst>
      <p:ext uri="{BB962C8B-B14F-4D97-AF65-F5344CB8AC3E}">
        <p14:creationId xmlns:p14="http://schemas.microsoft.com/office/powerpoint/2010/main" val="32486104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8236D-8F66-35C6-7995-48F91A8D9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E489B-847A-45E2-C872-2A85C0D65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F2067-C0D4-197A-2C3E-2B5753F01712}"/>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Benefits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Makes parameters optional</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Provides sensible defaults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Reduces errors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Simplifies function calls</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(Remove the arrows from it.)</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68</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SSID: </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1:https://enterprise.shutterstock.com/image-vector/settings-glyph-solid-icons-collection-containing-247996373</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2:https://enterprise.shutterstock.com/image-vector/solution-provide-icon-vector-logotype-1848576199</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3:https://enterprise.shutterstock.com/image-vector/reduced-error-icon-set-multiple-style-2615661547</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Icon 4:https://enterprise.shutterstock.com/image-vector/education-line-drawing-icon-set-simplified-2564876977</a:t>
            </a:r>
          </a:p>
        </p:txBody>
      </p:sp>
      <p:sp>
        <p:nvSpPr>
          <p:cNvPr id="4" name="Slide Number Placeholder 3">
            <a:extLst>
              <a:ext uri="{FF2B5EF4-FFF2-40B4-BE49-F238E27FC236}">
                <a16:creationId xmlns:a16="http://schemas.microsoft.com/office/drawing/2014/main" id="{C980911F-F3E0-EAF2-31EA-712CA8033CDF}"/>
              </a:ext>
            </a:extLst>
          </p:cNvPr>
          <p:cNvSpPr>
            <a:spLocks noGrp="1"/>
          </p:cNvSpPr>
          <p:nvPr>
            <p:ph type="sldNum" sz="quarter" idx="5"/>
          </p:nvPr>
        </p:nvSpPr>
        <p:spPr/>
        <p:txBody>
          <a:bodyPr/>
          <a:lstStyle/>
          <a:p>
            <a:fld id="{1F1E027D-4684-4D2A-A457-B52C65DF2100}" type="slidenum">
              <a:rPr lang="en-GB" smtClean="0"/>
              <a:t>98</a:t>
            </a:fld>
            <a:endParaRPr lang="en-GB"/>
          </a:p>
        </p:txBody>
      </p:sp>
    </p:spTree>
    <p:extLst>
      <p:ext uri="{BB962C8B-B14F-4D97-AF65-F5344CB8AC3E}">
        <p14:creationId xmlns:p14="http://schemas.microsoft.com/office/powerpoint/2010/main" val="377319416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C30C2-A408-D313-8411-665D99483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22956-D978-5350-3FA4-6A8D384B1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A34D4-2C1F-8D15-79BC-ADD7C5E24865}"/>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a:t>
            </a:r>
            <a:r>
              <a:rPr lang="en-US" sz="1800" b="1" dirty="0" err="1">
                <a:solidFill>
                  <a:srgbClr val="25274D"/>
                </a:solidFill>
                <a:latin typeface="Montserrat Bold" pitchFamily="34" charset="0"/>
                <a:ea typeface="Montserrat Bold" pitchFamily="34" charset="-122"/>
                <a:cs typeface="Montserrat Bold" pitchFamily="34" charset="-120"/>
              </a:rPr>
              <a:t>args</a:t>
            </a:r>
            <a:r>
              <a:rPr lang="en-US" sz="1800" b="1" dirty="0">
                <a:solidFill>
                  <a:srgbClr val="25274D"/>
                </a:solidFill>
                <a:latin typeface="Montserrat Bold" pitchFamily="34" charset="0"/>
                <a:ea typeface="Montserrat Bold" pitchFamily="34" charset="-122"/>
                <a:cs typeface="Montserrat Bold" pitchFamily="34" charset="-120"/>
              </a:rPr>
              <a:t> (Variable Positional Arguments)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Define with Asterisk</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The asterisk (*) collects multiple arguments into a tuple.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Pass Any Number of Arguments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Function can handle varying numbers of inputs.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Access as a Tuple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Inside the function, </a:t>
            </a:r>
            <a:r>
              <a:rPr lang="en-US" sz="1800" dirty="0" err="1">
                <a:solidFill>
                  <a:srgbClr val="000000"/>
                </a:solidFill>
                <a:latin typeface="Montserrat" pitchFamily="34" charset="0"/>
                <a:ea typeface="Montserrat" pitchFamily="34" charset="-122"/>
                <a:cs typeface="Montserrat" pitchFamily="34" charset="-120"/>
              </a:rPr>
              <a:t>args</a:t>
            </a:r>
            <a:r>
              <a:rPr lang="en-US" sz="1800" dirty="0">
                <a:solidFill>
                  <a:srgbClr val="000000"/>
                </a:solidFill>
                <a:latin typeface="Montserrat" pitchFamily="34" charset="0"/>
                <a:ea typeface="Montserrat" pitchFamily="34" charset="-122"/>
                <a:cs typeface="Montserrat" pitchFamily="34" charset="-120"/>
              </a:rPr>
              <a:t> is a tuple containing all passed values.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 Slide number: 86</a:t>
            </a:r>
          </a:p>
        </p:txBody>
      </p:sp>
      <p:sp>
        <p:nvSpPr>
          <p:cNvPr id="4" name="Slide Number Placeholder 3">
            <a:extLst>
              <a:ext uri="{FF2B5EF4-FFF2-40B4-BE49-F238E27FC236}">
                <a16:creationId xmlns:a16="http://schemas.microsoft.com/office/drawing/2014/main" id="{B3B67D53-DA90-EE3F-5B9A-062D2C66BAA2}"/>
              </a:ext>
            </a:extLst>
          </p:cNvPr>
          <p:cNvSpPr>
            <a:spLocks noGrp="1"/>
          </p:cNvSpPr>
          <p:nvPr>
            <p:ph type="sldNum" sz="quarter" idx="5"/>
          </p:nvPr>
        </p:nvSpPr>
        <p:spPr/>
        <p:txBody>
          <a:bodyPr/>
          <a:lstStyle/>
          <a:p>
            <a:fld id="{1F1E027D-4684-4D2A-A457-B52C65DF2100}" type="slidenum">
              <a:rPr lang="en-GB" smtClean="0"/>
              <a:t>99</a:t>
            </a:fld>
            <a:endParaRPr lang="en-GB"/>
          </a:p>
        </p:txBody>
      </p:sp>
    </p:spTree>
    <p:extLst>
      <p:ext uri="{BB962C8B-B14F-4D97-AF65-F5344CB8AC3E}">
        <p14:creationId xmlns:p14="http://schemas.microsoft.com/office/powerpoint/2010/main" val="126297069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DF3BE-12F6-8206-9642-52D165339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170E5-F496-7603-04EC-493C1F1B9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BFBBF-0D63-1FB4-83D2-3E0012AA9D34}"/>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For example:</a:t>
            </a:r>
            <a:endParaRPr lang="en-US" sz="1800" dirty="0"/>
          </a:p>
          <a:p>
            <a:pPr>
              <a:lnSpc>
                <a:spcPts val="2042"/>
              </a:lnSpc>
            </a:pPr>
            <a:r>
              <a:rPr lang="en-US" sz="1800" dirty="0">
                <a:solidFill>
                  <a:srgbClr val="000000"/>
                </a:solidFill>
                <a:highlight>
                  <a:srgbClr val="DDDDEE"/>
                </a:highlight>
                <a:latin typeface="Consolas" pitchFamily="34" charset="0"/>
                <a:ea typeface="Consolas" pitchFamily="34" charset="-122"/>
                <a:cs typeface="Consolas" pitchFamily="34" charset="-120"/>
              </a:rPr>
              <a:t>def </a:t>
            </a:r>
            <a:r>
              <a:rPr lang="en-US" sz="1800" dirty="0" err="1">
                <a:solidFill>
                  <a:srgbClr val="000000"/>
                </a:solidFill>
                <a:highlight>
                  <a:srgbClr val="DDDDEE"/>
                </a:highlight>
                <a:latin typeface="Consolas" pitchFamily="34" charset="0"/>
                <a:ea typeface="Consolas" pitchFamily="34" charset="-122"/>
                <a:cs typeface="Consolas" pitchFamily="34" charset="-120"/>
              </a:rPr>
              <a:t>add_all</a:t>
            </a:r>
            <a:r>
              <a:rPr lang="en-US" sz="1800" dirty="0">
                <a:solidFill>
                  <a:srgbClr val="000000"/>
                </a:solidFill>
                <a:highlight>
                  <a:srgbClr val="DDDDEE"/>
                </a:highlight>
                <a:latin typeface="Consolas" pitchFamily="34" charset="0"/>
                <a:ea typeface="Consolas" pitchFamily="34" charset="-122"/>
                <a:cs typeface="Consolas" pitchFamily="34" charset="-120"/>
              </a:rPr>
              <a:t>(*</a:t>
            </a:r>
            <a:r>
              <a:rPr lang="en-US" sz="1800" dirty="0" err="1">
                <a:solidFill>
                  <a:srgbClr val="000000"/>
                </a:solidFill>
                <a:highlight>
                  <a:srgbClr val="DDDDEE"/>
                </a:highlight>
                <a:latin typeface="Consolas" pitchFamily="34" charset="0"/>
                <a:ea typeface="Consolas" pitchFamily="34" charset="-122"/>
                <a:cs typeface="Consolas" pitchFamily="34" charset="-120"/>
              </a:rPr>
              <a:t>nums</a:t>
            </a:r>
            <a:r>
              <a:rPr lang="en-US" sz="1800" dirty="0">
                <a:solidFill>
                  <a:srgbClr val="000000"/>
                </a:solidFill>
                <a:highlight>
                  <a:srgbClr val="DDDDEE"/>
                </a:highlight>
                <a:latin typeface="Consolas" pitchFamily="34" charset="0"/>
                <a:ea typeface="Consolas" pitchFamily="34" charset="-122"/>
                <a:cs typeface="Consolas" pitchFamily="34" charset="-120"/>
              </a:rPr>
              <a:t>): return sum(</a:t>
            </a:r>
            <a:r>
              <a:rPr lang="en-US" sz="1800" dirty="0" err="1">
                <a:solidFill>
                  <a:srgbClr val="000000"/>
                </a:solidFill>
                <a:highlight>
                  <a:srgbClr val="DDDDEE"/>
                </a:highlight>
                <a:latin typeface="Consolas" pitchFamily="34" charset="0"/>
                <a:ea typeface="Consolas" pitchFamily="34" charset="-122"/>
                <a:cs typeface="Consolas" pitchFamily="34" charset="-120"/>
              </a:rPr>
              <a:t>nums</a:t>
            </a:r>
            <a:r>
              <a:rPr lang="en-US" sz="1800" dirty="0">
                <a:solidFill>
                  <a:srgbClr val="000000"/>
                </a:solidFill>
                <a:highlight>
                  <a:srgbClr val="DDDDEE"/>
                </a:highlight>
                <a:latin typeface="Consolas" pitchFamily="34" charset="0"/>
                <a:ea typeface="Consolas" pitchFamily="34" charset="-122"/>
                <a:cs typeface="Consolas" pitchFamily="34" charset="-120"/>
              </a:rPr>
              <a:t>)</a:t>
            </a:r>
            <a:r>
              <a:rPr lang="en-US" sz="1800" dirty="0" err="1">
                <a:solidFill>
                  <a:srgbClr val="000000"/>
                </a:solidFill>
                <a:highlight>
                  <a:srgbClr val="DDDDEE"/>
                </a:highlight>
                <a:latin typeface="Consolas" pitchFamily="34" charset="0"/>
                <a:ea typeface="Consolas" pitchFamily="34" charset="-122"/>
                <a:cs typeface="Consolas" pitchFamily="34" charset="-120"/>
              </a:rPr>
              <a:t>add_all</a:t>
            </a:r>
            <a:r>
              <a:rPr lang="en-US" sz="1800" dirty="0">
                <a:solidFill>
                  <a:srgbClr val="000000"/>
                </a:solidFill>
                <a:highlight>
                  <a:srgbClr val="DDDDEE"/>
                </a:highlight>
                <a:latin typeface="Consolas" pitchFamily="34" charset="0"/>
                <a:ea typeface="Consolas" pitchFamily="34" charset="-122"/>
                <a:cs typeface="Consolas" pitchFamily="34" charset="-120"/>
              </a:rPr>
              <a:t>(1, 2, 3, 4)  # Returns 10</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 Slide number: 80</a:t>
            </a:r>
          </a:p>
        </p:txBody>
      </p:sp>
      <p:sp>
        <p:nvSpPr>
          <p:cNvPr id="4" name="Slide Number Placeholder 3">
            <a:extLst>
              <a:ext uri="{FF2B5EF4-FFF2-40B4-BE49-F238E27FC236}">
                <a16:creationId xmlns:a16="http://schemas.microsoft.com/office/drawing/2014/main" id="{C5604113-8B3F-6E4F-7196-0DED6BD0405D}"/>
              </a:ext>
            </a:extLst>
          </p:cNvPr>
          <p:cNvSpPr>
            <a:spLocks noGrp="1"/>
          </p:cNvSpPr>
          <p:nvPr>
            <p:ph type="sldNum" sz="quarter" idx="5"/>
          </p:nvPr>
        </p:nvSpPr>
        <p:spPr/>
        <p:txBody>
          <a:bodyPr/>
          <a:lstStyle/>
          <a:p>
            <a:fld id="{1F1E027D-4684-4D2A-A457-B52C65DF2100}" type="slidenum">
              <a:rPr lang="en-GB" smtClean="0"/>
              <a:t>100</a:t>
            </a:fld>
            <a:endParaRPr lang="en-GB"/>
          </a:p>
        </p:txBody>
      </p:sp>
    </p:spTree>
    <p:extLst>
      <p:ext uri="{BB962C8B-B14F-4D97-AF65-F5344CB8AC3E}">
        <p14:creationId xmlns:p14="http://schemas.microsoft.com/office/powerpoint/2010/main" val="121240654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1970F-53FA-7F1A-EDEF-EC00895D6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91A9E-496B-62B9-515B-371EA18D1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E255F9-E2DE-33FA-6B1B-18BFFC4FC7A9}"/>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a:t>
            </a:r>
            <a:r>
              <a:rPr lang="en-US" sz="1800" b="1" dirty="0" err="1">
                <a:solidFill>
                  <a:srgbClr val="25274D"/>
                </a:solidFill>
                <a:latin typeface="Montserrat Bold" pitchFamily="34" charset="0"/>
                <a:ea typeface="Montserrat Bold" pitchFamily="34" charset="-122"/>
                <a:cs typeface="Montserrat Bold" pitchFamily="34" charset="-120"/>
              </a:rPr>
              <a:t>kwargs</a:t>
            </a:r>
            <a:r>
              <a:rPr lang="en-US" sz="1800" b="1" dirty="0">
                <a:solidFill>
                  <a:srgbClr val="25274D"/>
                </a:solidFill>
                <a:latin typeface="Montserrat Bold" pitchFamily="34" charset="0"/>
                <a:ea typeface="Montserrat Bold" pitchFamily="34" charset="-122"/>
                <a:cs typeface="Montserrat Bold" pitchFamily="34" charset="-120"/>
              </a:rPr>
              <a:t> (Variable Keyword Arguments)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Use double asterisks (**) to collect keyword arguments into a dictionary:</a:t>
            </a:r>
            <a:endParaRPr lang="en-US" sz="1800" dirty="0"/>
          </a:p>
          <a:p>
            <a:pPr>
              <a:lnSpc>
                <a:spcPts val="1833"/>
              </a:lnSpc>
            </a:pPr>
            <a:r>
              <a:rPr lang="en-US" sz="1800" dirty="0">
                <a:solidFill>
                  <a:srgbClr val="000000"/>
                </a:solidFill>
                <a:highlight>
                  <a:srgbClr val="DDDDEE"/>
                </a:highlight>
                <a:latin typeface="Consolas" pitchFamily="34" charset="0"/>
                <a:ea typeface="Consolas" pitchFamily="34" charset="-122"/>
                <a:cs typeface="Consolas" pitchFamily="34" charset="-120"/>
              </a:rPr>
              <a:t>def </a:t>
            </a:r>
            <a:r>
              <a:rPr lang="en-US" sz="1800" dirty="0" err="1">
                <a:solidFill>
                  <a:srgbClr val="000000"/>
                </a:solidFill>
                <a:highlight>
                  <a:srgbClr val="DDDDEE"/>
                </a:highlight>
                <a:latin typeface="Consolas" pitchFamily="34" charset="0"/>
                <a:ea typeface="Consolas" pitchFamily="34" charset="-122"/>
                <a:cs typeface="Consolas" pitchFamily="34" charset="-120"/>
              </a:rPr>
              <a:t>show_details</a:t>
            </a:r>
            <a:r>
              <a:rPr lang="en-US" sz="1800" dirty="0">
                <a:solidFill>
                  <a:srgbClr val="000000"/>
                </a:solidFill>
                <a:highlight>
                  <a:srgbClr val="DDDDEE"/>
                </a:highlight>
                <a:latin typeface="Consolas" pitchFamily="34" charset="0"/>
                <a:ea typeface="Consolas" pitchFamily="34" charset="-122"/>
                <a:cs typeface="Consolas" pitchFamily="34" charset="-120"/>
              </a:rPr>
              <a:t>(**info): for key, value in </a:t>
            </a:r>
            <a:r>
              <a:rPr lang="en-US" sz="1800" dirty="0" err="1">
                <a:solidFill>
                  <a:srgbClr val="000000"/>
                </a:solidFill>
                <a:highlight>
                  <a:srgbClr val="DDDDEE"/>
                </a:highlight>
                <a:latin typeface="Consolas" pitchFamily="34" charset="0"/>
                <a:ea typeface="Consolas" pitchFamily="34" charset="-122"/>
                <a:cs typeface="Consolas" pitchFamily="34" charset="-120"/>
              </a:rPr>
              <a:t>info.items</a:t>
            </a:r>
            <a:r>
              <a:rPr lang="en-US" sz="1800" dirty="0">
                <a:solidFill>
                  <a:srgbClr val="000000"/>
                </a:solidFill>
                <a:highlight>
                  <a:srgbClr val="DDDDEE"/>
                </a:highlight>
                <a:latin typeface="Consolas" pitchFamily="34" charset="0"/>
                <a:ea typeface="Consolas" pitchFamily="34" charset="-122"/>
                <a:cs typeface="Consolas" pitchFamily="34" charset="-120"/>
              </a:rPr>
              <a:t>():print(f"{key}: {value}")</a:t>
            </a:r>
            <a:r>
              <a:rPr lang="en-US" sz="1800" dirty="0" err="1">
                <a:solidFill>
                  <a:srgbClr val="000000"/>
                </a:solidFill>
                <a:highlight>
                  <a:srgbClr val="DDDDEE"/>
                </a:highlight>
                <a:latin typeface="Consolas" pitchFamily="34" charset="0"/>
                <a:ea typeface="Consolas" pitchFamily="34" charset="-122"/>
                <a:cs typeface="Consolas" pitchFamily="34" charset="-120"/>
              </a:rPr>
              <a:t>show_details</a:t>
            </a:r>
            <a:r>
              <a:rPr lang="en-US" sz="1800" dirty="0">
                <a:solidFill>
                  <a:srgbClr val="000000"/>
                </a:solidFill>
                <a:highlight>
                  <a:srgbClr val="DDDDEE"/>
                </a:highlight>
                <a:latin typeface="Consolas" pitchFamily="34" charset="0"/>
                <a:ea typeface="Consolas" pitchFamily="34" charset="-122"/>
                <a:cs typeface="Consolas" pitchFamily="34" charset="-120"/>
              </a:rPr>
              <a:t>(name="Amit", city="Hyderabad")</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81</a:t>
            </a:r>
          </a:p>
        </p:txBody>
      </p:sp>
      <p:sp>
        <p:nvSpPr>
          <p:cNvPr id="4" name="Slide Number Placeholder 3">
            <a:extLst>
              <a:ext uri="{FF2B5EF4-FFF2-40B4-BE49-F238E27FC236}">
                <a16:creationId xmlns:a16="http://schemas.microsoft.com/office/drawing/2014/main" id="{5DB9E6B7-69CA-A4A7-7191-966A148245C1}"/>
              </a:ext>
            </a:extLst>
          </p:cNvPr>
          <p:cNvSpPr>
            <a:spLocks noGrp="1"/>
          </p:cNvSpPr>
          <p:nvPr>
            <p:ph type="sldNum" sz="quarter" idx="5"/>
          </p:nvPr>
        </p:nvSpPr>
        <p:spPr/>
        <p:txBody>
          <a:bodyPr/>
          <a:lstStyle/>
          <a:p>
            <a:fld id="{1F1E027D-4684-4D2A-A457-B52C65DF2100}" type="slidenum">
              <a:rPr lang="en-GB" smtClean="0"/>
              <a:t>101</a:t>
            </a:fld>
            <a:endParaRPr lang="en-GB"/>
          </a:p>
        </p:txBody>
      </p:sp>
    </p:spTree>
    <p:extLst>
      <p:ext uri="{BB962C8B-B14F-4D97-AF65-F5344CB8AC3E}">
        <p14:creationId xmlns:p14="http://schemas.microsoft.com/office/powerpoint/2010/main" val="380540714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2E7CE-757D-5AD9-8E5A-DE6FA17DFE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D14A0-274E-5403-6ECB-2A5ED19C8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E309D-5DD9-86CF-8C54-B8D56F5F2CE5}"/>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Using if __name__ == "__main__"</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Run Code Conditionally</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Execute certain code only when the file is run directly</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Create Reusable Modules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Allow files to serve as both scripts and libraries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Prevent Automatic Execution</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Code inside the if block won't run when imported</a:t>
            </a:r>
            <a:endParaRPr lang="en-US" sz="1800" dirty="0"/>
          </a:p>
          <a:p>
            <a:pPr>
              <a:lnSpc>
                <a:spcPts val="2208"/>
              </a:lnSpc>
            </a:pPr>
            <a:r>
              <a:rPr lang="en-US" sz="1800" dirty="0">
                <a:solidFill>
                  <a:srgbClr val="000000"/>
                </a:solidFill>
                <a:highlight>
                  <a:srgbClr val="DDDDEE"/>
                </a:highlight>
                <a:latin typeface="Consolas" pitchFamily="34" charset="0"/>
                <a:ea typeface="Consolas" pitchFamily="34" charset="-122"/>
                <a:cs typeface="Consolas" pitchFamily="34" charset="-120"/>
              </a:rPr>
              <a:t>def greet(): print("Hello!")if __name__ == "__main__":  greet()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a:lnSpc>
                <a:spcPts val="2208"/>
              </a:lnSpc>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82</a:t>
            </a:r>
          </a:p>
        </p:txBody>
      </p:sp>
      <p:sp>
        <p:nvSpPr>
          <p:cNvPr id="4" name="Slide Number Placeholder 3">
            <a:extLst>
              <a:ext uri="{FF2B5EF4-FFF2-40B4-BE49-F238E27FC236}">
                <a16:creationId xmlns:a16="http://schemas.microsoft.com/office/drawing/2014/main" id="{CB60B993-B59E-EA08-3608-25060F59C192}"/>
              </a:ext>
            </a:extLst>
          </p:cNvPr>
          <p:cNvSpPr>
            <a:spLocks noGrp="1"/>
          </p:cNvSpPr>
          <p:nvPr>
            <p:ph type="sldNum" sz="quarter" idx="5"/>
          </p:nvPr>
        </p:nvSpPr>
        <p:spPr/>
        <p:txBody>
          <a:bodyPr/>
          <a:lstStyle/>
          <a:p>
            <a:fld id="{1F1E027D-4684-4D2A-A457-B52C65DF2100}" type="slidenum">
              <a:rPr lang="en-GB" smtClean="0"/>
              <a:t>102</a:t>
            </a:fld>
            <a:endParaRPr lang="en-GB"/>
          </a:p>
        </p:txBody>
      </p:sp>
    </p:spTree>
    <p:extLst>
      <p:ext uri="{BB962C8B-B14F-4D97-AF65-F5344CB8AC3E}">
        <p14:creationId xmlns:p14="http://schemas.microsoft.com/office/powerpoint/2010/main" val="221231625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674D7-ED47-F973-061C-0B7DC3895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0A01F-3CF3-D01E-0D7E-F3899EEC7A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7D3F5-EA0E-BBF6-9EF5-E0D8B1990702}"/>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t>Scope of Variables in Functions </a:t>
            </a:r>
          </a:p>
          <a:p>
            <a:r>
              <a:rPr lang="en-US" sz="1800" dirty="0">
                <a:ea typeface="+mn-lt"/>
                <a:cs typeface="+mn-lt"/>
              </a:rPr>
              <a:t>Scope refers to the visibility of variables within different parts of your code. Variables defined inside a function are local to that function and cannot be accessed outside of it.</a:t>
            </a:r>
          </a:p>
          <a:p>
            <a:pPr marL="0" indent="0">
              <a:buFont typeface="Arial"/>
              <a:buNone/>
            </a:pPr>
            <a:r>
              <a:rPr lang="en-US" sz="1800" b="1" dirty="0">
                <a:ea typeface="+mn-lt"/>
                <a:cs typeface="+mn-lt"/>
              </a:rPr>
              <a:t>Local Scope</a:t>
            </a:r>
            <a:r>
              <a:rPr lang="en-US" sz="1800" dirty="0">
                <a:ea typeface="+mn-lt"/>
                <a:cs typeface="+mn-lt"/>
              </a:rPr>
              <a:t>: Variables declared inside a function, accessible only within that function</a:t>
            </a:r>
            <a:endParaRPr lang="en-US" sz="1800" dirty="0"/>
          </a:p>
          <a:p>
            <a:pPr marL="0" indent="0">
              <a:buFont typeface="Arial"/>
              <a:buNone/>
            </a:pPr>
            <a:r>
              <a:rPr lang="en-US" sz="1800" b="1" dirty="0">
                <a:ea typeface="+mn-lt"/>
                <a:cs typeface="+mn-lt"/>
              </a:rPr>
              <a:t>Global Scope</a:t>
            </a:r>
            <a:r>
              <a:rPr lang="en-US" sz="1800" dirty="0">
                <a:ea typeface="+mn-lt"/>
                <a:cs typeface="+mn-lt"/>
              </a:rPr>
              <a:t>: Variables declared outside of all functions, accessible throughout the code</a:t>
            </a:r>
            <a:endParaRPr lang="en-US" sz="1800" dirty="0"/>
          </a:p>
          <a:p>
            <a:endParaRPr lang="en-US" sz="1800" dirty="0">
              <a:ea typeface="+mn-lt"/>
              <a:cs typeface="+mn-lt"/>
            </a:endParaRPr>
          </a:p>
        </p:txBody>
      </p:sp>
      <p:sp>
        <p:nvSpPr>
          <p:cNvPr id="4" name="Slide Number Placeholder 3">
            <a:extLst>
              <a:ext uri="{FF2B5EF4-FFF2-40B4-BE49-F238E27FC236}">
                <a16:creationId xmlns:a16="http://schemas.microsoft.com/office/drawing/2014/main" id="{A293E968-92F0-EAA7-EA67-00F4D876B2D7}"/>
              </a:ext>
            </a:extLst>
          </p:cNvPr>
          <p:cNvSpPr>
            <a:spLocks noGrp="1"/>
          </p:cNvSpPr>
          <p:nvPr>
            <p:ph type="sldNum" sz="quarter" idx="5"/>
          </p:nvPr>
        </p:nvSpPr>
        <p:spPr/>
        <p:txBody>
          <a:bodyPr/>
          <a:lstStyle/>
          <a:p>
            <a:fld id="{1F1E027D-4684-4D2A-A457-B52C65DF2100}" type="slidenum">
              <a:rPr lang="en-GB" smtClean="0"/>
              <a:t>103</a:t>
            </a:fld>
            <a:endParaRPr lang="en-GB"/>
          </a:p>
        </p:txBody>
      </p:sp>
    </p:spTree>
    <p:extLst>
      <p:ext uri="{BB962C8B-B14F-4D97-AF65-F5344CB8AC3E}">
        <p14:creationId xmlns:p14="http://schemas.microsoft.com/office/powerpoint/2010/main" val="419712675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F83B-9D3F-C793-0D7B-4FA7BDA4C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CC062-1207-DAFF-5513-973F57E4E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8C9CD-9FD6-8ED5-DD41-239994E80E69}"/>
              </a:ext>
            </a:extLst>
          </p:cNvPr>
          <p:cNvSpPr>
            <a:spLocks noGrp="1"/>
          </p:cNvSpPr>
          <p:nvPr>
            <p:ph type="body" idx="1"/>
          </p:nvPr>
        </p:nvSpPr>
        <p:spPr/>
        <p:txBody>
          <a:bodyPr/>
          <a:lstStyle/>
          <a:p>
            <a:endParaRPr lang="en-US" sz="1800" dirty="0">
              <a:ea typeface="+mn-lt"/>
              <a:cs typeface="+mn-lt"/>
            </a:endParaRPr>
          </a:p>
          <a:p>
            <a:r>
              <a:rPr lang="en-US" sz="1800" b="1" dirty="0">
                <a:ea typeface="+mn-lt"/>
                <a:cs typeface="+mn-lt"/>
              </a:rPr>
              <a:t>For Example:</a:t>
            </a:r>
            <a:endParaRPr lang="en-US" sz="1800" b="1" dirty="0"/>
          </a:p>
          <a:p>
            <a:r>
              <a:rPr lang="en-IN" sz="1800" dirty="0">
                <a:solidFill>
                  <a:srgbClr val="FFFFFF"/>
                </a:solidFill>
                <a:ea typeface="+mn-lt"/>
                <a:cs typeface="+mn-lt"/>
              </a:rPr>
              <a:t>def </a:t>
            </a:r>
            <a:r>
              <a:rPr lang="en-IN" sz="1800" dirty="0" err="1">
                <a:solidFill>
                  <a:srgbClr val="FFFFFF"/>
                </a:solidFill>
                <a:ea typeface="+mn-lt"/>
                <a:cs typeface="+mn-lt"/>
              </a:rPr>
              <a:t>my_function</a:t>
            </a:r>
            <a:r>
              <a:rPr lang="en-IN" sz="1800" dirty="0">
                <a:solidFill>
                  <a:srgbClr val="FFFFFF"/>
                </a:solidFill>
                <a:ea typeface="+mn-lt"/>
                <a:cs typeface="+mn-lt"/>
              </a:rPr>
              <a:t>():</a:t>
            </a:r>
            <a:r>
              <a:rPr lang="en-IN" sz="1800" dirty="0" err="1">
                <a:solidFill>
                  <a:srgbClr val="FFFFFF"/>
                </a:solidFill>
                <a:ea typeface="+mn-lt"/>
                <a:cs typeface="+mn-lt"/>
              </a:rPr>
              <a:t>local</a:t>
            </a:r>
            <a:r>
              <a:rPr lang="en-IN" sz="1800" dirty="0" err="1">
                <a:ea typeface="+mn-lt"/>
                <a:cs typeface="+mn-lt"/>
              </a:rPr>
              <a:t>_var</a:t>
            </a:r>
            <a:r>
              <a:rPr lang="en-IN" sz="1800" dirty="0">
                <a:ea typeface="+mn-lt"/>
                <a:cs typeface="+mn-lt"/>
              </a:rPr>
              <a:t> = </a:t>
            </a:r>
            <a:r>
              <a:rPr lang="en-IN" sz="1800" dirty="0">
                <a:solidFill>
                  <a:srgbClr val="FFFFFF"/>
                </a:solidFill>
                <a:ea typeface="+mn-lt"/>
                <a:cs typeface="+mn-lt"/>
              </a:rPr>
              <a:t>10  # Local scope</a:t>
            </a:r>
            <a:r>
              <a:rPr lang="en-US" sz="1800" dirty="0">
                <a:solidFill>
                  <a:schemeClr val="tx1"/>
                </a:solidFill>
                <a:ea typeface="+mn-ea"/>
                <a:cs typeface="+mn-cs"/>
              </a:rPr>
              <a:t> </a:t>
            </a:r>
            <a:r>
              <a:rPr lang="en-IN" sz="1800" dirty="0" err="1">
                <a:solidFill>
                  <a:srgbClr val="FFFFFF"/>
                </a:solidFill>
                <a:ea typeface="+mn-lt"/>
                <a:cs typeface="+mn-lt"/>
              </a:rPr>
              <a:t>global_var</a:t>
            </a:r>
            <a:r>
              <a:rPr lang="en-IN" sz="1800" dirty="0">
                <a:solidFill>
                  <a:srgbClr val="FFFFFF"/>
                </a:solidFill>
                <a:ea typeface="+mn-lt"/>
                <a:cs typeface="+mn-lt"/>
              </a:rPr>
              <a:t> = </a:t>
            </a:r>
            <a:r>
              <a:rPr lang="en-IN" sz="1800" dirty="0">
                <a:ea typeface="+mn-lt"/>
                <a:cs typeface="+mn-lt"/>
              </a:rPr>
              <a:t>20  # Global scope</a:t>
            </a:r>
            <a:r>
              <a:rPr lang="en-IN" sz="1800" dirty="0">
                <a:ea typeface="+mn-ea"/>
                <a:cs typeface="+mn-cs"/>
              </a:rPr>
              <a:t> </a:t>
            </a:r>
            <a:r>
              <a:rPr lang="en-IN" sz="1800" dirty="0" err="1">
                <a:ea typeface="+mn-lt"/>
                <a:cs typeface="+mn-lt"/>
              </a:rPr>
              <a:t>my_function</a:t>
            </a:r>
            <a:r>
              <a:rPr lang="en-IN" sz="1800" dirty="0">
                <a:ea typeface="+mn-lt"/>
                <a:cs typeface="+mn-lt"/>
              </a:rPr>
              <a:t>()</a:t>
            </a:r>
            <a:r>
              <a:rPr lang="en-IN" sz="1800" dirty="0">
                <a:ea typeface="+mn-ea"/>
                <a:cs typeface="+mn-cs"/>
              </a:rPr>
              <a:t> </a:t>
            </a:r>
            <a:r>
              <a:rPr lang="en-IN" sz="1800" dirty="0">
                <a:ea typeface="+mn-lt"/>
                <a:cs typeface="+mn-lt"/>
              </a:rPr>
              <a:t>print(</a:t>
            </a:r>
            <a:r>
              <a:rPr lang="en-IN" sz="1800" dirty="0" err="1">
                <a:ea typeface="+mn-lt"/>
                <a:cs typeface="+mn-lt"/>
              </a:rPr>
              <a:t>global_var</a:t>
            </a:r>
            <a:r>
              <a:rPr lang="en-IN" sz="1800" dirty="0">
                <a:ea typeface="+mn-lt"/>
                <a:cs typeface="+mn-lt"/>
              </a:rPr>
              <a:t>)  # Output: 20</a:t>
            </a:r>
            <a:r>
              <a:rPr lang="en-IN" sz="1800" dirty="0">
                <a:ea typeface="+mn-ea"/>
                <a:cs typeface="+mn-cs"/>
              </a:rPr>
              <a:t> </a:t>
            </a:r>
            <a:r>
              <a:rPr lang="en-IN" sz="1800" dirty="0">
                <a:ea typeface="+mn-lt"/>
                <a:cs typeface="+mn-lt"/>
              </a:rPr>
              <a:t># print</a:t>
            </a:r>
            <a:r>
              <a:rPr lang="en-IN" sz="1800" dirty="0">
                <a:solidFill>
                  <a:srgbClr val="FFFFFF"/>
                </a:solidFill>
                <a:ea typeface="+mn-lt"/>
                <a:cs typeface="+mn-lt"/>
              </a:rPr>
              <a:t>(</a:t>
            </a:r>
            <a:r>
              <a:rPr lang="en-IN" sz="1800" dirty="0" err="1">
                <a:ea typeface="+mn-lt"/>
                <a:cs typeface="+mn-lt"/>
              </a:rPr>
              <a:t>local_var</a:t>
            </a:r>
            <a:r>
              <a:rPr lang="en-IN" sz="1800" dirty="0">
                <a:solidFill>
                  <a:srgbClr val="FFFFFF"/>
                </a:solidFill>
                <a:ea typeface="+mn-lt"/>
                <a:cs typeface="+mn-lt"/>
              </a:rPr>
              <a:t>)</a:t>
            </a:r>
            <a:r>
              <a:rPr lang="en-IN" sz="1800" dirty="0">
                <a:ea typeface="+mn-lt"/>
                <a:cs typeface="+mn-lt"/>
              </a:rPr>
              <a:t>  # Error: </a:t>
            </a:r>
            <a:r>
              <a:rPr lang="en-IN" sz="1800" dirty="0" err="1">
                <a:solidFill>
                  <a:srgbClr val="FFFFFF"/>
                </a:solidFill>
                <a:ea typeface="+mn-lt"/>
                <a:cs typeface="+mn-lt"/>
              </a:rPr>
              <a:t>NameError</a:t>
            </a:r>
            <a:endParaRPr lang="en-IN" sz="1800" dirty="0"/>
          </a:p>
          <a:p>
            <a:endParaRPr lang="en-IN" sz="1800" dirty="0">
              <a:solidFill>
                <a:srgbClr val="FFFFFF"/>
              </a:solidFill>
              <a:ea typeface="+mn-lt"/>
              <a:cs typeface="+mn-lt"/>
            </a:endParaRP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Slide number: 83</a:t>
            </a:r>
          </a:p>
        </p:txBody>
      </p:sp>
      <p:sp>
        <p:nvSpPr>
          <p:cNvPr id="4" name="Slide Number Placeholder 3">
            <a:extLst>
              <a:ext uri="{FF2B5EF4-FFF2-40B4-BE49-F238E27FC236}">
                <a16:creationId xmlns:a16="http://schemas.microsoft.com/office/drawing/2014/main" id="{A554A22D-5322-D312-609C-A4362A07D696}"/>
              </a:ext>
            </a:extLst>
          </p:cNvPr>
          <p:cNvSpPr>
            <a:spLocks noGrp="1"/>
          </p:cNvSpPr>
          <p:nvPr>
            <p:ph type="sldNum" sz="quarter" idx="5"/>
          </p:nvPr>
        </p:nvSpPr>
        <p:spPr/>
        <p:txBody>
          <a:bodyPr/>
          <a:lstStyle/>
          <a:p>
            <a:fld id="{1F1E027D-4684-4D2A-A457-B52C65DF2100}" type="slidenum">
              <a:rPr lang="en-GB" smtClean="0"/>
              <a:t>104</a:t>
            </a:fld>
            <a:endParaRPr lang="en-GB"/>
          </a:p>
        </p:txBody>
      </p:sp>
    </p:spTree>
    <p:extLst>
      <p:ext uri="{BB962C8B-B14F-4D97-AF65-F5344CB8AC3E}">
        <p14:creationId xmlns:p14="http://schemas.microsoft.com/office/powerpoint/2010/main" val="63869011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1B01B-F34C-3D6A-2A4B-975E8A324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6BBBF-ED69-3670-901F-29FAA912C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381DA-2BE9-5CCF-4DE5-0C4A793B1193}"/>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Exercise: Ticket Pricing Function </a:t>
            </a:r>
          </a:p>
          <a:p>
            <a:pPr marL="0" marR="0" lvl="0" indent="0" algn="l" defTabSz="914400" rtl="0" eaLnBrk="0" fontAlgn="base" latinLnBrk="0" hangingPunct="0">
              <a:lnSpc>
                <a:spcPct val="150000"/>
              </a:lnSpc>
              <a:spcBef>
                <a:spcPts val="600"/>
              </a:spcBef>
              <a:spcAft>
                <a:spcPct val="0"/>
              </a:spcAft>
              <a:buClrTx/>
              <a:buSzTx/>
              <a:buFont typeface="Arial" panose="020B0604020202020204" pitchFamily="34" charset="0"/>
              <a:buNone/>
              <a:tabLst/>
            </a:pPr>
            <a:r>
              <a:rPr kumimoji="0" lang="en-US" altLang="en-US" b="0" i="0" u="none" strike="noStrike" cap="none" normalizeH="0" baseline="0" dirty="0">
                <a:ln>
                  <a:noFill/>
                </a:ln>
                <a:solidFill>
                  <a:schemeClr val="tx1"/>
                </a:solidFill>
                <a:effectLst/>
              </a:rPr>
              <a:t>Write a Python function called </a:t>
            </a:r>
            <a:r>
              <a:rPr kumimoji="0" lang="en-US" altLang="en-US" b="0" i="0" u="none" strike="noStrike" cap="none" normalizeH="0" baseline="0" dirty="0" err="1">
                <a:ln>
                  <a:noFill/>
                </a:ln>
                <a:solidFill>
                  <a:schemeClr val="tx1"/>
                </a:solidFill>
                <a:effectLst/>
              </a:rPr>
              <a:t>calculate_ticket_price</a:t>
            </a:r>
            <a:r>
              <a:rPr kumimoji="0" lang="en-US" altLang="en-US" b="0" i="0" u="none" strike="noStrike" cap="none" normalizeH="0" baseline="0" dirty="0">
                <a:ln>
                  <a:noFill/>
                </a:ln>
                <a:solidFill>
                  <a:schemeClr val="tx1"/>
                </a:solidFill>
                <a:effectLst/>
              </a:rPr>
              <a:t>(age) that:</a:t>
            </a:r>
          </a:p>
          <a:p>
            <a:pPr marL="0" marR="0" lvl="0" indent="0" algn="l" defTabSz="914400" rtl="0" eaLnBrk="0" fontAlgn="base" latinLnBrk="0" hangingPunct="0">
              <a:lnSpc>
                <a:spcPct val="150000"/>
              </a:lnSpc>
              <a:spcBef>
                <a:spcPts val="600"/>
              </a:spcBef>
              <a:spcAft>
                <a:spcPct val="0"/>
              </a:spcAft>
              <a:buClrTx/>
              <a:buSzTx/>
              <a:buFont typeface="Arial" panose="020B0604020202020204" pitchFamily="34" charset="0"/>
              <a:buNone/>
              <a:tabLst/>
            </a:pPr>
            <a:r>
              <a:rPr kumimoji="0" lang="en-US" altLang="en-US" b="0" i="0" u="none" strike="noStrike" cap="none" normalizeH="0" baseline="0" dirty="0">
                <a:ln>
                  <a:noFill/>
                </a:ln>
                <a:solidFill>
                  <a:schemeClr val="tx1"/>
                </a:solidFill>
                <a:effectLst/>
              </a:rPr>
              <a:t>Takes a person’s </a:t>
            </a:r>
            <a:r>
              <a:rPr kumimoji="0" lang="en-US" altLang="en-US" b="1" i="0" u="none" strike="noStrike" cap="none" normalizeH="0" baseline="0" dirty="0">
                <a:ln>
                  <a:noFill/>
                </a:ln>
                <a:solidFill>
                  <a:schemeClr val="tx1"/>
                </a:solidFill>
                <a:effectLst/>
              </a:rPr>
              <a:t>age</a:t>
            </a:r>
            <a:r>
              <a:rPr kumimoji="0" lang="en-US" altLang="en-US" b="0" i="0" u="none" strike="noStrike" cap="none" normalizeH="0" baseline="0" dirty="0">
                <a:ln>
                  <a:noFill/>
                </a:ln>
                <a:solidFill>
                  <a:schemeClr val="tx1"/>
                </a:solidFill>
                <a:effectLst/>
              </a:rPr>
              <a:t> as input (parameter).</a:t>
            </a:r>
          </a:p>
          <a:p>
            <a:pPr marL="0" marR="0" lvl="0" indent="0" algn="l" defTabSz="914400" rtl="0" eaLnBrk="0" fontAlgn="base" latinLnBrk="0" hangingPunct="0">
              <a:lnSpc>
                <a:spcPct val="150000"/>
              </a:lnSpc>
              <a:spcBef>
                <a:spcPts val="600"/>
              </a:spcBef>
              <a:spcAft>
                <a:spcPct val="0"/>
              </a:spcAft>
              <a:buClrTx/>
              <a:buSzTx/>
              <a:buFont typeface="Arial" panose="020B0604020202020204" pitchFamily="34" charset="0"/>
              <a:buNone/>
              <a:tabLst/>
            </a:pPr>
            <a:r>
              <a:rPr kumimoji="0" lang="en-US" altLang="en-US" b="0" i="0" u="none" strike="noStrike" cap="none" normalizeH="0" baseline="0" dirty="0">
                <a:ln>
                  <a:noFill/>
                </a:ln>
                <a:solidFill>
                  <a:schemeClr val="tx1"/>
                </a:solidFill>
                <a:effectLst/>
              </a:rPr>
              <a:t>Uses if statements to decide the ticket price:</a:t>
            </a:r>
          </a:p>
          <a:p>
            <a:pPr marL="0" marR="0" lvl="0" indent="0" algn="l" defTabSz="914400" rtl="0" eaLnBrk="0" fontAlgn="base" latinLnBrk="0" hangingPunct="0">
              <a:lnSpc>
                <a:spcPct val="150000"/>
              </a:lnSpc>
              <a:spcBef>
                <a:spcPts val="600"/>
              </a:spcBef>
              <a:spcAft>
                <a:spcPct val="0"/>
              </a:spcAft>
              <a:buClrTx/>
              <a:buSzTx/>
              <a:buFont typeface="Arial" panose="020B0604020202020204" pitchFamily="34" charset="0"/>
              <a:buNone/>
              <a:tabLst/>
            </a:pPr>
            <a:r>
              <a:rPr kumimoji="0" lang="en-US" altLang="en-US" b="0" i="0" u="none" strike="noStrike" cap="none" normalizeH="0" baseline="0" dirty="0">
                <a:ln>
                  <a:noFill/>
                </a:ln>
                <a:solidFill>
                  <a:schemeClr val="tx1"/>
                </a:solidFill>
                <a:effectLst/>
              </a:rPr>
              <a:t>If age is </a:t>
            </a:r>
            <a:r>
              <a:rPr kumimoji="0" lang="en-US" altLang="en-US" b="1" i="0" u="none" strike="noStrike" cap="none" normalizeH="0" baseline="0" dirty="0">
                <a:ln>
                  <a:noFill/>
                </a:ln>
                <a:solidFill>
                  <a:schemeClr val="tx1"/>
                </a:solidFill>
                <a:effectLst/>
              </a:rPr>
              <a:t>below 12</a:t>
            </a:r>
            <a:r>
              <a:rPr kumimoji="0" lang="en-US" altLang="en-US" b="0" i="0" u="none" strike="noStrike" cap="none" normalizeH="0" baseline="0" dirty="0">
                <a:ln>
                  <a:noFill/>
                </a:ln>
                <a:solidFill>
                  <a:schemeClr val="tx1"/>
                </a:solidFill>
                <a:effectLst/>
              </a:rPr>
              <a:t>, the price is ₹100.</a:t>
            </a:r>
          </a:p>
          <a:p>
            <a:pPr marL="0" marR="0" lvl="0" indent="0" algn="l" defTabSz="914400" rtl="0" eaLnBrk="0" fontAlgn="base" latinLnBrk="0" hangingPunct="0">
              <a:lnSpc>
                <a:spcPct val="150000"/>
              </a:lnSpc>
              <a:spcBef>
                <a:spcPts val="600"/>
              </a:spcBef>
              <a:spcAft>
                <a:spcPct val="0"/>
              </a:spcAft>
              <a:buClrTx/>
              <a:buSzTx/>
              <a:buFont typeface="Arial" panose="020B0604020202020204" pitchFamily="34" charset="0"/>
              <a:buNone/>
              <a:tabLst/>
            </a:pPr>
            <a:r>
              <a:rPr kumimoji="0" lang="en-US" altLang="en-US" b="0" i="0" u="none" strike="noStrike" cap="none" normalizeH="0" baseline="0" dirty="0">
                <a:ln>
                  <a:noFill/>
                </a:ln>
                <a:solidFill>
                  <a:schemeClr val="tx1"/>
                </a:solidFill>
                <a:effectLst/>
              </a:rPr>
              <a:t>If age is </a:t>
            </a:r>
            <a:r>
              <a:rPr kumimoji="0" lang="en-US" altLang="en-US" b="1" i="0" u="none" strike="noStrike" cap="none" normalizeH="0" baseline="0" dirty="0">
                <a:ln>
                  <a:noFill/>
                </a:ln>
                <a:solidFill>
                  <a:schemeClr val="tx1"/>
                </a:solidFill>
                <a:effectLst/>
              </a:rPr>
              <a:t>12 to 59</a:t>
            </a:r>
            <a:r>
              <a:rPr kumimoji="0" lang="en-US" altLang="en-US" b="0" i="0" u="none" strike="noStrike" cap="none" normalizeH="0" baseline="0" dirty="0">
                <a:ln>
                  <a:noFill/>
                </a:ln>
                <a:solidFill>
                  <a:schemeClr val="tx1"/>
                </a:solidFill>
                <a:effectLst/>
              </a:rPr>
              <a:t>, the price is ₹200.</a:t>
            </a:r>
          </a:p>
          <a:p>
            <a:pPr marL="0" marR="0" lvl="0" indent="0" algn="l" defTabSz="914400" rtl="0" eaLnBrk="0" fontAlgn="base" latinLnBrk="0" hangingPunct="0">
              <a:lnSpc>
                <a:spcPct val="150000"/>
              </a:lnSpc>
              <a:spcBef>
                <a:spcPts val="600"/>
              </a:spcBef>
              <a:spcAft>
                <a:spcPct val="0"/>
              </a:spcAft>
              <a:buClrTx/>
              <a:buSzTx/>
              <a:buFont typeface="Arial" panose="020B0604020202020204" pitchFamily="34" charset="0"/>
              <a:buNone/>
              <a:tabLst/>
            </a:pPr>
            <a:r>
              <a:rPr kumimoji="0" lang="en-US" altLang="en-US" b="0" i="0" u="none" strike="noStrike" cap="none" normalizeH="0" baseline="0" dirty="0">
                <a:ln>
                  <a:noFill/>
                </a:ln>
                <a:solidFill>
                  <a:schemeClr val="tx1"/>
                </a:solidFill>
                <a:effectLst/>
              </a:rPr>
              <a:t>If age is </a:t>
            </a:r>
            <a:r>
              <a:rPr kumimoji="0" lang="en-US" altLang="en-US" b="1" i="0" u="none" strike="noStrike" cap="none" normalizeH="0" baseline="0" dirty="0">
                <a:ln>
                  <a:noFill/>
                </a:ln>
                <a:solidFill>
                  <a:schemeClr val="tx1"/>
                </a:solidFill>
                <a:effectLst/>
              </a:rPr>
              <a:t>60 or above</a:t>
            </a:r>
            <a:r>
              <a:rPr kumimoji="0" lang="en-US" altLang="en-US" b="0" i="0" u="none" strike="noStrike" cap="none" normalizeH="0" baseline="0" dirty="0">
                <a:ln>
                  <a:noFill/>
                </a:ln>
                <a:solidFill>
                  <a:schemeClr val="tx1"/>
                </a:solidFill>
                <a:effectLst/>
              </a:rPr>
              <a:t>, the price is ₹150.</a:t>
            </a:r>
          </a:p>
          <a:p>
            <a:pPr marL="0" marR="0" lvl="0" indent="0" algn="l" defTabSz="914400" rtl="0" eaLnBrk="0" fontAlgn="base" latinLnBrk="0" hangingPunct="0">
              <a:lnSpc>
                <a:spcPct val="150000"/>
              </a:lnSpc>
              <a:spcBef>
                <a:spcPts val="600"/>
              </a:spcBef>
              <a:spcAft>
                <a:spcPct val="0"/>
              </a:spcAft>
              <a:buClrTx/>
              <a:buSzTx/>
              <a:buFont typeface="Arial" panose="020B0604020202020204" pitchFamily="34" charset="0"/>
              <a:buNone/>
              <a:tabLst/>
            </a:pPr>
            <a:r>
              <a:rPr kumimoji="0" lang="en-US" altLang="en-US" b="0" i="0" u="none" strike="noStrike" cap="none" normalizeH="0" baseline="0" dirty="0">
                <a:ln>
                  <a:noFill/>
                </a:ln>
                <a:solidFill>
                  <a:schemeClr val="tx1"/>
                </a:solidFill>
                <a:effectLst/>
              </a:rPr>
              <a:t>Returns the final ticket price.</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86</a:t>
            </a:r>
          </a:p>
        </p:txBody>
      </p:sp>
      <p:sp>
        <p:nvSpPr>
          <p:cNvPr id="4" name="Slide Number Placeholder 3">
            <a:extLst>
              <a:ext uri="{FF2B5EF4-FFF2-40B4-BE49-F238E27FC236}">
                <a16:creationId xmlns:a16="http://schemas.microsoft.com/office/drawing/2014/main" id="{554996B9-9458-E7F0-FB3E-9211F3AD056C}"/>
              </a:ext>
            </a:extLst>
          </p:cNvPr>
          <p:cNvSpPr>
            <a:spLocks noGrp="1"/>
          </p:cNvSpPr>
          <p:nvPr>
            <p:ph type="sldNum" sz="quarter" idx="5"/>
          </p:nvPr>
        </p:nvSpPr>
        <p:spPr/>
        <p:txBody>
          <a:bodyPr/>
          <a:lstStyle/>
          <a:p>
            <a:fld id="{1F1E027D-4684-4D2A-A457-B52C65DF2100}" type="slidenum">
              <a:rPr lang="en-GB" smtClean="0"/>
              <a:t>105</a:t>
            </a:fld>
            <a:endParaRPr lang="en-GB"/>
          </a:p>
        </p:txBody>
      </p:sp>
    </p:spTree>
    <p:extLst>
      <p:ext uri="{BB962C8B-B14F-4D97-AF65-F5344CB8AC3E}">
        <p14:creationId xmlns:p14="http://schemas.microsoft.com/office/powerpoint/2010/main" val="210556786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8BB91-CD46-9857-E818-E5CC10BB7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8FAA6-0729-67A1-036D-F3A0395D5C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8ADF2-EF1E-5EB4-B109-3BD8EEB248B0}"/>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t>Lambda Functions</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r>
              <a:rPr lang="en-US" sz="1800" dirty="0">
                <a:ea typeface="+mn-lt"/>
                <a:cs typeface="+mn-lt"/>
              </a:rPr>
              <a:t>Lambda functions are small, anonymous functions defined with the </a:t>
            </a:r>
            <a:r>
              <a:rPr lang="en-US" sz="1800" dirty="0">
                <a:latin typeface="Consolas"/>
                <a:ea typeface="+mn-lt"/>
                <a:cs typeface="+mn-lt"/>
              </a:rPr>
              <a:t>lambda</a:t>
            </a:r>
            <a:r>
              <a:rPr lang="en-US" sz="1800" dirty="0">
                <a:ea typeface="+mn-lt"/>
                <a:cs typeface="+mn-lt"/>
              </a:rPr>
              <a:t> keyword. They are useful for short, throwaway functions that are not intended to be reused.</a:t>
            </a:r>
          </a:p>
          <a:p>
            <a:endParaRPr lang="en-US" sz="1800" dirty="0"/>
          </a:p>
          <a:p>
            <a:r>
              <a:rPr lang="en-US" sz="1800" dirty="0">
                <a:ea typeface="+mn-lt"/>
                <a:cs typeface="+mn-lt"/>
              </a:rPr>
              <a:t>For  Example  : </a:t>
            </a:r>
            <a:endParaRPr lang="en-US" sz="1800" dirty="0"/>
          </a:p>
          <a:p>
            <a:endParaRPr lang="en-US" sz="1800" dirty="0">
              <a:latin typeface="Montserrat"/>
            </a:endParaRPr>
          </a:p>
          <a:p>
            <a:r>
              <a:rPr lang="en-IN" sz="1800" dirty="0">
                <a:solidFill>
                  <a:srgbClr val="FFFFFF"/>
                </a:solidFill>
                <a:ea typeface="+mn-lt"/>
                <a:cs typeface="+mn-lt"/>
              </a:rPr>
              <a:t>square </a:t>
            </a:r>
            <a:r>
              <a:rPr lang="en-IN" sz="1800" dirty="0">
                <a:ea typeface="+mn-lt"/>
                <a:cs typeface="+mn-lt"/>
              </a:rPr>
              <a:t>= </a:t>
            </a:r>
            <a:r>
              <a:rPr lang="en-IN" sz="1800" dirty="0">
                <a:solidFill>
                  <a:srgbClr val="FFFFFF"/>
                </a:solidFill>
                <a:ea typeface="+mn-lt"/>
                <a:cs typeface="+mn-lt"/>
              </a:rPr>
              <a:t>lambda x: x</a:t>
            </a:r>
            <a:r>
              <a:rPr lang="en-IN" sz="1800" dirty="0">
                <a:ea typeface="+mn-lt"/>
                <a:cs typeface="+mn-lt"/>
              </a:rPr>
              <a:t> ** 2</a:t>
            </a:r>
            <a:r>
              <a:rPr lang="en-IN" sz="1800" dirty="0">
                <a:solidFill>
                  <a:srgbClr val="FFFFFF"/>
                </a:solidFill>
                <a:ea typeface="+mn-lt"/>
                <a:cs typeface="+mn-lt"/>
              </a:rPr>
              <a:t>print(square(4))  # Output: 16</a:t>
            </a:r>
            <a:endParaRPr lang="en-IN" sz="1800" dirty="0"/>
          </a:p>
          <a:p>
            <a:endParaRPr lang="en-IN" sz="1800" dirty="0">
              <a:solidFill>
                <a:srgbClr val="FFFFFF"/>
              </a:solidFill>
              <a:ea typeface="+mn-lt"/>
              <a:cs typeface="+mn-lt"/>
            </a:endParaRPr>
          </a:p>
          <a:p>
            <a:r>
              <a:rPr lang="en-US" sz="1800" dirty="0">
                <a:latin typeface="Montserrat"/>
              </a:rPr>
              <a:t>Image : Slide number 85</a:t>
            </a:r>
          </a:p>
          <a:p>
            <a:pPr marL="285750" indent="-285750">
              <a:buFont typeface="Arial"/>
              <a:buChar char="•"/>
            </a:pPr>
            <a:endParaRPr lang="en-US" sz="1800" dirty="0">
              <a:latin typeface="Consolas"/>
            </a:endParaRPr>
          </a:p>
          <a:p>
            <a:endParaRPr lang="en-US" sz="1800" dirty="0">
              <a:latin typeface="Montserrat"/>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BF3B9C74-36E9-1561-48BB-4CCB98F59318}"/>
              </a:ext>
            </a:extLst>
          </p:cNvPr>
          <p:cNvSpPr>
            <a:spLocks noGrp="1"/>
          </p:cNvSpPr>
          <p:nvPr>
            <p:ph type="sldNum" sz="quarter" idx="5"/>
          </p:nvPr>
        </p:nvSpPr>
        <p:spPr/>
        <p:txBody>
          <a:bodyPr/>
          <a:lstStyle/>
          <a:p>
            <a:fld id="{1F1E027D-4684-4D2A-A457-B52C65DF2100}" type="slidenum">
              <a:rPr lang="en-GB" smtClean="0"/>
              <a:t>106</a:t>
            </a:fld>
            <a:endParaRPr lang="en-GB"/>
          </a:p>
        </p:txBody>
      </p:sp>
    </p:spTree>
    <p:extLst>
      <p:ext uri="{BB962C8B-B14F-4D97-AF65-F5344CB8AC3E}">
        <p14:creationId xmlns:p14="http://schemas.microsoft.com/office/powerpoint/2010/main" val="13076657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9A89-E575-E604-7A7E-72A38672B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8F961-4B52-30A0-1BFC-7A05D0AF5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73B7C-2119-06F0-5ED8-765092EEB14D}"/>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Best Practices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Add Docstrings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Document your functions with triple quotes. Explain parameters and return values.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Use Clear Names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Choose descriptive function names like </a:t>
            </a:r>
            <a:r>
              <a:rPr lang="en-US" sz="1800" b="1" dirty="0" err="1">
                <a:solidFill>
                  <a:srgbClr val="000000"/>
                </a:solidFill>
                <a:latin typeface="Montserrat" pitchFamily="34" charset="0"/>
                <a:ea typeface="Montserrat" pitchFamily="34" charset="-122"/>
                <a:cs typeface="Montserrat" pitchFamily="34" charset="-120"/>
              </a:rPr>
              <a:t>calculate_mean</a:t>
            </a:r>
            <a:r>
              <a:rPr lang="en-US" sz="1800" b="1" dirty="0">
                <a:solidFill>
                  <a:srgbClr val="000000"/>
                </a:solidFill>
                <a:latin typeface="Montserrat" pitchFamily="34" charset="0"/>
                <a:ea typeface="Montserrat" pitchFamily="34" charset="-122"/>
                <a:cs typeface="Montserrat" pitchFamily="34" charset="-120"/>
              </a:rPr>
              <a:t>()</a:t>
            </a:r>
            <a:r>
              <a:rPr lang="en-US" sz="1800" dirty="0">
                <a:solidFill>
                  <a:srgbClr val="000000"/>
                </a:solidFill>
                <a:latin typeface="Montserrat" pitchFamily="34" charset="0"/>
                <a:ea typeface="Montserrat" pitchFamily="34" charset="-122"/>
                <a:cs typeface="Montserrat" pitchFamily="34" charset="-120"/>
              </a:rPr>
              <a:t> instead of </a:t>
            </a:r>
            <a:r>
              <a:rPr lang="en-US" sz="1800" b="1" dirty="0">
                <a:solidFill>
                  <a:srgbClr val="000000"/>
                </a:solidFill>
                <a:latin typeface="Montserrat" pitchFamily="34" charset="0"/>
                <a:ea typeface="Montserrat" pitchFamily="34" charset="-122"/>
                <a:cs typeface="Montserrat" pitchFamily="34" charset="-120"/>
              </a:rPr>
              <a:t>cm()</a:t>
            </a:r>
            <a:r>
              <a:rPr lang="en-US" sz="1800" dirty="0">
                <a:solidFill>
                  <a:srgbClr val="000000"/>
                </a:solidFill>
                <a:latin typeface="Montserrat" pitchFamily="34" charset="0"/>
                <a:ea typeface="Montserrat" pitchFamily="34" charset="-122"/>
                <a:cs typeface="Montserrat" pitchFamily="34" charset="-120"/>
              </a:rPr>
              <a: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Keep Functions Short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Each function should do one thing well. Aim for under 20 lines.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Write Test Cases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Test functions with various inputs to verify correct behavior.</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solidFill>
                <a:srgbClr val="000000"/>
              </a:solidFill>
              <a:latin typeface="Montserrat" pitchFamily="34" charset="0"/>
            </a:endParaRP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rPr>
              <a:t>Image:</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rPr>
              <a:t>Infographic Repository Slide 84 (Show without arrows from it.)</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rPr>
              <a:t>These icons were from slide deck </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84</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D4D64B02-B220-8568-6E62-101CE2A88E5B}"/>
              </a:ext>
            </a:extLst>
          </p:cNvPr>
          <p:cNvSpPr>
            <a:spLocks noGrp="1"/>
          </p:cNvSpPr>
          <p:nvPr>
            <p:ph type="sldNum" sz="quarter" idx="5"/>
          </p:nvPr>
        </p:nvSpPr>
        <p:spPr/>
        <p:txBody>
          <a:bodyPr/>
          <a:lstStyle/>
          <a:p>
            <a:fld id="{1F1E027D-4684-4D2A-A457-B52C65DF2100}" type="slidenum">
              <a:rPr lang="en-GB" smtClean="0"/>
              <a:t>107</a:t>
            </a:fld>
            <a:endParaRPr lang="en-GB"/>
          </a:p>
        </p:txBody>
      </p:sp>
    </p:spTree>
    <p:extLst>
      <p:ext uri="{BB962C8B-B14F-4D97-AF65-F5344CB8AC3E}">
        <p14:creationId xmlns:p14="http://schemas.microsoft.com/office/powerpoint/2010/main" val="243815451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9D9E7-839C-7D1A-4A87-666F6A3DB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B5794-7178-4D29-47F2-7C113DB00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E15647-6226-5CC9-C4C1-7D7589292F57}"/>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Chatbot: Backend Code Example</a:t>
            </a:r>
            <a:endParaRPr lang="en-US" sz="1800" dirty="0"/>
          </a:p>
          <a:p>
            <a:r>
              <a:rPr lang="en-IN" sz="1800" dirty="0"/>
              <a:t># Simple chatbot using </a:t>
            </a:r>
            <a:r>
              <a:rPr lang="en-IN" sz="1800" dirty="0" err="1"/>
              <a:t>functionsdef</a:t>
            </a:r>
            <a:r>
              <a:rPr lang="en-IN" sz="1800" dirty="0"/>
              <a:t> </a:t>
            </a:r>
            <a:r>
              <a:rPr lang="en-IN" sz="1800" dirty="0" err="1"/>
              <a:t>get_response</a:t>
            </a:r>
            <a:r>
              <a:rPr lang="en-IN" sz="1800" dirty="0"/>
              <a:t>(</a:t>
            </a:r>
            <a:r>
              <a:rPr lang="en-IN" sz="1800" dirty="0" err="1"/>
              <a:t>user_input</a:t>
            </a:r>
            <a:r>
              <a:rPr lang="en-IN" sz="1800" dirty="0"/>
              <a:t>):   """Return a chatbot response based on user input"""</a:t>
            </a:r>
            <a:r>
              <a:rPr lang="en-IN" sz="1800" dirty="0" err="1"/>
              <a:t>user_input</a:t>
            </a:r>
            <a:r>
              <a:rPr lang="en-IN" sz="1800" dirty="0"/>
              <a:t> = </a:t>
            </a:r>
            <a:r>
              <a:rPr lang="en-IN" sz="1800" dirty="0" err="1"/>
              <a:t>user_input.lower</a:t>
            </a:r>
            <a:r>
              <a:rPr lang="en-IN" sz="1800" dirty="0"/>
              <a:t>() if "hello" in </a:t>
            </a:r>
            <a:r>
              <a:rPr lang="en-IN" sz="1800" dirty="0" err="1"/>
              <a:t>user_input</a:t>
            </a:r>
            <a:r>
              <a:rPr lang="en-IN" sz="1800" dirty="0"/>
              <a:t> or "hi" in </a:t>
            </a:r>
            <a:r>
              <a:rPr lang="en-IN" sz="1800" dirty="0" err="1"/>
              <a:t>user_input:return</a:t>
            </a:r>
            <a:r>
              <a:rPr lang="en-IN" sz="1800" dirty="0"/>
              <a:t> "Hello! How can I help you today?" </a:t>
            </a:r>
            <a:r>
              <a:rPr lang="en-IN" sz="1800" dirty="0" err="1"/>
              <a:t>lif</a:t>
            </a:r>
            <a:r>
              <a:rPr lang="en-IN" sz="1800" dirty="0"/>
              <a:t> "bye" in </a:t>
            </a:r>
            <a:r>
              <a:rPr lang="en-IN" sz="1800" dirty="0" err="1"/>
              <a:t>user_input</a:t>
            </a:r>
            <a:r>
              <a:rPr lang="en-IN" sz="1800" dirty="0"/>
              <a:t>: return "Goodbye! Have a great day! </a:t>
            </a:r>
            <a:r>
              <a:rPr lang="en-IN" sz="1800" dirty="0" err="1"/>
              <a:t>elif</a:t>
            </a:r>
            <a:r>
              <a:rPr lang="en-IN" sz="1800" dirty="0"/>
              <a:t> "price" in </a:t>
            </a:r>
            <a:r>
              <a:rPr lang="en-IN" sz="1800" dirty="0" err="1"/>
              <a:t>user_input</a:t>
            </a:r>
            <a:r>
              <a:rPr lang="en-IN" sz="1800" dirty="0"/>
              <a:t>  return "Our product prices start at ₹499."  </a:t>
            </a:r>
            <a:r>
              <a:rPr lang="en-IN" sz="1800" dirty="0" err="1"/>
              <a:t>else:return</a:t>
            </a:r>
            <a:r>
              <a:rPr lang="en-IN" sz="1800" dirty="0"/>
              <a:t> "I'm not sure I understand. Can you rephrase?"# Chatbot </a:t>
            </a:r>
            <a:r>
              <a:rPr lang="en-IN" sz="1800" dirty="0" err="1"/>
              <a:t>loopprint</a:t>
            </a:r>
            <a:r>
              <a:rPr lang="en-IN" sz="1800" dirty="0"/>
              <a:t>("Welcome to </a:t>
            </a:r>
            <a:r>
              <a:rPr lang="en-IN" sz="1800" dirty="0" err="1"/>
              <a:t>SimpleBot</a:t>
            </a:r>
            <a:r>
              <a:rPr lang="en-IN" sz="1800" dirty="0"/>
              <a:t>! (type 'bye' to exit)") while True:  </a:t>
            </a:r>
            <a:r>
              <a:rPr lang="en-IN" sz="1800" dirty="0" err="1"/>
              <a:t>user_message</a:t>
            </a:r>
            <a:r>
              <a:rPr lang="en-IN" sz="1800" dirty="0"/>
              <a:t> = input("You: ") response = </a:t>
            </a:r>
            <a:r>
              <a:rPr lang="en-IN" sz="1800" dirty="0" err="1"/>
              <a:t>get_response</a:t>
            </a:r>
            <a:r>
              <a:rPr lang="en-IN" sz="1800" dirty="0"/>
              <a:t>(</a:t>
            </a:r>
            <a:r>
              <a:rPr lang="en-IN" sz="1800" dirty="0" err="1"/>
              <a:t>user_message</a:t>
            </a:r>
            <a:r>
              <a:rPr lang="en-IN" sz="1800" dirty="0"/>
              <a:t>) print("Bot:", response)     if "bye" in </a:t>
            </a:r>
            <a:r>
              <a:rPr lang="en-IN" sz="1800" dirty="0" err="1"/>
              <a:t>user_message.lower</a:t>
            </a:r>
            <a:r>
              <a:rPr lang="en-IN" sz="1800" dirty="0"/>
              <a:t>():  break</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 : Slide number 88</a:t>
            </a:r>
          </a:p>
        </p:txBody>
      </p:sp>
      <p:sp>
        <p:nvSpPr>
          <p:cNvPr id="4" name="Slide Number Placeholder 3">
            <a:extLst>
              <a:ext uri="{FF2B5EF4-FFF2-40B4-BE49-F238E27FC236}">
                <a16:creationId xmlns:a16="http://schemas.microsoft.com/office/drawing/2014/main" id="{DFF358A6-0A0B-50EC-E27C-B1E2021DC4A2}"/>
              </a:ext>
            </a:extLst>
          </p:cNvPr>
          <p:cNvSpPr>
            <a:spLocks noGrp="1"/>
          </p:cNvSpPr>
          <p:nvPr>
            <p:ph type="sldNum" sz="quarter" idx="5"/>
          </p:nvPr>
        </p:nvSpPr>
        <p:spPr/>
        <p:txBody>
          <a:bodyPr/>
          <a:lstStyle/>
          <a:p>
            <a:fld id="{1F1E027D-4684-4D2A-A457-B52C65DF2100}" type="slidenum">
              <a:rPr lang="en-GB" smtClean="0"/>
              <a:t>109</a:t>
            </a:fld>
            <a:endParaRPr lang="en-GB"/>
          </a:p>
        </p:txBody>
      </p:sp>
    </p:spTree>
    <p:extLst>
      <p:ext uri="{BB962C8B-B14F-4D97-AF65-F5344CB8AC3E}">
        <p14:creationId xmlns:p14="http://schemas.microsoft.com/office/powerpoint/2010/main" val="29468564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BD8BF-BE25-887F-46C1-D900A50D7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59DD2-40D0-F38F-3DDF-B4925111E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3C8AF-35B3-CEF1-60D9-313E0FE9C2D8}"/>
              </a:ext>
            </a:extLst>
          </p:cNvPr>
          <p:cNvSpPr>
            <a:spLocks noGrp="1"/>
          </p:cNvSpPr>
          <p:nvPr>
            <p:ph type="body" idx="1"/>
          </p:nvPr>
        </p:nvSpPr>
        <p:spPr/>
        <p:txBody>
          <a:bodyPr/>
          <a:lstStyle/>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1" i="0" u="none" strike="noStrike" cap="none" normalizeH="0" baseline="0" dirty="0">
                <a:ln>
                  <a:noFill/>
                </a:ln>
                <a:solidFill>
                  <a:schemeClr val="tx1"/>
                </a:solidFill>
                <a:effectLst/>
              </a:rPr>
              <a:t>How it Works</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1" i="0" u="none" strike="noStrike" cap="none" normalizeH="0" baseline="0" dirty="0" err="1">
                <a:ln>
                  <a:noFill/>
                </a:ln>
                <a:solidFill>
                  <a:schemeClr val="tx1"/>
                </a:solidFill>
                <a:effectLst/>
              </a:rPr>
              <a:t>get_response</a:t>
            </a:r>
            <a:r>
              <a:rPr kumimoji="0" lang="en-US" altLang="en-US" b="1" i="0" u="none" strike="noStrike" cap="none" normalizeH="0" baseline="0" dirty="0">
                <a:ln>
                  <a:noFill/>
                </a:ln>
                <a:solidFill>
                  <a:schemeClr val="tx1"/>
                </a:solidFill>
                <a:effectLst/>
              </a:rPr>
              <a:t> function</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0" i="0" u="none" strike="noStrike" cap="none" normalizeH="0" baseline="0" dirty="0">
                <a:ln>
                  <a:noFill/>
                </a:ln>
                <a:solidFill>
                  <a:schemeClr val="tx1"/>
                </a:solidFill>
                <a:effectLst/>
              </a:rPr>
              <a:t>Encapsulates the chatbot’s logic.</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0" i="0" u="none" strike="noStrike" cap="none" normalizeH="0" baseline="0" dirty="0">
                <a:ln>
                  <a:noFill/>
                </a:ln>
                <a:solidFill>
                  <a:schemeClr val="tx1"/>
                </a:solidFill>
                <a:effectLst/>
              </a:rPr>
              <a:t>Uses if statements to decide on the reply.</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1" i="0" u="none" strike="noStrike" cap="none" normalizeH="0" baseline="0" dirty="0">
                <a:ln>
                  <a:noFill/>
                </a:ln>
                <a:solidFill>
                  <a:schemeClr val="tx1"/>
                </a:solidFill>
                <a:effectLst/>
              </a:rPr>
              <a:t>Main loop</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0" i="0" u="none" strike="noStrike" cap="none" normalizeH="0" baseline="0" dirty="0">
                <a:ln>
                  <a:noFill/>
                </a:ln>
                <a:solidFill>
                  <a:schemeClr val="tx1"/>
                </a:solidFill>
                <a:effectLst/>
              </a:rPr>
              <a:t>Takes input from the user.</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0" i="0" u="none" strike="noStrike" cap="none" normalizeH="0" baseline="0" dirty="0">
                <a:ln>
                  <a:noFill/>
                </a:ln>
                <a:solidFill>
                  <a:schemeClr val="tx1"/>
                </a:solidFill>
                <a:effectLst/>
              </a:rPr>
              <a:t>Calls </a:t>
            </a:r>
            <a:r>
              <a:rPr kumimoji="0" lang="en-US" altLang="en-US" b="0" i="0" u="none" strike="noStrike" cap="none" normalizeH="0" baseline="0" dirty="0" err="1">
                <a:ln>
                  <a:noFill/>
                </a:ln>
                <a:solidFill>
                  <a:schemeClr val="tx1"/>
                </a:solidFill>
                <a:effectLst/>
              </a:rPr>
              <a:t>get_response</a:t>
            </a:r>
            <a:r>
              <a:rPr kumimoji="0" lang="en-US" altLang="en-US" b="0" i="0" u="none" strike="noStrike" cap="none" normalizeH="0" baseline="0" dirty="0">
                <a:ln>
                  <a:noFill/>
                </a:ln>
                <a:solidFill>
                  <a:schemeClr val="tx1"/>
                </a:solidFill>
                <a:effectLst/>
              </a:rPr>
              <a:t>(</a:t>
            </a:r>
            <a:r>
              <a:rPr kumimoji="0" lang="en-US" altLang="en-US" b="0" i="0" u="none" strike="noStrike" cap="none" normalizeH="0" baseline="0" dirty="0" err="1">
                <a:ln>
                  <a:noFill/>
                </a:ln>
                <a:solidFill>
                  <a:schemeClr val="tx1"/>
                </a:solidFill>
                <a:effectLst/>
              </a:rPr>
              <a:t>user_message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0" i="0" u="none" strike="noStrike" cap="none" normalizeH="0" baseline="0" dirty="0">
                <a:ln>
                  <a:noFill/>
                </a:ln>
                <a:solidFill>
                  <a:schemeClr val="tx1"/>
                </a:solidFill>
                <a:effectLst/>
              </a:rPr>
              <a:t>Prints the bot’s reply.</a:t>
            </a:r>
          </a:p>
          <a:p>
            <a:pPr marL="0" marR="0" lvl="0" indent="0" algn="l" defTabSz="914400" rtl="0" eaLnBrk="0" fontAlgn="base" latinLnBrk="0" hangingPunct="0">
              <a:lnSpc>
                <a:spcPct val="150000"/>
              </a:lnSpc>
              <a:spcBef>
                <a:spcPts val="600"/>
              </a:spcBef>
              <a:spcAft>
                <a:spcPct val="0"/>
              </a:spcAft>
              <a:buClrTx/>
              <a:buSzTx/>
              <a:buFontTx/>
              <a:buNone/>
              <a:tabLst/>
            </a:pPr>
            <a:r>
              <a:rPr kumimoji="0" lang="en-US" altLang="en-US" b="0" i="0" u="none" strike="noStrike" cap="none" normalizeH="0" baseline="0" dirty="0">
                <a:ln>
                  <a:noFill/>
                </a:ln>
                <a:solidFill>
                  <a:schemeClr val="tx1"/>
                </a:solidFill>
                <a:effectLst/>
              </a:rPr>
              <a:t>Exits when user types "bye".</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86</a:t>
            </a:r>
          </a:p>
        </p:txBody>
      </p:sp>
      <p:sp>
        <p:nvSpPr>
          <p:cNvPr id="4" name="Slide Number Placeholder 3">
            <a:extLst>
              <a:ext uri="{FF2B5EF4-FFF2-40B4-BE49-F238E27FC236}">
                <a16:creationId xmlns:a16="http://schemas.microsoft.com/office/drawing/2014/main" id="{19C57D0D-68FA-F621-B139-C545B93D3AC2}"/>
              </a:ext>
            </a:extLst>
          </p:cNvPr>
          <p:cNvSpPr>
            <a:spLocks noGrp="1"/>
          </p:cNvSpPr>
          <p:nvPr>
            <p:ph type="sldNum" sz="quarter" idx="5"/>
          </p:nvPr>
        </p:nvSpPr>
        <p:spPr/>
        <p:txBody>
          <a:bodyPr/>
          <a:lstStyle/>
          <a:p>
            <a:fld id="{1F1E027D-4684-4D2A-A457-B52C65DF2100}" type="slidenum">
              <a:rPr lang="en-GB" smtClean="0"/>
              <a:t>110</a:t>
            </a:fld>
            <a:endParaRPr lang="en-GB"/>
          </a:p>
        </p:txBody>
      </p:sp>
    </p:spTree>
    <p:extLst>
      <p:ext uri="{BB962C8B-B14F-4D97-AF65-F5344CB8AC3E}">
        <p14:creationId xmlns:p14="http://schemas.microsoft.com/office/powerpoint/2010/main" val="17119584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CB39B-44D5-DA32-B2EF-FB5853BFD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9A43A-27CD-CBDE-0670-B31D98533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9D3E9-9DD6-E8F4-A8BE-D0BA5FDBE01A}"/>
              </a:ext>
            </a:extLst>
          </p:cNvPr>
          <p:cNvSpPr>
            <a:spLocks noGrp="1"/>
          </p:cNvSpPr>
          <p:nvPr>
            <p:ph type="body" idx="1"/>
          </p:nvPr>
        </p:nvSpPr>
        <p:spPr/>
        <p:txBody>
          <a:bodyPr/>
          <a:lstStyle/>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Reflection Activity</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25274D"/>
                </a:solidFill>
                <a:latin typeface="Montserrat Bold" pitchFamily="34" charset="0"/>
                <a:ea typeface="Montserrat Bold" pitchFamily="34" charset="-122"/>
                <a:cs typeface="Montserrat Bold" pitchFamily="34" charset="-120"/>
              </a:rPr>
              <a:t>Where do you use logic flows in your daily work or personal life?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Take a Minute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Think of </a:t>
            </a:r>
            <a:r>
              <a:rPr lang="en-US" sz="1800" b="1" dirty="0">
                <a:solidFill>
                  <a:srgbClr val="25274D"/>
                </a:solidFill>
                <a:latin typeface="Montserrat" pitchFamily="34" charset="0"/>
                <a:ea typeface="Montserrat" pitchFamily="34" charset="-122"/>
                <a:cs typeface="Montserrat" pitchFamily="34" charset="-120"/>
              </a:rPr>
              <a:t>one specific example</a:t>
            </a:r>
            <a:r>
              <a:rPr lang="en-US" sz="1800" dirty="0">
                <a:solidFill>
                  <a:srgbClr val="000000"/>
                </a:solidFill>
                <a:latin typeface="Montserrat" pitchFamily="34" charset="0"/>
                <a:ea typeface="Montserrat" pitchFamily="34" charset="-122"/>
                <a:cs typeface="Montserrat" pitchFamily="34" charset="-120"/>
              </a:rPr>
              <a:t> from your own experience—a decision tree or repetitive process you follow.</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Make It Concrete</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Try to frame it as an if-statement or loop. What conditions do you check? What actions result?</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b="1" dirty="0">
                <a:solidFill>
                  <a:srgbClr val="000000"/>
                </a:solidFill>
                <a:latin typeface="Montserrat Bold" pitchFamily="34" charset="0"/>
                <a:ea typeface="Montserrat Bold" pitchFamily="34" charset="-122"/>
                <a:cs typeface="Montserrat Bold" pitchFamily="34" charset="-120"/>
              </a:rPr>
              <a:t>Share</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Write it in your notes or share with the class—translating real-world logic to code reinforces today's concepts.</a:t>
            </a: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solidFill>
                  <a:srgbClr val="000000"/>
                </a:solidFill>
                <a:latin typeface="Montserrat" pitchFamily="34" charset="0"/>
                <a:ea typeface="Montserrat" pitchFamily="34" charset="-122"/>
                <a:cs typeface="Montserrat" pitchFamily="34" charset="-120"/>
              </a:rPr>
              <a:t>This reflection helps bridge the gap between abstract programming concepts and your everyday experience!</a:t>
            </a: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Image:</a:t>
            </a:r>
          </a:p>
          <a:p>
            <a:pPr marL="0" marR="0" lvl="0" indent="0" algn="l" defTabSz="914400" rtl="0" eaLnBrk="1" fontAlgn="auto" latinLnBrk="0" hangingPunct="1">
              <a:lnSpc>
                <a:spcPts val="4042"/>
              </a:lnSpc>
              <a:spcBef>
                <a:spcPts val="0"/>
              </a:spcBef>
              <a:spcAft>
                <a:spcPts val="0"/>
              </a:spcAft>
              <a:buClrTx/>
              <a:buSzTx/>
              <a:buFontTx/>
              <a:buNone/>
              <a:tabLst/>
              <a:defRPr/>
            </a:pPr>
            <a:r>
              <a:rPr lang="en-US" sz="1800" dirty="0"/>
              <a:t>Repository Slide no:  91</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ts val="4042"/>
              </a:lnSpc>
              <a:spcBef>
                <a:spcPts val="0"/>
              </a:spcBef>
              <a:spcAft>
                <a:spcPts val="0"/>
              </a:spcAft>
              <a:buClrTx/>
              <a:buSzTx/>
              <a:buFontTx/>
              <a:buNone/>
              <a:tabLst/>
              <a:defRPr/>
            </a:pPr>
            <a:endParaRPr lang="en-US" sz="1800" dirty="0"/>
          </a:p>
        </p:txBody>
      </p:sp>
      <p:sp>
        <p:nvSpPr>
          <p:cNvPr id="4" name="Slide Number Placeholder 3">
            <a:extLst>
              <a:ext uri="{FF2B5EF4-FFF2-40B4-BE49-F238E27FC236}">
                <a16:creationId xmlns:a16="http://schemas.microsoft.com/office/drawing/2014/main" id="{082DD63C-9B3D-BA1B-4914-45A247530473}"/>
              </a:ext>
            </a:extLst>
          </p:cNvPr>
          <p:cNvSpPr>
            <a:spLocks noGrp="1"/>
          </p:cNvSpPr>
          <p:nvPr>
            <p:ph type="sldNum" sz="quarter" idx="5"/>
          </p:nvPr>
        </p:nvSpPr>
        <p:spPr/>
        <p:txBody>
          <a:bodyPr/>
          <a:lstStyle/>
          <a:p>
            <a:fld id="{1F1E027D-4684-4D2A-A457-B52C65DF2100}" type="slidenum">
              <a:rPr lang="en-GB" smtClean="0"/>
              <a:t>111</a:t>
            </a:fld>
            <a:endParaRPr lang="en-GB"/>
          </a:p>
        </p:txBody>
      </p:sp>
    </p:spTree>
    <p:extLst>
      <p:ext uri="{BB962C8B-B14F-4D97-AF65-F5344CB8AC3E}">
        <p14:creationId xmlns:p14="http://schemas.microsoft.com/office/powerpoint/2010/main" val="3012946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BBCE7-36B5-1783-069C-E443ED804D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1FAB81C-DCEB-FF75-D81B-1598D3A167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1006843-92EC-548A-3CB9-E6796A62854A}"/>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5" name="Footer Placeholder 4">
            <a:extLst>
              <a:ext uri="{FF2B5EF4-FFF2-40B4-BE49-F238E27FC236}">
                <a16:creationId xmlns:a16="http://schemas.microsoft.com/office/drawing/2014/main" id="{4938C9C6-7131-DEB3-61E6-FF7FF2D924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5F5F20-C277-88F5-1CBC-1BA84182C0B7}"/>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3206126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4AFF2-5A10-DC41-7783-181CE97F324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CB711D7-3A8D-6764-A6B8-380DC913BC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3C92B7-9DB3-275E-5A3F-40090471A932}"/>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5" name="Footer Placeholder 4">
            <a:extLst>
              <a:ext uri="{FF2B5EF4-FFF2-40B4-BE49-F238E27FC236}">
                <a16:creationId xmlns:a16="http://schemas.microsoft.com/office/drawing/2014/main" id="{55A98234-6C4D-23FB-264D-132C032B58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767A85-AC92-BEC4-4090-0BD924DEF834}"/>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2072918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EDD75-8A6C-6D9A-BDE5-1E0B3105E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2FD5EF6-30B3-0E08-10C5-7CCBFD3173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BDE4BF-E016-C73A-AF63-D93F7FC3EF94}"/>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5" name="Footer Placeholder 4">
            <a:extLst>
              <a:ext uri="{FF2B5EF4-FFF2-40B4-BE49-F238E27FC236}">
                <a16:creationId xmlns:a16="http://schemas.microsoft.com/office/drawing/2014/main" id="{4D90E58F-2C14-393A-1159-F3216F654F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C9C580-DE13-A5E9-F145-4C57BC2789D2}"/>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152393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34860-F103-F4CF-1742-7EEA38D6D2D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AE1D09-D2EF-331E-164F-A63AD46FE2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9E61381-6451-DA3C-C43E-29ADD7E0D9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4EF210A-0EFE-286E-2781-447AAFF46148}"/>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6" name="Footer Placeholder 5">
            <a:extLst>
              <a:ext uri="{FF2B5EF4-FFF2-40B4-BE49-F238E27FC236}">
                <a16:creationId xmlns:a16="http://schemas.microsoft.com/office/drawing/2014/main" id="{125F5BF6-345C-E1D0-8BD9-7DB71DDBC2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F1AAE2-FCBF-0967-C3C8-6677D661CA1E}"/>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3475028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C3C3-7C2B-81E2-46EB-31FCDDF1A7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740812-273F-A894-46C9-9425ECBBDF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84BFE2-8AAD-E3F4-FBE8-302BA27357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0A4FF21-B2F7-2A3A-5D4E-1D50D9DA26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75C6B7-2785-3229-8C9E-F61046ABB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FDB6864-62E8-2449-CB95-70236010E7D1}"/>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8" name="Footer Placeholder 7">
            <a:extLst>
              <a:ext uri="{FF2B5EF4-FFF2-40B4-BE49-F238E27FC236}">
                <a16:creationId xmlns:a16="http://schemas.microsoft.com/office/drawing/2014/main" id="{6396550D-C51C-2182-A422-26B9C491B69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DE2E34D-4B3E-A04A-6971-A1B180912E3F}"/>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4159273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4852F-AE4D-55EA-3D93-AE89B55CBA8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B13AD23-7C7F-274E-E5F0-4BF183B550AC}"/>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4" name="Footer Placeholder 3">
            <a:extLst>
              <a:ext uri="{FF2B5EF4-FFF2-40B4-BE49-F238E27FC236}">
                <a16:creationId xmlns:a16="http://schemas.microsoft.com/office/drawing/2014/main" id="{86CA4717-3887-8B14-5B10-98347CFAAD9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EED820B-C3D8-0931-5F16-D28A14031CF2}"/>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486425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9AA912-0340-BBE6-413D-9781EEB82C46}"/>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3" name="Footer Placeholder 2">
            <a:extLst>
              <a:ext uri="{FF2B5EF4-FFF2-40B4-BE49-F238E27FC236}">
                <a16:creationId xmlns:a16="http://schemas.microsoft.com/office/drawing/2014/main" id="{7613363E-0A96-5F2D-EBBB-92A56FD2AB8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998834C-880D-993B-A18A-6A3413D8F641}"/>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3744009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270CE-A1A0-E754-5E8B-1C5375ED57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C9858A8-0BCD-754D-4026-8063BEF67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CA4FE92-64A3-6B45-BE9C-C1B86403C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1D8C1-0724-4C3B-83E3-F83B463C1299}"/>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6" name="Footer Placeholder 5">
            <a:extLst>
              <a:ext uri="{FF2B5EF4-FFF2-40B4-BE49-F238E27FC236}">
                <a16:creationId xmlns:a16="http://schemas.microsoft.com/office/drawing/2014/main" id="{77F07548-4CB0-9232-29AD-FEDE1C2511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5FEE44-2E64-4A26-944D-42F4B52320D0}"/>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169504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52761-ACC8-08EF-BE97-379F6214B9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9233091-2FF3-CBF8-DAD6-2B8BB5B34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02E570D-A51B-1E11-6E6B-64A320FDD3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804E54-DD12-A876-5D7B-0A4E9668FE5C}"/>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6" name="Footer Placeholder 5">
            <a:extLst>
              <a:ext uri="{FF2B5EF4-FFF2-40B4-BE49-F238E27FC236}">
                <a16:creationId xmlns:a16="http://schemas.microsoft.com/office/drawing/2014/main" id="{922F8BC9-2CCB-FAAD-4EA4-A2411A0BA08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4C6831-2D0D-284E-6B5D-4BDA0C24CC54}"/>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1437255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265B1-0D4B-4F3B-411D-1CD44319840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43C0543-4491-CB3E-1038-AE14926396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7713F6-E7CA-3802-320B-E15B0D5085FB}"/>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5" name="Footer Placeholder 4">
            <a:extLst>
              <a:ext uri="{FF2B5EF4-FFF2-40B4-BE49-F238E27FC236}">
                <a16:creationId xmlns:a16="http://schemas.microsoft.com/office/drawing/2014/main" id="{32402832-4E57-AAD2-8A4C-924F3B55F4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41F63B-67BC-F5A8-E523-F4555927614C}"/>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3545384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4B64FE-785B-1654-CE84-D282755274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7A96E8E-BB30-C842-3C32-B69F74684C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D5F403-0E45-FB29-A26A-8BA6002AEC4C}"/>
              </a:ext>
            </a:extLst>
          </p:cNvPr>
          <p:cNvSpPr>
            <a:spLocks noGrp="1"/>
          </p:cNvSpPr>
          <p:nvPr>
            <p:ph type="dt" sz="half" idx="10"/>
          </p:nvPr>
        </p:nvSpPr>
        <p:spPr/>
        <p:txBody>
          <a:bodyPr/>
          <a:lstStyle/>
          <a:p>
            <a:fld id="{63C3F75D-4688-4B8E-9E14-9186137B2A8A}" type="datetimeFigureOut">
              <a:rPr lang="en-GB" smtClean="0"/>
              <a:t>16/11/2025</a:t>
            </a:fld>
            <a:endParaRPr lang="en-GB"/>
          </a:p>
        </p:txBody>
      </p:sp>
      <p:sp>
        <p:nvSpPr>
          <p:cNvPr id="5" name="Footer Placeholder 4">
            <a:extLst>
              <a:ext uri="{FF2B5EF4-FFF2-40B4-BE49-F238E27FC236}">
                <a16:creationId xmlns:a16="http://schemas.microsoft.com/office/drawing/2014/main" id="{23301EAB-34E1-472E-D668-366ED63DC9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547F2B-E46D-75BC-21A3-3D882A75C9FC}"/>
              </a:ext>
            </a:extLst>
          </p:cNvPr>
          <p:cNvSpPr>
            <a:spLocks noGrp="1"/>
          </p:cNvSpPr>
          <p:nvPr>
            <p:ph type="sldNum" sz="quarter" idx="12"/>
          </p:nvPr>
        </p:nvSpPr>
        <p:spPr/>
        <p:txBody>
          <a:bodyPr/>
          <a:lstStyle/>
          <a:p>
            <a:fld id="{CD02D4BE-250B-47A9-AB79-776E42941E3C}" type="slidenum">
              <a:rPr lang="en-GB" smtClean="0"/>
              <a:t>‹#›</a:t>
            </a:fld>
            <a:endParaRPr lang="en-GB"/>
          </a:p>
        </p:txBody>
      </p:sp>
    </p:spTree>
    <p:extLst>
      <p:ext uri="{BB962C8B-B14F-4D97-AF65-F5344CB8AC3E}">
        <p14:creationId xmlns:p14="http://schemas.microsoft.com/office/powerpoint/2010/main" val="1930715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1B_Intro-Outro">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DA01D6C-0D74-CFC2-E395-37A4DEF1D12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8009" b="8009"/>
          <a:stretch/>
        </p:blipFill>
        <p:spPr bwMode="auto">
          <a:xfrm>
            <a:off x="-1" y="1045130"/>
            <a:ext cx="12192000" cy="58128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DDA90D5-45BF-723E-679A-1C51919C9658}"/>
              </a:ext>
            </a:extLst>
          </p:cNvPr>
          <p:cNvSpPr/>
          <p:nvPr userDrawn="1"/>
        </p:nvSpPr>
        <p:spPr>
          <a:xfrm>
            <a:off x="3524435" y="0"/>
            <a:ext cx="8667566" cy="2050742"/>
          </a:xfrm>
          <a:prstGeom prst="rect">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800"/>
          </a:p>
        </p:txBody>
      </p:sp>
      <p:sp>
        <p:nvSpPr>
          <p:cNvPr id="10" name="TextBox 9">
            <a:extLst>
              <a:ext uri="{FF2B5EF4-FFF2-40B4-BE49-F238E27FC236}">
                <a16:creationId xmlns:a16="http://schemas.microsoft.com/office/drawing/2014/main" id="{0B2A0986-2A0A-4113-A5C8-083B18CC8085}"/>
              </a:ext>
            </a:extLst>
          </p:cNvPr>
          <p:cNvSpPr txBox="1"/>
          <p:nvPr userDrawn="1"/>
        </p:nvSpPr>
        <p:spPr>
          <a:xfrm>
            <a:off x="0" y="6858000"/>
            <a:ext cx="8865936" cy="338554"/>
          </a:xfrm>
          <a:prstGeom prst="rect">
            <a:avLst/>
          </a:prstGeom>
          <a:solidFill>
            <a:srgbClr val="FFC000"/>
          </a:solidFill>
        </p:spPr>
        <p:txBody>
          <a:bodyPr wrap="square" rtlCol="0" anchor="b">
            <a:spAutoFit/>
          </a:bodyPr>
          <a:lstStyle/>
          <a:p>
            <a:pPr marL="0" algn="l" defTabSz="304815" rtl="0" eaLnBrk="1" latinLnBrk="0" hangingPunct="1"/>
            <a:r>
              <a:rPr lang="en-US" sz="1600" b="1" kern="1200">
                <a:solidFill>
                  <a:schemeClr val="tx1"/>
                </a:solidFill>
                <a:latin typeface="+mn-lt"/>
                <a:ea typeface="+mn-ea"/>
                <a:cs typeface="+mn-cs"/>
              </a:rPr>
              <a:t>INTRO / OUTRO: </a:t>
            </a:r>
            <a:r>
              <a:rPr lang="en-US" sz="1600" b="0" kern="1200">
                <a:solidFill>
                  <a:schemeClr val="tx1"/>
                </a:solidFill>
                <a:latin typeface="+mn-lt"/>
                <a:ea typeface="+mn-ea"/>
                <a:cs typeface="+mn-cs"/>
              </a:rPr>
              <a:t>Generally white base with the large school logo</a:t>
            </a:r>
            <a:endParaRPr lang="en-IN" sz="1600" b="0" kern="1200">
              <a:solidFill>
                <a:schemeClr val="tx1"/>
              </a:solidFill>
              <a:latin typeface="+mn-lt"/>
              <a:ea typeface="+mn-ea"/>
              <a:cs typeface="+mn-cs"/>
            </a:endParaRPr>
          </a:p>
        </p:txBody>
      </p:sp>
      <p:sp>
        <p:nvSpPr>
          <p:cNvPr id="8" name="Rectangle 7">
            <a:extLst>
              <a:ext uri="{FF2B5EF4-FFF2-40B4-BE49-F238E27FC236}">
                <a16:creationId xmlns:a16="http://schemas.microsoft.com/office/drawing/2014/main" id="{F8B06213-B72A-18DA-4EFB-EE75CA12DCAC}"/>
              </a:ext>
            </a:extLst>
          </p:cNvPr>
          <p:cNvSpPr/>
          <p:nvPr userDrawn="1"/>
        </p:nvSpPr>
        <p:spPr>
          <a:xfrm>
            <a:off x="0" y="0"/>
            <a:ext cx="3524435" cy="20507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 Placeholder 11">
            <a:extLst>
              <a:ext uri="{FF2B5EF4-FFF2-40B4-BE49-F238E27FC236}">
                <a16:creationId xmlns:a16="http://schemas.microsoft.com/office/drawing/2014/main" id="{DEF2DDFB-B7F6-8CED-9CE0-606FBECDB9A8}"/>
              </a:ext>
            </a:extLst>
          </p:cNvPr>
          <p:cNvSpPr>
            <a:spLocks noGrp="1"/>
          </p:cNvSpPr>
          <p:nvPr>
            <p:ph type="body" sz="quarter" idx="12" hasCustomPrompt="1"/>
          </p:nvPr>
        </p:nvSpPr>
        <p:spPr>
          <a:xfrm>
            <a:off x="3852909" y="399495"/>
            <a:ext cx="7731791" cy="1349406"/>
          </a:xfrm>
          <a:prstGeom prst="rect">
            <a:avLst/>
          </a:prstGeom>
        </p:spPr>
        <p:txBody>
          <a:bodyPr lIns="0" tIns="0" rIns="0" bIns="0" anchor="ctr" anchorCtr="0"/>
          <a:lstStyle>
            <a:lvl1pPr marL="0" indent="0">
              <a:buNone/>
              <a:defRPr sz="3200" b="1">
                <a:solidFill>
                  <a:schemeClr val="bg1"/>
                </a:solidFill>
                <a:latin typeface="Montserrat" panose="00000500000000000000" pitchFamily="2" charset="0"/>
                <a:cs typeface="Arial" panose="020B0604020202020204" pitchFamily="34" charset="0"/>
              </a:defRPr>
            </a:lvl1pPr>
            <a:lvl2pPr>
              <a:defRPr>
                <a:solidFill>
                  <a:srgbClr val="009BDB"/>
                </a:solidFill>
              </a:defRPr>
            </a:lvl2pPr>
            <a:lvl3pPr>
              <a:defRPr>
                <a:solidFill>
                  <a:srgbClr val="009BDB"/>
                </a:solidFill>
              </a:defRPr>
            </a:lvl3pPr>
            <a:lvl4pPr>
              <a:defRPr>
                <a:solidFill>
                  <a:srgbClr val="009BDB"/>
                </a:solidFill>
              </a:defRPr>
            </a:lvl4pPr>
            <a:lvl5pPr>
              <a:defRPr>
                <a:solidFill>
                  <a:srgbClr val="009BDB"/>
                </a:solidFill>
              </a:defRPr>
            </a:lvl5pPr>
          </a:lstStyle>
          <a:p>
            <a:pPr lvl="0"/>
            <a:r>
              <a:rPr lang="en-US"/>
              <a:t>Video title will come here</a:t>
            </a:r>
            <a:endParaRPr lang="en-IN"/>
          </a:p>
        </p:txBody>
      </p:sp>
      <p:pic>
        <p:nvPicPr>
          <p:cNvPr id="2" name="Picture 6" descr="Artificial Intelligence Certification by IIT Madras Pravartak – fundaspring">
            <a:extLst>
              <a:ext uri="{FF2B5EF4-FFF2-40B4-BE49-F238E27FC236}">
                <a16:creationId xmlns:a16="http://schemas.microsoft.com/office/drawing/2014/main" id="{A1F4DF63-6AD7-77FB-6398-5381B6B34FE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99206" y="535865"/>
            <a:ext cx="2353734" cy="951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2218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C_Video Tit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638C43-1447-4AB7-8858-ADDF68314CA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956" r="10876"/>
          <a:stretch/>
        </p:blipFill>
        <p:spPr>
          <a:xfrm>
            <a:off x="0" y="-1"/>
            <a:ext cx="12192000" cy="6858000"/>
          </a:xfrm>
          <a:prstGeom prst="rect">
            <a:avLst/>
          </a:prstGeom>
        </p:spPr>
      </p:pic>
      <p:sp>
        <p:nvSpPr>
          <p:cNvPr id="10" name="TextBox 9">
            <a:extLst>
              <a:ext uri="{FF2B5EF4-FFF2-40B4-BE49-F238E27FC236}">
                <a16:creationId xmlns:a16="http://schemas.microsoft.com/office/drawing/2014/main" id="{0B2A0986-2A0A-4113-A5C8-083B18CC8085}"/>
              </a:ext>
            </a:extLst>
          </p:cNvPr>
          <p:cNvSpPr txBox="1"/>
          <p:nvPr userDrawn="1"/>
        </p:nvSpPr>
        <p:spPr>
          <a:xfrm>
            <a:off x="-1" y="6858000"/>
            <a:ext cx="11376837" cy="338554"/>
          </a:xfrm>
          <a:prstGeom prst="rect">
            <a:avLst/>
          </a:prstGeom>
          <a:solidFill>
            <a:srgbClr val="FFC000"/>
          </a:solidFill>
        </p:spPr>
        <p:txBody>
          <a:bodyPr wrap="square" rtlCol="0" anchor="b">
            <a:spAutoFit/>
          </a:bodyPr>
          <a:lstStyle/>
          <a:p>
            <a:pPr marL="0" algn="l" defTabSz="304815" rtl="0" eaLnBrk="1" latinLnBrk="0" hangingPunct="1"/>
            <a:r>
              <a:rPr lang="en-US" sz="1600" b="1" kern="1200">
                <a:solidFill>
                  <a:schemeClr val="tx1"/>
                </a:solidFill>
                <a:latin typeface="+mn-lt"/>
                <a:ea typeface="+mn-ea"/>
                <a:cs typeface="+mn-cs"/>
              </a:rPr>
              <a:t>Video Title Screen: </a:t>
            </a:r>
            <a:r>
              <a:rPr lang="en-US" sz="1600" b="0" kern="1200">
                <a:solidFill>
                  <a:schemeClr val="tx1"/>
                </a:solidFill>
                <a:latin typeface="+mn-lt"/>
                <a:ea typeface="+mn-ea"/>
                <a:cs typeface="+mn-cs"/>
              </a:rPr>
              <a:t>BG image/pattern screen </a:t>
            </a:r>
            <a:r>
              <a:rPr lang="en-US" sz="1600" b="0" i="1" kern="1200">
                <a:solidFill>
                  <a:schemeClr val="tx1"/>
                </a:solidFill>
                <a:latin typeface="+mn-lt"/>
                <a:ea typeface="+mn-ea"/>
                <a:cs typeface="+mn-cs"/>
              </a:rPr>
              <a:t>(pre-defined) </a:t>
            </a:r>
            <a:r>
              <a:rPr lang="en-US" sz="1600" b="0" kern="1200">
                <a:solidFill>
                  <a:schemeClr val="tx1"/>
                </a:solidFill>
                <a:latin typeface="+mn-lt"/>
                <a:ea typeface="+mn-ea"/>
                <a:cs typeface="+mn-cs"/>
              </a:rPr>
              <a:t>+ smaller school logo </a:t>
            </a:r>
            <a:r>
              <a:rPr lang="en-US" sz="1600" b="0" i="1" kern="1200">
                <a:solidFill>
                  <a:schemeClr val="tx1"/>
                </a:solidFill>
                <a:latin typeface="+mn-lt"/>
                <a:ea typeface="+mn-ea"/>
                <a:cs typeface="+mn-cs"/>
              </a:rPr>
              <a:t>(as per approved design)</a:t>
            </a:r>
            <a:endParaRPr lang="en-IN" sz="1600" b="0" i="1" kern="1200">
              <a:solidFill>
                <a:schemeClr val="tx1"/>
              </a:solidFill>
              <a:latin typeface="+mn-lt"/>
              <a:ea typeface="+mn-ea"/>
              <a:cs typeface="+mn-cs"/>
            </a:endParaRPr>
          </a:p>
        </p:txBody>
      </p:sp>
      <p:pic>
        <p:nvPicPr>
          <p:cNvPr id="3" name="Picture 2">
            <a:extLst>
              <a:ext uri="{FF2B5EF4-FFF2-40B4-BE49-F238E27FC236}">
                <a16:creationId xmlns:a16="http://schemas.microsoft.com/office/drawing/2014/main" id="{C449F122-6F90-384A-6CEE-80C782F174C2}"/>
              </a:ext>
            </a:extLst>
          </p:cNvPr>
          <p:cNvPicPr>
            <a:picLocks noChangeAspect="1"/>
          </p:cNvPicPr>
          <p:nvPr userDrawn="1"/>
        </p:nvPicPr>
        <p:blipFill>
          <a:blip r:embed="rId3">
            <a:extLst>
              <a:ext uri="{28A0092B-C50C-407E-A947-70E740481C1C}">
                <a14:useLocalDpi xmlns:a14="http://schemas.microsoft.com/office/drawing/2010/main" val="0"/>
              </a:ext>
            </a:extLst>
          </a:blip>
          <a:srcRect r="24630"/>
          <a:stretch/>
        </p:blipFill>
        <p:spPr>
          <a:xfrm flipH="1">
            <a:off x="0" y="0"/>
            <a:ext cx="12214978" cy="6858000"/>
          </a:xfrm>
          <a:prstGeom prst="rect">
            <a:avLst/>
          </a:prstGeom>
        </p:spPr>
      </p:pic>
      <p:sp>
        <p:nvSpPr>
          <p:cNvPr id="4" name="Text Placeholder 11">
            <a:extLst>
              <a:ext uri="{FF2B5EF4-FFF2-40B4-BE49-F238E27FC236}">
                <a16:creationId xmlns:a16="http://schemas.microsoft.com/office/drawing/2014/main" id="{15563DF6-6E14-4C8D-85E7-1155F8C29F78}"/>
              </a:ext>
            </a:extLst>
          </p:cNvPr>
          <p:cNvSpPr>
            <a:spLocks noGrp="1"/>
          </p:cNvSpPr>
          <p:nvPr>
            <p:ph type="body" sz="quarter" idx="12" hasCustomPrompt="1"/>
          </p:nvPr>
        </p:nvSpPr>
        <p:spPr>
          <a:xfrm>
            <a:off x="749999" y="2482074"/>
            <a:ext cx="5346000" cy="1893851"/>
          </a:xfrm>
          <a:prstGeom prst="rect">
            <a:avLst/>
          </a:prstGeom>
        </p:spPr>
        <p:txBody>
          <a:bodyPr lIns="0" tIns="0" rIns="0" bIns="0" anchor="ctr" anchorCtr="0"/>
          <a:lstStyle>
            <a:lvl1pPr marL="0" indent="0">
              <a:buNone/>
              <a:defRPr sz="3200" b="1">
                <a:solidFill>
                  <a:schemeClr val="bg1"/>
                </a:solidFill>
                <a:latin typeface="Montserrat" panose="00000500000000000000" pitchFamily="2" charset="0"/>
                <a:cs typeface="Arial" panose="020B0604020202020204" pitchFamily="34" charset="0"/>
              </a:defRPr>
            </a:lvl1pPr>
            <a:lvl2pPr>
              <a:defRPr>
                <a:solidFill>
                  <a:srgbClr val="009BDB"/>
                </a:solidFill>
              </a:defRPr>
            </a:lvl2pPr>
            <a:lvl3pPr>
              <a:defRPr>
                <a:solidFill>
                  <a:srgbClr val="009BDB"/>
                </a:solidFill>
              </a:defRPr>
            </a:lvl3pPr>
            <a:lvl4pPr>
              <a:defRPr>
                <a:solidFill>
                  <a:srgbClr val="009BDB"/>
                </a:solidFill>
              </a:defRPr>
            </a:lvl4pPr>
            <a:lvl5pPr>
              <a:defRPr>
                <a:solidFill>
                  <a:srgbClr val="009BDB"/>
                </a:solidFill>
              </a:defRPr>
            </a:lvl5pPr>
          </a:lstStyle>
          <a:p>
            <a:pPr lvl="0"/>
            <a:r>
              <a:rPr lang="en-US"/>
              <a:t>Video title will come here</a:t>
            </a:r>
            <a:endParaRPr lang="en-IN"/>
          </a:p>
        </p:txBody>
      </p:sp>
    </p:spTree>
    <p:extLst>
      <p:ext uri="{BB962C8B-B14F-4D97-AF65-F5344CB8AC3E}">
        <p14:creationId xmlns:p14="http://schemas.microsoft.com/office/powerpoint/2010/main" val="867741301"/>
      </p:ext>
    </p:extLst>
  </p:cSld>
  <p:clrMapOvr>
    <a:masterClrMapping/>
  </p:clrMapOvr>
  <p:extLst>
    <p:ext uri="{DCECCB84-F9BA-43D5-87BE-67443E8EF086}">
      <p15:sldGuideLst xmlns:p15="http://schemas.microsoft.com/office/powerpoint/2012/main">
        <p15:guide id="2" pos="423">
          <p15:clr>
            <a:srgbClr val="FBAE40"/>
          </p15:clr>
        </p15:guide>
        <p15:guide id="3" orient="horz" pos="173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opic Title">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A7A19495-89EC-78C0-4A8B-9FD3BA431518}"/>
              </a:ext>
            </a:extLst>
          </p:cNvPr>
          <p:cNvSpPr>
            <a:spLocks noGrp="1"/>
          </p:cNvSpPr>
          <p:nvPr>
            <p:ph type="body" sz="quarter" idx="12" hasCustomPrompt="1"/>
          </p:nvPr>
        </p:nvSpPr>
        <p:spPr>
          <a:xfrm>
            <a:off x="749999" y="2482074"/>
            <a:ext cx="5346000" cy="1893851"/>
          </a:xfrm>
          <a:prstGeom prst="rect">
            <a:avLst/>
          </a:prstGeom>
        </p:spPr>
        <p:txBody>
          <a:bodyPr lIns="0" tIns="0" rIns="0" bIns="0" anchor="ctr" anchorCtr="0"/>
          <a:lstStyle>
            <a:lvl1pPr marL="0" indent="0">
              <a:buNone/>
              <a:defRPr sz="3200" b="1">
                <a:solidFill>
                  <a:srgbClr val="25274D"/>
                </a:solidFill>
                <a:latin typeface="Montserrat" panose="00000500000000000000" pitchFamily="2" charset="0"/>
                <a:cs typeface="Arial" panose="020B0604020202020204" pitchFamily="34" charset="0"/>
              </a:defRPr>
            </a:lvl1pPr>
            <a:lvl2pPr>
              <a:defRPr>
                <a:solidFill>
                  <a:srgbClr val="009BDB"/>
                </a:solidFill>
              </a:defRPr>
            </a:lvl2pPr>
            <a:lvl3pPr>
              <a:defRPr>
                <a:solidFill>
                  <a:srgbClr val="009BDB"/>
                </a:solidFill>
              </a:defRPr>
            </a:lvl3pPr>
            <a:lvl4pPr>
              <a:defRPr>
                <a:solidFill>
                  <a:srgbClr val="009BDB"/>
                </a:solidFill>
              </a:defRPr>
            </a:lvl4pPr>
            <a:lvl5pPr>
              <a:defRPr>
                <a:solidFill>
                  <a:srgbClr val="009BDB"/>
                </a:solidFill>
              </a:defRPr>
            </a:lvl5pPr>
          </a:lstStyle>
          <a:p>
            <a:pPr lvl="0"/>
            <a:r>
              <a:rPr lang="en-US"/>
              <a:t>Topic title will come here</a:t>
            </a:r>
            <a:endParaRPr lang="en-IN"/>
          </a:p>
        </p:txBody>
      </p:sp>
      <p:sp>
        <p:nvSpPr>
          <p:cNvPr id="2" name="Oval 1">
            <a:extLst>
              <a:ext uri="{FF2B5EF4-FFF2-40B4-BE49-F238E27FC236}">
                <a16:creationId xmlns:a16="http://schemas.microsoft.com/office/drawing/2014/main" id="{D3570D88-FF17-664B-5ED4-B94300A22A58}"/>
              </a:ext>
            </a:extLst>
          </p:cNvPr>
          <p:cNvSpPr/>
          <p:nvPr userDrawn="1"/>
        </p:nvSpPr>
        <p:spPr>
          <a:xfrm>
            <a:off x="-1696983" y="3318331"/>
            <a:ext cx="5410200" cy="5410200"/>
          </a:xfrm>
          <a:prstGeom prst="ellipse">
            <a:avLst/>
          </a:prstGeom>
          <a:solidFill>
            <a:srgbClr val="2E9CCA">
              <a:alpha val="40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B84299F5-B404-C73D-E391-864D8AE9FB67}"/>
              </a:ext>
            </a:extLst>
          </p:cNvPr>
          <p:cNvSpPr/>
          <p:nvPr userDrawn="1"/>
        </p:nvSpPr>
        <p:spPr>
          <a:xfrm>
            <a:off x="8478785" y="-1576506"/>
            <a:ext cx="5410200" cy="5410200"/>
          </a:xfrm>
          <a:prstGeom prst="ellipse">
            <a:avLst/>
          </a:prstGeom>
          <a:solidFill>
            <a:srgbClr val="464866">
              <a:alpha val="30196"/>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E58DC3F5-A776-A6D4-39D9-02ED8452FAE0}"/>
              </a:ext>
            </a:extLst>
          </p:cNvPr>
          <p:cNvCxnSpPr/>
          <p:nvPr userDrawn="1"/>
        </p:nvCxnSpPr>
        <p:spPr>
          <a:xfrm>
            <a:off x="739366" y="4375925"/>
            <a:ext cx="10127108" cy="0"/>
          </a:xfrm>
          <a:prstGeom prst="line">
            <a:avLst/>
          </a:prstGeom>
          <a:ln w="28575">
            <a:solidFill>
              <a:srgbClr val="2527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849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Y_Infographic + Image with bullets">
    <p:spTree>
      <p:nvGrpSpPr>
        <p:cNvPr id="1" name=""/>
        <p:cNvGrpSpPr/>
        <p:nvPr/>
      </p:nvGrpSpPr>
      <p:grpSpPr>
        <a:xfrm>
          <a:off x="0" y="0"/>
          <a:ext cx="0" cy="0"/>
          <a:chOff x="0" y="0"/>
          <a:chExt cx="0" cy="0"/>
        </a:xfrm>
      </p:grpSpPr>
      <p:sp>
        <p:nvSpPr>
          <p:cNvPr id="9" name="Picture Placeholder 11">
            <a:extLst>
              <a:ext uri="{FF2B5EF4-FFF2-40B4-BE49-F238E27FC236}">
                <a16:creationId xmlns:a16="http://schemas.microsoft.com/office/drawing/2014/main" id="{2C384C08-CECB-4147-8FCD-943A5EC0D6A2}"/>
              </a:ext>
            </a:extLst>
          </p:cNvPr>
          <p:cNvSpPr>
            <a:spLocks noGrp="1"/>
          </p:cNvSpPr>
          <p:nvPr>
            <p:ph type="pic" sz="quarter" idx="14" hasCustomPrompt="1"/>
          </p:nvPr>
        </p:nvSpPr>
        <p:spPr>
          <a:xfrm>
            <a:off x="749998" y="2099147"/>
            <a:ext cx="5356325" cy="3359679"/>
          </a:xfrm>
          <a:prstGeom prst="roundRect">
            <a:avLst>
              <a:gd name="adj" fmla="val 8788"/>
            </a:avLst>
          </a:prstGeom>
        </p:spPr>
        <p:txBody>
          <a:bodyPr/>
          <a:lstStyle>
            <a:lvl1pPr marL="0" indent="0">
              <a:buNone/>
              <a:defRPr sz="1800">
                <a:solidFill>
                  <a:srgbClr val="25274D"/>
                </a:solidFill>
                <a:latin typeface="Montserrat" panose="00000500000000000000" pitchFamily="2" charset="0"/>
                <a:cs typeface="Arial" panose="020B0604020202020204" pitchFamily="34" charset="0"/>
              </a:defRPr>
            </a:lvl1pPr>
          </a:lstStyle>
          <a:p>
            <a:r>
              <a:rPr lang="en-US"/>
              <a:t>Click to add image here</a:t>
            </a:r>
          </a:p>
        </p:txBody>
      </p:sp>
      <p:sp>
        <p:nvSpPr>
          <p:cNvPr id="11" name="TextBox 10">
            <a:extLst>
              <a:ext uri="{FF2B5EF4-FFF2-40B4-BE49-F238E27FC236}">
                <a16:creationId xmlns:a16="http://schemas.microsoft.com/office/drawing/2014/main" id="{9D945602-2ABE-4A5C-8899-AC436D31D3B7}"/>
              </a:ext>
            </a:extLst>
          </p:cNvPr>
          <p:cNvSpPr txBox="1"/>
          <p:nvPr userDrawn="1"/>
        </p:nvSpPr>
        <p:spPr>
          <a:xfrm>
            <a:off x="0" y="6858000"/>
            <a:ext cx="7378943"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Infographic + </a:t>
            </a:r>
            <a:r>
              <a:rPr lang="en-IN" sz="1600" b="0" kern="1200">
                <a:solidFill>
                  <a:schemeClr val="tx1"/>
                </a:solidFill>
                <a:latin typeface="+mn-lt"/>
                <a:ea typeface="+mn-ea"/>
                <a:cs typeface="+mn-cs"/>
              </a:rPr>
              <a:t>Image with bullets/numbering</a:t>
            </a:r>
          </a:p>
        </p:txBody>
      </p:sp>
      <p:sp>
        <p:nvSpPr>
          <p:cNvPr id="2" name="Text Placeholder 7">
            <a:extLst>
              <a:ext uri="{FF2B5EF4-FFF2-40B4-BE49-F238E27FC236}">
                <a16:creationId xmlns:a16="http://schemas.microsoft.com/office/drawing/2014/main" id="{108545D0-EBAD-2DFD-80F9-5627F65BBE03}"/>
              </a:ext>
            </a:extLst>
          </p:cNvPr>
          <p:cNvSpPr>
            <a:spLocks noGrp="1"/>
          </p:cNvSpPr>
          <p:nvPr>
            <p:ph type="body" sz="quarter" idx="38" hasCustomPrompt="1"/>
          </p:nvPr>
        </p:nvSpPr>
        <p:spPr>
          <a:xfrm>
            <a:off x="6431649" y="2138925"/>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1</a:t>
            </a:r>
            <a:endParaRPr lang="en-IN"/>
          </a:p>
        </p:txBody>
      </p:sp>
      <p:sp>
        <p:nvSpPr>
          <p:cNvPr id="3" name="Text Placeholder 7">
            <a:extLst>
              <a:ext uri="{FF2B5EF4-FFF2-40B4-BE49-F238E27FC236}">
                <a16:creationId xmlns:a16="http://schemas.microsoft.com/office/drawing/2014/main" id="{354AD1BE-85F2-48C8-14A4-501F94204DA4}"/>
              </a:ext>
            </a:extLst>
          </p:cNvPr>
          <p:cNvSpPr>
            <a:spLocks noGrp="1"/>
          </p:cNvSpPr>
          <p:nvPr>
            <p:ph type="body" sz="quarter" idx="39" hasCustomPrompt="1"/>
          </p:nvPr>
        </p:nvSpPr>
        <p:spPr>
          <a:xfrm>
            <a:off x="6431649" y="3018714"/>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2</a:t>
            </a:r>
            <a:endParaRPr lang="en-IN"/>
          </a:p>
        </p:txBody>
      </p:sp>
      <p:sp>
        <p:nvSpPr>
          <p:cNvPr id="4" name="Text Placeholder 7">
            <a:extLst>
              <a:ext uri="{FF2B5EF4-FFF2-40B4-BE49-F238E27FC236}">
                <a16:creationId xmlns:a16="http://schemas.microsoft.com/office/drawing/2014/main" id="{A5F89929-CECB-71F8-9B4E-5A71B4434F70}"/>
              </a:ext>
            </a:extLst>
          </p:cNvPr>
          <p:cNvSpPr>
            <a:spLocks noGrp="1"/>
          </p:cNvSpPr>
          <p:nvPr>
            <p:ph type="body" sz="quarter" idx="40" hasCustomPrompt="1"/>
          </p:nvPr>
        </p:nvSpPr>
        <p:spPr>
          <a:xfrm>
            <a:off x="6431649" y="3943587"/>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3</a:t>
            </a:r>
            <a:endParaRPr lang="en-IN"/>
          </a:p>
        </p:txBody>
      </p:sp>
      <p:sp>
        <p:nvSpPr>
          <p:cNvPr id="5" name="Text Placeholder 15">
            <a:extLst>
              <a:ext uri="{FF2B5EF4-FFF2-40B4-BE49-F238E27FC236}">
                <a16:creationId xmlns:a16="http://schemas.microsoft.com/office/drawing/2014/main" id="{53D46109-1998-FE4D-D8FF-86C70D43C7A6}"/>
              </a:ext>
            </a:extLst>
          </p:cNvPr>
          <p:cNvSpPr>
            <a:spLocks noGrp="1"/>
          </p:cNvSpPr>
          <p:nvPr>
            <p:ph type="body" sz="quarter" idx="32" hasCustomPrompt="1"/>
          </p:nvPr>
        </p:nvSpPr>
        <p:spPr>
          <a:xfrm>
            <a:off x="7203335" y="2099148"/>
            <a:ext cx="4168746" cy="681707"/>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6" name="Text Placeholder 15">
            <a:extLst>
              <a:ext uri="{FF2B5EF4-FFF2-40B4-BE49-F238E27FC236}">
                <a16:creationId xmlns:a16="http://schemas.microsoft.com/office/drawing/2014/main" id="{C8E243E3-F07F-53A0-279B-9FD55CCE40B1}"/>
              </a:ext>
            </a:extLst>
          </p:cNvPr>
          <p:cNvSpPr>
            <a:spLocks noGrp="1"/>
          </p:cNvSpPr>
          <p:nvPr>
            <p:ph type="body" sz="quarter" idx="33" hasCustomPrompt="1"/>
          </p:nvPr>
        </p:nvSpPr>
        <p:spPr>
          <a:xfrm>
            <a:off x="7203335" y="3007883"/>
            <a:ext cx="4168745" cy="660107"/>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8" name="Text Placeholder 15">
            <a:extLst>
              <a:ext uri="{FF2B5EF4-FFF2-40B4-BE49-F238E27FC236}">
                <a16:creationId xmlns:a16="http://schemas.microsoft.com/office/drawing/2014/main" id="{431039AE-8E77-94FB-A51A-D8417F57EB85}"/>
              </a:ext>
            </a:extLst>
          </p:cNvPr>
          <p:cNvSpPr>
            <a:spLocks noGrp="1"/>
          </p:cNvSpPr>
          <p:nvPr>
            <p:ph type="body" sz="quarter" idx="34" hasCustomPrompt="1"/>
          </p:nvPr>
        </p:nvSpPr>
        <p:spPr>
          <a:xfrm>
            <a:off x="7203335" y="3927210"/>
            <a:ext cx="4168745" cy="659999"/>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13" name="Text Placeholder 7">
            <a:extLst>
              <a:ext uri="{FF2B5EF4-FFF2-40B4-BE49-F238E27FC236}">
                <a16:creationId xmlns:a16="http://schemas.microsoft.com/office/drawing/2014/main" id="{EF00DD5F-4E80-DC2E-A536-ED4514139E91}"/>
              </a:ext>
            </a:extLst>
          </p:cNvPr>
          <p:cNvSpPr>
            <a:spLocks noGrp="1"/>
          </p:cNvSpPr>
          <p:nvPr>
            <p:ph type="body" sz="quarter" idx="41" hasCustomPrompt="1"/>
          </p:nvPr>
        </p:nvSpPr>
        <p:spPr>
          <a:xfrm>
            <a:off x="6431649" y="4811831"/>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4</a:t>
            </a:r>
            <a:endParaRPr lang="en-IN"/>
          </a:p>
        </p:txBody>
      </p:sp>
      <p:sp>
        <p:nvSpPr>
          <p:cNvPr id="16" name="Text Placeholder 15">
            <a:extLst>
              <a:ext uri="{FF2B5EF4-FFF2-40B4-BE49-F238E27FC236}">
                <a16:creationId xmlns:a16="http://schemas.microsoft.com/office/drawing/2014/main" id="{1ABF62E0-0E71-35F1-6616-0CDD2C90D28D}"/>
              </a:ext>
            </a:extLst>
          </p:cNvPr>
          <p:cNvSpPr>
            <a:spLocks noGrp="1"/>
          </p:cNvSpPr>
          <p:nvPr>
            <p:ph type="body" sz="quarter" idx="42" hasCustomPrompt="1"/>
          </p:nvPr>
        </p:nvSpPr>
        <p:spPr>
          <a:xfrm>
            <a:off x="7208683" y="4798828"/>
            <a:ext cx="4168745" cy="659999"/>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15" name="Title 8">
            <a:extLst>
              <a:ext uri="{FF2B5EF4-FFF2-40B4-BE49-F238E27FC236}">
                <a16:creationId xmlns:a16="http://schemas.microsoft.com/office/drawing/2014/main" id="{6623636B-28ED-7A89-7359-4021F0CF5A20}"/>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7" name="Text Placeholder 10">
            <a:extLst>
              <a:ext uri="{FF2B5EF4-FFF2-40B4-BE49-F238E27FC236}">
                <a16:creationId xmlns:a16="http://schemas.microsoft.com/office/drawing/2014/main" id="{9F707444-1D10-2217-B45E-EDAE8E8635A9}"/>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4152242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B_Intro-Outr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DDA90D5-45BF-723E-679A-1C51919C9658}"/>
              </a:ext>
            </a:extLst>
          </p:cNvPr>
          <p:cNvSpPr/>
          <p:nvPr userDrawn="1"/>
        </p:nvSpPr>
        <p:spPr>
          <a:xfrm>
            <a:off x="1" y="5709685"/>
            <a:ext cx="3625701" cy="1148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800"/>
          </a:p>
        </p:txBody>
      </p:sp>
      <p:sp>
        <p:nvSpPr>
          <p:cNvPr id="10" name="TextBox 9">
            <a:extLst>
              <a:ext uri="{FF2B5EF4-FFF2-40B4-BE49-F238E27FC236}">
                <a16:creationId xmlns:a16="http://schemas.microsoft.com/office/drawing/2014/main" id="{0B2A0986-2A0A-4113-A5C8-083B18CC8085}"/>
              </a:ext>
            </a:extLst>
          </p:cNvPr>
          <p:cNvSpPr txBox="1"/>
          <p:nvPr userDrawn="1"/>
        </p:nvSpPr>
        <p:spPr>
          <a:xfrm>
            <a:off x="0" y="6858000"/>
            <a:ext cx="8865936" cy="338554"/>
          </a:xfrm>
          <a:prstGeom prst="rect">
            <a:avLst/>
          </a:prstGeom>
          <a:solidFill>
            <a:srgbClr val="FFC000"/>
          </a:solidFill>
        </p:spPr>
        <p:txBody>
          <a:bodyPr wrap="square" rtlCol="0" anchor="b">
            <a:spAutoFit/>
          </a:bodyPr>
          <a:lstStyle/>
          <a:p>
            <a:pPr marL="0" algn="l" defTabSz="304815" rtl="0" eaLnBrk="1" latinLnBrk="0" hangingPunct="1"/>
            <a:r>
              <a:rPr lang="en-US" sz="1600" b="1" kern="1200">
                <a:solidFill>
                  <a:schemeClr val="tx1"/>
                </a:solidFill>
                <a:latin typeface="+mn-lt"/>
                <a:ea typeface="+mn-ea"/>
                <a:cs typeface="+mn-cs"/>
              </a:rPr>
              <a:t>INTRO / OUTRO: </a:t>
            </a:r>
            <a:r>
              <a:rPr lang="en-US" sz="1600" b="0" kern="1200">
                <a:solidFill>
                  <a:schemeClr val="tx1"/>
                </a:solidFill>
                <a:latin typeface="+mn-lt"/>
                <a:ea typeface="+mn-ea"/>
                <a:cs typeface="+mn-cs"/>
              </a:rPr>
              <a:t>Generally white base with the large school logo</a:t>
            </a:r>
            <a:endParaRPr lang="en-IN" sz="1600" b="0" kern="1200">
              <a:solidFill>
                <a:schemeClr val="tx1"/>
              </a:solidFill>
              <a:latin typeface="+mn-lt"/>
              <a:ea typeface="+mn-ea"/>
              <a:cs typeface="+mn-cs"/>
            </a:endParaRPr>
          </a:p>
        </p:txBody>
      </p:sp>
      <p:pic>
        <p:nvPicPr>
          <p:cNvPr id="2" name="Picture 1">
            <a:extLst>
              <a:ext uri="{FF2B5EF4-FFF2-40B4-BE49-F238E27FC236}">
                <a16:creationId xmlns:a16="http://schemas.microsoft.com/office/drawing/2014/main" id="{CDB702A6-16B0-A00B-F9FE-698CE23B83B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800912" y="2665256"/>
            <a:ext cx="4590175" cy="1527487"/>
          </a:xfrm>
          <a:prstGeom prst="rect">
            <a:avLst/>
          </a:prstGeom>
        </p:spPr>
      </p:pic>
    </p:spTree>
    <p:extLst>
      <p:ext uri="{BB962C8B-B14F-4D97-AF65-F5344CB8AC3E}">
        <p14:creationId xmlns:p14="http://schemas.microsoft.com/office/powerpoint/2010/main" val="205560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A_Details">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A7B58D3-6734-4301-B13C-AF9EDAD6EC2D}"/>
              </a:ext>
            </a:extLst>
          </p:cNvPr>
          <p:cNvGraphicFramePr>
            <a:graphicFrameLocks noGrp="1"/>
          </p:cNvGraphicFramePr>
          <p:nvPr userDrawn="1">
            <p:extLst>
              <p:ext uri="{D42A27DB-BD31-4B8C-83A1-F6EECF244321}">
                <p14:modId xmlns:p14="http://schemas.microsoft.com/office/powerpoint/2010/main" val="2620628462"/>
              </p:ext>
            </p:extLst>
          </p:nvPr>
        </p:nvGraphicFramePr>
        <p:xfrm>
          <a:off x="1031966" y="1003510"/>
          <a:ext cx="10321835" cy="5408105"/>
        </p:xfrm>
        <a:graphic>
          <a:graphicData uri="http://schemas.openxmlformats.org/drawingml/2006/table">
            <a:tbl>
              <a:tblPr firstRow="1" firstCol="1" bandRow="1"/>
              <a:tblGrid>
                <a:gridCol w="2335265">
                  <a:extLst>
                    <a:ext uri="{9D8B030D-6E8A-4147-A177-3AD203B41FA5}">
                      <a16:colId xmlns:a16="http://schemas.microsoft.com/office/drawing/2014/main" val="3108906838"/>
                    </a:ext>
                  </a:extLst>
                </a:gridCol>
                <a:gridCol w="7986570">
                  <a:extLst>
                    <a:ext uri="{9D8B030D-6E8A-4147-A177-3AD203B41FA5}">
                      <a16:colId xmlns:a16="http://schemas.microsoft.com/office/drawing/2014/main" val="1414263628"/>
                    </a:ext>
                  </a:extLst>
                </a:gridCol>
              </a:tblGrid>
              <a:tr h="280501">
                <a:tc>
                  <a:txBody>
                    <a:bodyPr/>
                    <a:lstStyle/>
                    <a:p>
                      <a:pPr>
                        <a:lnSpc>
                          <a:spcPct val="107000"/>
                        </a:lnSpc>
                        <a:spcAft>
                          <a:spcPts val="800"/>
                        </a:spcAft>
                      </a:pP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Course Name</a:t>
                      </a: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175" cap="flat" cmpd="sng" algn="ctr">
                      <a:solidFill>
                        <a:schemeClr val="tx1"/>
                      </a:solidFill>
                      <a:prstDash val="sysDash"/>
                      <a:round/>
                      <a:headEnd type="none" w="med" len="med"/>
                      <a:tailEnd type="none" w="med" len="med"/>
                    </a:lnB>
                    <a:solidFill>
                      <a:schemeClr val="bg2">
                        <a:lumMod val="90000"/>
                      </a:schemeClr>
                    </a:solidFill>
                  </a:tcPr>
                </a:tc>
                <a:tc>
                  <a:txBody>
                    <a:bodyPr/>
                    <a:lstStyle/>
                    <a:p>
                      <a:pPr>
                        <a:lnSpc>
                          <a:spcPct val="107000"/>
                        </a:lnSpc>
                        <a:spcAft>
                          <a:spcPts val="800"/>
                        </a:spcAft>
                      </a:pP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1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496368902"/>
                  </a:ext>
                </a:extLst>
              </a:tr>
              <a:tr h="280501">
                <a:tc>
                  <a:txBody>
                    <a:bodyPr/>
                    <a:lstStyle/>
                    <a:p>
                      <a:pPr>
                        <a:lnSpc>
                          <a:spcPct val="107000"/>
                        </a:lnSpc>
                        <a:spcAft>
                          <a:spcPts val="800"/>
                        </a:spcAft>
                      </a:pP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Module #</a:t>
                      </a: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solidFill>
                      <a:schemeClr val="bg2">
                        <a:lumMod val="90000"/>
                      </a:schemeClr>
                    </a:solidFill>
                  </a:tcPr>
                </a:tc>
                <a:tc>
                  <a:txBody>
                    <a:bodyPr/>
                    <a:lstStyle/>
                    <a:p>
                      <a:pPr>
                        <a:lnSpc>
                          <a:spcPct val="107000"/>
                        </a:lnSpc>
                        <a:spcAft>
                          <a:spcPts val="800"/>
                        </a:spcAft>
                      </a:pP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042105440"/>
                  </a:ext>
                </a:extLst>
              </a:tr>
              <a:tr h="280501">
                <a:tc>
                  <a:txBody>
                    <a:bodyPr/>
                    <a:lstStyle/>
                    <a:p>
                      <a:pPr>
                        <a:lnSpc>
                          <a:spcPct val="107000"/>
                        </a:lnSpc>
                        <a:spcAft>
                          <a:spcPts val="800"/>
                        </a:spcAft>
                      </a:pP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Module Name</a:t>
                      </a: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solidFill>
                      <a:schemeClr val="bg2">
                        <a:lumMod val="90000"/>
                      </a:schemeClr>
                    </a:solidFill>
                  </a:tcPr>
                </a:tc>
                <a:tc>
                  <a:txBody>
                    <a:bodyPr/>
                    <a:lstStyle/>
                    <a:p>
                      <a:pPr lvl="0"/>
                      <a:endParaRPr lang="en-US" sz="1600" i="1">
                        <a:latin typeface="Arial" panose="020B06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2713634481"/>
                  </a:ext>
                </a:extLst>
              </a:tr>
              <a:tr h="280501">
                <a:tc>
                  <a:txBody>
                    <a:bodyPr/>
                    <a:lstStyle/>
                    <a:p>
                      <a:pPr>
                        <a:lnSpc>
                          <a:spcPct val="107000"/>
                        </a:lnSpc>
                        <a:spcAft>
                          <a:spcPts val="800"/>
                        </a:spcAft>
                      </a:pP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Video Title</a:t>
                      </a: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solidFill>
                      <a:schemeClr val="bg2">
                        <a:lumMod val="90000"/>
                      </a:schemeClr>
                    </a:solidFill>
                  </a:tcPr>
                </a:tc>
                <a:tc>
                  <a:txBody>
                    <a:bodyPr/>
                    <a:lstStyle/>
                    <a:p>
                      <a:pPr lvl="0"/>
                      <a:endParaRPr lang="en-US" sz="1600" i="1">
                        <a:latin typeface="Arial" panose="020B06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247229953"/>
                  </a:ext>
                </a:extLst>
              </a:tr>
              <a:tr h="283845">
                <a:tc>
                  <a:txBody>
                    <a:bodyPr/>
                    <a:lstStyle/>
                    <a:p>
                      <a:pPr>
                        <a:lnSpc>
                          <a:spcPct val="107000"/>
                        </a:lnSpc>
                        <a:spcAft>
                          <a:spcPts val="800"/>
                        </a:spcAft>
                      </a:pPr>
                      <a:r>
                        <a:rPr lang="en-US" sz="1600" b="1" baseline="0" err="1">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Stringout</a:t>
                      </a: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 Link</a:t>
                      </a: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solidFill>
                      <a:schemeClr val="bg2">
                        <a:lumMod val="9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IN" sz="1800" kern="1200">
                        <a:solidFill>
                          <a:schemeClr val="tx1"/>
                        </a:solidFill>
                        <a:effectLst/>
                        <a:latin typeface="+mn-lt"/>
                        <a:ea typeface="+mn-ea"/>
                        <a:cs typeface="+mn-cs"/>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964194682"/>
                  </a:ext>
                </a:extLst>
              </a:tr>
              <a:tr h="1666706">
                <a:tc>
                  <a:txBody>
                    <a:bodyPr/>
                    <a:lstStyle/>
                    <a:p>
                      <a:pPr>
                        <a:lnSpc>
                          <a:spcPct val="107000"/>
                        </a:lnSpc>
                        <a:spcAft>
                          <a:spcPts val="800"/>
                        </a:spcAft>
                      </a:pPr>
                      <a:r>
                        <a:rPr lang="en-US" sz="1600" b="1" baseline="0" err="1">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Stringout</a:t>
                      </a: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 Timestamp</a:t>
                      </a: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509917794"/>
                  </a:ext>
                </a:extLst>
              </a:tr>
              <a:tr h="1364635">
                <a:tc>
                  <a:txBody>
                    <a:bodyPr/>
                    <a:lstStyle/>
                    <a:p>
                      <a:pPr>
                        <a:lnSpc>
                          <a:spcPct val="107000"/>
                        </a:lnSpc>
                        <a:spcAft>
                          <a:spcPts val="800"/>
                        </a:spcAft>
                      </a:pP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Video Overview</a:t>
                      </a:r>
                      <a:r>
                        <a:rPr lang="en-US" sz="1600" b="1" i="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 </a:t>
                      </a: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p>
                      <a:pPr>
                        <a:lnSpc>
                          <a:spcPct val="107000"/>
                        </a:lnSpc>
                        <a:spcAft>
                          <a:spcPts val="800"/>
                        </a:spcAft>
                      </a:pPr>
                      <a:r>
                        <a:rPr lang="en-US" sz="1600" b="0" i="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(To be used as a Narrative)</a:t>
                      </a:r>
                      <a:endParaRPr lang="en-IN" sz="1600" b="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solidFill>
                      <a:schemeClr val="bg2">
                        <a:lumMod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IN" sz="1800" kern="1200">
                        <a:solidFill>
                          <a:schemeClr val="tx1"/>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31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582186714"/>
                  </a:ext>
                </a:extLst>
              </a:tr>
              <a:tr h="519127">
                <a:tc>
                  <a:txBody>
                    <a:bodyPr/>
                    <a:lstStyle/>
                    <a:p>
                      <a:pPr>
                        <a:lnSpc>
                          <a:spcPct val="107000"/>
                        </a:lnSpc>
                        <a:spcAft>
                          <a:spcPts val="800"/>
                        </a:spcAft>
                      </a:pPr>
                      <a:r>
                        <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rPr>
                        <a:t>Big Idea</a:t>
                      </a:r>
                    </a:p>
                    <a:p>
                      <a:pPr>
                        <a:lnSpc>
                          <a:spcPct val="107000"/>
                        </a:lnSpc>
                        <a:spcAft>
                          <a:spcPts val="800"/>
                        </a:spcAft>
                      </a:pPr>
                      <a:endParaRPr lang="en-US" sz="1600" b="1"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p>
                      <a:pPr>
                        <a:lnSpc>
                          <a:spcPct val="107000"/>
                        </a:lnSpc>
                        <a:spcAft>
                          <a:spcPts val="800"/>
                        </a:spcAft>
                      </a:pPr>
                      <a:endParaRPr lang="en-IN" sz="1600" baseline="0">
                        <a:solidFill>
                          <a:schemeClr val="tx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800" b="1">
                          <a:effectLst/>
                          <a:latin typeface="Calibri" panose="020F0502020204030204" pitchFamily="34" charset="0"/>
                          <a:ea typeface="Calibri" panose="020F0502020204030204" pitchFamily="34" charset="0"/>
                          <a:cs typeface="Times New Roman" panose="02020603050405020304" pitchFamily="18" charset="0"/>
                        </a:rPr>
                        <a:t> </a:t>
                      </a:r>
                      <a:endParaRPr lang="en-IN" sz="1800" b="0" u="none" strike="sngStrike">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ysDash"/>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0682389"/>
                  </a:ext>
                </a:extLst>
              </a:tr>
            </a:tbl>
          </a:graphicData>
        </a:graphic>
      </p:graphicFrame>
      <p:sp>
        <p:nvSpPr>
          <p:cNvPr id="17" name="TextBox 16">
            <a:extLst>
              <a:ext uri="{FF2B5EF4-FFF2-40B4-BE49-F238E27FC236}">
                <a16:creationId xmlns:a16="http://schemas.microsoft.com/office/drawing/2014/main" id="{3A6C208C-DC5A-4B23-A131-D79B4B415CDA}"/>
              </a:ext>
            </a:extLst>
          </p:cNvPr>
          <p:cNvSpPr txBox="1"/>
          <p:nvPr userDrawn="1"/>
        </p:nvSpPr>
        <p:spPr>
          <a:xfrm>
            <a:off x="3445789" y="404410"/>
            <a:ext cx="5300421" cy="523220"/>
          </a:xfrm>
          <a:prstGeom prst="rect">
            <a:avLst/>
          </a:prstGeom>
          <a:noFill/>
        </p:spPr>
        <p:txBody>
          <a:bodyPr wrap="square" rtlCol="0">
            <a:spAutoFit/>
          </a:bodyPr>
          <a:lstStyle/>
          <a:p>
            <a:pPr algn="ctr"/>
            <a:r>
              <a:rPr lang="en-US" sz="2800" b="1">
                <a:solidFill>
                  <a:srgbClr val="25274D"/>
                </a:solidFill>
                <a:latin typeface="+mn-lt"/>
              </a:rPr>
              <a:t>Course and Video Details</a:t>
            </a:r>
            <a:endParaRPr lang="en-IN" sz="2800" b="1">
              <a:solidFill>
                <a:srgbClr val="25274D"/>
              </a:solidFill>
              <a:latin typeface="+mn-lt"/>
            </a:endParaRPr>
          </a:p>
        </p:txBody>
      </p:sp>
      <p:sp>
        <p:nvSpPr>
          <p:cNvPr id="2" name="TextBox 1">
            <a:extLst>
              <a:ext uri="{FF2B5EF4-FFF2-40B4-BE49-F238E27FC236}">
                <a16:creationId xmlns:a16="http://schemas.microsoft.com/office/drawing/2014/main" id="{DA838700-1098-836F-FE8B-F344A908B9BA}"/>
              </a:ext>
            </a:extLst>
          </p:cNvPr>
          <p:cNvSpPr txBox="1"/>
          <p:nvPr userDrawn="1"/>
        </p:nvSpPr>
        <p:spPr>
          <a:xfrm>
            <a:off x="0" y="6858000"/>
            <a:ext cx="8865936" cy="338554"/>
          </a:xfrm>
          <a:prstGeom prst="rect">
            <a:avLst/>
          </a:prstGeom>
          <a:solidFill>
            <a:srgbClr val="FFC000"/>
          </a:solidFill>
        </p:spPr>
        <p:txBody>
          <a:bodyPr wrap="square" rtlCol="0" anchor="b">
            <a:spAutoFit/>
          </a:bodyPr>
          <a:lstStyle/>
          <a:p>
            <a:pPr marL="0" algn="l" defTabSz="304815" rtl="0" eaLnBrk="1" latinLnBrk="0" hangingPunct="1"/>
            <a:r>
              <a:rPr lang="en-US" sz="1600" b="1" kern="1200">
                <a:solidFill>
                  <a:schemeClr val="tx1"/>
                </a:solidFill>
                <a:latin typeface="+mn-lt"/>
                <a:ea typeface="+mn-ea"/>
                <a:cs typeface="+mn-cs"/>
              </a:rPr>
              <a:t>COURSE DETAILS: </a:t>
            </a:r>
            <a:r>
              <a:rPr lang="en-US" sz="1600" b="0" kern="1200">
                <a:solidFill>
                  <a:schemeClr val="tx1"/>
                </a:solidFill>
                <a:latin typeface="+mn-lt"/>
                <a:ea typeface="+mn-ea"/>
                <a:cs typeface="+mn-cs"/>
              </a:rPr>
              <a:t>Course and Video details for common purposes</a:t>
            </a:r>
            <a:endParaRPr lang="en-IN" sz="1600" b="0" kern="1200">
              <a:solidFill>
                <a:schemeClr val="tx1"/>
              </a:solidFill>
              <a:latin typeface="+mn-lt"/>
              <a:ea typeface="+mn-ea"/>
              <a:cs typeface="+mn-cs"/>
            </a:endParaRPr>
          </a:p>
        </p:txBody>
      </p:sp>
    </p:spTree>
    <p:extLst>
      <p:ext uri="{BB962C8B-B14F-4D97-AF65-F5344CB8AC3E}">
        <p14:creationId xmlns:p14="http://schemas.microsoft.com/office/powerpoint/2010/main" val="4036481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A_Title + Blank Slid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B9010A5-3E72-49FB-A931-C6B57ACEC48A}"/>
              </a:ext>
            </a:extLst>
          </p:cNvPr>
          <p:cNvSpPr txBox="1"/>
          <p:nvPr userDrawn="1"/>
        </p:nvSpPr>
        <p:spPr>
          <a:xfrm>
            <a:off x="0" y="6858000"/>
            <a:ext cx="3934090"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Blank Slide</a:t>
            </a:r>
            <a:endParaRPr lang="en-IN" sz="1600" b="0" kern="1200">
              <a:solidFill>
                <a:schemeClr val="tx1"/>
              </a:solidFill>
              <a:latin typeface="+mn-lt"/>
              <a:ea typeface="+mn-ea"/>
              <a:cs typeface="+mn-cs"/>
            </a:endParaRPr>
          </a:p>
        </p:txBody>
      </p:sp>
      <p:sp>
        <p:nvSpPr>
          <p:cNvPr id="3" name="Title 8">
            <a:extLst>
              <a:ext uri="{FF2B5EF4-FFF2-40B4-BE49-F238E27FC236}">
                <a16:creationId xmlns:a16="http://schemas.microsoft.com/office/drawing/2014/main" id="{BC3AC56D-CB69-C2DC-7682-91B7D5AF1FAC}"/>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4" name="Text Placeholder 10">
            <a:extLst>
              <a:ext uri="{FF2B5EF4-FFF2-40B4-BE49-F238E27FC236}">
                <a16:creationId xmlns:a16="http://schemas.microsoft.com/office/drawing/2014/main" id="{1EE1CA9B-2D8D-90CD-1B73-D84F85AD596A}"/>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37008545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A_Title + Blank Slid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B9010A5-3E72-49FB-A931-C6B57ACEC48A}"/>
              </a:ext>
            </a:extLst>
          </p:cNvPr>
          <p:cNvSpPr txBox="1"/>
          <p:nvPr userDrawn="1"/>
        </p:nvSpPr>
        <p:spPr>
          <a:xfrm>
            <a:off x="0" y="6858000"/>
            <a:ext cx="3934090"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Blank Slide</a:t>
            </a:r>
            <a:endParaRPr lang="en-IN" sz="1600" b="0" kern="1200">
              <a:solidFill>
                <a:schemeClr val="tx1"/>
              </a:solidFill>
              <a:latin typeface="+mn-lt"/>
              <a:ea typeface="+mn-ea"/>
              <a:cs typeface="+mn-cs"/>
            </a:endParaRPr>
          </a:p>
        </p:txBody>
      </p:sp>
      <p:sp>
        <p:nvSpPr>
          <p:cNvPr id="3" name="Title 8">
            <a:extLst>
              <a:ext uri="{FF2B5EF4-FFF2-40B4-BE49-F238E27FC236}">
                <a16:creationId xmlns:a16="http://schemas.microsoft.com/office/drawing/2014/main" id="{BC3AC56D-CB69-C2DC-7682-91B7D5AF1FAC}"/>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4" name="Text Placeholder 10">
            <a:extLst>
              <a:ext uri="{FF2B5EF4-FFF2-40B4-BE49-F238E27FC236}">
                <a16:creationId xmlns:a16="http://schemas.microsoft.com/office/drawing/2014/main" id="{1EE1CA9B-2D8D-90CD-1B73-D84F85AD596A}"/>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2005240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B_Overview/Summar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B9010A5-3E72-49FB-A931-C6B57ACEC48A}"/>
              </a:ext>
            </a:extLst>
          </p:cNvPr>
          <p:cNvSpPr txBox="1"/>
          <p:nvPr userDrawn="1"/>
        </p:nvSpPr>
        <p:spPr>
          <a:xfrm>
            <a:off x="0" y="6858000"/>
            <a:ext cx="4929555"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Overview/Summary</a:t>
            </a:r>
            <a:endParaRPr lang="en-IN" sz="1600" b="0" kern="1200">
              <a:solidFill>
                <a:schemeClr val="tx1"/>
              </a:solidFill>
              <a:latin typeface="+mn-lt"/>
              <a:ea typeface="+mn-ea"/>
              <a:cs typeface="+mn-cs"/>
            </a:endParaRPr>
          </a:p>
        </p:txBody>
      </p:sp>
      <p:sp>
        <p:nvSpPr>
          <p:cNvPr id="12" name="Text Placeholder 17">
            <a:extLst>
              <a:ext uri="{FF2B5EF4-FFF2-40B4-BE49-F238E27FC236}">
                <a16:creationId xmlns:a16="http://schemas.microsoft.com/office/drawing/2014/main" id="{19DFBD23-183C-4149-B5B8-BC548723B46A}"/>
              </a:ext>
            </a:extLst>
          </p:cNvPr>
          <p:cNvSpPr>
            <a:spLocks noGrp="1"/>
          </p:cNvSpPr>
          <p:nvPr>
            <p:ph type="body" sz="quarter" idx="19" hasCustomPrompt="1"/>
          </p:nvPr>
        </p:nvSpPr>
        <p:spPr>
          <a:xfrm>
            <a:off x="749999" y="3512600"/>
            <a:ext cx="2544726" cy="2452265"/>
          </a:xfrm>
          <a:prstGeom prst="roundRect">
            <a:avLst>
              <a:gd name="adj" fmla="val 7729"/>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4" name="Picture Placeholder 4">
            <a:extLst>
              <a:ext uri="{FF2B5EF4-FFF2-40B4-BE49-F238E27FC236}">
                <a16:creationId xmlns:a16="http://schemas.microsoft.com/office/drawing/2014/main" id="{6E324BEF-3F9B-4119-8F1F-7F8499707455}"/>
              </a:ext>
            </a:extLst>
          </p:cNvPr>
          <p:cNvSpPr>
            <a:spLocks noGrp="1"/>
          </p:cNvSpPr>
          <p:nvPr>
            <p:ph type="pic" sz="quarter" idx="25" hasCustomPrompt="1"/>
          </p:nvPr>
        </p:nvSpPr>
        <p:spPr>
          <a:xfrm>
            <a:off x="749999" y="1900053"/>
            <a:ext cx="2544726" cy="1440000"/>
          </a:xfrm>
          <a:prstGeom prst="roundRect">
            <a:avLst>
              <a:gd name="adj" fmla="val 11498"/>
            </a:avLst>
          </a:prstGeom>
        </p:spPr>
        <p:txBody>
          <a:bodyPr anchor="ctr" anchorCtr="0">
            <a:normAutofit/>
          </a:bodyPr>
          <a:lstStyle>
            <a:lvl1pPr marL="0" indent="0" algn="ctr">
              <a:buNone/>
              <a:defRPr sz="2000">
                <a:solidFill>
                  <a:srgbClr val="25274D"/>
                </a:solidFill>
                <a:latin typeface="+mn-lt"/>
                <a:cs typeface="Arial" panose="020B0604020202020204" pitchFamily="34" charset="0"/>
              </a:defRPr>
            </a:lvl1pPr>
          </a:lstStyle>
          <a:p>
            <a:r>
              <a:rPr lang="en-US"/>
              <a:t>Icon/image</a:t>
            </a:r>
            <a:endParaRPr lang="en-IN"/>
          </a:p>
        </p:txBody>
      </p:sp>
      <p:sp>
        <p:nvSpPr>
          <p:cNvPr id="19" name="Text Placeholder 17">
            <a:extLst>
              <a:ext uri="{FF2B5EF4-FFF2-40B4-BE49-F238E27FC236}">
                <a16:creationId xmlns:a16="http://schemas.microsoft.com/office/drawing/2014/main" id="{CBA0ECFF-18FB-5D92-0819-6C2AE9965DFC}"/>
              </a:ext>
            </a:extLst>
          </p:cNvPr>
          <p:cNvSpPr>
            <a:spLocks noGrp="1"/>
          </p:cNvSpPr>
          <p:nvPr>
            <p:ph type="body" sz="quarter" idx="26" hasCustomPrompt="1"/>
          </p:nvPr>
        </p:nvSpPr>
        <p:spPr>
          <a:xfrm>
            <a:off x="3443581" y="3512600"/>
            <a:ext cx="2544726" cy="2452265"/>
          </a:xfrm>
          <a:prstGeom prst="roundRect">
            <a:avLst>
              <a:gd name="adj" fmla="val 9140"/>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20" name="Picture Placeholder 4">
            <a:extLst>
              <a:ext uri="{FF2B5EF4-FFF2-40B4-BE49-F238E27FC236}">
                <a16:creationId xmlns:a16="http://schemas.microsoft.com/office/drawing/2014/main" id="{37FFFF63-ABF2-DAAF-F848-D2F6DB2C94C8}"/>
              </a:ext>
            </a:extLst>
          </p:cNvPr>
          <p:cNvSpPr>
            <a:spLocks noGrp="1"/>
          </p:cNvSpPr>
          <p:nvPr>
            <p:ph type="pic" sz="quarter" idx="27" hasCustomPrompt="1"/>
          </p:nvPr>
        </p:nvSpPr>
        <p:spPr>
          <a:xfrm>
            <a:off x="3443581" y="1900053"/>
            <a:ext cx="2544726" cy="1440000"/>
          </a:xfrm>
          <a:prstGeom prst="roundRect">
            <a:avLst>
              <a:gd name="adj" fmla="val 12237"/>
            </a:avLst>
          </a:prstGeom>
        </p:spPr>
        <p:txBody>
          <a:bodyPr anchor="ctr" anchorCtr="0">
            <a:normAutofit/>
          </a:bodyPr>
          <a:lstStyle>
            <a:lvl1pPr marL="0" indent="0" algn="ctr">
              <a:buNone/>
              <a:defRPr sz="2000">
                <a:solidFill>
                  <a:srgbClr val="25274D"/>
                </a:solidFill>
                <a:latin typeface="+mn-lt"/>
                <a:cs typeface="Arial" panose="020B0604020202020204" pitchFamily="34" charset="0"/>
              </a:defRPr>
            </a:lvl1pPr>
          </a:lstStyle>
          <a:p>
            <a:r>
              <a:rPr lang="en-US"/>
              <a:t>Icon/image</a:t>
            </a:r>
            <a:endParaRPr lang="en-IN"/>
          </a:p>
        </p:txBody>
      </p:sp>
      <p:sp>
        <p:nvSpPr>
          <p:cNvPr id="21" name="Text Placeholder 17">
            <a:extLst>
              <a:ext uri="{FF2B5EF4-FFF2-40B4-BE49-F238E27FC236}">
                <a16:creationId xmlns:a16="http://schemas.microsoft.com/office/drawing/2014/main" id="{CBA86CAD-AD88-DDB2-4C51-DEB4A240BC0C}"/>
              </a:ext>
            </a:extLst>
          </p:cNvPr>
          <p:cNvSpPr>
            <a:spLocks noGrp="1"/>
          </p:cNvSpPr>
          <p:nvPr>
            <p:ph type="body" sz="quarter" idx="28" hasCustomPrompt="1"/>
          </p:nvPr>
        </p:nvSpPr>
        <p:spPr>
          <a:xfrm>
            <a:off x="6137163" y="3512600"/>
            <a:ext cx="2544726" cy="2452265"/>
          </a:xfrm>
          <a:prstGeom prst="roundRect">
            <a:avLst>
              <a:gd name="adj" fmla="val 9140"/>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22" name="Picture Placeholder 4">
            <a:extLst>
              <a:ext uri="{FF2B5EF4-FFF2-40B4-BE49-F238E27FC236}">
                <a16:creationId xmlns:a16="http://schemas.microsoft.com/office/drawing/2014/main" id="{787993C6-EE85-57A4-5C4E-65099FBCBFAF}"/>
              </a:ext>
            </a:extLst>
          </p:cNvPr>
          <p:cNvSpPr>
            <a:spLocks noGrp="1"/>
          </p:cNvSpPr>
          <p:nvPr>
            <p:ph type="pic" sz="quarter" idx="29" hasCustomPrompt="1"/>
          </p:nvPr>
        </p:nvSpPr>
        <p:spPr>
          <a:xfrm>
            <a:off x="6137163" y="1900053"/>
            <a:ext cx="2544726" cy="1440000"/>
          </a:xfrm>
          <a:prstGeom prst="roundRect">
            <a:avLst>
              <a:gd name="adj" fmla="val 11498"/>
            </a:avLst>
          </a:prstGeom>
        </p:spPr>
        <p:txBody>
          <a:bodyPr anchor="ctr" anchorCtr="0">
            <a:normAutofit/>
          </a:bodyPr>
          <a:lstStyle>
            <a:lvl1pPr marL="0" indent="0" algn="ctr">
              <a:buNone/>
              <a:defRPr sz="2000">
                <a:solidFill>
                  <a:srgbClr val="25274D"/>
                </a:solidFill>
                <a:latin typeface="+mn-lt"/>
                <a:cs typeface="Arial" panose="020B0604020202020204" pitchFamily="34" charset="0"/>
              </a:defRPr>
            </a:lvl1pPr>
          </a:lstStyle>
          <a:p>
            <a:r>
              <a:rPr lang="en-US"/>
              <a:t>Icon/image</a:t>
            </a:r>
            <a:endParaRPr lang="en-IN"/>
          </a:p>
        </p:txBody>
      </p:sp>
      <p:sp>
        <p:nvSpPr>
          <p:cNvPr id="23" name="Text Placeholder 17">
            <a:extLst>
              <a:ext uri="{FF2B5EF4-FFF2-40B4-BE49-F238E27FC236}">
                <a16:creationId xmlns:a16="http://schemas.microsoft.com/office/drawing/2014/main" id="{57F99002-B870-B0B6-59C2-52A062BF7805}"/>
              </a:ext>
            </a:extLst>
          </p:cNvPr>
          <p:cNvSpPr>
            <a:spLocks noGrp="1"/>
          </p:cNvSpPr>
          <p:nvPr>
            <p:ph type="body" sz="quarter" idx="30" hasCustomPrompt="1"/>
          </p:nvPr>
        </p:nvSpPr>
        <p:spPr>
          <a:xfrm>
            <a:off x="8827355" y="3512600"/>
            <a:ext cx="2544726" cy="2452265"/>
          </a:xfrm>
          <a:prstGeom prst="roundRect">
            <a:avLst>
              <a:gd name="adj" fmla="val 9140"/>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24" name="Picture Placeholder 4">
            <a:extLst>
              <a:ext uri="{FF2B5EF4-FFF2-40B4-BE49-F238E27FC236}">
                <a16:creationId xmlns:a16="http://schemas.microsoft.com/office/drawing/2014/main" id="{1EDAA4B0-ACFF-0278-ABBD-BECC87076AA6}"/>
              </a:ext>
            </a:extLst>
          </p:cNvPr>
          <p:cNvSpPr>
            <a:spLocks noGrp="1"/>
          </p:cNvSpPr>
          <p:nvPr>
            <p:ph type="pic" sz="quarter" idx="31" hasCustomPrompt="1"/>
          </p:nvPr>
        </p:nvSpPr>
        <p:spPr>
          <a:xfrm>
            <a:off x="8827355" y="1900053"/>
            <a:ext cx="2544726" cy="1440000"/>
          </a:xfrm>
          <a:prstGeom prst="roundRect">
            <a:avLst>
              <a:gd name="adj" fmla="val 12237"/>
            </a:avLst>
          </a:prstGeom>
        </p:spPr>
        <p:txBody>
          <a:bodyPr anchor="ctr" anchorCtr="0">
            <a:normAutofit/>
          </a:bodyPr>
          <a:lstStyle>
            <a:lvl1pPr marL="0" indent="0" algn="ctr">
              <a:buNone/>
              <a:defRPr sz="2000">
                <a:solidFill>
                  <a:srgbClr val="25274D"/>
                </a:solidFill>
                <a:latin typeface="+mn-lt"/>
                <a:cs typeface="Arial" panose="020B0604020202020204" pitchFamily="34" charset="0"/>
              </a:defRPr>
            </a:lvl1pPr>
          </a:lstStyle>
          <a:p>
            <a:r>
              <a:rPr lang="en-US"/>
              <a:t>Icon/image</a:t>
            </a:r>
            <a:endParaRPr lang="en-IN"/>
          </a:p>
        </p:txBody>
      </p:sp>
      <p:sp>
        <p:nvSpPr>
          <p:cNvPr id="7" name="Title 8">
            <a:extLst>
              <a:ext uri="{FF2B5EF4-FFF2-40B4-BE49-F238E27FC236}">
                <a16:creationId xmlns:a16="http://schemas.microsoft.com/office/drawing/2014/main" id="{EA707556-DCF5-FB76-8D0C-444D780DD4B9}"/>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8" name="Text Placeholder 10">
            <a:extLst>
              <a:ext uri="{FF2B5EF4-FFF2-40B4-BE49-F238E27FC236}">
                <a16:creationId xmlns:a16="http://schemas.microsoft.com/office/drawing/2014/main" id="{AD18A2C6-8544-B1DE-CC9A-8FDB6A47E2A6}"/>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42236770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C_Quote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3531736"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Quotes</a:t>
            </a:r>
          </a:p>
        </p:txBody>
      </p:sp>
      <p:sp>
        <p:nvSpPr>
          <p:cNvPr id="15" name="Text Placeholder 5">
            <a:extLst>
              <a:ext uri="{FF2B5EF4-FFF2-40B4-BE49-F238E27FC236}">
                <a16:creationId xmlns:a16="http://schemas.microsoft.com/office/drawing/2014/main" id="{1E2F8585-3C89-2D09-DC6F-B0E1F451EA7D}"/>
              </a:ext>
            </a:extLst>
          </p:cNvPr>
          <p:cNvSpPr>
            <a:spLocks noGrp="1"/>
          </p:cNvSpPr>
          <p:nvPr>
            <p:ph type="body" sz="quarter" idx="25" hasCustomPrompt="1"/>
          </p:nvPr>
        </p:nvSpPr>
        <p:spPr>
          <a:xfrm>
            <a:off x="6371371" y="2528435"/>
            <a:ext cx="4805966" cy="2318328"/>
          </a:xfrm>
          <a:prstGeom prst="rect">
            <a:avLst/>
          </a:prstGeom>
        </p:spPr>
        <p:txBody>
          <a:bodyPr/>
          <a:lstStyle>
            <a:lvl1pPr marL="228611" indent="-228611" algn="l">
              <a:lnSpc>
                <a:spcPct val="100000"/>
              </a:lnSpc>
              <a:spcBef>
                <a:spcPts val="0"/>
              </a:spcBef>
              <a:spcAft>
                <a:spcPts val="400"/>
              </a:spcAft>
              <a:buClr>
                <a:srgbClr val="2E9CCA"/>
              </a:buClr>
              <a:buSzPct val="125000"/>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474157" indent="-231787" algn="l">
              <a:lnSpc>
                <a:spcPct val="100000"/>
              </a:lnSpc>
              <a:spcBef>
                <a:spcPts val="0"/>
              </a:spcBef>
              <a:spcAft>
                <a:spcPts val="0"/>
              </a:spcAft>
              <a:buSzPct val="90000"/>
              <a:buFont typeface="Arial" panose="020B0604020202020204" pitchFamily="34" charset="0"/>
              <a:buChar char="○"/>
              <a:defRPr sz="1867">
                <a:solidFill>
                  <a:schemeClr val="tx1"/>
                </a:solidFill>
                <a:latin typeface="+mn-lt"/>
              </a:defRPr>
            </a:lvl2pPr>
            <a:lvl3pPr>
              <a:defRPr sz="1333"/>
            </a:lvl3pPr>
            <a:lvl4pPr>
              <a:defRPr sz="1200"/>
            </a:lvl4pPr>
            <a:lvl5pPr>
              <a:defRPr sz="1200"/>
            </a:lvl5pPr>
          </a:lstStyle>
          <a:p>
            <a:pPr marL="242371" lvl="0" indent="-242371" algn="l" defTabSz="914446" rtl="0" eaLnBrk="1" latinLnBrk="0" hangingPunct="1">
              <a:lnSpc>
                <a:spcPct val="100000"/>
              </a:lnSpc>
              <a:spcBef>
                <a:spcPct val="0"/>
              </a:spcBef>
              <a:spcAft>
                <a:spcPts val="1000"/>
              </a:spcAft>
              <a:buFont typeface="Arial" panose="020B0604020202020204" pitchFamily="34" charset="0"/>
              <a:buChar char="•"/>
            </a:pPr>
            <a:r>
              <a:rPr lang="en-US"/>
              <a:t>Quote</a:t>
            </a:r>
            <a:endParaRPr lang="en-IN"/>
          </a:p>
        </p:txBody>
      </p:sp>
      <p:grpSp>
        <p:nvGrpSpPr>
          <p:cNvPr id="17" name="Group 29">
            <a:extLst>
              <a:ext uri="{FF2B5EF4-FFF2-40B4-BE49-F238E27FC236}">
                <a16:creationId xmlns:a16="http://schemas.microsoft.com/office/drawing/2014/main" id="{D758CE2F-C77D-D143-9C32-F8BC30F19D79}"/>
              </a:ext>
            </a:extLst>
          </p:cNvPr>
          <p:cNvGrpSpPr>
            <a:grpSpLocks noChangeAspect="1"/>
          </p:cNvGrpSpPr>
          <p:nvPr userDrawn="1"/>
        </p:nvGrpSpPr>
        <p:grpSpPr bwMode="auto">
          <a:xfrm>
            <a:off x="6084333" y="2058194"/>
            <a:ext cx="5357668" cy="3637916"/>
            <a:chOff x="676" y="1349"/>
            <a:chExt cx="3564" cy="2420"/>
          </a:xfrm>
        </p:grpSpPr>
        <p:sp>
          <p:nvSpPr>
            <p:cNvPr id="18" name="Freeform 30">
              <a:extLst>
                <a:ext uri="{FF2B5EF4-FFF2-40B4-BE49-F238E27FC236}">
                  <a16:creationId xmlns:a16="http://schemas.microsoft.com/office/drawing/2014/main" id="{9D790D4B-DE54-77DC-E54D-0489BF7C3A64}"/>
                </a:ext>
              </a:extLst>
            </p:cNvPr>
            <p:cNvSpPr>
              <a:spLocks/>
            </p:cNvSpPr>
            <p:nvPr/>
          </p:nvSpPr>
          <p:spPr bwMode="auto">
            <a:xfrm>
              <a:off x="938" y="1349"/>
              <a:ext cx="169" cy="226"/>
            </a:xfrm>
            <a:custGeom>
              <a:avLst/>
              <a:gdLst>
                <a:gd name="T0" fmla="*/ 82 w 119"/>
                <a:gd name="T1" fmla="*/ 0 h 174"/>
                <a:gd name="T2" fmla="*/ 13 w 119"/>
                <a:gd name="T3" fmla="*/ 96 h 174"/>
                <a:gd name="T4" fmla="*/ 41 w 119"/>
                <a:gd name="T5" fmla="*/ 162 h 174"/>
                <a:gd name="T6" fmla="*/ 101 w 119"/>
                <a:gd name="T7" fmla="*/ 132 h 174"/>
                <a:gd name="T8" fmla="*/ 70 w 119"/>
                <a:gd name="T9" fmla="*/ 70 h 174"/>
                <a:gd name="T10" fmla="*/ 110 w 119"/>
                <a:gd name="T11" fmla="*/ 1 h 174"/>
                <a:gd name="T12" fmla="*/ 82 w 119"/>
                <a:gd name="T13" fmla="*/ 0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82" y="0"/>
                  </a:moveTo>
                  <a:cubicBezTo>
                    <a:pt x="82" y="0"/>
                    <a:pt x="21" y="44"/>
                    <a:pt x="13" y="96"/>
                  </a:cubicBezTo>
                  <a:cubicBezTo>
                    <a:pt x="0" y="146"/>
                    <a:pt x="41" y="162"/>
                    <a:pt x="41" y="162"/>
                  </a:cubicBezTo>
                  <a:cubicBezTo>
                    <a:pt x="41" y="162"/>
                    <a:pt x="87" y="174"/>
                    <a:pt x="101" y="132"/>
                  </a:cubicBezTo>
                  <a:cubicBezTo>
                    <a:pt x="101" y="132"/>
                    <a:pt x="119" y="87"/>
                    <a:pt x="70" y="70"/>
                  </a:cubicBezTo>
                  <a:cubicBezTo>
                    <a:pt x="110" y="1"/>
                    <a:pt x="110" y="1"/>
                    <a:pt x="110" y="1"/>
                  </a:cubicBezTo>
                  <a:lnTo>
                    <a:pt x="82" y="0"/>
                  </a:lnTo>
                  <a:close/>
                </a:path>
              </a:pathLst>
            </a:custGeom>
            <a:solidFill>
              <a:srgbClr val="29648A"/>
            </a:solidFill>
            <a:ln w="9525">
              <a:noFill/>
              <a:round/>
              <a:headEnd/>
              <a:tailEnd/>
            </a:ln>
          </p:spPr>
          <p:txBody>
            <a:bodyPr vert="horz" wrap="square" lIns="91440" tIns="45720" rIns="91440" bIns="45720" numCol="1" anchor="t" anchorCtr="0" compatLnSpc="1">
              <a:prstTxWarp prst="textNoShape">
                <a:avLst/>
              </a:prstTxWarp>
            </a:bodyPr>
            <a:lstStyle/>
            <a:p>
              <a:endParaRPr lang="en-US" sz="1800">
                <a:latin typeface="Montserrat" panose="00000500000000000000" pitchFamily="2" charset="0"/>
              </a:endParaRPr>
            </a:p>
          </p:txBody>
        </p:sp>
        <p:sp>
          <p:nvSpPr>
            <p:cNvPr id="23" name="Freeform 31">
              <a:extLst>
                <a:ext uri="{FF2B5EF4-FFF2-40B4-BE49-F238E27FC236}">
                  <a16:creationId xmlns:a16="http://schemas.microsoft.com/office/drawing/2014/main" id="{EB81B1C5-838B-BCF0-F57E-6DF1D2B7B530}"/>
                </a:ext>
              </a:extLst>
            </p:cNvPr>
            <p:cNvSpPr>
              <a:spLocks/>
            </p:cNvSpPr>
            <p:nvPr/>
          </p:nvSpPr>
          <p:spPr bwMode="auto">
            <a:xfrm>
              <a:off x="1148" y="1349"/>
              <a:ext cx="170" cy="226"/>
            </a:xfrm>
            <a:custGeom>
              <a:avLst/>
              <a:gdLst>
                <a:gd name="T0" fmla="*/ 81 w 119"/>
                <a:gd name="T1" fmla="*/ 0 h 174"/>
                <a:gd name="T2" fmla="*/ 12 w 119"/>
                <a:gd name="T3" fmla="*/ 96 h 174"/>
                <a:gd name="T4" fmla="*/ 41 w 119"/>
                <a:gd name="T5" fmla="*/ 162 h 174"/>
                <a:gd name="T6" fmla="*/ 101 w 119"/>
                <a:gd name="T7" fmla="*/ 132 h 174"/>
                <a:gd name="T8" fmla="*/ 69 w 119"/>
                <a:gd name="T9" fmla="*/ 70 h 174"/>
                <a:gd name="T10" fmla="*/ 110 w 119"/>
                <a:gd name="T11" fmla="*/ 1 h 174"/>
                <a:gd name="T12" fmla="*/ 81 w 119"/>
                <a:gd name="T13" fmla="*/ 0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81" y="0"/>
                  </a:moveTo>
                  <a:cubicBezTo>
                    <a:pt x="81" y="0"/>
                    <a:pt x="21" y="44"/>
                    <a:pt x="12" y="96"/>
                  </a:cubicBezTo>
                  <a:cubicBezTo>
                    <a:pt x="0" y="146"/>
                    <a:pt x="41" y="162"/>
                    <a:pt x="41" y="162"/>
                  </a:cubicBezTo>
                  <a:cubicBezTo>
                    <a:pt x="41" y="162"/>
                    <a:pt x="86" y="174"/>
                    <a:pt x="101" y="132"/>
                  </a:cubicBezTo>
                  <a:cubicBezTo>
                    <a:pt x="101" y="132"/>
                    <a:pt x="119" y="87"/>
                    <a:pt x="69" y="70"/>
                  </a:cubicBezTo>
                  <a:cubicBezTo>
                    <a:pt x="110" y="1"/>
                    <a:pt x="110" y="1"/>
                    <a:pt x="110" y="1"/>
                  </a:cubicBezTo>
                  <a:lnTo>
                    <a:pt x="81" y="0"/>
                  </a:lnTo>
                  <a:close/>
                </a:path>
              </a:pathLst>
            </a:custGeom>
            <a:solidFill>
              <a:srgbClr val="29648A"/>
            </a:solidFill>
            <a:ln w="9525">
              <a:noFill/>
              <a:round/>
              <a:headEnd/>
              <a:tailEnd/>
            </a:ln>
          </p:spPr>
          <p:txBody>
            <a:bodyPr vert="horz" wrap="square" lIns="91440" tIns="45720" rIns="91440" bIns="45720" numCol="1" anchor="t" anchorCtr="0" compatLnSpc="1">
              <a:prstTxWarp prst="textNoShape">
                <a:avLst/>
              </a:prstTxWarp>
            </a:bodyPr>
            <a:lstStyle/>
            <a:p>
              <a:endParaRPr lang="en-US" sz="1800">
                <a:latin typeface="Montserrat" panose="00000500000000000000" pitchFamily="2" charset="0"/>
              </a:endParaRPr>
            </a:p>
          </p:txBody>
        </p:sp>
        <p:sp>
          <p:nvSpPr>
            <p:cNvPr id="24" name="Freeform 32">
              <a:extLst>
                <a:ext uri="{FF2B5EF4-FFF2-40B4-BE49-F238E27FC236}">
                  <a16:creationId xmlns:a16="http://schemas.microsoft.com/office/drawing/2014/main" id="{95DEF166-CFBF-C8EF-BD84-B354505C6552}"/>
                </a:ext>
              </a:extLst>
            </p:cNvPr>
            <p:cNvSpPr>
              <a:spLocks/>
            </p:cNvSpPr>
            <p:nvPr/>
          </p:nvSpPr>
          <p:spPr bwMode="auto">
            <a:xfrm>
              <a:off x="3837" y="3301"/>
              <a:ext cx="169" cy="226"/>
            </a:xfrm>
            <a:custGeom>
              <a:avLst/>
              <a:gdLst>
                <a:gd name="T0" fmla="*/ 37 w 119"/>
                <a:gd name="T1" fmla="*/ 174 h 174"/>
                <a:gd name="T2" fmla="*/ 106 w 119"/>
                <a:gd name="T3" fmla="*/ 77 h 174"/>
                <a:gd name="T4" fmla="*/ 77 w 119"/>
                <a:gd name="T5" fmla="*/ 12 h 174"/>
                <a:gd name="T6" fmla="*/ 17 w 119"/>
                <a:gd name="T7" fmla="*/ 42 h 174"/>
                <a:gd name="T8" fmla="*/ 49 w 119"/>
                <a:gd name="T9" fmla="*/ 103 h 174"/>
                <a:gd name="T10" fmla="*/ 9 w 119"/>
                <a:gd name="T11" fmla="*/ 173 h 174"/>
                <a:gd name="T12" fmla="*/ 37 w 119"/>
                <a:gd name="T13" fmla="*/ 174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37" y="174"/>
                  </a:moveTo>
                  <a:cubicBezTo>
                    <a:pt x="37" y="174"/>
                    <a:pt x="98" y="130"/>
                    <a:pt x="106" y="77"/>
                  </a:cubicBezTo>
                  <a:cubicBezTo>
                    <a:pt x="119" y="28"/>
                    <a:pt x="77" y="12"/>
                    <a:pt x="77" y="12"/>
                  </a:cubicBezTo>
                  <a:cubicBezTo>
                    <a:pt x="77" y="12"/>
                    <a:pt x="32" y="0"/>
                    <a:pt x="17" y="42"/>
                  </a:cubicBezTo>
                  <a:cubicBezTo>
                    <a:pt x="17" y="42"/>
                    <a:pt x="0" y="86"/>
                    <a:pt x="49" y="103"/>
                  </a:cubicBezTo>
                  <a:cubicBezTo>
                    <a:pt x="9" y="173"/>
                    <a:pt x="9" y="173"/>
                    <a:pt x="9" y="173"/>
                  </a:cubicBezTo>
                  <a:lnTo>
                    <a:pt x="37" y="174"/>
                  </a:lnTo>
                  <a:close/>
                </a:path>
              </a:pathLst>
            </a:custGeom>
            <a:solidFill>
              <a:srgbClr val="29648A"/>
            </a:solidFill>
            <a:ln w="9525">
              <a:noFill/>
              <a:round/>
              <a:headEnd/>
              <a:tailEnd/>
            </a:ln>
          </p:spPr>
          <p:txBody>
            <a:bodyPr vert="horz" wrap="square" lIns="91440" tIns="45720" rIns="91440" bIns="45720" numCol="1" anchor="t" anchorCtr="0" compatLnSpc="1">
              <a:prstTxWarp prst="textNoShape">
                <a:avLst/>
              </a:prstTxWarp>
            </a:bodyPr>
            <a:lstStyle/>
            <a:p>
              <a:endParaRPr lang="en-US" sz="1800">
                <a:latin typeface="Montserrat" panose="00000500000000000000" pitchFamily="2" charset="0"/>
              </a:endParaRPr>
            </a:p>
          </p:txBody>
        </p:sp>
        <p:sp>
          <p:nvSpPr>
            <p:cNvPr id="26" name="Freeform 33">
              <a:extLst>
                <a:ext uri="{FF2B5EF4-FFF2-40B4-BE49-F238E27FC236}">
                  <a16:creationId xmlns:a16="http://schemas.microsoft.com/office/drawing/2014/main" id="{7ED025E3-3D59-1316-4BCD-D428DEBA0973}"/>
                </a:ext>
              </a:extLst>
            </p:cNvPr>
            <p:cNvSpPr>
              <a:spLocks/>
            </p:cNvSpPr>
            <p:nvPr/>
          </p:nvSpPr>
          <p:spPr bwMode="auto">
            <a:xfrm>
              <a:off x="3628" y="3301"/>
              <a:ext cx="170" cy="226"/>
            </a:xfrm>
            <a:custGeom>
              <a:avLst/>
              <a:gdLst>
                <a:gd name="T0" fmla="*/ 38 w 119"/>
                <a:gd name="T1" fmla="*/ 174 h 174"/>
                <a:gd name="T2" fmla="*/ 106 w 119"/>
                <a:gd name="T3" fmla="*/ 77 h 174"/>
                <a:gd name="T4" fmla="*/ 78 w 119"/>
                <a:gd name="T5" fmla="*/ 12 h 174"/>
                <a:gd name="T6" fmla="*/ 18 w 119"/>
                <a:gd name="T7" fmla="*/ 42 h 174"/>
                <a:gd name="T8" fmla="*/ 50 w 119"/>
                <a:gd name="T9" fmla="*/ 103 h 174"/>
                <a:gd name="T10" fmla="*/ 9 w 119"/>
                <a:gd name="T11" fmla="*/ 173 h 174"/>
                <a:gd name="T12" fmla="*/ 38 w 119"/>
                <a:gd name="T13" fmla="*/ 174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38" y="174"/>
                  </a:moveTo>
                  <a:cubicBezTo>
                    <a:pt x="38" y="174"/>
                    <a:pt x="98" y="130"/>
                    <a:pt x="106" y="77"/>
                  </a:cubicBezTo>
                  <a:cubicBezTo>
                    <a:pt x="119" y="28"/>
                    <a:pt x="78" y="12"/>
                    <a:pt x="78" y="12"/>
                  </a:cubicBezTo>
                  <a:cubicBezTo>
                    <a:pt x="78" y="12"/>
                    <a:pt x="32" y="0"/>
                    <a:pt x="18" y="42"/>
                  </a:cubicBezTo>
                  <a:cubicBezTo>
                    <a:pt x="18" y="42"/>
                    <a:pt x="0" y="86"/>
                    <a:pt x="50" y="103"/>
                  </a:cubicBezTo>
                  <a:cubicBezTo>
                    <a:pt x="9" y="173"/>
                    <a:pt x="9" y="173"/>
                    <a:pt x="9" y="173"/>
                  </a:cubicBezTo>
                  <a:lnTo>
                    <a:pt x="38" y="174"/>
                  </a:lnTo>
                  <a:close/>
                </a:path>
              </a:pathLst>
            </a:custGeom>
            <a:solidFill>
              <a:srgbClr val="29648A"/>
            </a:solidFill>
            <a:ln w="9525">
              <a:noFill/>
              <a:round/>
              <a:headEnd/>
              <a:tailEnd/>
            </a:ln>
          </p:spPr>
          <p:txBody>
            <a:bodyPr vert="horz" wrap="square" lIns="91440" tIns="45720" rIns="91440" bIns="45720" numCol="1" anchor="t" anchorCtr="0" compatLnSpc="1">
              <a:prstTxWarp prst="textNoShape">
                <a:avLst/>
              </a:prstTxWarp>
            </a:bodyPr>
            <a:lstStyle/>
            <a:p>
              <a:endParaRPr lang="en-US" sz="1800">
                <a:latin typeface="Montserrat" panose="00000500000000000000" pitchFamily="2" charset="0"/>
              </a:endParaRPr>
            </a:p>
          </p:txBody>
        </p:sp>
        <p:sp>
          <p:nvSpPr>
            <p:cNvPr id="29" name="Freeform 34">
              <a:extLst>
                <a:ext uri="{FF2B5EF4-FFF2-40B4-BE49-F238E27FC236}">
                  <a16:creationId xmlns:a16="http://schemas.microsoft.com/office/drawing/2014/main" id="{97BDFF65-79B8-A2EE-F19B-7541ABA75E6F}"/>
                </a:ext>
              </a:extLst>
            </p:cNvPr>
            <p:cNvSpPr>
              <a:spLocks/>
            </p:cNvSpPr>
            <p:nvPr/>
          </p:nvSpPr>
          <p:spPr bwMode="auto">
            <a:xfrm>
              <a:off x="676" y="1475"/>
              <a:ext cx="2924" cy="2294"/>
            </a:xfrm>
            <a:custGeom>
              <a:avLst/>
              <a:gdLst>
                <a:gd name="T0" fmla="*/ 122 w 1359"/>
                <a:gd name="T1" fmla="*/ 0 h 1414"/>
                <a:gd name="T2" fmla="*/ 70 w 1359"/>
                <a:gd name="T3" fmla="*/ 0 h 1414"/>
                <a:gd name="T4" fmla="*/ 0 w 1359"/>
                <a:gd name="T5" fmla="*/ 71 h 1414"/>
                <a:gd name="T6" fmla="*/ 0 w 1359"/>
                <a:gd name="T7" fmla="*/ 1062 h 1414"/>
                <a:gd name="T8" fmla="*/ 70 w 1359"/>
                <a:gd name="T9" fmla="*/ 1132 h 1414"/>
                <a:gd name="T10" fmla="*/ 393 w 1359"/>
                <a:gd name="T11" fmla="*/ 1132 h 1414"/>
                <a:gd name="T12" fmla="*/ 239 w 1359"/>
                <a:gd name="T13" fmla="*/ 1414 h 1414"/>
                <a:gd name="T14" fmla="*/ 652 w 1359"/>
                <a:gd name="T15" fmla="*/ 1132 h 1414"/>
                <a:gd name="T16" fmla="*/ 1359 w 1359"/>
                <a:gd name="T17" fmla="*/ 1132 h 1414"/>
                <a:gd name="connsiteX0" fmla="*/ 898 w 12453"/>
                <a:gd name="connsiteY0" fmla="*/ 0 h 10000"/>
                <a:gd name="connsiteX1" fmla="*/ 515 w 12453"/>
                <a:gd name="connsiteY1" fmla="*/ 0 h 10000"/>
                <a:gd name="connsiteX2" fmla="*/ 0 w 12453"/>
                <a:gd name="connsiteY2" fmla="*/ 502 h 10000"/>
                <a:gd name="connsiteX3" fmla="*/ 0 w 12453"/>
                <a:gd name="connsiteY3" fmla="*/ 7511 h 10000"/>
                <a:gd name="connsiteX4" fmla="*/ 515 w 12453"/>
                <a:gd name="connsiteY4" fmla="*/ 8006 h 10000"/>
                <a:gd name="connsiteX5" fmla="*/ 2892 w 12453"/>
                <a:gd name="connsiteY5" fmla="*/ 8006 h 10000"/>
                <a:gd name="connsiteX6" fmla="*/ 1759 w 12453"/>
                <a:gd name="connsiteY6" fmla="*/ 10000 h 10000"/>
                <a:gd name="connsiteX7" fmla="*/ 4798 w 12453"/>
                <a:gd name="connsiteY7" fmla="*/ 8006 h 10000"/>
                <a:gd name="connsiteX8" fmla="*/ 12453 w 12453"/>
                <a:gd name="connsiteY8" fmla="*/ 8006 h 10000"/>
                <a:gd name="connsiteX0" fmla="*/ 898 w 12453"/>
                <a:gd name="connsiteY0" fmla="*/ 0 h 9394"/>
                <a:gd name="connsiteX1" fmla="*/ 515 w 12453"/>
                <a:gd name="connsiteY1" fmla="*/ 0 h 9394"/>
                <a:gd name="connsiteX2" fmla="*/ 0 w 12453"/>
                <a:gd name="connsiteY2" fmla="*/ 502 h 9394"/>
                <a:gd name="connsiteX3" fmla="*/ 0 w 12453"/>
                <a:gd name="connsiteY3" fmla="*/ 7511 h 9394"/>
                <a:gd name="connsiteX4" fmla="*/ 515 w 12453"/>
                <a:gd name="connsiteY4" fmla="*/ 8006 h 9394"/>
                <a:gd name="connsiteX5" fmla="*/ 2892 w 12453"/>
                <a:gd name="connsiteY5" fmla="*/ 8006 h 9394"/>
                <a:gd name="connsiteX6" fmla="*/ 2364 w 12453"/>
                <a:gd name="connsiteY6" fmla="*/ 9394 h 9394"/>
                <a:gd name="connsiteX7" fmla="*/ 4798 w 12453"/>
                <a:gd name="connsiteY7" fmla="*/ 8006 h 9394"/>
                <a:gd name="connsiteX8" fmla="*/ 12453 w 12453"/>
                <a:gd name="connsiteY8" fmla="*/ 8006 h 9394"/>
                <a:gd name="connsiteX0" fmla="*/ 721 w 10000"/>
                <a:gd name="connsiteY0" fmla="*/ 0 h 10000"/>
                <a:gd name="connsiteX1" fmla="*/ 414 w 10000"/>
                <a:gd name="connsiteY1" fmla="*/ 0 h 10000"/>
                <a:gd name="connsiteX2" fmla="*/ 0 w 10000"/>
                <a:gd name="connsiteY2" fmla="*/ 534 h 10000"/>
                <a:gd name="connsiteX3" fmla="*/ 0 w 10000"/>
                <a:gd name="connsiteY3" fmla="*/ 7996 h 10000"/>
                <a:gd name="connsiteX4" fmla="*/ 414 w 10000"/>
                <a:gd name="connsiteY4" fmla="*/ 8522 h 10000"/>
                <a:gd name="connsiteX5" fmla="*/ 2322 w 10000"/>
                <a:gd name="connsiteY5" fmla="*/ 8522 h 10000"/>
                <a:gd name="connsiteX6" fmla="*/ 1898 w 10000"/>
                <a:gd name="connsiteY6" fmla="*/ 10000 h 10000"/>
                <a:gd name="connsiteX7" fmla="*/ 3853 w 10000"/>
                <a:gd name="connsiteY7" fmla="*/ 8522 h 10000"/>
                <a:gd name="connsiteX8" fmla="*/ 10000 w 10000"/>
                <a:gd name="connsiteY8" fmla="*/ 8522 h 10000"/>
                <a:gd name="connsiteX0" fmla="*/ 721 w 10000"/>
                <a:gd name="connsiteY0" fmla="*/ 0 h 10000"/>
                <a:gd name="connsiteX1" fmla="*/ 414 w 10000"/>
                <a:gd name="connsiteY1" fmla="*/ 0 h 10000"/>
                <a:gd name="connsiteX2" fmla="*/ 0 w 10000"/>
                <a:gd name="connsiteY2" fmla="*/ 534 h 10000"/>
                <a:gd name="connsiteX3" fmla="*/ 0 w 10000"/>
                <a:gd name="connsiteY3" fmla="*/ 7996 h 10000"/>
                <a:gd name="connsiteX4" fmla="*/ 414 w 10000"/>
                <a:gd name="connsiteY4" fmla="*/ 8522 h 10000"/>
                <a:gd name="connsiteX5" fmla="*/ 2322 w 10000"/>
                <a:gd name="connsiteY5" fmla="*/ 8522 h 10000"/>
                <a:gd name="connsiteX6" fmla="*/ 1898 w 10000"/>
                <a:gd name="connsiteY6" fmla="*/ 10000 h 10000"/>
                <a:gd name="connsiteX7" fmla="*/ 3853 w 10000"/>
                <a:gd name="connsiteY7" fmla="*/ 8522 h 10000"/>
                <a:gd name="connsiteX8" fmla="*/ 10000 w 10000"/>
                <a:gd name="connsiteY8" fmla="*/ 8522 h 10000"/>
                <a:gd name="connsiteX0" fmla="*/ 721 w 10000"/>
                <a:gd name="connsiteY0" fmla="*/ 0 h 10000"/>
                <a:gd name="connsiteX1" fmla="*/ 414 w 10000"/>
                <a:gd name="connsiteY1" fmla="*/ 0 h 10000"/>
                <a:gd name="connsiteX2" fmla="*/ 0 w 10000"/>
                <a:gd name="connsiteY2" fmla="*/ 534 h 10000"/>
                <a:gd name="connsiteX3" fmla="*/ 0 w 10000"/>
                <a:gd name="connsiteY3" fmla="*/ 7996 h 10000"/>
                <a:gd name="connsiteX4" fmla="*/ 414 w 10000"/>
                <a:gd name="connsiteY4" fmla="*/ 8522 h 10000"/>
                <a:gd name="connsiteX5" fmla="*/ 2322 w 10000"/>
                <a:gd name="connsiteY5" fmla="*/ 8522 h 10000"/>
                <a:gd name="connsiteX6" fmla="*/ 1898 w 10000"/>
                <a:gd name="connsiteY6" fmla="*/ 10000 h 10000"/>
                <a:gd name="connsiteX7" fmla="*/ 3853 w 10000"/>
                <a:gd name="connsiteY7" fmla="*/ 8522 h 10000"/>
                <a:gd name="connsiteX8" fmla="*/ 10000 w 10000"/>
                <a:gd name="connsiteY8" fmla="*/ 852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721" y="0"/>
                  </a:moveTo>
                  <a:lnTo>
                    <a:pt x="414" y="0"/>
                  </a:lnTo>
                  <a:cubicBezTo>
                    <a:pt x="183" y="0"/>
                    <a:pt x="0" y="241"/>
                    <a:pt x="0" y="534"/>
                  </a:cubicBezTo>
                  <a:lnTo>
                    <a:pt x="0" y="7996"/>
                  </a:lnTo>
                  <a:cubicBezTo>
                    <a:pt x="0" y="8288"/>
                    <a:pt x="183" y="8522"/>
                    <a:pt x="414" y="8522"/>
                  </a:cubicBezTo>
                  <a:lnTo>
                    <a:pt x="2322" y="8522"/>
                  </a:lnTo>
                  <a:cubicBezTo>
                    <a:pt x="2323" y="8523"/>
                    <a:pt x="2040" y="9507"/>
                    <a:pt x="1898" y="10000"/>
                  </a:cubicBezTo>
                  <a:lnTo>
                    <a:pt x="3853" y="8522"/>
                  </a:lnTo>
                  <a:lnTo>
                    <a:pt x="10000" y="8522"/>
                  </a:lnTo>
                </a:path>
              </a:pathLst>
            </a:custGeom>
            <a:noFill/>
            <a:ln w="50800" cap="rnd">
              <a:solidFill>
                <a:srgbClr val="29648A"/>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solidFill>
                  <a:srgbClr val="2E9CCA"/>
                </a:solidFill>
                <a:latin typeface="Montserrat" panose="00000500000000000000" pitchFamily="2" charset="0"/>
              </a:endParaRPr>
            </a:p>
          </p:txBody>
        </p:sp>
        <p:sp>
          <p:nvSpPr>
            <p:cNvPr id="30" name="Freeform 35">
              <a:extLst>
                <a:ext uri="{FF2B5EF4-FFF2-40B4-BE49-F238E27FC236}">
                  <a16:creationId xmlns:a16="http://schemas.microsoft.com/office/drawing/2014/main" id="{7CEE3CFF-CA47-F64E-71C6-B8B1054C342D}"/>
                </a:ext>
              </a:extLst>
            </p:cNvPr>
            <p:cNvSpPr>
              <a:spLocks/>
            </p:cNvSpPr>
            <p:nvPr/>
          </p:nvSpPr>
          <p:spPr bwMode="auto">
            <a:xfrm>
              <a:off x="1360" y="1475"/>
              <a:ext cx="2880" cy="1955"/>
            </a:xfrm>
            <a:custGeom>
              <a:avLst/>
              <a:gdLst>
                <a:gd name="T0" fmla="*/ 1241 w 1346"/>
                <a:gd name="T1" fmla="*/ 1132 h 1132"/>
                <a:gd name="T2" fmla="*/ 1276 w 1346"/>
                <a:gd name="T3" fmla="*/ 1132 h 1132"/>
                <a:gd name="T4" fmla="*/ 1346 w 1346"/>
                <a:gd name="T5" fmla="*/ 1062 h 1132"/>
                <a:gd name="T6" fmla="*/ 1346 w 1346"/>
                <a:gd name="T7" fmla="*/ 71 h 1132"/>
                <a:gd name="T8" fmla="*/ 1276 w 1346"/>
                <a:gd name="T9" fmla="*/ 0 h 1132"/>
                <a:gd name="T10" fmla="*/ 0 w 1346"/>
                <a:gd name="T11" fmla="*/ 0 h 1132"/>
                <a:gd name="connsiteX0" fmla="*/ 11343 w 12123"/>
                <a:gd name="connsiteY0" fmla="*/ 10000 h 10000"/>
                <a:gd name="connsiteX1" fmla="*/ 11603 w 12123"/>
                <a:gd name="connsiteY1" fmla="*/ 10000 h 10000"/>
                <a:gd name="connsiteX2" fmla="*/ 12123 w 12123"/>
                <a:gd name="connsiteY2" fmla="*/ 9382 h 10000"/>
                <a:gd name="connsiteX3" fmla="*/ 12123 w 12123"/>
                <a:gd name="connsiteY3" fmla="*/ 627 h 10000"/>
                <a:gd name="connsiteX4" fmla="*/ 11603 w 12123"/>
                <a:gd name="connsiteY4" fmla="*/ 0 h 10000"/>
                <a:gd name="connsiteX5" fmla="*/ 0 w 12123"/>
                <a:gd name="connsiteY5" fmla="*/ 47 h 10000"/>
                <a:gd name="connsiteX0" fmla="*/ 11601 w 12381"/>
                <a:gd name="connsiteY0" fmla="*/ 10000 h 10000"/>
                <a:gd name="connsiteX1" fmla="*/ 11861 w 12381"/>
                <a:gd name="connsiteY1" fmla="*/ 10000 h 10000"/>
                <a:gd name="connsiteX2" fmla="*/ 12381 w 12381"/>
                <a:gd name="connsiteY2" fmla="*/ 9382 h 10000"/>
                <a:gd name="connsiteX3" fmla="*/ 12381 w 12381"/>
                <a:gd name="connsiteY3" fmla="*/ 627 h 10000"/>
                <a:gd name="connsiteX4" fmla="*/ 11861 w 12381"/>
                <a:gd name="connsiteY4" fmla="*/ 0 h 10000"/>
                <a:gd name="connsiteX5" fmla="*/ 0 w 12381"/>
                <a:gd name="connsiteY5" fmla="*/ 4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81" h="10000">
                  <a:moveTo>
                    <a:pt x="11601" y="10000"/>
                  </a:moveTo>
                  <a:lnTo>
                    <a:pt x="11861" y="10000"/>
                  </a:lnTo>
                  <a:cubicBezTo>
                    <a:pt x="12151" y="10000"/>
                    <a:pt x="12381" y="9726"/>
                    <a:pt x="12381" y="9382"/>
                  </a:cubicBezTo>
                  <a:lnTo>
                    <a:pt x="12381" y="627"/>
                  </a:lnTo>
                  <a:cubicBezTo>
                    <a:pt x="12381" y="283"/>
                    <a:pt x="12151" y="0"/>
                    <a:pt x="11861" y="0"/>
                  </a:cubicBezTo>
                  <a:lnTo>
                    <a:pt x="0" y="47"/>
                  </a:lnTo>
                </a:path>
              </a:pathLst>
            </a:custGeom>
            <a:noFill/>
            <a:ln w="50800" cap="rnd">
              <a:solidFill>
                <a:srgbClr val="29648A"/>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a:latin typeface="Montserrat" panose="00000500000000000000" pitchFamily="2" charset="0"/>
              </a:endParaRPr>
            </a:p>
          </p:txBody>
        </p:sp>
      </p:grpSp>
      <p:sp>
        <p:nvSpPr>
          <p:cNvPr id="31" name="Picture Placeholder 4">
            <a:extLst>
              <a:ext uri="{FF2B5EF4-FFF2-40B4-BE49-F238E27FC236}">
                <a16:creationId xmlns:a16="http://schemas.microsoft.com/office/drawing/2014/main" id="{EB2D5514-68FA-24AF-514D-C592D9134038}"/>
              </a:ext>
            </a:extLst>
          </p:cNvPr>
          <p:cNvSpPr>
            <a:spLocks noGrp="1"/>
          </p:cNvSpPr>
          <p:nvPr>
            <p:ph type="pic" sz="quarter" idx="26" hasCustomPrompt="1"/>
          </p:nvPr>
        </p:nvSpPr>
        <p:spPr>
          <a:xfrm>
            <a:off x="749998" y="2058192"/>
            <a:ext cx="4948279" cy="3690197"/>
          </a:xfrm>
          <a:prstGeom prst="roundRect">
            <a:avLst>
              <a:gd name="adj" fmla="val 5992"/>
            </a:avLst>
          </a:prstGeom>
        </p:spPr>
        <p:txBody>
          <a:bodyPr anchor="ctr" anchorCtr="0">
            <a:normAutofit/>
          </a:bodyPr>
          <a:lstStyle>
            <a:lvl1pPr marL="0" indent="0" algn="ctr">
              <a:buNone/>
              <a:defRPr sz="2000">
                <a:solidFill>
                  <a:srgbClr val="F5F5F5"/>
                </a:solidFill>
                <a:latin typeface="Montserrat" panose="00000500000000000000" pitchFamily="2" charset="0"/>
                <a:cs typeface="Arial" panose="020B0604020202020204" pitchFamily="34" charset="0"/>
              </a:defRPr>
            </a:lvl1pPr>
          </a:lstStyle>
          <a:p>
            <a:r>
              <a:rPr lang="en-US"/>
              <a:t>Icon</a:t>
            </a:r>
            <a:endParaRPr lang="en-IN"/>
          </a:p>
        </p:txBody>
      </p:sp>
      <p:sp>
        <p:nvSpPr>
          <p:cNvPr id="7" name="Title 8">
            <a:extLst>
              <a:ext uri="{FF2B5EF4-FFF2-40B4-BE49-F238E27FC236}">
                <a16:creationId xmlns:a16="http://schemas.microsoft.com/office/drawing/2014/main" id="{A83EFF81-2112-4C73-5B0A-99C94219512B}"/>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8" name="Text Placeholder 10">
            <a:extLst>
              <a:ext uri="{FF2B5EF4-FFF2-40B4-BE49-F238E27FC236}">
                <a16:creationId xmlns:a16="http://schemas.microsoft.com/office/drawing/2014/main" id="{AA90C228-7093-437C-77C5-030C2767209E}"/>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694606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D_Question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3725700"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Question</a:t>
            </a:r>
          </a:p>
        </p:txBody>
      </p:sp>
      <p:sp>
        <p:nvSpPr>
          <p:cNvPr id="2" name="Text Placeholder 15">
            <a:extLst>
              <a:ext uri="{FF2B5EF4-FFF2-40B4-BE49-F238E27FC236}">
                <a16:creationId xmlns:a16="http://schemas.microsoft.com/office/drawing/2014/main" id="{01E354DD-8A2B-99EF-4EDA-AD332F4AD267}"/>
              </a:ext>
            </a:extLst>
          </p:cNvPr>
          <p:cNvSpPr>
            <a:spLocks noGrp="1"/>
          </p:cNvSpPr>
          <p:nvPr>
            <p:ph type="body" sz="quarter" idx="32" hasCustomPrompt="1"/>
          </p:nvPr>
        </p:nvSpPr>
        <p:spPr>
          <a:xfrm>
            <a:off x="1909263" y="2669460"/>
            <a:ext cx="4034337" cy="2804907"/>
          </a:xfrm>
          <a:prstGeom prst="rect">
            <a:avLst/>
          </a:prstGeom>
        </p:spPr>
        <p:txBody>
          <a:bodyPr anchor="ctr"/>
          <a:lstStyle>
            <a:lvl1pPr marL="0" indent="0" algn="ctr">
              <a:buNone/>
              <a:defRPr sz="1800" baseline="0">
                <a:solidFill>
                  <a:srgbClr val="25274D"/>
                </a:solidFill>
                <a:latin typeface="+mn-lt"/>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Question?</a:t>
            </a:r>
          </a:p>
        </p:txBody>
      </p:sp>
      <p:pic>
        <p:nvPicPr>
          <p:cNvPr id="6" name="Graphic 5" descr="Badge Question Mark with solid fill">
            <a:extLst>
              <a:ext uri="{FF2B5EF4-FFF2-40B4-BE49-F238E27FC236}">
                <a16:creationId xmlns:a16="http://schemas.microsoft.com/office/drawing/2014/main" id="{EFA3CD5E-5B5C-AECB-72F3-CE5CFE94E68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71648" y="3548481"/>
            <a:ext cx="991202" cy="991202"/>
          </a:xfrm>
          <a:prstGeom prst="rect">
            <a:avLst/>
          </a:prstGeom>
        </p:spPr>
      </p:pic>
      <p:sp>
        <p:nvSpPr>
          <p:cNvPr id="19" name="Freeform 14">
            <a:extLst>
              <a:ext uri="{FF2B5EF4-FFF2-40B4-BE49-F238E27FC236}">
                <a16:creationId xmlns:a16="http://schemas.microsoft.com/office/drawing/2014/main" id="{0DBE1CC4-09E1-32FD-535A-AF86B95AFE7A}"/>
              </a:ext>
            </a:extLst>
          </p:cNvPr>
          <p:cNvSpPr>
            <a:spLocks/>
          </p:cNvSpPr>
          <p:nvPr userDrawn="1"/>
        </p:nvSpPr>
        <p:spPr bwMode="auto">
          <a:xfrm>
            <a:off x="1283436" y="2192572"/>
            <a:ext cx="217049" cy="324244"/>
          </a:xfrm>
          <a:custGeom>
            <a:avLst/>
            <a:gdLst>
              <a:gd name="T0" fmla="*/ 82 w 119"/>
              <a:gd name="T1" fmla="*/ 0 h 174"/>
              <a:gd name="T2" fmla="*/ 13 w 119"/>
              <a:gd name="T3" fmla="*/ 96 h 174"/>
              <a:gd name="T4" fmla="*/ 41 w 119"/>
              <a:gd name="T5" fmla="*/ 162 h 174"/>
              <a:gd name="T6" fmla="*/ 101 w 119"/>
              <a:gd name="T7" fmla="*/ 132 h 174"/>
              <a:gd name="T8" fmla="*/ 70 w 119"/>
              <a:gd name="T9" fmla="*/ 70 h 174"/>
              <a:gd name="T10" fmla="*/ 110 w 119"/>
              <a:gd name="T11" fmla="*/ 1 h 174"/>
              <a:gd name="T12" fmla="*/ 82 w 119"/>
              <a:gd name="T13" fmla="*/ 0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82" y="0"/>
                </a:moveTo>
                <a:cubicBezTo>
                  <a:pt x="82" y="0"/>
                  <a:pt x="21" y="44"/>
                  <a:pt x="13" y="96"/>
                </a:cubicBezTo>
                <a:cubicBezTo>
                  <a:pt x="0" y="146"/>
                  <a:pt x="41" y="162"/>
                  <a:pt x="41" y="162"/>
                </a:cubicBezTo>
                <a:cubicBezTo>
                  <a:pt x="41" y="162"/>
                  <a:pt x="87" y="174"/>
                  <a:pt x="101" y="132"/>
                </a:cubicBezTo>
                <a:cubicBezTo>
                  <a:pt x="101" y="132"/>
                  <a:pt x="119" y="87"/>
                  <a:pt x="70" y="70"/>
                </a:cubicBezTo>
                <a:cubicBezTo>
                  <a:pt x="110" y="1"/>
                  <a:pt x="110" y="1"/>
                  <a:pt x="110" y="1"/>
                </a:cubicBezTo>
                <a:lnTo>
                  <a:pt x="82" y="0"/>
                </a:lnTo>
                <a:close/>
              </a:path>
            </a:pathLst>
          </a:custGeom>
          <a:solidFill>
            <a:srgbClr val="29648A"/>
          </a:solidFill>
          <a:ln>
            <a:noFill/>
          </a:ln>
        </p:spPr>
        <p:txBody>
          <a:bodyPr vert="horz" wrap="square" lIns="91440" tIns="45720" rIns="91440" bIns="45720" numCol="1" anchor="t" anchorCtr="0" compatLnSpc="1">
            <a:prstTxWarp prst="textNoShape">
              <a:avLst/>
            </a:prstTxWarp>
          </a:bodyPr>
          <a:lstStyle/>
          <a:p>
            <a:endParaRPr lang="en-US" sz="800">
              <a:latin typeface="+mn-lt"/>
            </a:endParaRPr>
          </a:p>
        </p:txBody>
      </p:sp>
      <p:sp>
        <p:nvSpPr>
          <p:cNvPr id="29" name="Freeform 15">
            <a:extLst>
              <a:ext uri="{FF2B5EF4-FFF2-40B4-BE49-F238E27FC236}">
                <a16:creationId xmlns:a16="http://schemas.microsoft.com/office/drawing/2014/main" id="{E8C27CE6-8334-C262-E3B9-3DD363F7DCE1}"/>
              </a:ext>
            </a:extLst>
          </p:cNvPr>
          <p:cNvSpPr>
            <a:spLocks/>
          </p:cNvSpPr>
          <p:nvPr userDrawn="1"/>
        </p:nvSpPr>
        <p:spPr bwMode="auto">
          <a:xfrm>
            <a:off x="1546898" y="2192572"/>
            <a:ext cx="217049" cy="324244"/>
          </a:xfrm>
          <a:custGeom>
            <a:avLst/>
            <a:gdLst>
              <a:gd name="T0" fmla="*/ 81 w 119"/>
              <a:gd name="T1" fmla="*/ 0 h 174"/>
              <a:gd name="T2" fmla="*/ 12 w 119"/>
              <a:gd name="T3" fmla="*/ 96 h 174"/>
              <a:gd name="T4" fmla="*/ 41 w 119"/>
              <a:gd name="T5" fmla="*/ 162 h 174"/>
              <a:gd name="T6" fmla="*/ 101 w 119"/>
              <a:gd name="T7" fmla="*/ 132 h 174"/>
              <a:gd name="T8" fmla="*/ 69 w 119"/>
              <a:gd name="T9" fmla="*/ 70 h 174"/>
              <a:gd name="T10" fmla="*/ 110 w 119"/>
              <a:gd name="T11" fmla="*/ 1 h 174"/>
              <a:gd name="T12" fmla="*/ 81 w 119"/>
              <a:gd name="T13" fmla="*/ 0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81" y="0"/>
                </a:moveTo>
                <a:cubicBezTo>
                  <a:pt x="81" y="0"/>
                  <a:pt x="21" y="44"/>
                  <a:pt x="12" y="96"/>
                </a:cubicBezTo>
                <a:cubicBezTo>
                  <a:pt x="0" y="146"/>
                  <a:pt x="41" y="162"/>
                  <a:pt x="41" y="162"/>
                </a:cubicBezTo>
                <a:cubicBezTo>
                  <a:pt x="41" y="162"/>
                  <a:pt x="86" y="174"/>
                  <a:pt x="101" y="132"/>
                </a:cubicBezTo>
                <a:cubicBezTo>
                  <a:pt x="101" y="132"/>
                  <a:pt x="119" y="87"/>
                  <a:pt x="69" y="70"/>
                </a:cubicBezTo>
                <a:cubicBezTo>
                  <a:pt x="110" y="1"/>
                  <a:pt x="110" y="1"/>
                  <a:pt x="110" y="1"/>
                </a:cubicBezTo>
                <a:lnTo>
                  <a:pt x="81" y="0"/>
                </a:lnTo>
                <a:close/>
              </a:path>
            </a:pathLst>
          </a:custGeom>
          <a:solidFill>
            <a:srgbClr val="29648A"/>
          </a:solidFill>
          <a:ln>
            <a:noFill/>
          </a:ln>
        </p:spPr>
        <p:txBody>
          <a:bodyPr vert="horz" wrap="square" lIns="91440" tIns="45720" rIns="91440" bIns="45720" numCol="1" anchor="t" anchorCtr="0" compatLnSpc="1">
            <a:prstTxWarp prst="textNoShape">
              <a:avLst/>
            </a:prstTxWarp>
          </a:bodyPr>
          <a:lstStyle/>
          <a:p>
            <a:endParaRPr lang="en-US" sz="800">
              <a:latin typeface="+mn-lt"/>
            </a:endParaRPr>
          </a:p>
        </p:txBody>
      </p:sp>
      <p:sp>
        <p:nvSpPr>
          <p:cNvPr id="30" name="Freeform 16">
            <a:extLst>
              <a:ext uri="{FF2B5EF4-FFF2-40B4-BE49-F238E27FC236}">
                <a16:creationId xmlns:a16="http://schemas.microsoft.com/office/drawing/2014/main" id="{8206DC8F-522B-C21C-B37E-46DAACABE952}"/>
              </a:ext>
            </a:extLst>
          </p:cNvPr>
          <p:cNvSpPr>
            <a:spLocks/>
          </p:cNvSpPr>
          <p:nvPr userDrawn="1"/>
        </p:nvSpPr>
        <p:spPr bwMode="auto">
          <a:xfrm>
            <a:off x="5527379" y="5586267"/>
            <a:ext cx="218414" cy="324244"/>
          </a:xfrm>
          <a:custGeom>
            <a:avLst/>
            <a:gdLst>
              <a:gd name="T0" fmla="*/ 37 w 119"/>
              <a:gd name="T1" fmla="*/ 174 h 174"/>
              <a:gd name="T2" fmla="*/ 106 w 119"/>
              <a:gd name="T3" fmla="*/ 77 h 174"/>
              <a:gd name="T4" fmla="*/ 77 w 119"/>
              <a:gd name="T5" fmla="*/ 12 h 174"/>
              <a:gd name="T6" fmla="*/ 17 w 119"/>
              <a:gd name="T7" fmla="*/ 42 h 174"/>
              <a:gd name="T8" fmla="*/ 49 w 119"/>
              <a:gd name="T9" fmla="*/ 103 h 174"/>
              <a:gd name="T10" fmla="*/ 9 w 119"/>
              <a:gd name="T11" fmla="*/ 173 h 174"/>
              <a:gd name="T12" fmla="*/ 37 w 119"/>
              <a:gd name="T13" fmla="*/ 174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37" y="174"/>
                </a:moveTo>
                <a:cubicBezTo>
                  <a:pt x="37" y="174"/>
                  <a:pt x="98" y="130"/>
                  <a:pt x="106" y="77"/>
                </a:cubicBezTo>
                <a:cubicBezTo>
                  <a:pt x="119" y="28"/>
                  <a:pt x="77" y="12"/>
                  <a:pt x="77" y="12"/>
                </a:cubicBezTo>
                <a:cubicBezTo>
                  <a:pt x="77" y="12"/>
                  <a:pt x="32" y="0"/>
                  <a:pt x="17" y="42"/>
                </a:cubicBezTo>
                <a:cubicBezTo>
                  <a:pt x="17" y="42"/>
                  <a:pt x="0" y="86"/>
                  <a:pt x="49" y="103"/>
                </a:cubicBezTo>
                <a:cubicBezTo>
                  <a:pt x="9" y="173"/>
                  <a:pt x="9" y="173"/>
                  <a:pt x="9" y="173"/>
                </a:cubicBezTo>
                <a:lnTo>
                  <a:pt x="37" y="174"/>
                </a:lnTo>
                <a:close/>
              </a:path>
            </a:pathLst>
          </a:custGeom>
          <a:solidFill>
            <a:srgbClr val="29648A"/>
          </a:solidFill>
          <a:ln>
            <a:noFill/>
          </a:ln>
        </p:spPr>
        <p:txBody>
          <a:bodyPr vert="horz" wrap="square" lIns="91440" tIns="45720" rIns="91440" bIns="45720" numCol="1" anchor="t" anchorCtr="0" compatLnSpc="1">
            <a:prstTxWarp prst="textNoShape">
              <a:avLst/>
            </a:prstTxWarp>
          </a:bodyPr>
          <a:lstStyle/>
          <a:p>
            <a:endParaRPr lang="en-US" sz="800">
              <a:latin typeface="+mn-lt"/>
            </a:endParaRPr>
          </a:p>
        </p:txBody>
      </p:sp>
      <p:sp>
        <p:nvSpPr>
          <p:cNvPr id="31" name="Freeform 17">
            <a:extLst>
              <a:ext uri="{FF2B5EF4-FFF2-40B4-BE49-F238E27FC236}">
                <a16:creationId xmlns:a16="http://schemas.microsoft.com/office/drawing/2014/main" id="{EF08CA49-199C-9351-24B0-9986F600C17E}"/>
              </a:ext>
            </a:extLst>
          </p:cNvPr>
          <p:cNvSpPr>
            <a:spLocks/>
          </p:cNvSpPr>
          <p:nvPr userDrawn="1"/>
        </p:nvSpPr>
        <p:spPr bwMode="auto">
          <a:xfrm>
            <a:off x="5265282" y="5586267"/>
            <a:ext cx="217049" cy="324244"/>
          </a:xfrm>
          <a:custGeom>
            <a:avLst/>
            <a:gdLst>
              <a:gd name="T0" fmla="*/ 38 w 119"/>
              <a:gd name="T1" fmla="*/ 174 h 174"/>
              <a:gd name="T2" fmla="*/ 106 w 119"/>
              <a:gd name="T3" fmla="*/ 77 h 174"/>
              <a:gd name="T4" fmla="*/ 78 w 119"/>
              <a:gd name="T5" fmla="*/ 12 h 174"/>
              <a:gd name="T6" fmla="*/ 18 w 119"/>
              <a:gd name="T7" fmla="*/ 42 h 174"/>
              <a:gd name="T8" fmla="*/ 50 w 119"/>
              <a:gd name="T9" fmla="*/ 103 h 174"/>
              <a:gd name="T10" fmla="*/ 9 w 119"/>
              <a:gd name="T11" fmla="*/ 173 h 174"/>
              <a:gd name="T12" fmla="*/ 38 w 119"/>
              <a:gd name="T13" fmla="*/ 174 h 174"/>
            </a:gdLst>
            <a:ahLst/>
            <a:cxnLst>
              <a:cxn ang="0">
                <a:pos x="T0" y="T1"/>
              </a:cxn>
              <a:cxn ang="0">
                <a:pos x="T2" y="T3"/>
              </a:cxn>
              <a:cxn ang="0">
                <a:pos x="T4" y="T5"/>
              </a:cxn>
              <a:cxn ang="0">
                <a:pos x="T6" y="T7"/>
              </a:cxn>
              <a:cxn ang="0">
                <a:pos x="T8" y="T9"/>
              </a:cxn>
              <a:cxn ang="0">
                <a:pos x="T10" y="T11"/>
              </a:cxn>
              <a:cxn ang="0">
                <a:pos x="T12" y="T13"/>
              </a:cxn>
            </a:cxnLst>
            <a:rect l="0" t="0" r="r" b="b"/>
            <a:pathLst>
              <a:path w="119" h="174">
                <a:moveTo>
                  <a:pt x="38" y="174"/>
                </a:moveTo>
                <a:cubicBezTo>
                  <a:pt x="38" y="174"/>
                  <a:pt x="98" y="130"/>
                  <a:pt x="106" y="77"/>
                </a:cubicBezTo>
                <a:cubicBezTo>
                  <a:pt x="119" y="28"/>
                  <a:pt x="78" y="12"/>
                  <a:pt x="78" y="12"/>
                </a:cubicBezTo>
                <a:cubicBezTo>
                  <a:pt x="78" y="12"/>
                  <a:pt x="32" y="0"/>
                  <a:pt x="18" y="42"/>
                </a:cubicBezTo>
                <a:cubicBezTo>
                  <a:pt x="18" y="42"/>
                  <a:pt x="0" y="86"/>
                  <a:pt x="50" y="103"/>
                </a:cubicBezTo>
                <a:cubicBezTo>
                  <a:pt x="9" y="173"/>
                  <a:pt x="9" y="173"/>
                  <a:pt x="9" y="173"/>
                </a:cubicBezTo>
                <a:lnTo>
                  <a:pt x="38" y="174"/>
                </a:lnTo>
                <a:close/>
              </a:path>
            </a:pathLst>
          </a:custGeom>
          <a:solidFill>
            <a:srgbClr val="29648A"/>
          </a:solidFill>
          <a:ln>
            <a:noFill/>
          </a:ln>
        </p:spPr>
        <p:txBody>
          <a:bodyPr vert="horz" wrap="square" lIns="91440" tIns="45720" rIns="91440" bIns="45720" numCol="1" anchor="t" anchorCtr="0" compatLnSpc="1">
            <a:prstTxWarp prst="textNoShape">
              <a:avLst/>
            </a:prstTxWarp>
          </a:bodyPr>
          <a:lstStyle/>
          <a:p>
            <a:endParaRPr lang="en-US" sz="800">
              <a:latin typeface="+mn-lt"/>
            </a:endParaRPr>
          </a:p>
        </p:txBody>
      </p:sp>
      <p:sp>
        <p:nvSpPr>
          <p:cNvPr id="32" name="Freeform 18">
            <a:extLst>
              <a:ext uri="{FF2B5EF4-FFF2-40B4-BE49-F238E27FC236}">
                <a16:creationId xmlns:a16="http://schemas.microsoft.com/office/drawing/2014/main" id="{AF0AA9F3-A914-7E75-AAC1-8066A7FC7BF6}"/>
              </a:ext>
            </a:extLst>
          </p:cNvPr>
          <p:cNvSpPr>
            <a:spLocks/>
          </p:cNvSpPr>
          <p:nvPr userDrawn="1"/>
        </p:nvSpPr>
        <p:spPr bwMode="auto">
          <a:xfrm>
            <a:off x="782421" y="2355050"/>
            <a:ext cx="4337545" cy="3393339"/>
          </a:xfrm>
          <a:custGeom>
            <a:avLst/>
            <a:gdLst>
              <a:gd name="T0" fmla="*/ 122 w 1359"/>
              <a:gd name="T1" fmla="*/ 0 h 688"/>
              <a:gd name="T2" fmla="*/ 70 w 1359"/>
              <a:gd name="T3" fmla="*/ 0 h 688"/>
              <a:gd name="T4" fmla="*/ 0 w 1359"/>
              <a:gd name="T5" fmla="*/ 71 h 688"/>
              <a:gd name="T6" fmla="*/ 0 w 1359"/>
              <a:gd name="T7" fmla="*/ 618 h 688"/>
              <a:gd name="T8" fmla="*/ 70 w 1359"/>
              <a:gd name="T9" fmla="*/ 688 h 688"/>
              <a:gd name="T10" fmla="*/ 393 w 1359"/>
              <a:gd name="T11" fmla="*/ 688 h 688"/>
              <a:gd name="T12" fmla="*/ 652 w 1359"/>
              <a:gd name="T13" fmla="*/ 688 h 688"/>
              <a:gd name="T14" fmla="*/ 1359 w 1359"/>
              <a:gd name="T15" fmla="*/ 688 h 688"/>
              <a:gd name="connsiteX0" fmla="*/ 898 w 10520"/>
              <a:gd name="connsiteY0" fmla="*/ 0 h 10000"/>
              <a:gd name="connsiteX1" fmla="*/ 515 w 10520"/>
              <a:gd name="connsiteY1" fmla="*/ 0 h 10000"/>
              <a:gd name="connsiteX2" fmla="*/ 0 w 10520"/>
              <a:gd name="connsiteY2" fmla="*/ 1032 h 10000"/>
              <a:gd name="connsiteX3" fmla="*/ 0 w 10520"/>
              <a:gd name="connsiteY3" fmla="*/ 8983 h 10000"/>
              <a:gd name="connsiteX4" fmla="*/ 515 w 10520"/>
              <a:gd name="connsiteY4" fmla="*/ 10000 h 10000"/>
              <a:gd name="connsiteX5" fmla="*/ 2892 w 10520"/>
              <a:gd name="connsiteY5" fmla="*/ 10000 h 10000"/>
              <a:gd name="connsiteX6" fmla="*/ 4798 w 10520"/>
              <a:gd name="connsiteY6" fmla="*/ 10000 h 10000"/>
              <a:gd name="connsiteX7" fmla="*/ 10520 w 10520"/>
              <a:gd name="connsiteY7" fmla="*/ 10000 h 10000"/>
              <a:gd name="connsiteX0" fmla="*/ 898 w 4798"/>
              <a:gd name="connsiteY0" fmla="*/ 0 h 10000"/>
              <a:gd name="connsiteX1" fmla="*/ 515 w 4798"/>
              <a:gd name="connsiteY1" fmla="*/ 0 h 10000"/>
              <a:gd name="connsiteX2" fmla="*/ 0 w 4798"/>
              <a:gd name="connsiteY2" fmla="*/ 1032 h 10000"/>
              <a:gd name="connsiteX3" fmla="*/ 0 w 4798"/>
              <a:gd name="connsiteY3" fmla="*/ 8983 h 10000"/>
              <a:gd name="connsiteX4" fmla="*/ 515 w 4798"/>
              <a:gd name="connsiteY4" fmla="*/ 10000 h 10000"/>
              <a:gd name="connsiteX5" fmla="*/ 2892 w 4798"/>
              <a:gd name="connsiteY5" fmla="*/ 10000 h 10000"/>
              <a:gd name="connsiteX6" fmla="*/ 4798 w 4798"/>
              <a:gd name="connsiteY6" fmla="*/ 10000 h 10000"/>
              <a:gd name="connsiteX0" fmla="*/ 1872 w 20575"/>
              <a:gd name="connsiteY0" fmla="*/ 0 h 10000"/>
              <a:gd name="connsiteX1" fmla="*/ 1073 w 20575"/>
              <a:gd name="connsiteY1" fmla="*/ 0 h 10000"/>
              <a:gd name="connsiteX2" fmla="*/ 0 w 20575"/>
              <a:gd name="connsiteY2" fmla="*/ 1032 h 10000"/>
              <a:gd name="connsiteX3" fmla="*/ 0 w 20575"/>
              <a:gd name="connsiteY3" fmla="*/ 8983 h 10000"/>
              <a:gd name="connsiteX4" fmla="*/ 1073 w 20575"/>
              <a:gd name="connsiteY4" fmla="*/ 10000 h 10000"/>
              <a:gd name="connsiteX5" fmla="*/ 6028 w 20575"/>
              <a:gd name="connsiteY5" fmla="*/ 10000 h 10000"/>
              <a:gd name="connsiteX6" fmla="*/ 20575 w 20575"/>
              <a:gd name="connsiteY6" fmla="*/ 9952 h 10000"/>
              <a:gd name="connsiteX0" fmla="*/ 1872 w 20575"/>
              <a:gd name="connsiteY0" fmla="*/ 0 h 10096"/>
              <a:gd name="connsiteX1" fmla="*/ 1073 w 20575"/>
              <a:gd name="connsiteY1" fmla="*/ 0 h 10096"/>
              <a:gd name="connsiteX2" fmla="*/ 0 w 20575"/>
              <a:gd name="connsiteY2" fmla="*/ 1032 h 10096"/>
              <a:gd name="connsiteX3" fmla="*/ 0 w 20575"/>
              <a:gd name="connsiteY3" fmla="*/ 8983 h 10096"/>
              <a:gd name="connsiteX4" fmla="*/ 1073 w 20575"/>
              <a:gd name="connsiteY4" fmla="*/ 10000 h 10096"/>
              <a:gd name="connsiteX5" fmla="*/ 6028 w 20575"/>
              <a:gd name="connsiteY5" fmla="*/ 10000 h 10096"/>
              <a:gd name="connsiteX6" fmla="*/ 20575 w 20575"/>
              <a:gd name="connsiteY6" fmla="*/ 10096 h 10096"/>
              <a:gd name="connsiteX0" fmla="*/ 1872 w 20575"/>
              <a:gd name="connsiteY0" fmla="*/ 0 h 10000"/>
              <a:gd name="connsiteX1" fmla="*/ 1073 w 20575"/>
              <a:gd name="connsiteY1" fmla="*/ 0 h 10000"/>
              <a:gd name="connsiteX2" fmla="*/ 0 w 20575"/>
              <a:gd name="connsiteY2" fmla="*/ 1032 h 10000"/>
              <a:gd name="connsiteX3" fmla="*/ 0 w 20575"/>
              <a:gd name="connsiteY3" fmla="*/ 8983 h 10000"/>
              <a:gd name="connsiteX4" fmla="*/ 1073 w 20575"/>
              <a:gd name="connsiteY4" fmla="*/ 10000 h 10000"/>
              <a:gd name="connsiteX5" fmla="*/ 6028 w 20575"/>
              <a:gd name="connsiteY5" fmla="*/ 10000 h 10000"/>
              <a:gd name="connsiteX6" fmla="*/ 20575 w 20575"/>
              <a:gd name="connsiteY6" fmla="*/ 9905 h 10000"/>
              <a:gd name="connsiteX0" fmla="*/ 1872 w 20635"/>
              <a:gd name="connsiteY0" fmla="*/ 0 h 10049"/>
              <a:gd name="connsiteX1" fmla="*/ 1073 w 20635"/>
              <a:gd name="connsiteY1" fmla="*/ 0 h 10049"/>
              <a:gd name="connsiteX2" fmla="*/ 0 w 20635"/>
              <a:gd name="connsiteY2" fmla="*/ 1032 h 10049"/>
              <a:gd name="connsiteX3" fmla="*/ 0 w 20635"/>
              <a:gd name="connsiteY3" fmla="*/ 8983 h 10049"/>
              <a:gd name="connsiteX4" fmla="*/ 1073 w 20635"/>
              <a:gd name="connsiteY4" fmla="*/ 10000 h 10049"/>
              <a:gd name="connsiteX5" fmla="*/ 6028 w 20635"/>
              <a:gd name="connsiteY5" fmla="*/ 10000 h 10049"/>
              <a:gd name="connsiteX6" fmla="*/ 20635 w 20635"/>
              <a:gd name="connsiteY6" fmla="*/ 10049 h 10049"/>
              <a:gd name="connsiteX0" fmla="*/ 1872 w 20515"/>
              <a:gd name="connsiteY0" fmla="*/ 0 h 10001"/>
              <a:gd name="connsiteX1" fmla="*/ 1073 w 20515"/>
              <a:gd name="connsiteY1" fmla="*/ 0 h 10001"/>
              <a:gd name="connsiteX2" fmla="*/ 0 w 20515"/>
              <a:gd name="connsiteY2" fmla="*/ 1032 h 10001"/>
              <a:gd name="connsiteX3" fmla="*/ 0 w 20515"/>
              <a:gd name="connsiteY3" fmla="*/ 8983 h 10001"/>
              <a:gd name="connsiteX4" fmla="*/ 1073 w 20515"/>
              <a:gd name="connsiteY4" fmla="*/ 10000 h 10001"/>
              <a:gd name="connsiteX5" fmla="*/ 6028 w 20515"/>
              <a:gd name="connsiteY5" fmla="*/ 10000 h 10001"/>
              <a:gd name="connsiteX6" fmla="*/ 20515 w 20515"/>
              <a:gd name="connsiteY6" fmla="*/ 10001 h 10001"/>
              <a:gd name="connsiteX0" fmla="*/ 1872 w 20515"/>
              <a:gd name="connsiteY0" fmla="*/ 0 h 10001"/>
              <a:gd name="connsiteX1" fmla="*/ 1073 w 20515"/>
              <a:gd name="connsiteY1" fmla="*/ 0 h 10001"/>
              <a:gd name="connsiteX2" fmla="*/ 0 w 20515"/>
              <a:gd name="connsiteY2" fmla="*/ 1032 h 10001"/>
              <a:gd name="connsiteX3" fmla="*/ 0 w 20515"/>
              <a:gd name="connsiteY3" fmla="*/ 8983 h 10001"/>
              <a:gd name="connsiteX4" fmla="*/ 1073 w 20515"/>
              <a:gd name="connsiteY4" fmla="*/ 10000 h 10001"/>
              <a:gd name="connsiteX5" fmla="*/ 6028 w 20515"/>
              <a:gd name="connsiteY5" fmla="*/ 10000 h 10001"/>
              <a:gd name="connsiteX6" fmla="*/ 20515 w 20515"/>
              <a:gd name="connsiteY6" fmla="*/ 10001 h 10001"/>
              <a:gd name="connsiteX0" fmla="*/ 1872 w 20515"/>
              <a:gd name="connsiteY0" fmla="*/ 0 h 10001"/>
              <a:gd name="connsiteX1" fmla="*/ 1073 w 20515"/>
              <a:gd name="connsiteY1" fmla="*/ 0 h 10001"/>
              <a:gd name="connsiteX2" fmla="*/ 0 w 20515"/>
              <a:gd name="connsiteY2" fmla="*/ 1032 h 10001"/>
              <a:gd name="connsiteX3" fmla="*/ 0 w 20515"/>
              <a:gd name="connsiteY3" fmla="*/ 8983 h 10001"/>
              <a:gd name="connsiteX4" fmla="*/ 1073 w 20515"/>
              <a:gd name="connsiteY4" fmla="*/ 10000 h 10001"/>
              <a:gd name="connsiteX5" fmla="*/ 6028 w 20515"/>
              <a:gd name="connsiteY5" fmla="*/ 10000 h 10001"/>
              <a:gd name="connsiteX6" fmla="*/ 20515 w 20515"/>
              <a:gd name="connsiteY6" fmla="*/ 10001 h 10001"/>
              <a:gd name="connsiteX0" fmla="*/ 1878 w 20521"/>
              <a:gd name="connsiteY0" fmla="*/ 0 h 10001"/>
              <a:gd name="connsiteX1" fmla="*/ 1079 w 20521"/>
              <a:gd name="connsiteY1" fmla="*/ 0 h 10001"/>
              <a:gd name="connsiteX2" fmla="*/ 6 w 20521"/>
              <a:gd name="connsiteY2" fmla="*/ 1032 h 10001"/>
              <a:gd name="connsiteX3" fmla="*/ 6 w 20521"/>
              <a:gd name="connsiteY3" fmla="*/ 8983 h 10001"/>
              <a:gd name="connsiteX4" fmla="*/ 1079 w 20521"/>
              <a:gd name="connsiteY4" fmla="*/ 10000 h 10001"/>
              <a:gd name="connsiteX5" fmla="*/ 6034 w 20521"/>
              <a:gd name="connsiteY5" fmla="*/ 10000 h 10001"/>
              <a:gd name="connsiteX6" fmla="*/ 20521 w 20521"/>
              <a:gd name="connsiteY6" fmla="*/ 10001 h 10001"/>
              <a:gd name="connsiteX0" fmla="*/ 1878 w 20521"/>
              <a:gd name="connsiteY0" fmla="*/ 0 h 10001"/>
              <a:gd name="connsiteX1" fmla="*/ 1079 w 20521"/>
              <a:gd name="connsiteY1" fmla="*/ 0 h 10001"/>
              <a:gd name="connsiteX2" fmla="*/ 6 w 20521"/>
              <a:gd name="connsiteY2" fmla="*/ 1032 h 10001"/>
              <a:gd name="connsiteX3" fmla="*/ 6 w 20521"/>
              <a:gd name="connsiteY3" fmla="*/ 8983 h 10001"/>
              <a:gd name="connsiteX4" fmla="*/ 1079 w 20521"/>
              <a:gd name="connsiteY4" fmla="*/ 10000 h 10001"/>
              <a:gd name="connsiteX5" fmla="*/ 6034 w 20521"/>
              <a:gd name="connsiteY5" fmla="*/ 10000 h 10001"/>
              <a:gd name="connsiteX6" fmla="*/ 20521 w 20521"/>
              <a:gd name="connsiteY6" fmla="*/ 10001 h 1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21" h="10001">
                <a:moveTo>
                  <a:pt x="1878" y="0"/>
                </a:moveTo>
                <a:lnTo>
                  <a:pt x="1079" y="0"/>
                </a:lnTo>
                <a:cubicBezTo>
                  <a:pt x="106" y="0"/>
                  <a:pt x="6" y="465"/>
                  <a:pt x="6" y="1032"/>
                </a:cubicBezTo>
                <a:cubicBezTo>
                  <a:pt x="6" y="3682"/>
                  <a:pt x="-9" y="8492"/>
                  <a:pt x="6" y="8983"/>
                </a:cubicBezTo>
                <a:cubicBezTo>
                  <a:pt x="21" y="9474"/>
                  <a:pt x="75" y="10000"/>
                  <a:pt x="1079" y="10000"/>
                </a:cubicBezTo>
                <a:lnTo>
                  <a:pt x="6034" y="10000"/>
                </a:lnTo>
                <a:lnTo>
                  <a:pt x="20521" y="10001"/>
                </a:lnTo>
              </a:path>
            </a:pathLst>
          </a:custGeom>
          <a:noFill/>
          <a:ln w="50800" cap="rnd">
            <a:solidFill>
              <a:srgbClr val="29648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800">
              <a:latin typeface="+mn-lt"/>
            </a:endParaRPr>
          </a:p>
        </p:txBody>
      </p:sp>
      <p:sp>
        <p:nvSpPr>
          <p:cNvPr id="33" name="Freeform 19">
            <a:extLst>
              <a:ext uri="{FF2B5EF4-FFF2-40B4-BE49-F238E27FC236}">
                <a16:creationId xmlns:a16="http://schemas.microsoft.com/office/drawing/2014/main" id="{6489714B-499B-F31E-B796-D85C3A79E053}"/>
              </a:ext>
            </a:extLst>
          </p:cNvPr>
          <p:cNvSpPr>
            <a:spLocks/>
          </p:cNvSpPr>
          <p:nvPr userDrawn="1"/>
        </p:nvSpPr>
        <p:spPr bwMode="auto">
          <a:xfrm>
            <a:off x="1882588" y="2355051"/>
            <a:ext cx="4320511" cy="3378063"/>
          </a:xfrm>
          <a:custGeom>
            <a:avLst/>
            <a:gdLst>
              <a:gd name="T0" fmla="*/ 1241 w 1346"/>
              <a:gd name="T1" fmla="*/ 688 h 688"/>
              <a:gd name="T2" fmla="*/ 1276 w 1346"/>
              <a:gd name="T3" fmla="*/ 688 h 688"/>
              <a:gd name="T4" fmla="*/ 1346 w 1346"/>
              <a:gd name="T5" fmla="*/ 618 h 688"/>
              <a:gd name="T6" fmla="*/ 1346 w 1346"/>
              <a:gd name="T7" fmla="*/ 71 h 688"/>
              <a:gd name="T8" fmla="*/ 1276 w 1346"/>
              <a:gd name="T9" fmla="*/ 0 h 688"/>
              <a:gd name="T10" fmla="*/ 0 w 1346"/>
              <a:gd name="T11" fmla="*/ 0 h 688"/>
              <a:gd name="connsiteX0" fmla="*/ 9877 w 10657"/>
              <a:gd name="connsiteY0" fmla="*/ 10000 h 10000"/>
              <a:gd name="connsiteX1" fmla="*/ 10137 w 10657"/>
              <a:gd name="connsiteY1" fmla="*/ 10000 h 10000"/>
              <a:gd name="connsiteX2" fmla="*/ 10657 w 10657"/>
              <a:gd name="connsiteY2" fmla="*/ 8983 h 10000"/>
              <a:gd name="connsiteX3" fmla="*/ 10657 w 10657"/>
              <a:gd name="connsiteY3" fmla="*/ 1032 h 10000"/>
              <a:gd name="connsiteX4" fmla="*/ 10137 w 10657"/>
              <a:gd name="connsiteY4" fmla="*/ 0 h 10000"/>
              <a:gd name="connsiteX5" fmla="*/ 0 w 10657"/>
              <a:gd name="connsiteY5" fmla="*/ 43 h 10000"/>
              <a:gd name="connsiteX0" fmla="*/ 9077 w 9857"/>
              <a:gd name="connsiteY0" fmla="*/ 10002 h 10002"/>
              <a:gd name="connsiteX1" fmla="*/ 9337 w 9857"/>
              <a:gd name="connsiteY1" fmla="*/ 10002 h 10002"/>
              <a:gd name="connsiteX2" fmla="*/ 9857 w 9857"/>
              <a:gd name="connsiteY2" fmla="*/ 8985 h 10002"/>
              <a:gd name="connsiteX3" fmla="*/ 9857 w 9857"/>
              <a:gd name="connsiteY3" fmla="*/ 1034 h 10002"/>
              <a:gd name="connsiteX4" fmla="*/ 9337 w 9857"/>
              <a:gd name="connsiteY4" fmla="*/ 2 h 10002"/>
              <a:gd name="connsiteX5" fmla="*/ 0 w 9857"/>
              <a:gd name="connsiteY5" fmla="*/ 0 h 10002"/>
              <a:gd name="connsiteX0" fmla="*/ 9265 w 10056"/>
              <a:gd name="connsiteY0" fmla="*/ 9998 h 9998"/>
              <a:gd name="connsiteX1" fmla="*/ 9528 w 10056"/>
              <a:gd name="connsiteY1" fmla="*/ 9998 h 9998"/>
              <a:gd name="connsiteX2" fmla="*/ 10056 w 10056"/>
              <a:gd name="connsiteY2" fmla="*/ 8981 h 9998"/>
              <a:gd name="connsiteX3" fmla="*/ 10056 w 10056"/>
              <a:gd name="connsiteY3" fmla="*/ 1032 h 9998"/>
              <a:gd name="connsiteX4" fmla="*/ 9528 w 10056"/>
              <a:gd name="connsiteY4" fmla="*/ 0 h 9998"/>
              <a:gd name="connsiteX5" fmla="*/ 0 w 10056"/>
              <a:gd name="connsiteY5" fmla="*/ 43 h 9998"/>
              <a:gd name="connsiteX0" fmla="*/ 9202 w 9989"/>
              <a:gd name="connsiteY0" fmla="*/ 10065 h 10065"/>
              <a:gd name="connsiteX1" fmla="*/ 9464 w 9989"/>
              <a:gd name="connsiteY1" fmla="*/ 10065 h 10065"/>
              <a:gd name="connsiteX2" fmla="*/ 9989 w 9989"/>
              <a:gd name="connsiteY2" fmla="*/ 9048 h 10065"/>
              <a:gd name="connsiteX3" fmla="*/ 9989 w 9989"/>
              <a:gd name="connsiteY3" fmla="*/ 1097 h 10065"/>
              <a:gd name="connsiteX4" fmla="*/ 9464 w 9989"/>
              <a:gd name="connsiteY4" fmla="*/ 65 h 10065"/>
              <a:gd name="connsiteX5" fmla="*/ 0 w 9989"/>
              <a:gd name="connsiteY5" fmla="*/ 0 h 10065"/>
              <a:gd name="connsiteX0" fmla="*/ 9212 w 10000"/>
              <a:gd name="connsiteY0" fmla="*/ 10000 h 10000"/>
              <a:gd name="connsiteX1" fmla="*/ 9474 w 10000"/>
              <a:gd name="connsiteY1" fmla="*/ 10000 h 10000"/>
              <a:gd name="connsiteX2" fmla="*/ 10000 w 10000"/>
              <a:gd name="connsiteY2" fmla="*/ 8990 h 10000"/>
              <a:gd name="connsiteX3" fmla="*/ 10000 w 10000"/>
              <a:gd name="connsiteY3" fmla="*/ 1090 h 10000"/>
              <a:gd name="connsiteX4" fmla="*/ 9474 w 10000"/>
              <a:gd name="connsiteY4" fmla="*/ 65 h 10000"/>
              <a:gd name="connsiteX5" fmla="*/ 0 w 10000"/>
              <a:gd name="connsiteY5" fmla="*/ 0 h 10000"/>
              <a:gd name="connsiteX0" fmla="*/ 9212 w 10000"/>
              <a:gd name="connsiteY0" fmla="*/ 10000 h 10000"/>
              <a:gd name="connsiteX1" fmla="*/ 9474 w 10000"/>
              <a:gd name="connsiteY1" fmla="*/ 10000 h 10000"/>
              <a:gd name="connsiteX2" fmla="*/ 10000 w 10000"/>
              <a:gd name="connsiteY2" fmla="*/ 8990 h 10000"/>
              <a:gd name="connsiteX3" fmla="*/ 10000 w 10000"/>
              <a:gd name="connsiteY3" fmla="*/ 1090 h 10000"/>
              <a:gd name="connsiteX4" fmla="*/ 9474 w 10000"/>
              <a:gd name="connsiteY4" fmla="*/ 65 h 10000"/>
              <a:gd name="connsiteX5" fmla="*/ 0 w 10000"/>
              <a:gd name="connsiteY5" fmla="*/ 0 h 10000"/>
              <a:gd name="connsiteX0" fmla="*/ 9212 w 10000"/>
              <a:gd name="connsiteY0" fmla="*/ 10000 h 10000"/>
              <a:gd name="connsiteX1" fmla="*/ 9474 w 10000"/>
              <a:gd name="connsiteY1" fmla="*/ 10000 h 10000"/>
              <a:gd name="connsiteX2" fmla="*/ 10000 w 10000"/>
              <a:gd name="connsiteY2" fmla="*/ 8990 h 10000"/>
              <a:gd name="connsiteX3" fmla="*/ 10000 w 10000"/>
              <a:gd name="connsiteY3" fmla="*/ 1090 h 10000"/>
              <a:gd name="connsiteX4" fmla="*/ 9474 w 10000"/>
              <a:gd name="connsiteY4" fmla="*/ 65 h 10000"/>
              <a:gd name="connsiteX5" fmla="*/ 0 w 10000"/>
              <a:gd name="connsiteY5" fmla="*/ 0 h 10000"/>
              <a:gd name="connsiteX0" fmla="*/ 9212 w 10000"/>
              <a:gd name="connsiteY0" fmla="*/ 10000 h 10000"/>
              <a:gd name="connsiteX1" fmla="*/ 9474 w 10000"/>
              <a:gd name="connsiteY1" fmla="*/ 10000 h 10000"/>
              <a:gd name="connsiteX2" fmla="*/ 10000 w 10000"/>
              <a:gd name="connsiteY2" fmla="*/ 8990 h 10000"/>
              <a:gd name="connsiteX3" fmla="*/ 10000 w 10000"/>
              <a:gd name="connsiteY3" fmla="*/ 1090 h 10000"/>
              <a:gd name="connsiteX4" fmla="*/ 9474 w 10000"/>
              <a:gd name="connsiteY4" fmla="*/ 65 h 10000"/>
              <a:gd name="connsiteX5" fmla="*/ 0 w 10000"/>
              <a:gd name="connsiteY5" fmla="*/ 0 h 10000"/>
              <a:gd name="connsiteX0" fmla="*/ 9212 w 10000"/>
              <a:gd name="connsiteY0" fmla="*/ 10000 h 10004"/>
              <a:gd name="connsiteX1" fmla="*/ 9474 w 10000"/>
              <a:gd name="connsiteY1" fmla="*/ 10000 h 10004"/>
              <a:gd name="connsiteX2" fmla="*/ 10000 w 10000"/>
              <a:gd name="connsiteY2" fmla="*/ 8990 h 10004"/>
              <a:gd name="connsiteX3" fmla="*/ 10000 w 10000"/>
              <a:gd name="connsiteY3" fmla="*/ 1090 h 10004"/>
              <a:gd name="connsiteX4" fmla="*/ 9474 w 10000"/>
              <a:gd name="connsiteY4" fmla="*/ 65 h 10004"/>
              <a:gd name="connsiteX5" fmla="*/ 0 w 10000"/>
              <a:gd name="connsiteY5" fmla="*/ 0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4">
                <a:moveTo>
                  <a:pt x="9212" y="10000"/>
                </a:moveTo>
                <a:cubicBezTo>
                  <a:pt x="9299" y="10000"/>
                  <a:pt x="8952" y="10009"/>
                  <a:pt x="9474" y="10000"/>
                </a:cubicBezTo>
                <a:cubicBezTo>
                  <a:pt x="9996" y="9991"/>
                  <a:pt x="10000" y="9552"/>
                  <a:pt x="10000" y="8990"/>
                </a:cubicBezTo>
                <a:lnTo>
                  <a:pt x="10000" y="1090"/>
                </a:lnTo>
                <a:cubicBezTo>
                  <a:pt x="10000" y="527"/>
                  <a:pt x="9988" y="65"/>
                  <a:pt x="9474" y="65"/>
                </a:cubicBezTo>
                <a:lnTo>
                  <a:pt x="0" y="0"/>
                </a:lnTo>
              </a:path>
            </a:pathLst>
          </a:custGeom>
          <a:noFill/>
          <a:ln w="50800" cap="rnd">
            <a:solidFill>
              <a:srgbClr val="29648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800">
              <a:latin typeface="+mn-lt"/>
            </a:endParaRPr>
          </a:p>
        </p:txBody>
      </p:sp>
      <p:sp>
        <p:nvSpPr>
          <p:cNvPr id="9" name="Picture Placeholder 4">
            <a:extLst>
              <a:ext uri="{FF2B5EF4-FFF2-40B4-BE49-F238E27FC236}">
                <a16:creationId xmlns:a16="http://schemas.microsoft.com/office/drawing/2014/main" id="{5578F6C8-4310-DE18-A54C-3861F1F40501}"/>
              </a:ext>
            </a:extLst>
          </p:cNvPr>
          <p:cNvSpPr>
            <a:spLocks noGrp="1"/>
          </p:cNvSpPr>
          <p:nvPr>
            <p:ph type="pic" sz="quarter" idx="26" hasCustomPrompt="1"/>
          </p:nvPr>
        </p:nvSpPr>
        <p:spPr>
          <a:xfrm>
            <a:off x="6585202" y="2355050"/>
            <a:ext cx="4824377" cy="3393339"/>
          </a:xfrm>
          <a:prstGeom prst="roundRect">
            <a:avLst>
              <a:gd name="adj" fmla="val 5992"/>
            </a:avLst>
          </a:prstGeom>
        </p:spPr>
        <p:txBody>
          <a:bodyPr anchor="ctr" anchorCtr="0">
            <a:normAutofit/>
          </a:bodyPr>
          <a:lstStyle>
            <a:lvl1pPr marL="0" indent="0" algn="ctr">
              <a:buNone/>
              <a:defRPr sz="2000">
                <a:solidFill>
                  <a:srgbClr val="F5F5F5"/>
                </a:solidFill>
                <a:latin typeface="Montserrat" panose="00000500000000000000" pitchFamily="2" charset="0"/>
                <a:cs typeface="Arial" panose="020B0604020202020204" pitchFamily="34" charset="0"/>
              </a:defRPr>
            </a:lvl1pPr>
          </a:lstStyle>
          <a:p>
            <a:r>
              <a:rPr lang="en-US"/>
              <a:t>Icon</a:t>
            </a:r>
            <a:endParaRPr lang="en-IN"/>
          </a:p>
        </p:txBody>
      </p:sp>
      <p:sp>
        <p:nvSpPr>
          <p:cNvPr id="10" name="Title 8">
            <a:extLst>
              <a:ext uri="{FF2B5EF4-FFF2-40B4-BE49-F238E27FC236}">
                <a16:creationId xmlns:a16="http://schemas.microsoft.com/office/drawing/2014/main" id="{7F381660-28CF-7B60-00AE-744F9E32C0E7}"/>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1" name="Text Placeholder 10">
            <a:extLst>
              <a:ext uri="{FF2B5EF4-FFF2-40B4-BE49-F238E27FC236}">
                <a16:creationId xmlns:a16="http://schemas.microsoft.com/office/drawing/2014/main" id="{FC918560-E122-7175-5D23-ABAAD87BF2B3}"/>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844189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E_Checklis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3728906"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Checklist</a:t>
            </a:r>
          </a:p>
        </p:txBody>
      </p:sp>
      <p:sp>
        <p:nvSpPr>
          <p:cNvPr id="2" name="Text Placeholder 17">
            <a:extLst>
              <a:ext uri="{FF2B5EF4-FFF2-40B4-BE49-F238E27FC236}">
                <a16:creationId xmlns:a16="http://schemas.microsoft.com/office/drawing/2014/main" id="{5E33EDF2-B26D-50FE-F05A-D9A137E3474F}"/>
              </a:ext>
            </a:extLst>
          </p:cNvPr>
          <p:cNvSpPr>
            <a:spLocks noGrp="1"/>
          </p:cNvSpPr>
          <p:nvPr>
            <p:ph type="body" sz="quarter" idx="19" hasCustomPrompt="1"/>
          </p:nvPr>
        </p:nvSpPr>
        <p:spPr>
          <a:xfrm>
            <a:off x="1682555" y="1886101"/>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6" name="Text Placeholder 17">
            <a:extLst>
              <a:ext uri="{FF2B5EF4-FFF2-40B4-BE49-F238E27FC236}">
                <a16:creationId xmlns:a16="http://schemas.microsoft.com/office/drawing/2014/main" id="{99F893E4-4CAA-13E5-087E-6AD5ED219474}"/>
              </a:ext>
            </a:extLst>
          </p:cNvPr>
          <p:cNvSpPr>
            <a:spLocks noGrp="1"/>
          </p:cNvSpPr>
          <p:nvPr>
            <p:ph type="body" sz="quarter" idx="42" hasCustomPrompt="1"/>
          </p:nvPr>
        </p:nvSpPr>
        <p:spPr>
          <a:xfrm>
            <a:off x="1682555" y="2838847"/>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7" name="Text Placeholder 17">
            <a:extLst>
              <a:ext uri="{FF2B5EF4-FFF2-40B4-BE49-F238E27FC236}">
                <a16:creationId xmlns:a16="http://schemas.microsoft.com/office/drawing/2014/main" id="{BB8981D9-E0E4-13A8-9B00-8145A097E3AB}"/>
              </a:ext>
            </a:extLst>
          </p:cNvPr>
          <p:cNvSpPr>
            <a:spLocks noGrp="1"/>
          </p:cNvSpPr>
          <p:nvPr>
            <p:ph type="body" sz="quarter" idx="43" hasCustomPrompt="1"/>
          </p:nvPr>
        </p:nvSpPr>
        <p:spPr>
          <a:xfrm>
            <a:off x="7268150" y="1886100"/>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8" name="Text Placeholder 17">
            <a:extLst>
              <a:ext uri="{FF2B5EF4-FFF2-40B4-BE49-F238E27FC236}">
                <a16:creationId xmlns:a16="http://schemas.microsoft.com/office/drawing/2014/main" id="{46E6F6BC-4CF2-B8C6-059C-34756205C28F}"/>
              </a:ext>
            </a:extLst>
          </p:cNvPr>
          <p:cNvSpPr>
            <a:spLocks noGrp="1"/>
          </p:cNvSpPr>
          <p:nvPr>
            <p:ph type="body" sz="quarter" idx="44" hasCustomPrompt="1"/>
          </p:nvPr>
        </p:nvSpPr>
        <p:spPr>
          <a:xfrm>
            <a:off x="7268150" y="2838847"/>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9" name="Text Placeholder 17">
            <a:extLst>
              <a:ext uri="{FF2B5EF4-FFF2-40B4-BE49-F238E27FC236}">
                <a16:creationId xmlns:a16="http://schemas.microsoft.com/office/drawing/2014/main" id="{990BABEC-28BC-417C-B69F-C6074932CDF0}"/>
              </a:ext>
            </a:extLst>
          </p:cNvPr>
          <p:cNvSpPr>
            <a:spLocks noGrp="1"/>
          </p:cNvSpPr>
          <p:nvPr>
            <p:ph type="body" sz="quarter" idx="45" hasCustomPrompt="1"/>
          </p:nvPr>
        </p:nvSpPr>
        <p:spPr>
          <a:xfrm>
            <a:off x="1690577" y="3819176"/>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2" name="Text Placeholder 17">
            <a:extLst>
              <a:ext uri="{FF2B5EF4-FFF2-40B4-BE49-F238E27FC236}">
                <a16:creationId xmlns:a16="http://schemas.microsoft.com/office/drawing/2014/main" id="{2D850764-05C6-4034-6C0A-E9FF1083C09F}"/>
              </a:ext>
            </a:extLst>
          </p:cNvPr>
          <p:cNvSpPr>
            <a:spLocks noGrp="1"/>
          </p:cNvSpPr>
          <p:nvPr>
            <p:ph type="body" sz="quarter" idx="46" hasCustomPrompt="1"/>
          </p:nvPr>
        </p:nvSpPr>
        <p:spPr>
          <a:xfrm>
            <a:off x="1690577" y="4771922"/>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3" name="Text Placeholder 17">
            <a:extLst>
              <a:ext uri="{FF2B5EF4-FFF2-40B4-BE49-F238E27FC236}">
                <a16:creationId xmlns:a16="http://schemas.microsoft.com/office/drawing/2014/main" id="{9E9FE559-9F5C-CD86-37EB-4CDE667BC100}"/>
              </a:ext>
            </a:extLst>
          </p:cNvPr>
          <p:cNvSpPr>
            <a:spLocks noGrp="1"/>
          </p:cNvSpPr>
          <p:nvPr>
            <p:ph type="body" sz="quarter" idx="47" hasCustomPrompt="1"/>
          </p:nvPr>
        </p:nvSpPr>
        <p:spPr>
          <a:xfrm>
            <a:off x="7276172" y="3819175"/>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4" name="Text Placeholder 17">
            <a:extLst>
              <a:ext uri="{FF2B5EF4-FFF2-40B4-BE49-F238E27FC236}">
                <a16:creationId xmlns:a16="http://schemas.microsoft.com/office/drawing/2014/main" id="{78A8580F-C393-9852-EC4C-5BD28EBEEEF8}"/>
              </a:ext>
            </a:extLst>
          </p:cNvPr>
          <p:cNvSpPr>
            <a:spLocks noGrp="1"/>
          </p:cNvSpPr>
          <p:nvPr>
            <p:ph type="body" sz="quarter" idx="48" hasCustomPrompt="1"/>
          </p:nvPr>
        </p:nvSpPr>
        <p:spPr>
          <a:xfrm>
            <a:off x="7276172" y="4771922"/>
            <a:ext cx="4165829" cy="871200"/>
          </a:xfrm>
          <a:prstGeom prst="roundRect">
            <a:avLst/>
          </a:prstGeom>
        </p:spPr>
        <p:txBody>
          <a:bodyPr anchor="ctr"/>
          <a:lstStyle>
            <a:lvl1pPr marL="0" indent="0" algn="l" defTabSz="914446" rtl="0" eaLnBrk="1" latinLnBrk="0" hangingPunct="1">
              <a:lnSpc>
                <a:spcPct val="90000"/>
              </a:lnSpc>
              <a:spcBef>
                <a:spcPct val="0"/>
              </a:spcBef>
              <a:buNone/>
              <a:defRPr lang="en-US" sz="1800" b="1"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7" name="Picture Placeholder 4">
            <a:extLst>
              <a:ext uri="{FF2B5EF4-FFF2-40B4-BE49-F238E27FC236}">
                <a16:creationId xmlns:a16="http://schemas.microsoft.com/office/drawing/2014/main" id="{7BD176CA-1A88-C1A7-DED1-044F8833CE0C}"/>
              </a:ext>
            </a:extLst>
          </p:cNvPr>
          <p:cNvSpPr>
            <a:spLocks noGrp="1"/>
          </p:cNvSpPr>
          <p:nvPr>
            <p:ph type="pic" sz="quarter" idx="14" hasCustomPrompt="1"/>
          </p:nvPr>
        </p:nvSpPr>
        <p:spPr>
          <a:xfrm>
            <a:off x="804323" y="1934325"/>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18" name="Picture Placeholder 4">
            <a:extLst>
              <a:ext uri="{FF2B5EF4-FFF2-40B4-BE49-F238E27FC236}">
                <a16:creationId xmlns:a16="http://schemas.microsoft.com/office/drawing/2014/main" id="{86D3EDAB-3D38-1D8C-E9A2-BAB3B9836CDE}"/>
              </a:ext>
            </a:extLst>
          </p:cNvPr>
          <p:cNvSpPr>
            <a:spLocks noGrp="1"/>
          </p:cNvSpPr>
          <p:nvPr>
            <p:ph type="pic" sz="quarter" idx="37" hasCustomPrompt="1"/>
          </p:nvPr>
        </p:nvSpPr>
        <p:spPr>
          <a:xfrm>
            <a:off x="804323" y="2906263"/>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19" name="Picture Placeholder 4">
            <a:extLst>
              <a:ext uri="{FF2B5EF4-FFF2-40B4-BE49-F238E27FC236}">
                <a16:creationId xmlns:a16="http://schemas.microsoft.com/office/drawing/2014/main" id="{25C7E817-AA9D-49F6-E4EB-E6BFAE9606C5}"/>
              </a:ext>
            </a:extLst>
          </p:cNvPr>
          <p:cNvSpPr>
            <a:spLocks noGrp="1"/>
          </p:cNvSpPr>
          <p:nvPr>
            <p:ph type="pic" sz="quarter" idx="49" hasCustomPrompt="1"/>
          </p:nvPr>
        </p:nvSpPr>
        <p:spPr>
          <a:xfrm>
            <a:off x="812345" y="3867398"/>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25" name="Picture Placeholder 4">
            <a:extLst>
              <a:ext uri="{FF2B5EF4-FFF2-40B4-BE49-F238E27FC236}">
                <a16:creationId xmlns:a16="http://schemas.microsoft.com/office/drawing/2014/main" id="{0248AD29-2DF7-299F-3ACF-C9CE5F977534}"/>
              </a:ext>
            </a:extLst>
          </p:cNvPr>
          <p:cNvSpPr>
            <a:spLocks noGrp="1"/>
          </p:cNvSpPr>
          <p:nvPr>
            <p:ph type="pic" sz="quarter" idx="50" hasCustomPrompt="1"/>
          </p:nvPr>
        </p:nvSpPr>
        <p:spPr>
          <a:xfrm>
            <a:off x="812345" y="4839336"/>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26" name="Picture Placeholder 4">
            <a:extLst>
              <a:ext uri="{FF2B5EF4-FFF2-40B4-BE49-F238E27FC236}">
                <a16:creationId xmlns:a16="http://schemas.microsoft.com/office/drawing/2014/main" id="{57B07EBB-8FF3-C141-3147-93BC95FF907A}"/>
              </a:ext>
            </a:extLst>
          </p:cNvPr>
          <p:cNvSpPr>
            <a:spLocks noGrp="1"/>
          </p:cNvSpPr>
          <p:nvPr>
            <p:ph type="pic" sz="quarter" idx="51" hasCustomPrompt="1"/>
          </p:nvPr>
        </p:nvSpPr>
        <p:spPr>
          <a:xfrm>
            <a:off x="6399609" y="1945536"/>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27" name="Picture Placeholder 4">
            <a:extLst>
              <a:ext uri="{FF2B5EF4-FFF2-40B4-BE49-F238E27FC236}">
                <a16:creationId xmlns:a16="http://schemas.microsoft.com/office/drawing/2014/main" id="{B6847BD5-D80D-026D-157E-3C12F04F155D}"/>
              </a:ext>
            </a:extLst>
          </p:cNvPr>
          <p:cNvSpPr>
            <a:spLocks noGrp="1"/>
          </p:cNvSpPr>
          <p:nvPr>
            <p:ph type="pic" sz="quarter" idx="52" hasCustomPrompt="1"/>
          </p:nvPr>
        </p:nvSpPr>
        <p:spPr>
          <a:xfrm>
            <a:off x="6399609" y="2917474"/>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31" name="Picture Placeholder 4">
            <a:extLst>
              <a:ext uri="{FF2B5EF4-FFF2-40B4-BE49-F238E27FC236}">
                <a16:creationId xmlns:a16="http://schemas.microsoft.com/office/drawing/2014/main" id="{E0EC7AF2-F1E8-2054-94B0-231B7304E42E}"/>
              </a:ext>
            </a:extLst>
          </p:cNvPr>
          <p:cNvSpPr>
            <a:spLocks noGrp="1"/>
          </p:cNvSpPr>
          <p:nvPr>
            <p:ph type="pic" sz="quarter" idx="53" hasCustomPrompt="1"/>
          </p:nvPr>
        </p:nvSpPr>
        <p:spPr>
          <a:xfrm>
            <a:off x="6407631" y="3878609"/>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34" name="Picture Placeholder 4">
            <a:extLst>
              <a:ext uri="{FF2B5EF4-FFF2-40B4-BE49-F238E27FC236}">
                <a16:creationId xmlns:a16="http://schemas.microsoft.com/office/drawing/2014/main" id="{945FF0DB-2BD6-18E6-92BE-16DD80EF0296}"/>
              </a:ext>
            </a:extLst>
          </p:cNvPr>
          <p:cNvSpPr>
            <a:spLocks noGrp="1"/>
          </p:cNvSpPr>
          <p:nvPr>
            <p:ph type="pic" sz="quarter" idx="54" hasCustomPrompt="1"/>
          </p:nvPr>
        </p:nvSpPr>
        <p:spPr>
          <a:xfrm>
            <a:off x="6407631" y="4850547"/>
            <a:ext cx="720000" cy="720000"/>
          </a:xfrm>
          <a:prstGeom prst="roundRect">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15" name="Title 8">
            <a:extLst>
              <a:ext uri="{FF2B5EF4-FFF2-40B4-BE49-F238E27FC236}">
                <a16:creationId xmlns:a16="http://schemas.microsoft.com/office/drawing/2014/main" id="{B94D2C22-C390-0A30-5FEB-D5DDFA5AC1BC}"/>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6" name="Text Placeholder 10">
            <a:extLst>
              <a:ext uri="{FF2B5EF4-FFF2-40B4-BE49-F238E27FC236}">
                <a16:creationId xmlns:a16="http://schemas.microsoft.com/office/drawing/2014/main" id="{88684332-C22A-038B-9369-5C158470E092}"/>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17409191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F_Do's and Don't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4403770"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Do’s and Don’ts</a:t>
            </a:r>
          </a:p>
        </p:txBody>
      </p:sp>
      <p:sp>
        <p:nvSpPr>
          <p:cNvPr id="6" name="Text Placeholder 17">
            <a:extLst>
              <a:ext uri="{FF2B5EF4-FFF2-40B4-BE49-F238E27FC236}">
                <a16:creationId xmlns:a16="http://schemas.microsoft.com/office/drawing/2014/main" id="{FB151B44-709B-D174-C48C-05B99B887FC7}"/>
              </a:ext>
            </a:extLst>
          </p:cNvPr>
          <p:cNvSpPr>
            <a:spLocks noGrp="1"/>
          </p:cNvSpPr>
          <p:nvPr>
            <p:ph type="body" sz="quarter" idx="19" hasCustomPrompt="1"/>
          </p:nvPr>
        </p:nvSpPr>
        <p:spPr>
          <a:xfrm>
            <a:off x="1703780" y="2560265"/>
            <a:ext cx="4105142" cy="871200"/>
          </a:xfrm>
          <a:prstGeom prst="roundRect">
            <a:avLst/>
          </a:prstGeom>
          <a:solidFill>
            <a:srgbClr val="29648A">
              <a:alpha val="80000"/>
            </a:srgbClr>
          </a:solidFill>
        </p:spPr>
        <p:txBody>
          <a:bodyPr anchor="ctr"/>
          <a:lstStyle>
            <a:lvl1pPr marL="0" indent="0" algn="l" defTabSz="914446" rtl="0" eaLnBrk="1" latinLnBrk="0" hangingPunct="1">
              <a:lnSpc>
                <a:spcPct val="90000"/>
              </a:lnSpc>
              <a:spcBef>
                <a:spcPct val="0"/>
              </a:spcBef>
              <a:buNone/>
              <a:defRPr lang="en-US" sz="1800" b="0" kern="1200" dirty="0" smtClean="0">
                <a:solidFill>
                  <a:srgbClr val="F5F5F5"/>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0" name="Text Placeholder 17">
            <a:extLst>
              <a:ext uri="{FF2B5EF4-FFF2-40B4-BE49-F238E27FC236}">
                <a16:creationId xmlns:a16="http://schemas.microsoft.com/office/drawing/2014/main" id="{3CD50FD3-CB49-86D0-9090-80FFC0F597A7}"/>
              </a:ext>
            </a:extLst>
          </p:cNvPr>
          <p:cNvSpPr>
            <a:spLocks noGrp="1"/>
          </p:cNvSpPr>
          <p:nvPr>
            <p:ph type="body" sz="quarter" idx="32" hasCustomPrompt="1"/>
          </p:nvPr>
        </p:nvSpPr>
        <p:spPr>
          <a:xfrm>
            <a:off x="1703780" y="3590425"/>
            <a:ext cx="4105142" cy="871200"/>
          </a:xfrm>
          <a:prstGeom prst="roundRect">
            <a:avLst/>
          </a:prstGeom>
          <a:solidFill>
            <a:srgbClr val="29648A">
              <a:alpha val="80000"/>
            </a:srgbClr>
          </a:solidFill>
        </p:spPr>
        <p:txBody>
          <a:bodyPr anchor="ctr"/>
          <a:lstStyle>
            <a:lvl1pPr marL="0" indent="0" algn="l" defTabSz="914446" rtl="0" eaLnBrk="1" latinLnBrk="0" hangingPunct="1">
              <a:lnSpc>
                <a:spcPct val="90000"/>
              </a:lnSpc>
              <a:spcBef>
                <a:spcPct val="0"/>
              </a:spcBef>
              <a:buNone/>
              <a:defRPr lang="en-US" sz="1800" b="0" kern="1200" dirty="0" smtClean="0">
                <a:solidFill>
                  <a:srgbClr val="F5F5F5"/>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6" name="Picture Placeholder 4">
            <a:extLst>
              <a:ext uri="{FF2B5EF4-FFF2-40B4-BE49-F238E27FC236}">
                <a16:creationId xmlns:a16="http://schemas.microsoft.com/office/drawing/2014/main" id="{1EC00AC5-44A0-78C0-CEFC-0ABD81032A51}"/>
              </a:ext>
            </a:extLst>
          </p:cNvPr>
          <p:cNvSpPr>
            <a:spLocks noGrp="1"/>
          </p:cNvSpPr>
          <p:nvPr>
            <p:ph type="pic" sz="quarter" idx="14" hasCustomPrompt="1"/>
          </p:nvPr>
        </p:nvSpPr>
        <p:spPr>
          <a:xfrm>
            <a:off x="745086" y="2641476"/>
            <a:ext cx="720000" cy="720000"/>
          </a:xfrm>
          <a:prstGeom prst="ellipse">
            <a:avLst/>
          </a:prstGeom>
        </p:spPr>
        <p:txBody>
          <a:bodyPr anchor="ctr" anchorCtr="0">
            <a:normAutofit/>
          </a:bodyPr>
          <a:lstStyle>
            <a:lvl1pPr marL="0" indent="0" algn="ctr">
              <a:buNone/>
              <a:defRPr sz="2000">
                <a:solidFill>
                  <a:schemeClr val="bg1"/>
                </a:solidFill>
                <a:latin typeface="Frutiger LT" panose="02000503000000000000"/>
              </a:defRPr>
            </a:lvl1pPr>
          </a:lstStyle>
          <a:p>
            <a:r>
              <a:rPr lang="en-IN"/>
              <a:t>Icon</a:t>
            </a:r>
          </a:p>
        </p:txBody>
      </p:sp>
      <p:sp>
        <p:nvSpPr>
          <p:cNvPr id="17" name="Picture Placeholder 4">
            <a:extLst>
              <a:ext uri="{FF2B5EF4-FFF2-40B4-BE49-F238E27FC236}">
                <a16:creationId xmlns:a16="http://schemas.microsoft.com/office/drawing/2014/main" id="{05F04733-476B-B5C6-7180-E6C06779E685}"/>
              </a:ext>
            </a:extLst>
          </p:cNvPr>
          <p:cNvSpPr>
            <a:spLocks noGrp="1"/>
          </p:cNvSpPr>
          <p:nvPr>
            <p:ph type="pic" sz="quarter" idx="37" hasCustomPrompt="1"/>
          </p:nvPr>
        </p:nvSpPr>
        <p:spPr>
          <a:xfrm>
            <a:off x="745086" y="3666025"/>
            <a:ext cx="720000" cy="720000"/>
          </a:xfrm>
          <a:prstGeom prst="ellipse">
            <a:avLst/>
          </a:prstGeom>
        </p:spPr>
        <p:txBody>
          <a:bodyPr anchor="ctr" anchorCtr="0">
            <a:normAutofit/>
          </a:bodyPr>
          <a:lstStyle>
            <a:lvl1pPr marL="0" indent="0" algn="ctr">
              <a:buNone/>
              <a:defRPr sz="2000">
                <a:solidFill>
                  <a:schemeClr val="bg1"/>
                </a:solidFill>
                <a:latin typeface="Frutiger LT" panose="02000503000000000000"/>
              </a:defRPr>
            </a:lvl1pPr>
          </a:lstStyle>
          <a:p>
            <a:r>
              <a:rPr lang="en-IN"/>
              <a:t>Icon</a:t>
            </a:r>
          </a:p>
        </p:txBody>
      </p:sp>
      <p:sp>
        <p:nvSpPr>
          <p:cNvPr id="8" name="Text Placeholder 17">
            <a:extLst>
              <a:ext uri="{FF2B5EF4-FFF2-40B4-BE49-F238E27FC236}">
                <a16:creationId xmlns:a16="http://schemas.microsoft.com/office/drawing/2014/main" id="{63D366B7-FB04-7B0E-04C7-1359EF0CBEF1}"/>
              </a:ext>
            </a:extLst>
          </p:cNvPr>
          <p:cNvSpPr>
            <a:spLocks noGrp="1"/>
          </p:cNvSpPr>
          <p:nvPr>
            <p:ph type="body" sz="quarter" idx="40" hasCustomPrompt="1"/>
          </p:nvPr>
        </p:nvSpPr>
        <p:spPr>
          <a:xfrm>
            <a:off x="1703780" y="4614974"/>
            <a:ext cx="4105142" cy="871200"/>
          </a:xfrm>
          <a:prstGeom prst="roundRect">
            <a:avLst/>
          </a:prstGeom>
          <a:solidFill>
            <a:srgbClr val="29648A">
              <a:alpha val="80000"/>
            </a:srgbClr>
          </a:solidFill>
        </p:spPr>
        <p:txBody>
          <a:bodyPr anchor="ctr"/>
          <a:lstStyle>
            <a:lvl1pPr marL="0" indent="0" algn="l" defTabSz="914446" rtl="0" eaLnBrk="1" latinLnBrk="0" hangingPunct="1">
              <a:lnSpc>
                <a:spcPct val="90000"/>
              </a:lnSpc>
              <a:spcBef>
                <a:spcPct val="0"/>
              </a:spcBef>
              <a:buNone/>
              <a:defRPr lang="en-US" sz="1800" b="0" kern="1200" dirty="0" smtClean="0">
                <a:solidFill>
                  <a:srgbClr val="F5F5F5"/>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1" name="Picture Placeholder 4">
            <a:extLst>
              <a:ext uri="{FF2B5EF4-FFF2-40B4-BE49-F238E27FC236}">
                <a16:creationId xmlns:a16="http://schemas.microsoft.com/office/drawing/2014/main" id="{313E8A72-8268-5CE3-55C8-4AC5683CBBE9}"/>
              </a:ext>
            </a:extLst>
          </p:cNvPr>
          <p:cNvSpPr>
            <a:spLocks noGrp="1"/>
          </p:cNvSpPr>
          <p:nvPr>
            <p:ph type="pic" sz="quarter" idx="42" hasCustomPrompt="1"/>
          </p:nvPr>
        </p:nvSpPr>
        <p:spPr>
          <a:xfrm>
            <a:off x="745086" y="4690574"/>
            <a:ext cx="720000" cy="720000"/>
          </a:xfrm>
          <a:prstGeom prst="ellipse">
            <a:avLst/>
          </a:prstGeom>
        </p:spPr>
        <p:txBody>
          <a:bodyPr anchor="ctr" anchorCtr="0">
            <a:normAutofit/>
          </a:bodyPr>
          <a:lstStyle>
            <a:lvl1pPr marL="0" indent="0" algn="ctr">
              <a:buNone/>
              <a:defRPr sz="2000">
                <a:solidFill>
                  <a:schemeClr val="bg1"/>
                </a:solidFill>
                <a:latin typeface="Frutiger LT" panose="02000503000000000000"/>
              </a:defRPr>
            </a:lvl1pPr>
          </a:lstStyle>
          <a:p>
            <a:r>
              <a:rPr lang="en-IN"/>
              <a:t>Icon</a:t>
            </a:r>
          </a:p>
        </p:txBody>
      </p:sp>
      <p:sp>
        <p:nvSpPr>
          <p:cNvPr id="14" name="Text Placeholder 17">
            <a:extLst>
              <a:ext uri="{FF2B5EF4-FFF2-40B4-BE49-F238E27FC236}">
                <a16:creationId xmlns:a16="http://schemas.microsoft.com/office/drawing/2014/main" id="{104544A4-AC62-F1B1-F246-F165915D0514}"/>
              </a:ext>
            </a:extLst>
          </p:cNvPr>
          <p:cNvSpPr>
            <a:spLocks noGrp="1"/>
          </p:cNvSpPr>
          <p:nvPr>
            <p:ph type="body" sz="quarter" idx="43" hasCustomPrompt="1"/>
          </p:nvPr>
        </p:nvSpPr>
        <p:spPr>
          <a:xfrm>
            <a:off x="7266939" y="2557800"/>
            <a:ext cx="4105142" cy="871200"/>
          </a:xfrm>
          <a:prstGeom prst="roundRect">
            <a:avLst/>
          </a:prstGeom>
          <a:solidFill>
            <a:srgbClr val="29648A">
              <a:alpha val="80000"/>
            </a:srgbClr>
          </a:solidFill>
        </p:spPr>
        <p:txBody>
          <a:bodyPr anchor="ctr"/>
          <a:lstStyle>
            <a:lvl1pPr marL="0" indent="0" algn="l" defTabSz="914446" rtl="0" eaLnBrk="1" latinLnBrk="0" hangingPunct="1">
              <a:lnSpc>
                <a:spcPct val="90000"/>
              </a:lnSpc>
              <a:spcBef>
                <a:spcPct val="0"/>
              </a:spcBef>
              <a:buNone/>
              <a:defRPr lang="en-US" sz="1800" b="0" kern="1200" dirty="0" smtClean="0">
                <a:solidFill>
                  <a:srgbClr val="F5F5F5"/>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20" name="Text Placeholder 17">
            <a:extLst>
              <a:ext uri="{FF2B5EF4-FFF2-40B4-BE49-F238E27FC236}">
                <a16:creationId xmlns:a16="http://schemas.microsoft.com/office/drawing/2014/main" id="{64CCF00E-F8CA-E01C-F81D-392748BDB28C}"/>
              </a:ext>
            </a:extLst>
          </p:cNvPr>
          <p:cNvSpPr>
            <a:spLocks noGrp="1"/>
          </p:cNvSpPr>
          <p:nvPr>
            <p:ph type="body" sz="quarter" idx="44" hasCustomPrompt="1"/>
          </p:nvPr>
        </p:nvSpPr>
        <p:spPr>
          <a:xfrm>
            <a:off x="7266939" y="3587960"/>
            <a:ext cx="4105142" cy="871200"/>
          </a:xfrm>
          <a:prstGeom prst="roundRect">
            <a:avLst/>
          </a:prstGeom>
          <a:solidFill>
            <a:srgbClr val="29648A">
              <a:alpha val="80000"/>
            </a:srgbClr>
          </a:solidFill>
        </p:spPr>
        <p:txBody>
          <a:bodyPr anchor="ctr"/>
          <a:lstStyle>
            <a:lvl1pPr marL="0" indent="0" algn="l" defTabSz="914446" rtl="0" eaLnBrk="1" latinLnBrk="0" hangingPunct="1">
              <a:lnSpc>
                <a:spcPct val="90000"/>
              </a:lnSpc>
              <a:spcBef>
                <a:spcPct val="0"/>
              </a:spcBef>
              <a:buNone/>
              <a:defRPr lang="en-US" sz="1800" b="0" kern="1200" dirty="0" smtClean="0">
                <a:solidFill>
                  <a:srgbClr val="F5F5F5"/>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21" name="Picture Placeholder 4">
            <a:extLst>
              <a:ext uri="{FF2B5EF4-FFF2-40B4-BE49-F238E27FC236}">
                <a16:creationId xmlns:a16="http://schemas.microsoft.com/office/drawing/2014/main" id="{C6AF16DA-0D85-85B3-0ABB-2DB4B78A5A20}"/>
              </a:ext>
            </a:extLst>
          </p:cNvPr>
          <p:cNvSpPr>
            <a:spLocks noGrp="1"/>
          </p:cNvSpPr>
          <p:nvPr>
            <p:ph type="pic" sz="quarter" idx="45" hasCustomPrompt="1"/>
          </p:nvPr>
        </p:nvSpPr>
        <p:spPr>
          <a:xfrm>
            <a:off x="6308245" y="2639011"/>
            <a:ext cx="720000" cy="720000"/>
          </a:xfrm>
          <a:prstGeom prst="ellipse">
            <a:avLst/>
          </a:prstGeom>
        </p:spPr>
        <p:txBody>
          <a:bodyPr anchor="ctr" anchorCtr="0">
            <a:normAutofit/>
          </a:bodyPr>
          <a:lstStyle>
            <a:lvl1pPr marL="0" indent="0" algn="ctr">
              <a:buNone/>
              <a:defRPr sz="2000">
                <a:solidFill>
                  <a:schemeClr val="bg1"/>
                </a:solidFill>
                <a:latin typeface="Frutiger LT" panose="02000503000000000000"/>
              </a:defRPr>
            </a:lvl1pPr>
          </a:lstStyle>
          <a:p>
            <a:r>
              <a:rPr lang="en-IN"/>
              <a:t>Icon</a:t>
            </a:r>
          </a:p>
        </p:txBody>
      </p:sp>
      <p:sp>
        <p:nvSpPr>
          <p:cNvPr id="22" name="Picture Placeholder 4">
            <a:extLst>
              <a:ext uri="{FF2B5EF4-FFF2-40B4-BE49-F238E27FC236}">
                <a16:creationId xmlns:a16="http://schemas.microsoft.com/office/drawing/2014/main" id="{DE3A8C21-14CC-4AC6-9798-F5E0C5550CE3}"/>
              </a:ext>
            </a:extLst>
          </p:cNvPr>
          <p:cNvSpPr>
            <a:spLocks noGrp="1"/>
          </p:cNvSpPr>
          <p:nvPr>
            <p:ph type="pic" sz="quarter" idx="46" hasCustomPrompt="1"/>
          </p:nvPr>
        </p:nvSpPr>
        <p:spPr>
          <a:xfrm>
            <a:off x="6308245" y="3663560"/>
            <a:ext cx="720000" cy="720000"/>
          </a:xfrm>
          <a:prstGeom prst="ellipse">
            <a:avLst/>
          </a:prstGeom>
        </p:spPr>
        <p:txBody>
          <a:bodyPr anchor="ctr" anchorCtr="0">
            <a:normAutofit/>
          </a:bodyPr>
          <a:lstStyle>
            <a:lvl1pPr marL="0" indent="0" algn="ctr">
              <a:buNone/>
              <a:defRPr sz="2000">
                <a:solidFill>
                  <a:schemeClr val="bg1"/>
                </a:solidFill>
                <a:latin typeface="Frutiger LT" panose="02000503000000000000"/>
              </a:defRPr>
            </a:lvl1pPr>
          </a:lstStyle>
          <a:p>
            <a:r>
              <a:rPr lang="en-IN"/>
              <a:t>Icon</a:t>
            </a:r>
          </a:p>
        </p:txBody>
      </p:sp>
      <p:sp>
        <p:nvSpPr>
          <p:cNvPr id="23" name="Text Placeholder 17">
            <a:extLst>
              <a:ext uri="{FF2B5EF4-FFF2-40B4-BE49-F238E27FC236}">
                <a16:creationId xmlns:a16="http://schemas.microsoft.com/office/drawing/2014/main" id="{3A2EB109-7638-99E6-ECFD-1D14FCEEE405}"/>
              </a:ext>
            </a:extLst>
          </p:cNvPr>
          <p:cNvSpPr>
            <a:spLocks noGrp="1"/>
          </p:cNvSpPr>
          <p:nvPr>
            <p:ph type="body" sz="quarter" idx="47" hasCustomPrompt="1"/>
          </p:nvPr>
        </p:nvSpPr>
        <p:spPr>
          <a:xfrm>
            <a:off x="7266939" y="4612509"/>
            <a:ext cx="4105142" cy="871200"/>
          </a:xfrm>
          <a:prstGeom prst="roundRect">
            <a:avLst/>
          </a:prstGeom>
          <a:solidFill>
            <a:srgbClr val="29648A">
              <a:alpha val="80000"/>
            </a:srgbClr>
          </a:solidFill>
        </p:spPr>
        <p:txBody>
          <a:bodyPr anchor="ctr"/>
          <a:lstStyle>
            <a:lvl1pPr marL="0" indent="0" algn="l" defTabSz="914446" rtl="0" eaLnBrk="1" latinLnBrk="0" hangingPunct="1">
              <a:lnSpc>
                <a:spcPct val="90000"/>
              </a:lnSpc>
              <a:spcBef>
                <a:spcPct val="0"/>
              </a:spcBef>
              <a:buNone/>
              <a:defRPr lang="en-US" sz="1800" b="0" kern="1200" dirty="0" smtClean="0">
                <a:solidFill>
                  <a:srgbClr val="F5F5F5"/>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24" name="Picture Placeholder 4">
            <a:extLst>
              <a:ext uri="{FF2B5EF4-FFF2-40B4-BE49-F238E27FC236}">
                <a16:creationId xmlns:a16="http://schemas.microsoft.com/office/drawing/2014/main" id="{8C73FDD4-4C28-A426-7150-385F63CB8FC8}"/>
              </a:ext>
            </a:extLst>
          </p:cNvPr>
          <p:cNvSpPr>
            <a:spLocks noGrp="1"/>
          </p:cNvSpPr>
          <p:nvPr>
            <p:ph type="pic" sz="quarter" idx="48" hasCustomPrompt="1"/>
          </p:nvPr>
        </p:nvSpPr>
        <p:spPr>
          <a:xfrm>
            <a:off x="6308245" y="4688109"/>
            <a:ext cx="720000" cy="720000"/>
          </a:xfrm>
          <a:prstGeom prst="ellipse">
            <a:avLst/>
          </a:prstGeom>
        </p:spPr>
        <p:txBody>
          <a:bodyPr anchor="ctr" anchorCtr="0">
            <a:normAutofit/>
          </a:bodyPr>
          <a:lstStyle>
            <a:lvl1pPr marL="0" indent="0" algn="ctr">
              <a:buNone/>
              <a:defRPr sz="2000">
                <a:solidFill>
                  <a:schemeClr val="bg1"/>
                </a:solidFill>
                <a:latin typeface="Frutiger LT" panose="02000503000000000000"/>
              </a:defRPr>
            </a:lvl1pPr>
          </a:lstStyle>
          <a:p>
            <a:r>
              <a:rPr lang="en-IN"/>
              <a:t>Icon</a:t>
            </a:r>
          </a:p>
        </p:txBody>
      </p:sp>
      <p:sp>
        <p:nvSpPr>
          <p:cNvPr id="9" name="Title 8">
            <a:extLst>
              <a:ext uri="{FF2B5EF4-FFF2-40B4-BE49-F238E27FC236}">
                <a16:creationId xmlns:a16="http://schemas.microsoft.com/office/drawing/2014/main" id="{895F085C-CB37-99E1-8EC0-8ED7DE851B6B}"/>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2" name="Text Placeholder 10">
            <a:extLst>
              <a:ext uri="{FF2B5EF4-FFF2-40B4-BE49-F238E27FC236}">
                <a16:creationId xmlns:a16="http://schemas.microsoft.com/office/drawing/2014/main" id="{6B75D158-50C7-A197-0F28-8D25E2E5D9C9}"/>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3354150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I_Image+ Text callou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4895892"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Image + Text Callout</a:t>
            </a:r>
          </a:p>
        </p:txBody>
      </p:sp>
      <p:sp>
        <p:nvSpPr>
          <p:cNvPr id="2" name="Picture Placeholder 7">
            <a:extLst>
              <a:ext uri="{FF2B5EF4-FFF2-40B4-BE49-F238E27FC236}">
                <a16:creationId xmlns:a16="http://schemas.microsoft.com/office/drawing/2014/main" id="{0AD28906-D698-45A7-1092-CB08835869FB}"/>
              </a:ext>
            </a:extLst>
          </p:cNvPr>
          <p:cNvSpPr>
            <a:spLocks noGrp="1"/>
          </p:cNvSpPr>
          <p:nvPr>
            <p:ph type="pic" sz="quarter" idx="14"/>
          </p:nvPr>
        </p:nvSpPr>
        <p:spPr>
          <a:xfrm>
            <a:off x="527050" y="2192124"/>
            <a:ext cx="4817439" cy="3326174"/>
          </a:xfrm>
          <a:prstGeom prst="roundRect">
            <a:avLst>
              <a:gd name="adj" fmla="val 8675"/>
            </a:avLst>
          </a:prstGeom>
        </p:spPr>
        <p:txBody>
          <a:bodyPr anchor="ctr"/>
          <a:lstStyle>
            <a:lvl1pPr>
              <a:defRPr lang="en-IN" dirty="0" smtClean="0">
                <a:solidFill>
                  <a:srgbClr val="25274D"/>
                </a:solidFill>
                <a:latin typeface="Montserrat" panose="00000500000000000000" pitchFamily="2" charset="0"/>
              </a:defRPr>
            </a:lvl1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a:p>
        </p:txBody>
      </p:sp>
      <p:sp>
        <p:nvSpPr>
          <p:cNvPr id="9" name="Picture Placeholder 7">
            <a:extLst>
              <a:ext uri="{FF2B5EF4-FFF2-40B4-BE49-F238E27FC236}">
                <a16:creationId xmlns:a16="http://schemas.microsoft.com/office/drawing/2014/main" id="{A71DE17B-F33A-3668-ACB4-48C33E20A995}"/>
              </a:ext>
            </a:extLst>
          </p:cNvPr>
          <p:cNvSpPr>
            <a:spLocks noGrp="1"/>
          </p:cNvSpPr>
          <p:nvPr>
            <p:ph type="pic" sz="quarter" idx="30"/>
          </p:nvPr>
        </p:nvSpPr>
        <p:spPr>
          <a:xfrm>
            <a:off x="6172048" y="2192124"/>
            <a:ext cx="4817439" cy="3326171"/>
          </a:xfrm>
          <a:prstGeom prst="roundRect">
            <a:avLst>
              <a:gd name="adj" fmla="val 7716"/>
            </a:avLst>
          </a:prstGeom>
        </p:spPr>
        <p:txBody>
          <a:bodyPr anchor="ctr"/>
          <a:lstStyle>
            <a:lvl1pPr>
              <a:defRPr lang="en-IN" dirty="0" smtClean="0">
                <a:solidFill>
                  <a:srgbClr val="25274D"/>
                </a:solidFill>
                <a:latin typeface="Montserrat" panose="00000500000000000000" pitchFamily="2" charset="0"/>
              </a:defRPr>
            </a:lvl1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a:p>
        </p:txBody>
      </p:sp>
      <p:sp>
        <p:nvSpPr>
          <p:cNvPr id="11" name="Text Placeholder 17">
            <a:extLst>
              <a:ext uri="{FF2B5EF4-FFF2-40B4-BE49-F238E27FC236}">
                <a16:creationId xmlns:a16="http://schemas.microsoft.com/office/drawing/2014/main" id="{4BEE814C-BAE5-E935-922C-090D86131803}"/>
              </a:ext>
            </a:extLst>
          </p:cNvPr>
          <p:cNvSpPr>
            <a:spLocks noGrp="1"/>
          </p:cNvSpPr>
          <p:nvPr>
            <p:ph type="body" sz="quarter" idx="19" hasCustomPrompt="1"/>
          </p:nvPr>
        </p:nvSpPr>
        <p:spPr>
          <a:xfrm>
            <a:off x="3982495" y="1785234"/>
            <a:ext cx="2113505" cy="871200"/>
          </a:xfrm>
          <a:prstGeom prst="wedgeRoundRectCallout">
            <a:avLst>
              <a:gd name="adj1" fmla="val -40761"/>
              <a:gd name="adj2" fmla="val 88129"/>
              <a:gd name="adj3" fmla="val 16667"/>
            </a:avLst>
          </a:prstGeom>
          <a:solidFill>
            <a:srgbClr val="29648A">
              <a:alpha val="80000"/>
            </a:srgbClr>
          </a:solidFill>
          <a:effectLst>
            <a:outerShdw blurRad="127000" dist="38100" dir="2700000" algn="tl" rotWithShape="0">
              <a:prstClr val="black">
                <a:alpha val="40000"/>
              </a:prstClr>
            </a:outerShdw>
          </a:effectLst>
        </p:spPr>
        <p:txBody>
          <a:bodyPr anchor="ctr"/>
          <a:lstStyle>
            <a:lvl1pPr marL="0" indent="0" algn="l" defTabSz="914446" rtl="0" eaLnBrk="1" latinLnBrk="0" hangingPunct="1">
              <a:lnSpc>
                <a:spcPct val="90000"/>
              </a:lnSpc>
              <a:spcBef>
                <a:spcPct val="0"/>
              </a:spcBef>
              <a:buNone/>
              <a:defRPr lang="en-US" sz="1600" b="0" kern="1200" dirty="0" smtClean="0">
                <a:solidFill>
                  <a:schemeClr val="bg1"/>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2" name="Text Placeholder 17">
            <a:extLst>
              <a:ext uri="{FF2B5EF4-FFF2-40B4-BE49-F238E27FC236}">
                <a16:creationId xmlns:a16="http://schemas.microsoft.com/office/drawing/2014/main" id="{5FDEB69A-EB23-4DB0-517A-9B1A1FF37906}"/>
              </a:ext>
            </a:extLst>
          </p:cNvPr>
          <p:cNvSpPr>
            <a:spLocks noGrp="1"/>
          </p:cNvSpPr>
          <p:nvPr>
            <p:ph type="body" sz="quarter" idx="36" hasCustomPrompt="1"/>
          </p:nvPr>
        </p:nvSpPr>
        <p:spPr>
          <a:xfrm>
            <a:off x="9794792" y="1785234"/>
            <a:ext cx="2113505" cy="871200"/>
          </a:xfrm>
          <a:prstGeom prst="wedgeRoundRectCallout">
            <a:avLst>
              <a:gd name="adj1" fmla="val -40761"/>
              <a:gd name="adj2" fmla="val 88129"/>
              <a:gd name="adj3" fmla="val 16667"/>
            </a:avLst>
          </a:prstGeom>
          <a:solidFill>
            <a:srgbClr val="29648A">
              <a:alpha val="80000"/>
            </a:srgbClr>
          </a:solidFill>
          <a:effectLst>
            <a:outerShdw blurRad="127000" dist="38100" dir="2700000" algn="tl" rotWithShape="0">
              <a:prstClr val="black">
                <a:alpha val="40000"/>
              </a:prstClr>
            </a:outerShdw>
          </a:effectLst>
        </p:spPr>
        <p:txBody>
          <a:bodyPr anchor="ctr"/>
          <a:lstStyle>
            <a:lvl1pPr marL="0" indent="0" algn="l" defTabSz="914446" rtl="0" eaLnBrk="1" latinLnBrk="0" hangingPunct="1">
              <a:lnSpc>
                <a:spcPct val="90000"/>
              </a:lnSpc>
              <a:spcBef>
                <a:spcPct val="0"/>
              </a:spcBef>
              <a:buNone/>
              <a:defRPr lang="en-US" sz="1600" b="0" kern="1200" dirty="0" smtClean="0">
                <a:solidFill>
                  <a:schemeClr val="bg1"/>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8" name="Title 8">
            <a:extLst>
              <a:ext uri="{FF2B5EF4-FFF2-40B4-BE49-F238E27FC236}">
                <a16:creationId xmlns:a16="http://schemas.microsoft.com/office/drawing/2014/main" id="{36DAA010-9D5B-A0EC-CBDD-C54C4921DF22}"/>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0" name="Text Placeholder 10">
            <a:extLst>
              <a:ext uri="{FF2B5EF4-FFF2-40B4-BE49-F238E27FC236}">
                <a16:creationId xmlns:a16="http://schemas.microsoft.com/office/drawing/2014/main" id="{84A50068-F412-FB2A-EBCA-E6FF7B878396}"/>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38083347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J_Flowchar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3821880"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Flowchart</a:t>
            </a:r>
          </a:p>
        </p:txBody>
      </p:sp>
      <p:sp>
        <p:nvSpPr>
          <p:cNvPr id="5" name="SmartArt Placeholder 3">
            <a:extLst>
              <a:ext uri="{FF2B5EF4-FFF2-40B4-BE49-F238E27FC236}">
                <a16:creationId xmlns:a16="http://schemas.microsoft.com/office/drawing/2014/main" id="{2E4806C9-AAFF-1D7B-CC25-FD15325A1343}"/>
              </a:ext>
            </a:extLst>
          </p:cNvPr>
          <p:cNvSpPr>
            <a:spLocks noGrp="1"/>
          </p:cNvSpPr>
          <p:nvPr>
            <p:ph type="dgm" sz="quarter" idx="34"/>
          </p:nvPr>
        </p:nvSpPr>
        <p:spPr>
          <a:xfrm>
            <a:off x="725486" y="2213561"/>
            <a:ext cx="4968875" cy="3363912"/>
          </a:xfrm>
          <a:prstGeom prst="roundRect">
            <a:avLst>
              <a:gd name="adj" fmla="val 8765"/>
            </a:avLst>
          </a:prstGeom>
        </p:spPr>
        <p:txBody>
          <a:bodyPr/>
          <a:lstStyle>
            <a:lvl1pPr>
              <a:defRPr sz="1800">
                <a:solidFill>
                  <a:srgbClr val="25274D"/>
                </a:solidFill>
                <a:latin typeface="+mn-lt"/>
              </a:defRPr>
            </a:lvl1pPr>
          </a:lstStyle>
          <a:p>
            <a:endParaRPr lang="en-GB"/>
          </a:p>
        </p:txBody>
      </p:sp>
      <p:sp>
        <p:nvSpPr>
          <p:cNvPr id="7" name="SmartArt Placeholder 3">
            <a:extLst>
              <a:ext uri="{FF2B5EF4-FFF2-40B4-BE49-F238E27FC236}">
                <a16:creationId xmlns:a16="http://schemas.microsoft.com/office/drawing/2014/main" id="{5593586E-8ED3-0CA1-8A20-1A50B02B8E66}"/>
              </a:ext>
            </a:extLst>
          </p:cNvPr>
          <p:cNvSpPr>
            <a:spLocks noGrp="1"/>
          </p:cNvSpPr>
          <p:nvPr>
            <p:ph type="dgm" sz="quarter" idx="36"/>
          </p:nvPr>
        </p:nvSpPr>
        <p:spPr>
          <a:xfrm>
            <a:off x="6508659" y="2205541"/>
            <a:ext cx="4968875" cy="3363912"/>
          </a:xfrm>
          <a:prstGeom prst="roundRect">
            <a:avLst>
              <a:gd name="adj" fmla="val 8449"/>
            </a:avLst>
          </a:prstGeom>
        </p:spPr>
        <p:txBody>
          <a:bodyPr/>
          <a:lstStyle>
            <a:lvl1pPr>
              <a:defRPr sz="1800">
                <a:solidFill>
                  <a:srgbClr val="25274D"/>
                </a:solidFill>
                <a:latin typeface="+mn-lt"/>
              </a:defRPr>
            </a:lvl1pPr>
          </a:lstStyle>
          <a:p>
            <a:endParaRPr lang="en-GB"/>
          </a:p>
        </p:txBody>
      </p:sp>
      <p:sp>
        <p:nvSpPr>
          <p:cNvPr id="9" name="Title 8">
            <a:extLst>
              <a:ext uri="{FF2B5EF4-FFF2-40B4-BE49-F238E27FC236}">
                <a16:creationId xmlns:a16="http://schemas.microsoft.com/office/drawing/2014/main" id="{E7055FAF-C5A4-A267-D082-DC0B432F8921}"/>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0" name="Text Placeholder 10">
            <a:extLst>
              <a:ext uri="{FF2B5EF4-FFF2-40B4-BE49-F238E27FC236}">
                <a16:creationId xmlns:a16="http://schemas.microsoft.com/office/drawing/2014/main" id="{774E3F2B-A5B6-A21E-1C67-865CAEB490EB}"/>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36096195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K_Hotspo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3889206"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2 Hotspots</a:t>
            </a:r>
          </a:p>
        </p:txBody>
      </p:sp>
      <p:sp>
        <p:nvSpPr>
          <p:cNvPr id="11" name="Picture Placeholder 4">
            <a:extLst>
              <a:ext uri="{FF2B5EF4-FFF2-40B4-BE49-F238E27FC236}">
                <a16:creationId xmlns:a16="http://schemas.microsoft.com/office/drawing/2014/main" id="{6E8F2312-97F1-1941-CB5B-085DA554087C}"/>
              </a:ext>
            </a:extLst>
          </p:cNvPr>
          <p:cNvSpPr>
            <a:spLocks noGrp="1"/>
          </p:cNvSpPr>
          <p:nvPr>
            <p:ph type="pic" sz="quarter" idx="13" hasCustomPrompt="1"/>
          </p:nvPr>
        </p:nvSpPr>
        <p:spPr>
          <a:xfrm>
            <a:off x="527051" y="2890628"/>
            <a:ext cx="5504933" cy="2871997"/>
          </a:xfrm>
          <a:prstGeom prst="roundRect">
            <a:avLst>
              <a:gd name="adj" fmla="val 6194"/>
            </a:avLst>
          </a:prstGeom>
        </p:spPr>
        <p:txBody>
          <a:bodyPr anchor="ctr" anchorCtr="0">
            <a:normAutofit/>
          </a:bodyPr>
          <a:lstStyle>
            <a:lvl1pPr marL="0" indent="0" algn="ctr">
              <a:buNone/>
              <a:defRPr sz="2000">
                <a:solidFill>
                  <a:srgbClr val="25274D"/>
                </a:solidFill>
                <a:latin typeface="Montserrat" panose="00000500000000000000" pitchFamily="2" charset="0"/>
              </a:defRPr>
            </a:lvl1pPr>
          </a:lstStyle>
          <a:p>
            <a:r>
              <a:rPr lang="en-US"/>
              <a:t>Insert thumbnail</a:t>
            </a:r>
            <a:endParaRPr lang="en-IN"/>
          </a:p>
        </p:txBody>
      </p:sp>
      <p:sp>
        <p:nvSpPr>
          <p:cNvPr id="13" name="Picture Placeholder 4">
            <a:extLst>
              <a:ext uri="{FF2B5EF4-FFF2-40B4-BE49-F238E27FC236}">
                <a16:creationId xmlns:a16="http://schemas.microsoft.com/office/drawing/2014/main" id="{7A9164FB-9657-3E66-CF5F-330CCAE9244E}"/>
              </a:ext>
            </a:extLst>
          </p:cNvPr>
          <p:cNvSpPr>
            <a:spLocks noGrp="1"/>
          </p:cNvSpPr>
          <p:nvPr>
            <p:ph type="pic" sz="quarter" idx="36" hasCustomPrompt="1"/>
          </p:nvPr>
        </p:nvSpPr>
        <p:spPr>
          <a:xfrm>
            <a:off x="6160019" y="2886889"/>
            <a:ext cx="5504930" cy="2871997"/>
          </a:xfrm>
          <a:prstGeom prst="roundRect">
            <a:avLst>
              <a:gd name="adj" fmla="val 7032"/>
            </a:avLst>
          </a:prstGeom>
        </p:spPr>
        <p:txBody>
          <a:bodyPr anchor="ctr" anchorCtr="0">
            <a:normAutofit/>
          </a:bodyPr>
          <a:lstStyle>
            <a:lvl1pPr>
              <a:defRPr lang="en-IN" sz="2000">
                <a:solidFill>
                  <a:srgbClr val="25274D"/>
                </a:solidFill>
                <a:latin typeface="Montserrat" panose="00000500000000000000" pitchFamily="2" charset="0"/>
              </a:defRPr>
            </a:lvl1pPr>
          </a:lstStyle>
          <a:p>
            <a:pPr marL="0" lvl="0" indent="0" algn="ctr">
              <a:buNone/>
            </a:pPr>
            <a:r>
              <a:rPr lang="en-US"/>
              <a:t>Insert thumbnail</a:t>
            </a:r>
            <a:endParaRPr lang="en-IN"/>
          </a:p>
        </p:txBody>
      </p:sp>
      <p:sp>
        <p:nvSpPr>
          <p:cNvPr id="6" name="Text Placeholder 17">
            <a:extLst>
              <a:ext uri="{FF2B5EF4-FFF2-40B4-BE49-F238E27FC236}">
                <a16:creationId xmlns:a16="http://schemas.microsoft.com/office/drawing/2014/main" id="{37C00707-1923-3FC0-163F-4FBD2B0A4451}"/>
              </a:ext>
            </a:extLst>
          </p:cNvPr>
          <p:cNvSpPr>
            <a:spLocks noGrp="1"/>
          </p:cNvSpPr>
          <p:nvPr>
            <p:ph type="body" sz="quarter" idx="19" hasCustomPrompt="1"/>
          </p:nvPr>
        </p:nvSpPr>
        <p:spPr>
          <a:xfrm>
            <a:off x="527049" y="1940453"/>
            <a:ext cx="5504933" cy="843537"/>
          </a:xfrm>
          <a:prstGeom prst="roundRect">
            <a:avLst>
              <a:gd name="adj" fmla="val 20946"/>
            </a:avLst>
          </a:prstGeom>
        </p:spPr>
        <p:txBody>
          <a:bodyPr anchor="t"/>
          <a:lstStyle>
            <a:lvl1pPr marL="0" indent="0" algn="ctr" defTabSz="914446" rtl="0" eaLnBrk="1" latinLnBrk="0" hangingPunct="1">
              <a:lnSpc>
                <a:spcPct val="90000"/>
              </a:lnSpc>
              <a:spcBef>
                <a:spcPct val="0"/>
              </a:spcBef>
              <a:buNone/>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Add the button text here</a:t>
            </a:r>
            <a:endParaRPr lang="en-IN"/>
          </a:p>
        </p:txBody>
      </p:sp>
      <p:sp>
        <p:nvSpPr>
          <p:cNvPr id="7" name="Text Placeholder 17">
            <a:extLst>
              <a:ext uri="{FF2B5EF4-FFF2-40B4-BE49-F238E27FC236}">
                <a16:creationId xmlns:a16="http://schemas.microsoft.com/office/drawing/2014/main" id="{8669180A-63EE-591F-11CC-3CC72809BD65}"/>
              </a:ext>
            </a:extLst>
          </p:cNvPr>
          <p:cNvSpPr>
            <a:spLocks noGrp="1"/>
          </p:cNvSpPr>
          <p:nvPr>
            <p:ph type="body" sz="quarter" idx="37" hasCustomPrompt="1"/>
          </p:nvPr>
        </p:nvSpPr>
        <p:spPr>
          <a:xfrm>
            <a:off x="6160019" y="1940453"/>
            <a:ext cx="5504929" cy="843537"/>
          </a:xfrm>
          <a:prstGeom prst="roundRect">
            <a:avLst>
              <a:gd name="adj" fmla="val 20946"/>
            </a:avLst>
          </a:prstGeom>
        </p:spPr>
        <p:txBody>
          <a:bodyPr anchor="t"/>
          <a:lstStyle>
            <a:lvl1pPr marL="0" indent="0" algn="ctr" defTabSz="914446" rtl="0" eaLnBrk="1" latinLnBrk="0" hangingPunct="1">
              <a:lnSpc>
                <a:spcPct val="90000"/>
              </a:lnSpc>
              <a:spcBef>
                <a:spcPct val="0"/>
              </a:spcBef>
              <a:buNone/>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Add the button text here</a:t>
            </a:r>
            <a:endParaRPr lang="en-IN"/>
          </a:p>
        </p:txBody>
      </p:sp>
      <p:sp>
        <p:nvSpPr>
          <p:cNvPr id="9" name="Title 8">
            <a:extLst>
              <a:ext uri="{FF2B5EF4-FFF2-40B4-BE49-F238E27FC236}">
                <a16:creationId xmlns:a16="http://schemas.microsoft.com/office/drawing/2014/main" id="{533BB8E1-CFB9-E904-24D3-273FF1A1901E}"/>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0" name="Text Placeholder 10">
            <a:extLst>
              <a:ext uri="{FF2B5EF4-FFF2-40B4-BE49-F238E27FC236}">
                <a16:creationId xmlns:a16="http://schemas.microsoft.com/office/drawing/2014/main" id="{26A9316E-EC8E-9345-83E4-B44E73951791}"/>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17983401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L_Infographic + 3 elemen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9387506"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fr-FR" sz="1600" b="0" kern="1200" err="1">
                <a:solidFill>
                  <a:schemeClr val="tx1"/>
                </a:solidFill>
                <a:latin typeface="+mn-lt"/>
                <a:ea typeface="+mn-ea"/>
                <a:cs typeface="+mn-cs"/>
              </a:rPr>
              <a:t>Infographic</a:t>
            </a:r>
            <a:r>
              <a:rPr lang="fr-FR" sz="1600" b="0" kern="1200">
                <a:solidFill>
                  <a:schemeClr val="tx1"/>
                </a:solidFill>
                <a:latin typeface="+mn-lt"/>
                <a:ea typeface="+mn-ea"/>
                <a:cs typeface="+mn-cs"/>
              </a:rPr>
              <a:t> + 3 </a:t>
            </a:r>
            <a:r>
              <a:rPr lang="fr-FR" sz="1600" b="0" kern="1200" err="1">
                <a:solidFill>
                  <a:schemeClr val="tx1"/>
                </a:solidFill>
                <a:latin typeface="+mn-lt"/>
                <a:ea typeface="+mn-ea"/>
                <a:cs typeface="+mn-cs"/>
              </a:rPr>
              <a:t>elements</a:t>
            </a:r>
            <a:r>
              <a:rPr lang="fr-FR" sz="1600" b="0" kern="1200">
                <a:solidFill>
                  <a:schemeClr val="tx1"/>
                </a:solidFill>
                <a:latin typeface="+mn-lt"/>
                <a:ea typeface="+mn-ea"/>
                <a:cs typeface="+mn-cs"/>
              </a:rPr>
              <a:t> + </a:t>
            </a:r>
            <a:r>
              <a:rPr lang="fr-FR" sz="1600" b="0" kern="1200" err="1">
                <a:solidFill>
                  <a:schemeClr val="tx1"/>
                </a:solidFill>
                <a:latin typeface="+mn-lt"/>
                <a:ea typeface="+mn-ea"/>
                <a:cs typeface="+mn-cs"/>
              </a:rPr>
              <a:t>Text</a:t>
            </a:r>
            <a:r>
              <a:rPr lang="fr-FR" sz="1600" b="0" kern="1200">
                <a:solidFill>
                  <a:schemeClr val="tx1"/>
                </a:solidFill>
                <a:latin typeface="+mn-lt"/>
                <a:ea typeface="+mn-ea"/>
                <a:cs typeface="+mn-cs"/>
              </a:rPr>
              <a:t> </a:t>
            </a:r>
            <a:r>
              <a:rPr lang="fr-FR" sz="1600" b="0" kern="1200" err="1">
                <a:solidFill>
                  <a:schemeClr val="tx1"/>
                </a:solidFill>
                <a:latin typeface="+mn-lt"/>
                <a:ea typeface="+mn-ea"/>
                <a:cs typeface="+mn-cs"/>
              </a:rPr>
              <a:t>prominent</a:t>
            </a:r>
            <a:r>
              <a:rPr lang="fr-FR" sz="1600" b="0" kern="1200">
                <a:solidFill>
                  <a:schemeClr val="tx1"/>
                </a:solidFill>
                <a:latin typeface="+mn-lt"/>
                <a:ea typeface="+mn-ea"/>
                <a:cs typeface="+mn-cs"/>
              </a:rPr>
              <a:t> + </a:t>
            </a:r>
            <a:r>
              <a:rPr lang="en-IN" sz="1600" b="0" kern="1200">
                <a:solidFill>
                  <a:schemeClr val="tx1"/>
                </a:solidFill>
                <a:latin typeface="+mn-lt"/>
                <a:ea typeface="+mn-ea"/>
                <a:cs typeface="+mn-cs"/>
              </a:rPr>
              <a:t>Icons + Label + Text</a:t>
            </a:r>
          </a:p>
        </p:txBody>
      </p:sp>
      <p:sp>
        <p:nvSpPr>
          <p:cNvPr id="10" name="Picture Placeholder 4">
            <a:extLst>
              <a:ext uri="{FF2B5EF4-FFF2-40B4-BE49-F238E27FC236}">
                <a16:creationId xmlns:a16="http://schemas.microsoft.com/office/drawing/2014/main" id="{96AB8482-FB25-4987-BB9E-B39F4105DC34}"/>
              </a:ext>
            </a:extLst>
          </p:cNvPr>
          <p:cNvSpPr>
            <a:spLocks noGrp="1"/>
          </p:cNvSpPr>
          <p:nvPr>
            <p:ph type="pic" sz="quarter" idx="14" hasCustomPrompt="1"/>
          </p:nvPr>
        </p:nvSpPr>
        <p:spPr>
          <a:xfrm>
            <a:off x="1683508" y="1740733"/>
            <a:ext cx="2145630" cy="2145630"/>
          </a:xfrm>
          <a:prstGeom prst="roundRect">
            <a:avLst>
              <a:gd name="adj" fmla="val 50000"/>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11" name="Text Placeholder 17">
            <a:extLst>
              <a:ext uri="{FF2B5EF4-FFF2-40B4-BE49-F238E27FC236}">
                <a16:creationId xmlns:a16="http://schemas.microsoft.com/office/drawing/2014/main" id="{6F848E25-4674-4375-A332-50C1FA7A8192}"/>
              </a:ext>
            </a:extLst>
          </p:cNvPr>
          <p:cNvSpPr>
            <a:spLocks noGrp="1"/>
          </p:cNvSpPr>
          <p:nvPr>
            <p:ph type="body" sz="quarter" idx="19" hasCustomPrompt="1"/>
          </p:nvPr>
        </p:nvSpPr>
        <p:spPr>
          <a:xfrm>
            <a:off x="1229744" y="4650770"/>
            <a:ext cx="3053159" cy="1641138"/>
          </a:xfrm>
          <a:prstGeom prst="roundRect">
            <a:avLst>
              <a:gd name="adj" fmla="val 10069"/>
            </a:avLst>
          </a:prstGeom>
        </p:spPr>
        <p:txBody>
          <a:bodyPr anchor="t"/>
          <a:lstStyle>
            <a:lvl1pPr marL="0" indent="0" algn="ctr" defTabSz="914446" rtl="0" eaLnBrk="1" latinLnBrk="0" hangingPunct="1">
              <a:lnSpc>
                <a:spcPct val="90000"/>
              </a:lnSpc>
              <a:spcBef>
                <a:spcPct val="0"/>
              </a:spcBef>
              <a:buNone/>
              <a:defRPr lang="en-US" sz="1800" b="0"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Body Copy</a:t>
            </a:r>
            <a:endParaRPr lang="en-IN"/>
          </a:p>
        </p:txBody>
      </p:sp>
      <p:sp>
        <p:nvSpPr>
          <p:cNvPr id="25" name="Text Placeholder 17">
            <a:extLst>
              <a:ext uri="{FF2B5EF4-FFF2-40B4-BE49-F238E27FC236}">
                <a16:creationId xmlns:a16="http://schemas.microsoft.com/office/drawing/2014/main" id="{2ACAB6D1-E764-4AB7-B5AC-58E3E21D9F3F}"/>
              </a:ext>
            </a:extLst>
          </p:cNvPr>
          <p:cNvSpPr>
            <a:spLocks noGrp="1"/>
          </p:cNvSpPr>
          <p:nvPr>
            <p:ph type="body" sz="quarter" idx="24" hasCustomPrompt="1"/>
          </p:nvPr>
        </p:nvSpPr>
        <p:spPr>
          <a:xfrm>
            <a:off x="1229744" y="4015874"/>
            <a:ext cx="3053159" cy="469554"/>
          </a:xfrm>
          <a:prstGeom prst="roundRect">
            <a:avLst/>
          </a:prstGeom>
        </p:spPr>
        <p:txBody>
          <a:bodyPr wrap="none" lIns="0" tIns="0" rIns="0" bIns="0" anchor="ctr"/>
          <a:lstStyle>
            <a:lvl1pPr marL="0" indent="0" algn="ctr" defTabSz="914446" rtl="0" eaLnBrk="1" latinLnBrk="0" hangingPunct="1">
              <a:lnSpc>
                <a:spcPct val="90000"/>
              </a:lnSpc>
              <a:spcBef>
                <a:spcPct val="0"/>
              </a:spcBef>
              <a:buNone/>
              <a:defRPr lang="en-US" sz="2000" b="1" kern="1200" dirty="0" smtClean="0">
                <a:solidFill>
                  <a:srgbClr val="29648A"/>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Heading</a:t>
            </a:r>
            <a:endParaRPr lang="en-IN"/>
          </a:p>
        </p:txBody>
      </p:sp>
      <p:sp>
        <p:nvSpPr>
          <p:cNvPr id="4" name="Picture Placeholder 4">
            <a:extLst>
              <a:ext uri="{FF2B5EF4-FFF2-40B4-BE49-F238E27FC236}">
                <a16:creationId xmlns:a16="http://schemas.microsoft.com/office/drawing/2014/main" id="{67C753D0-518C-7F3D-F2E7-E2CE5F62FC17}"/>
              </a:ext>
            </a:extLst>
          </p:cNvPr>
          <p:cNvSpPr>
            <a:spLocks noGrp="1"/>
          </p:cNvSpPr>
          <p:nvPr>
            <p:ph type="pic" sz="quarter" idx="36" hasCustomPrompt="1"/>
          </p:nvPr>
        </p:nvSpPr>
        <p:spPr>
          <a:xfrm>
            <a:off x="4996203" y="1732713"/>
            <a:ext cx="2145630" cy="2145630"/>
          </a:xfrm>
          <a:prstGeom prst="roundRect">
            <a:avLst>
              <a:gd name="adj" fmla="val 50000"/>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5" name="Text Placeholder 17">
            <a:extLst>
              <a:ext uri="{FF2B5EF4-FFF2-40B4-BE49-F238E27FC236}">
                <a16:creationId xmlns:a16="http://schemas.microsoft.com/office/drawing/2014/main" id="{3050A374-EB86-B952-21BC-A33702422207}"/>
              </a:ext>
            </a:extLst>
          </p:cNvPr>
          <p:cNvSpPr>
            <a:spLocks noGrp="1"/>
          </p:cNvSpPr>
          <p:nvPr>
            <p:ph type="body" sz="quarter" idx="37" hasCustomPrompt="1"/>
          </p:nvPr>
        </p:nvSpPr>
        <p:spPr>
          <a:xfrm>
            <a:off x="4542439" y="4642750"/>
            <a:ext cx="3053159" cy="1641138"/>
          </a:xfrm>
          <a:prstGeom prst="roundRect">
            <a:avLst>
              <a:gd name="adj" fmla="val 11535"/>
            </a:avLst>
          </a:prstGeom>
        </p:spPr>
        <p:txBody>
          <a:bodyPr anchor="t"/>
          <a:lstStyle>
            <a:lvl1pPr marL="0" indent="0" algn="ctr" defTabSz="914446" rtl="0" eaLnBrk="1" latinLnBrk="0" hangingPunct="1">
              <a:lnSpc>
                <a:spcPct val="90000"/>
              </a:lnSpc>
              <a:spcBef>
                <a:spcPct val="0"/>
              </a:spcBef>
              <a:buNone/>
              <a:defRPr lang="en-US" sz="1800" b="0"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Body Copy</a:t>
            </a:r>
            <a:endParaRPr lang="en-IN"/>
          </a:p>
        </p:txBody>
      </p:sp>
      <p:sp>
        <p:nvSpPr>
          <p:cNvPr id="7" name="Text Placeholder 17">
            <a:extLst>
              <a:ext uri="{FF2B5EF4-FFF2-40B4-BE49-F238E27FC236}">
                <a16:creationId xmlns:a16="http://schemas.microsoft.com/office/drawing/2014/main" id="{CA6FDF36-9463-8336-5562-EC89B5CA371A}"/>
              </a:ext>
            </a:extLst>
          </p:cNvPr>
          <p:cNvSpPr>
            <a:spLocks noGrp="1"/>
          </p:cNvSpPr>
          <p:nvPr>
            <p:ph type="body" sz="quarter" idx="38" hasCustomPrompt="1"/>
          </p:nvPr>
        </p:nvSpPr>
        <p:spPr>
          <a:xfrm>
            <a:off x="4542439" y="4007854"/>
            <a:ext cx="3053159" cy="469554"/>
          </a:xfrm>
          <a:prstGeom prst="roundRect">
            <a:avLst/>
          </a:prstGeom>
        </p:spPr>
        <p:txBody>
          <a:bodyPr wrap="none" lIns="0" tIns="0" rIns="0" bIns="0" anchor="ctr"/>
          <a:lstStyle>
            <a:lvl1pPr marL="0" indent="0" algn="ctr" defTabSz="914446" rtl="0" eaLnBrk="1" latinLnBrk="0" hangingPunct="1">
              <a:lnSpc>
                <a:spcPct val="90000"/>
              </a:lnSpc>
              <a:spcBef>
                <a:spcPct val="0"/>
              </a:spcBef>
              <a:buNone/>
              <a:defRPr lang="en-US" sz="2000" b="1" kern="1200" dirty="0" smtClean="0">
                <a:solidFill>
                  <a:srgbClr val="29648A"/>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Heading</a:t>
            </a:r>
            <a:endParaRPr lang="en-IN"/>
          </a:p>
        </p:txBody>
      </p:sp>
      <p:sp>
        <p:nvSpPr>
          <p:cNvPr id="8" name="Picture Placeholder 4">
            <a:extLst>
              <a:ext uri="{FF2B5EF4-FFF2-40B4-BE49-F238E27FC236}">
                <a16:creationId xmlns:a16="http://schemas.microsoft.com/office/drawing/2014/main" id="{2E94917E-7701-5670-CE7A-DBA60877D7CE}"/>
              </a:ext>
            </a:extLst>
          </p:cNvPr>
          <p:cNvSpPr>
            <a:spLocks noGrp="1"/>
          </p:cNvSpPr>
          <p:nvPr>
            <p:ph type="pic" sz="quarter" idx="39" hasCustomPrompt="1"/>
          </p:nvPr>
        </p:nvSpPr>
        <p:spPr>
          <a:xfrm>
            <a:off x="8308898" y="1724693"/>
            <a:ext cx="2145630" cy="2145630"/>
          </a:xfrm>
          <a:prstGeom prst="roundRect">
            <a:avLst>
              <a:gd name="adj" fmla="val 50000"/>
            </a:avLst>
          </a:prstGeom>
        </p:spPr>
        <p:txBody>
          <a:bodyPr anchor="ctr" anchorCtr="0">
            <a:normAutofit/>
          </a:bodyPr>
          <a:lstStyle>
            <a:lvl1pPr marL="0" indent="0" algn="ctr">
              <a:buNone/>
              <a:defRPr sz="2000">
                <a:solidFill>
                  <a:srgbClr val="0F1626"/>
                </a:solidFill>
                <a:latin typeface="+mn-lt"/>
              </a:defRPr>
            </a:lvl1pPr>
          </a:lstStyle>
          <a:p>
            <a:r>
              <a:rPr lang="en-IN"/>
              <a:t>Icon</a:t>
            </a:r>
          </a:p>
        </p:txBody>
      </p:sp>
      <p:sp>
        <p:nvSpPr>
          <p:cNvPr id="9" name="Text Placeholder 17">
            <a:extLst>
              <a:ext uri="{FF2B5EF4-FFF2-40B4-BE49-F238E27FC236}">
                <a16:creationId xmlns:a16="http://schemas.microsoft.com/office/drawing/2014/main" id="{3C860E80-3CE2-8E7A-CBBB-4FC1F20C1D75}"/>
              </a:ext>
            </a:extLst>
          </p:cNvPr>
          <p:cNvSpPr>
            <a:spLocks noGrp="1"/>
          </p:cNvSpPr>
          <p:nvPr>
            <p:ph type="body" sz="quarter" idx="40" hasCustomPrompt="1"/>
          </p:nvPr>
        </p:nvSpPr>
        <p:spPr>
          <a:xfrm>
            <a:off x="7855134" y="4634730"/>
            <a:ext cx="3053159" cy="1641138"/>
          </a:xfrm>
          <a:prstGeom prst="roundRect">
            <a:avLst>
              <a:gd name="adj" fmla="val 10802"/>
            </a:avLst>
          </a:prstGeom>
        </p:spPr>
        <p:txBody>
          <a:bodyPr anchor="t"/>
          <a:lstStyle>
            <a:lvl1pPr marL="0" indent="0" algn="ctr" defTabSz="914446" rtl="0" eaLnBrk="1" latinLnBrk="0" hangingPunct="1">
              <a:lnSpc>
                <a:spcPct val="90000"/>
              </a:lnSpc>
              <a:spcBef>
                <a:spcPct val="0"/>
              </a:spcBef>
              <a:buNone/>
              <a:defRPr lang="en-US" sz="1800" b="0" kern="1200" dirty="0" smtClean="0">
                <a:solidFill>
                  <a:srgbClr val="25274D"/>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Body Copy</a:t>
            </a:r>
            <a:endParaRPr lang="en-IN"/>
          </a:p>
        </p:txBody>
      </p:sp>
      <p:sp>
        <p:nvSpPr>
          <p:cNvPr id="12" name="Text Placeholder 17">
            <a:extLst>
              <a:ext uri="{FF2B5EF4-FFF2-40B4-BE49-F238E27FC236}">
                <a16:creationId xmlns:a16="http://schemas.microsoft.com/office/drawing/2014/main" id="{DE714747-5D79-36F0-007F-C39D1434DCD3}"/>
              </a:ext>
            </a:extLst>
          </p:cNvPr>
          <p:cNvSpPr>
            <a:spLocks noGrp="1"/>
          </p:cNvSpPr>
          <p:nvPr>
            <p:ph type="body" sz="quarter" idx="41" hasCustomPrompt="1"/>
          </p:nvPr>
        </p:nvSpPr>
        <p:spPr>
          <a:xfrm>
            <a:off x="7855134" y="3999834"/>
            <a:ext cx="3053159" cy="469554"/>
          </a:xfrm>
          <a:prstGeom prst="roundRect">
            <a:avLst/>
          </a:prstGeom>
        </p:spPr>
        <p:txBody>
          <a:bodyPr wrap="none" lIns="0" tIns="0" rIns="0" bIns="0" anchor="ctr"/>
          <a:lstStyle>
            <a:lvl1pPr marL="0" indent="0" algn="ctr" defTabSz="914446" rtl="0" eaLnBrk="1" latinLnBrk="0" hangingPunct="1">
              <a:lnSpc>
                <a:spcPct val="90000"/>
              </a:lnSpc>
              <a:spcBef>
                <a:spcPct val="0"/>
              </a:spcBef>
              <a:buNone/>
              <a:defRPr lang="en-US" sz="2000" b="1" kern="1200" dirty="0" smtClean="0">
                <a:solidFill>
                  <a:srgbClr val="29648A"/>
                </a:solidFill>
                <a:latin typeface="+mn-lt"/>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Heading</a:t>
            </a:r>
            <a:endParaRPr lang="en-IN"/>
          </a:p>
        </p:txBody>
      </p:sp>
      <p:sp>
        <p:nvSpPr>
          <p:cNvPr id="15" name="Title 8">
            <a:extLst>
              <a:ext uri="{FF2B5EF4-FFF2-40B4-BE49-F238E27FC236}">
                <a16:creationId xmlns:a16="http://schemas.microsoft.com/office/drawing/2014/main" id="{E96B277F-DB5E-8CB6-384D-F79869E4A376}"/>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6" name="Text Placeholder 10">
            <a:extLst>
              <a:ext uri="{FF2B5EF4-FFF2-40B4-BE49-F238E27FC236}">
                <a16:creationId xmlns:a16="http://schemas.microsoft.com/office/drawing/2014/main" id="{DB22173A-C094-CBAB-B3FF-94CC27C2B60F}"/>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6730117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O_Infographic + 6 element + Text Onl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B4620E-20C9-4149-93AD-82AC14A8106F}"/>
              </a:ext>
            </a:extLst>
          </p:cNvPr>
          <p:cNvSpPr txBox="1"/>
          <p:nvPr userDrawn="1"/>
        </p:nvSpPr>
        <p:spPr>
          <a:xfrm>
            <a:off x="0" y="6858000"/>
            <a:ext cx="6779420"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Infographic + 6 element + List only text</a:t>
            </a:r>
            <a:endParaRPr lang="en-IN" sz="1600" b="0" kern="1200">
              <a:solidFill>
                <a:schemeClr val="tx1"/>
              </a:solidFill>
              <a:latin typeface="+mn-lt"/>
              <a:ea typeface="+mn-ea"/>
              <a:cs typeface="+mn-cs"/>
            </a:endParaRPr>
          </a:p>
        </p:txBody>
      </p:sp>
      <p:sp>
        <p:nvSpPr>
          <p:cNvPr id="20" name="Text Placeholder 15">
            <a:extLst>
              <a:ext uri="{FF2B5EF4-FFF2-40B4-BE49-F238E27FC236}">
                <a16:creationId xmlns:a16="http://schemas.microsoft.com/office/drawing/2014/main" id="{B1C3736E-99A8-4E9D-9130-EEA3E7A9B907}"/>
              </a:ext>
            </a:extLst>
          </p:cNvPr>
          <p:cNvSpPr>
            <a:spLocks noGrp="1"/>
          </p:cNvSpPr>
          <p:nvPr>
            <p:ph type="body" sz="quarter" idx="37" hasCustomPrompt="1"/>
          </p:nvPr>
        </p:nvSpPr>
        <p:spPr>
          <a:xfrm>
            <a:off x="6261343" y="3581344"/>
            <a:ext cx="1688483" cy="2524759"/>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lvl="0" indent="0" algn="ctr" defTabSz="914446" rtl="0" eaLnBrk="1" latinLnBrk="0" hangingPunct="1">
              <a:lnSpc>
                <a:spcPct val="90000"/>
              </a:lnSpc>
              <a:spcBef>
                <a:spcPts val="1000"/>
              </a:spcBef>
              <a:buFont typeface="Arial" panose="020B0604020202020204" pitchFamily="34" charset="0"/>
              <a:buNone/>
            </a:pPr>
            <a:r>
              <a:rPr lang="en-US"/>
              <a:t>Click to edit Body Copy</a:t>
            </a:r>
          </a:p>
        </p:txBody>
      </p:sp>
      <p:sp>
        <p:nvSpPr>
          <p:cNvPr id="15" name="Text Placeholder 15">
            <a:extLst>
              <a:ext uri="{FF2B5EF4-FFF2-40B4-BE49-F238E27FC236}">
                <a16:creationId xmlns:a16="http://schemas.microsoft.com/office/drawing/2014/main" id="{056BFCDA-1B35-44E0-96DD-8FC7357959D8}"/>
              </a:ext>
            </a:extLst>
          </p:cNvPr>
          <p:cNvSpPr>
            <a:spLocks noGrp="1"/>
          </p:cNvSpPr>
          <p:nvPr>
            <p:ph type="body" sz="quarter" idx="40" hasCustomPrompt="1"/>
          </p:nvPr>
        </p:nvSpPr>
        <p:spPr>
          <a:xfrm>
            <a:off x="4454823" y="1907456"/>
            <a:ext cx="1688483" cy="2659265"/>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lvl="0" indent="0" algn="ctr" defTabSz="914446" rtl="0" eaLnBrk="1" latinLnBrk="0" hangingPunct="1">
              <a:lnSpc>
                <a:spcPct val="90000"/>
              </a:lnSpc>
              <a:spcBef>
                <a:spcPts val="1000"/>
              </a:spcBef>
              <a:buFont typeface="Arial" panose="020B0604020202020204" pitchFamily="34" charset="0"/>
              <a:buNone/>
            </a:pPr>
            <a:r>
              <a:rPr lang="en-US"/>
              <a:t>Click to edit Body Copy</a:t>
            </a:r>
          </a:p>
        </p:txBody>
      </p:sp>
      <p:sp>
        <p:nvSpPr>
          <p:cNvPr id="19" name="Text Placeholder 15">
            <a:extLst>
              <a:ext uri="{FF2B5EF4-FFF2-40B4-BE49-F238E27FC236}">
                <a16:creationId xmlns:a16="http://schemas.microsoft.com/office/drawing/2014/main" id="{BE74AACD-D60C-4404-9AF3-9386236E6839}"/>
              </a:ext>
            </a:extLst>
          </p:cNvPr>
          <p:cNvSpPr>
            <a:spLocks noGrp="1"/>
          </p:cNvSpPr>
          <p:nvPr>
            <p:ph type="body" sz="quarter" idx="41" hasCustomPrompt="1"/>
          </p:nvPr>
        </p:nvSpPr>
        <p:spPr>
          <a:xfrm>
            <a:off x="841783" y="1904973"/>
            <a:ext cx="1688483" cy="2659265"/>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lvl="0" indent="0" algn="ctr" defTabSz="914446" rtl="0" eaLnBrk="1" latinLnBrk="0" hangingPunct="1">
              <a:lnSpc>
                <a:spcPct val="90000"/>
              </a:lnSpc>
              <a:spcBef>
                <a:spcPts val="1000"/>
              </a:spcBef>
              <a:buFont typeface="Arial" panose="020B0604020202020204" pitchFamily="34" charset="0"/>
              <a:buNone/>
            </a:pPr>
            <a:r>
              <a:rPr lang="en-US"/>
              <a:t>Click to edit Body Copy</a:t>
            </a:r>
          </a:p>
        </p:txBody>
      </p:sp>
      <p:sp>
        <p:nvSpPr>
          <p:cNvPr id="24" name="Text Placeholder 15">
            <a:extLst>
              <a:ext uri="{FF2B5EF4-FFF2-40B4-BE49-F238E27FC236}">
                <a16:creationId xmlns:a16="http://schemas.microsoft.com/office/drawing/2014/main" id="{C7855415-E93B-49D6-8618-26F6611D00A8}"/>
              </a:ext>
            </a:extLst>
          </p:cNvPr>
          <p:cNvSpPr>
            <a:spLocks noGrp="1"/>
          </p:cNvSpPr>
          <p:nvPr>
            <p:ph type="body" sz="quarter" idx="42" hasCustomPrompt="1"/>
          </p:nvPr>
        </p:nvSpPr>
        <p:spPr>
          <a:xfrm>
            <a:off x="2648303" y="3594044"/>
            <a:ext cx="1688483" cy="2659265"/>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lvl="0" indent="0" algn="ctr" defTabSz="914446" rtl="0" eaLnBrk="1" latinLnBrk="0" hangingPunct="1">
              <a:lnSpc>
                <a:spcPct val="90000"/>
              </a:lnSpc>
              <a:spcBef>
                <a:spcPts val="1000"/>
              </a:spcBef>
              <a:buFont typeface="Arial" panose="020B0604020202020204" pitchFamily="34" charset="0"/>
              <a:buNone/>
            </a:pPr>
            <a:r>
              <a:rPr lang="en-US"/>
              <a:t>Click to edit Body Copy</a:t>
            </a:r>
          </a:p>
        </p:txBody>
      </p:sp>
      <p:sp>
        <p:nvSpPr>
          <p:cNvPr id="26" name="Text Placeholder 15">
            <a:extLst>
              <a:ext uri="{FF2B5EF4-FFF2-40B4-BE49-F238E27FC236}">
                <a16:creationId xmlns:a16="http://schemas.microsoft.com/office/drawing/2014/main" id="{6D2BC763-107B-46E1-B889-22F980229208}"/>
              </a:ext>
            </a:extLst>
          </p:cNvPr>
          <p:cNvSpPr>
            <a:spLocks noGrp="1"/>
          </p:cNvSpPr>
          <p:nvPr>
            <p:ph type="body" sz="quarter" idx="43" hasCustomPrompt="1"/>
          </p:nvPr>
        </p:nvSpPr>
        <p:spPr>
          <a:xfrm>
            <a:off x="8067863" y="1919552"/>
            <a:ext cx="1688483" cy="2524759"/>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lvl="0" indent="0" algn="ctr" defTabSz="914446" rtl="0" eaLnBrk="1" latinLnBrk="0" hangingPunct="1">
              <a:lnSpc>
                <a:spcPct val="90000"/>
              </a:lnSpc>
              <a:spcBef>
                <a:spcPts val="1000"/>
              </a:spcBef>
              <a:buFont typeface="Arial" panose="020B0604020202020204" pitchFamily="34" charset="0"/>
              <a:buNone/>
            </a:pPr>
            <a:r>
              <a:rPr lang="en-US"/>
              <a:t>Click to edit Body Copy</a:t>
            </a:r>
          </a:p>
        </p:txBody>
      </p:sp>
      <p:sp>
        <p:nvSpPr>
          <p:cNvPr id="28" name="Text Placeholder 15">
            <a:extLst>
              <a:ext uri="{FF2B5EF4-FFF2-40B4-BE49-F238E27FC236}">
                <a16:creationId xmlns:a16="http://schemas.microsoft.com/office/drawing/2014/main" id="{E409A540-921D-461D-8124-5A9066FF7B82}"/>
              </a:ext>
            </a:extLst>
          </p:cNvPr>
          <p:cNvSpPr>
            <a:spLocks noGrp="1"/>
          </p:cNvSpPr>
          <p:nvPr>
            <p:ph type="body" sz="quarter" idx="44" hasCustomPrompt="1"/>
          </p:nvPr>
        </p:nvSpPr>
        <p:spPr>
          <a:xfrm>
            <a:off x="9874384" y="3581344"/>
            <a:ext cx="1688483" cy="2524759"/>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lvl="0" indent="0" algn="ctr" defTabSz="914446" rtl="0" eaLnBrk="1" latinLnBrk="0" hangingPunct="1">
              <a:lnSpc>
                <a:spcPct val="90000"/>
              </a:lnSpc>
              <a:spcBef>
                <a:spcPts val="1000"/>
              </a:spcBef>
              <a:buFont typeface="Arial" panose="020B0604020202020204" pitchFamily="34" charset="0"/>
              <a:buNone/>
            </a:pPr>
            <a:r>
              <a:rPr lang="en-US"/>
              <a:t>Click to edit Body Copy</a:t>
            </a:r>
          </a:p>
        </p:txBody>
      </p:sp>
      <p:sp>
        <p:nvSpPr>
          <p:cNvPr id="7" name="Title 8">
            <a:extLst>
              <a:ext uri="{FF2B5EF4-FFF2-40B4-BE49-F238E27FC236}">
                <a16:creationId xmlns:a16="http://schemas.microsoft.com/office/drawing/2014/main" id="{BF325636-CE3F-7818-B2C7-AD909A4F421D}"/>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8" name="Text Placeholder 10">
            <a:extLst>
              <a:ext uri="{FF2B5EF4-FFF2-40B4-BE49-F238E27FC236}">
                <a16:creationId xmlns:a16="http://schemas.microsoft.com/office/drawing/2014/main" id="{D14B9504-1402-715B-9A59-D3B2B2C1BA7F}"/>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282032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T_Image/Table/Graph + Text ">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7032DF-35B3-4D86-9108-28F10681EEAF}"/>
              </a:ext>
            </a:extLst>
          </p:cNvPr>
          <p:cNvSpPr txBox="1"/>
          <p:nvPr userDrawn="1"/>
        </p:nvSpPr>
        <p:spPr>
          <a:xfrm>
            <a:off x="0" y="6858000"/>
            <a:ext cx="5448928"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Image/Table/Graph + Text</a:t>
            </a:r>
            <a:endParaRPr lang="en-IN" sz="1600" b="0" kern="1200">
              <a:solidFill>
                <a:schemeClr val="tx1"/>
              </a:solidFill>
              <a:latin typeface="+mn-lt"/>
              <a:ea typeface="+mn-ea"/>
              <a:cs typeface="+mn-cs"/>
            </a:endParaRPr>
          </a:p>
        </p:txBody>
      </p:sp>
      <p:sp>
        <p:nvSpPr>
          <p:cNvPr id="11" name="Text Placeholder 17">
            <a:extLst>
              <a:ext uri="{FF2B5EF4-FFF2-40B4-BE49-F238E27FC236}">
                <a16:creationId xmlns:a16="http://schemas.microsoft.com/office/drawing/2014/main" id="{97DF777D-0611-43FE-BECC-3696FEE820AB}"/>
              </a:ext>
            </a:extLst>
          </p:cNvPr>
          <p:cNvSpPr>
            <a:spLocks noGrp="1"/>
          </p:cNvSpPr>
          <p:nvPr>
            <p:ph type="body" sz="quarter" idx="19" hasCustomPrompt="1"/>
          </p:nvPr>
        </p:nvSpPr>
        <p:spPr>
          <a:xfrm>
            <a:off x="527049" y="4740442"/>
            <a:ext cx="11126235" cy="1589067"/>
          </a:xfrm>
          <a:prstGeom prst="roundRect">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Body Copy</a:t>
            </a:r>
            <a:endParaRPr lang="en-IN"/>
          </a:p>
        </p:txBody>
      </p:sp>
      <p:sp>
        <p:nvSpPr>
          <p:cNvPr id="13" name="Picture Placeholder 4">
            <a:extLst>
              <a:ext uri="{FF2B5EF4-FFF2-40B4-BE49-F238E27FC236}">
                <a16:creationId xmlns:a16="http://schemas.microsoft.com/office/drawing/2014/main" id="{032E5F9B-74B0-4E2D-9CB5-0E626C2BEC21}"/>
              </a:ext>
            </a:extLst>
          </p:cNvPr>
          <p:cNvSpPr>
            <a:spLocks noGrp="1"/>
          </p:cNvSpPr>
          <p:nvPr>
            <p:ph type="pic" sz="quarter" idx="21"/>
          </p:nvPr>
        </p:nvSpPr>
        <p:spPr>
          <a:xfrm>
            <a:off x="527050" y="1755586"/>
            <a:ext cx="11126234" cy="2852509"/>
          </a:xfrm>
          <a:prstGeom prst="roundRect">
            <a:avLst>
              <a:gd name="adj" fmla="val 9497"/>
            </a:avLst>
          </a:prstGeom>
        </p:spPr>
        <p:txBody>
          <a:bodyPr anchor="ctr" anchorCtr="0">
            <a:normAutofit/>
          </a:bodyPr>
          <a:lstStyle>
            <a:lvl1pPr marL="0" indent="0" algn="ctr">
              <a:buNone/>
              <a:defRPr sz="2000">
                <a:solidFill>
                  <a:srgbClr val="25274D"/>
                </a:solidFill>
                <a:latin typeface="Montserrat" panose="00000500000000000000" pitchFamily="2" charset="0"/>
                <a:cs typeface="Arial" panose="020B0604020202020204" pitchFamily="34" charset="0"/>
              </a:defRPr>
            </a:lvl1pPr>
          </a:lstStyle>
          <a:p>
            <a:endParaRPr lang="en-IN"/>
          </a:p>
        </p:txBody>
      </p:sp>
      <p:sp>
        <p:nvSpPr>
          <p:cNvPr id="7" name="Title 8">
            <a:extLst>
              <a:ext uri="{FF2B5EF4-FFF2-40B4-BE49-F238E27FC236}">
                <a16:creationId xmlns:a16="http://schemas.microsoft.com/office/drawing/2014/main" id="{4E09AE45-AA1F-E32B-E829-34412C3A4517}"/>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8" name="Text Placeholder 10">
            <a:extLst>
              <a:ext uri="{FF2B5EF4-FFF2-40B4-BE49-F238E27FC236}">
                <a16:creationId xmlns:a16="http://schemas.microsoft.com/office/drawing/2014/main" id="{6380944B-A361-4506-0308-8509DFF3C704}"/>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1907593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U_Infographic + 3 element + Image + Tex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8F28B-A019-48FE-8FE4-1E359369A454}"/>
              </a:ext>
            </a:extLst>
          </p:cNvPr>
          <p:cNvSpPr txBox="1"/>
          <p:nvPr userDrawn="1"/>
        </p:nvSpPr>
        <p:spPr>
          <a:xfrm>
            <a:off x="0" y="6858000"/>
            <a:ext cx="8931124" cy="338554"/>
          </a:xfrm>
          <a:prstGeom prst="rect">
            <a:avLst/>
          </a:prstGeom>
          <a:solidFill>
            <a:srgbClr val="FFC000"/>
          </a:solidFill>
        </p:spPr>
        <p:txBody>
          <a:bodyPr wrap="squar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fr-FR" sz="1600" b="0" kern="1200" err="1">
                <a:solidFill>
                  <a:schemeClr val="tx1"/>
                </a:solidFill>
                <a:latin typeface="+mn-lt"/>
                <a:ea typeface="+mn-ea"/>
                <a:cs typeface="+mn-cs"/>
              </a:rPr>
              <a:t>Infographic</a:t>
            </a:r>
            <a:r>
              <a:rPr lang="fr-FR" sz="1600" b="0" kern="1200">
                <a:solidFill>
                  <a:schemeClr val="tx1"/>
                </a:solidFill>
                <a:latin typeface="+mn-lt"/>
                <a:ea typeface="+mn-ea"/>
                <a:cs typeface="+mn-cs"/>
              </a:rPr>
              <a:t> + 3 </a:t>
            </a:r>
            <a:r>
              <a:rPr lang="fr-FR" sz="1600" b="0" kern="1200" err="1">
                <a:solidFill>
                  <a:schemeClr val="tx1"/>
                </a:solidFill>
                <a:latin typeface="+mn-lt"/>
                <a:ea typeface="+mn-ea"/>
                <a:cs typeface="+mn-cs"/>
              </a:rPr>
              <a:t>element</a:t>
            </a:r>
            <a:r>
              <a:rPr lang="fr-FR" sz="1600" b="0" kern="1200">
                <a:solidFill>
                  <a:schemeClr val="tx1"/>
                </a:solidFill>
                <a:latin typeface="+mn-lt"/>
                <a:ea typeface="+mn-ea"/>
                <a:cs typeface="+mn-cs"/>
              </a:rPr>
              <a:t> + </a:t>
            </a:r>
            <a:r>
              <a:rPr lang="fr-FR" sz="1600" b="0" kern="1200" err="1">
                <a:solidFill>
                  <a:schemeClr val="tx1"/>
                </a:solidFill>
                <a:latin typeface="+mn-lt"/>
                <a:ea typeface="+mn-ea"/>
                <a:cs typeface="+mn-cs"/>
              </a:rPr>
              <a:t>Text</a:t>
            </a:r>
            <a:r>
              <a:rPr lang="fr-FR" sz="1600" b="0" kern="1200">
                <a:solidFill>
                  <a:schemeClr val="tx1"/>
                </a:solidFill>
                <a:latin typeface="+mn-lt"/>
                <a:ea typeface="+mn-ea"/>
                <a:cs typeface="+mn-cs"/>
              </a:rPr>
              <a:t> + Image</a:t>
            </a:r>
            <a:endParaRPr lang="en-IN" sz="1600" b="0" kern="1200">
              <a:solidFill>
                <a:schemeClr val="tx1"/>
              </a:solidFill>
              <a:latin typeface="+mn-lt"/>
              <a:ea typeface="+mn-ea"/>
              <a:cs typeface="+mn-cs"/>
            </a:endParaRPr>
          </a:p>
        </p:txBody>
      </p:sp>
      <p:sp>
        <p:nvSpPr>
          <p:cNvPr id="10" name="Picture Placeholder 4">
            <a:extLst>
              <a:ext uri="{FF2B5EF4-FFF2-40B4-BE49-F238E27FC236}">
                <a16:creationId xmlns:a16="http://schemas.microsoft.com/office/drawing/2014/main" id="{96AB8482-FB25-4987-BB9E-B39F4105DC34}"/>
              </a:ext>
            </a:extLst>
          </p:cNvPr>
          <p:cNvSpPr>
            <a:spLocks noGrp="1"/>
          </p:cNvSpPr>
          <p:nvPr>
            <p:ph type="pic" sz="quarter" idx="14"/>
          </p:nvPr>
        </p:nvSpPr>
        <p:spPr>
          <a:xfrm>
            <a:off x="529547" y="1886240"/>
            <a:ext cx="3516716" cy="2203116"/>
          </a:xfrm>
          <a:prstGeom prst="roundRect">
            <a:avLst/>
          </a:prstGeom>
        </p:spPr>
        <p:txBody>
          <a:bodyPr anchor="ctr" anchorCtr="0">
            <a:normAutofit/>
          </a:bodyPr>
          <a:lstStyle>
            <a:lvl1pPr marL="0" indent="0" algn="ctr">
              <a:buNone/>
              <a:defRPr sz="2000">
                <a:solidFill>
                  <a:srgbClr val="25274D"/>
                </a:solidFill>
                <a:latin typeface="Montserrat" panose="00000500000000000000" pitchFamily="2" charset="0"/>
                <a:cs typeface="Arial" panose="020B0604020202020204" pitchFamily="34" charset="0"/>
              </a:defRPr>
            </a:lvl1pPr>
          </a:lstStyle>
          <a:p>
            <a:endParaRPr lang="en-IN"/>
          </a:p>
        </p:txBody>
      </p:sp>
      <p:sp>
        <p:nvSpPr>
          <p:cNvPr id="11" name="Text Placeholder 17">
            <a:extLst>
              <a:ext uri="{FF2B5EF4-FFF2-40B4-BE49-F238E27FC236}">
                <a16:creationId xmlns:a16="http://schemas.microsoft.com/office/drawing/2014/main" id="{6F848E25-4674-4375-A332-50C1FA7A8192}"/>
              </a:ext>
            </a:extLst>
          </p:cNvPr>
          <p:cNvSpPr>
            <a:spLocks noGrp="1"/>
          </p:cNvSpPr>
          <p:nvPr>
            <p:ph type="body" sz="quarter" idx="19" hasCustomPrompt="1"/>
          </p:nvPr>
        </p:nvSpPr>
        <p:spPr>
          <a:xfrm>
            <a:off x="527050" y="4215791"/>
            <a:ext cx="3516717" cy="1920313"/>
          </a:xfrm>
          <a:prstGeom prst="roundRect">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19" name="Picture Placeholder 4">
            <a:extLst>
              <a:ext uri="{FF2B5EF4-FFF2-40B4-BE49-F238E27FC236}">
                <a16:creationId xmlns:a16="http://schemas.microsoft.com/office/drawing/2014/main" id="{7F1147B7-9A34-4CB6-B84C-97B9DD46B011}"/>
              </a:ext>
            </a:extLst>
          </p:cNvPr>
          <p:cNvSpPr>
            <a:spLocks noGrp="1"/>
          </p:cNvSpPr>
          <p:nvPr>
            <p:ph type="pic" sz="quarter" idx="20"/>
          </p:nvPr>
        </p:nvSpPr>
        <p:spPr>
          <a:xfrm>
            <a:off x="4340138" y="1886240"/>
            <a:ext cx="3516716" cy="2203116"/>
          </a:xfrm>
          <a:prstGeom prst="roundRect">
            <a:avLst/>
          </a:prstGeom>
        </p:spPr>
        <p:txBody>
          <a:bodyPr anchor="ctr" anchorCtr="0">
            <a:normAutofit/>
          </a:bodyPr>
          <a:lstStyle>
            <a:lvl1pPr marL="0" indent="0" algn="ctr">
              <a:buNone/>
              <a:defRPr sz="2000">
                <a:solidFill>
                  <a:srgbClr val="25274D"/>
                </a:solidFill>
                <a:latin typeface="Montserrat" panose="00000500000000000000" pitchFamily="2" charset="0"/>
                <a:cs typeface="Arial" panose="020B0604020202020204" pitchFamily="34" charset="0"/>
              </a:defRPr>
            </a:lvl1pPr>
          </a:lstStyle>
          <a:p>
            <a:endParaRPr lang="en-IN"/>
          </a:p>
        </p:txBody>
      </p:sp>
      <p:sp>
        <p:nvSpPr>
          <p:cNvPr id="20" name="Text Placeholder 17">
            <a:extLst>
              <a:ext uri="{FF2B5EF4-FFF2-40B4-BE49-F238E27FC236}">
                <a16:creationId xmlns:a16="http://schemas.microsoft.com/office/drawing/2014/main" id="{3F52F2BB-01C0-40E2-904F-58759FF63DE3}"/>
              </a:ext>
            </a:extLst>
          </p:cNvPr>
          <p:cNvSpPr>
            <a:spLocks noGrp="1"/>
          </p:cNvSpPr>
          <p:nvPr>
            <p:ph type="body" sz="quarter" idx="21" hasCustomPrompt="1"/>
          </p:nvPr>
        </p:nvSpPr>
        <p:spPr>
          <a:xfrm>
            <a:off x="4337641" y="4215791"/>
            <a:ext cx="3516717" cy="1920313"/>
          </a:xfrm>
          <a:prstGeom prst="roundRect">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21" name="Picture Placeholder 4">
            <a:extLst>
              <a:ext uri="{FF2B5EF4-FFF2-40B4-BE49-F238E27FC236}">
                <a16:creationId xmlns:a16="http://schemas.microsoft.com/office/drawing/2014/main" id="{3A0DD8B2-E007-445B-BFF7-00E6154140D7}"/>
              </a:ext>
            </a:extLst>
          </p:cNvPr>
          <p:cNvSpPr>
            <a:spLocks noGrp="1"/>
          </p:cNvSpPr>
          <p:nvPr>
            <p:ph type="pic" sz="quarter" idx="22"/>
          </p:nvPr>
        </p:nvSpPr>
        <p:spPr>
          <a:xfrm>
            <a:off x="8150729" y="1886240"/>
            <a:ext cx="3516716" cy="2203116"/>
          </a:xfrm>
          <a:prstGeom prst="roundRect">
            <a:avLst/>
          </a:prstGeom>
        </p:spPr>
        <p:txBody>
          <a:bodyPr anchor="ctr" anchorCtr="0">
            <a:normAutofit/>
          </a:bodyPr>
          <a:lstStyle>
            <a:lvl1pPr marL="0" indent="0" algn="ctr">
              <a:buNone/>
              <a:defRPr sz="2000">
                <a:solidFill>
                  <a:srgbClr val="25274D"/>
                </a:solidFill>
                <a:latin typeface="Montserrat" panose="00000500000000000000" pitchFamily="2" charset="0"/>
                <a:cs typeface="Arial" panose="020B0604020202020204" pitchFamily="34" charset="0"/>
              </a:defRPr>
            </a:lvl1pPr>
          </a:lstStyle>
          <a:p>
            <a:endParaRPr lang="en-IN"/>
          </a:p>
        </p:txBody>
      </p:sp>
      <p:sp>
        <p:nvSpPr>
          <p:cNvPr id="22" name="Text Placeholder 17">
            <a:extLst>
              <a:ext uri="{FF2B5EF4-FFF2-40B4-BE49-F238E27FC236}">
                <a16:creationId xmlns:a16="http://schemas.microsoft.com/office/drawing/2014/main" id="{62731027-2452-47F3-BF27-8348362107B8}"/>
              </a:ext>
            </a:extLst>
          </p:cNvPr>
          <p:cNvSpPr>
            <a:spLocks noGrp="1"/>
          </p:cNvSpPr>
          <p:nvPr>
            <p:ph type="body" sz="quarter" idx="23" hasCustomPrompt="1"/>
          </p:nvPr>
        </p:nvSpPr>
        <p:spPr>
          <a:xfrm>
            <a:off x="8150729" y="4215791"/>
            <a:ext cx="3514220" cy="1920313"/>
          </a:xfrm>
          <a:prstGeom prst="roundRect">
            <a:avLst/>
          </a:prstGeom>
        </p:spPr>
        <p:txBody>
          <a:bodyPr anchor="ctr"/>
          <a:lstStyle>
            <a:lvl1pPr marL="0" indent="0" algn="ctr" defTabSz="914446" rtl="0" eaLnBrk="1" latinLnBrk="0" hangingPunct="1">
              <a:lnSpc>
                <a:spcPct val="90000"/>
              </a:lnSpc>
              <a:spcBef>
                <a:spcPct val="0"/>
              </a:spcBef>
              <a:buNone/>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text</a:t>
            </a:r>
            <a:endParaRPr lang="en-IN"/>
          </a:p>
        </p:txBody>
      </p:sp>
      <p:sp>
        <p:nvSpPr>
          <p:cNvPr id="7" name="Title 8">
            <a:extLst>
              <a:ext uri="{FF2B5EF4-FFF2-40B4-BE49-F238E27FC236}">
                <a16:creationId xmlns:a16="http://schemas.microsoft.com/office/drawing/2014/main" id="{F761DBBD-F468-E0A9-7F30-7C112D4DEE4D}"/>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8" name="Text Placeholder 10">
            <a:extLst>
              <a:ext uri="{FF2B5EF4-FFF2-40B4-BE49-F238E27FC236}">
                <a16:creationId xmlns:a16="http://schemas.microsoft.com/office/drawing/2014/main" id="{54E1A870-B0C0-2A96-FA25-F4059CC7B8D1}"/>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40220911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Y_Infographic + Image with bullets">
    <p:spTree>
      <p:nvGrpSpPr>
        <p:cNvPr id="1" name=""/>
        <p:cNvGrpSpPr/>
        <p:nvPr/>
      </p:nvGrpSpPr>
      <p:grpSpPr>
        <a:xfrm>
          <a:off x="0" y="0"/>
          <a:ext cx="0" cy="0"/>
          <a:chOff x="0" y="0"/>
          <a:chExt cx="0" cy="0"/>
        </a:xfrm>
      </p:grpSpPr>
      <p:sp>
        <p:nvSpPr>
          <p:cNvPr id="9" name="Picture Placeholder 11">
            <a:extLst>
              <a:ext uri="{FF2B5EF4-FFF2-40B4-BE49-F238E27FC236}">
                <a16:creationId xmlns:a16="http://schemas.microsoft.com/office/drawing/2014/main" id="{2C384C08-CECB-4147-8FCD-943A5EC0D6A2}"/>
              </a:ext>
            </a:extLst>
          </p:cNvPr>
          <p:cNvSpPr>
            <a:spLocks noGrp="1"/>
          </p:cNvSpPr>
          <p:nvPr>
            <p:ph type="pic" sz="quarter" idx="14" hasCustomPrompt="1"/>
          </p:nvPr>
        </p:nvSpPr>
        <p:spPr>
          <a:xfrm>
            <a:off x="749998" y="2099147"/>
            <a:ext cx="5356325" cy="3359679"/>
          </a:xfrm>
          <a:prstGeom prst="roundRect">
            <a:avLst>
              <a:gd name="adj" fmla="val 8788"/>
            </a:avLst>
          </a:prstGeom>
        </p:spPr>
        <p:txBody>
          <a:bodyPr/>
          <a:lstStyle>
            <a:lvl1pPr marL="0" indent="0">
              <a:buNone/>
              <a:defRPr sz="1800">
                <a:solidFill>
                  <a:srgbClr val="25274D"/>
                </a:solidFill>
                <a:latin typeface="Montserrat" panose="00000500000000000000" pitchFamily="2" charset="0"/>
                <a:cs typeface="Arial" panose="020B0604020202020204" pitchFamily="34" charset="0"/>
              </a:defRPr>
            </a:lvl1pPr>
          </a:lstStyle>
          <a:p>
            <a:r>
              <a:rPr lang="en-US"/>
              <a:t>Click to add image here</a:t>
            </a:r>
          </a:p>
        </p:txBody>
      </p:sp>
      <p:sp>
        <p:nvSpPr>
          <p:cNvPr id="11" name="TextBox 10">
            <a:extLst>
              <a:ext uri="{FF2B5EF4-FFF2-40B4-BE49-F238E27FC236}">
                <a16:creationId xmlns:a16="http://schemas.microsoft.com/office/drawing/2014/main" id="{9D945602-2ABE-4A5C-8899-AC436D31D3B7}"/>
              </a:ext>
            </a:extLst>
          </p:cNvPr>
          <p:cNvSpPr txBox="1"/>
          <p:nvPr userDrawn="1"/>
        </p:nvSpPr>
        <p:spPr>
          <a:xfrm>
            <a:off x="0" y="6858000"/>
            <a:ext cx="7378943"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Infographic + </a:t>
            </a:r>
            <a:r>
              <a:rPr lang="en-IN" sz="1600" b="0" kern="1200">
                <a:solidFill>
                  <a:schemeClr val="tx1"/>
                </a:solidFill>
                <a:latin typeface="+mn-lt"/>
                <a:ea typeface="+mn-ea"/>
                <a:cs typeface="+mn-cs"/>
              </a:rPr>
              <a:t>Image with bullets/numbering</a:t>
            </a:r>
          </a:p>
        </p:txBody>
      </p:sp>
      <p:sp>
        <p:nvSpPr>
          <p:cNvPr id="2" name="Text Placeholder 7">
            <a:extLst>
              <a:ext uri="{FF2B5EF4-FFF2-40B4-BE49-F238E27FC236}">
                <a16:creationId xmlns:a16="http://schemas.microsoft.com/office/drawing/2014/main" id="{108545D0-EBAD-2DFD-80F9-5627F65BBE03}"/>
              </a:ext>
            </a:extLst>
          </p:cNvPr>
          <p:cNvSpPr>
            <a:spLocks noGrp="1"/>
          </p:cNvSpPr>
          <p:nvPr>
            <p:ph type="body" sz="quarter" idx="38" hasCustomPrompt="1"/>
          </p:nvPr>
        </p:nvSpPr>
        <p:spPr>
          <a:xfrm>
            <a:off x="6431649" y="2138925"/>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1</a:t>
            </a:r>
            <a:endParaRPr lang="en-IN"/>
          </a:p>
        </p:txBody>
      </p:sp>
      <p:sp>
        <p:nvSpPr>
          <p:cNvPr id="3" name="Text Placeholder 7">
            <a:extLst>
              <a:ext uri="{FF2B5EF4-FFF2-40B4-BE49-F238E27FC236}">
                <a16:creationId xmlns:a16="http://schemas.microsoft.com/office/drawing/2014/main" id="{354AD1BE-85F2-48C8-14A4-501F94204DA4}"/>
              </a:ext>
            </a:extLst>
          </p:cNvPr>
          <p:cNvSpPr>
            <a:spLocks noGrp="1"/>
          </p:cNvSpPr>
          <p:nvPr>
            <p:ph type="body" sz="quarter" idx="39" hasCustomPrompt="1"/>
          </p:nvPr>
        </p:nvSpPr>
        <p:spPr>
          <a:xfrm>
            <a:off x="6431649" y="3018714"/>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2</a:t>
            </a:r>
            <a:endParaRPr lang="en-IN"/>
          </a:p>
        </p:txBody>
      </p:sp>
      <p:sp>
        <p:nvSpPr>
          <p:cNvPr id="4" name="Text Placeholder 7">
            <a:extLst>
              <a:ext uri="{FF2B5EF4-FFF2-40B4-BE49-F238E27FC236}">
                <a16:creationId xmlns:a16="http://schemas.microsoft.com/office/drawing/2014/main" id="{A5F89929-CECB-71F8-9B4E-5A71B4434F70}"/>
              </a:ext>
            </a:extLst>
          </p:cNvPr>
          <p:cNvSpPr>
            <a:spLocks noGrp="1"/>
          </p:cNvSpPr>
          <p:nvPr>
            <p:ph type="body" sz="quarter" idx="40" hasCustomPrompt="1"/>
          </p:nvPr>
        </p:nvSpPr>
        <p:spPr>
          <a:xfrm>
            <a:off x="6431649" y="3943587"/>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3</a:t>
            </a:r>
            <a:endParaRPr lang="en-IN"/>
          </a:p>
        </p:txBody>
      </p:sp>
      <p:sp>
        <p:nvSpPr>
          <p:cNvPr id="5" name="Text Placeholder 15">
            <a:extLst>
              <a:ext uri="{FF2B5EF4-FFF2-40B4-BE49-F238E27FC236}">
                <a16:creationId xmlns:a16="http://schemas.microsoft.com/office/drawing/2014/main" id="{53D46109-1998-FE4D-D8FF-86C70D43C7A6}"/>
              </a:ext>
            </a:extLst>
          </p:cNvPr>
          <p:cNvSpPr>
            <a:spLocks noGrp="1"/>
          </p:cNvSpPr>
          <p:nvPr>
            <p:ph type="body" sz="quarter" idx="32" hasCustomPrompt="1"/>
          </p:nvPr>
        </p:nvSpPr>
        <p:spPr>
          <a:xfrm>
            <a:off x="7203335" y="2099148"/>
            <a:ext cx="4168746" cy="681707"/>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6" name="Text Placeholder 15">
            <a:extLst>
              <a:ext uri="{FF2B5EF4-FFF2-40B4-BE49-F238E27FC236}">
                <a16:creationId xmlns:a16="http://schemas.microsoft.com/office/drawing/2014/main" id="{C8E243E3-F07F-53A0-279B-9FD55CCE40B1}"/>
              </a:ext>
            </a:extLst>
          </p:cNvPr>
          <p:cNvSpPr>
            <a:spLocks noGrp="1"/>
          </p:cNvSpPr>
          <p:nvPr>
            <p:ph type="body" sz="quarter" idx="33" hasCustomPrompt="1"/>
          </p:nvPr>
        </p:nvSpPr>
        <p:spPr>
          <a:xfrm>
            <a:off x="7203335" y="3007883"/>
            <a:ext cx="4168745" cy="660107"/>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8" name="Text Placeholder 15">
            <a:extLst>
              <a:ext uri="{FF2B5EF4-FFF2-40B4-BE49-F238E27FC236}">
                <a16:creationId xmlns:a16="http://schemas.microsoft.com/office/drawing/2014/main" id="{431039AE-8E77-94FB-A51A-D8417F57EB85}"/>
              </a:ext>
            </a:extLst>
          </p:cNvPr>
          <p:cNvSpPr>
            <a:spLocks noGrp="1"/>
          </p:cNvSpPr>
          <p:nvPr>
            <p:ph type="body" sz="quarter" idx="34" hasCustomPrompt="1"/>
          </p:nvPr>
        </p:nvSpPr>
        <p:spPr>
          <a:xfrm>
            <a:off x="7203335" y="3927210"/>
            <a:ext cx="4168745" cy="659999"/>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13" name="Text Placeholder 7">
            <a:extLst>
              <a:ext uri="{FF2B5EF4-FFF2-40B4-BE49-F238E27FC236}">
                <a16:creationId xmlns:a16="http://schemas.microsoft.com/office/drawing/2014/main" id="{EF00DD5F-4E80-DC2E-A536-ED4514139E91}"/>
              </a:ext>
            </a:extLst>
          </p:cNvPr>
          <p:cNvSpPr>
            <a:spLocks noGrp="1"/>
          </p:cNvSpPr>
          <p:nvPr>
            <p:ph type="body" sz="quarter" idx="41" hasCustomPrompt="1"/>
          </p:nvPr>
        </p:nvSpPr>
        <p:spPr>
          <a:xfrm>
            <a:off x="6431649" y="4811831"/>
            <a:ext cx="643622" cy="643622"/>
          </a:xfrm>
          <a:prstGeom prst="roundRect">
            <a:avLst>
              <a:gd name="adj" fmla="val 50000"/>
            </a:avLst>
          </a:prstGeom>
        </p:spPr>
        <p:txBody>
          <a:bodyPr anchor="ctr"/>
          <a:lstStyle>
            <a:lvl1pPr marL="0" indent="0" algn="ctr">
              <a:buNone/>
              <a:defRPr sz="2000" b="1">
                <a:solidFill>
                  <a:srgbClr val="29648A"/>
                </a:solidFill>
                <a:latin typeface="Montserrat" panose="00000500000000000000" pitchFamily="2" charset="0"/>
                <a:cs typeface="Arial" panose="020B0604020202020204" pitchFamily="34" charset="0"/>
              </a:defRPr>
            </a:lvl1pPr>
          </a:lstStyle>
          <a:p>
            <a:pPr lvl="0"/>
            <a:r>
              <a:rPr lang="en-US"/>
              <a:t>4</a:t>
            </a:r>
            <a:endParaRPr lang="en-IN"/>
          </a:p>
        </p:txBody>
      </p:sp>
      <p:sp>
        <p:nvSpPr>
          <p:cNvPr id="16" name="Text Placeholder 15">
            <a:extLst>
              <a:ext uri="{FF2B5EF4-FFF2-40B4-BE49-F238E27FC236}">
                <a16:creationId xmlns:a16="http://schemas.microsoft.com/office/drawing/2014/main" id="{1ABF62E0-0E71-35F1-6616-0CDD2C90D28D}"/>
              </a:ext>
            </a:extLst>
          </p:cNvPr>
          <p:cNvSpPr>
            <a:spLocks noGrp="1"/>
          </p:cNvSpPr>
          <p:nvPr>
            <p:ph type="body" sz="quarter" idx="42" hasCustomPrompt="1"/>
          </p:nvPr>
        </p:nvSpPr>
        <p:spPr>
          <a:xfrm>
            <a:off x="7208683" y="4798828"/>
            <a:ext cx="4168745" cy="659999"/>
          </a:xfrm>
          <a:prstGeom prst="roundRect">
            <a:avLst/>
          </a:prstGeom>
        </p:spPr>
        <p:txBody>
          <a:bodyPr anchor="ctr"/>
          <a:lstStyle>
            <a:lvl1pPr marL="0" indent="0" algn="ctr">
              <a:buNone/>
              <a:defRPr sz="1800" b="1"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marL="0" marR="0" lvl="0" indent="0" algn="ctr"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edit Body Copy</a:t>
            </a:r>
          </a:p>
        </p:txBody>
      </p:sp>
      <p:sp>
        <p:nvSpPr>
          <p:cNvPr id="15" name="Title 8">
            <a:extLst>
              <a:ext uri="{FF2B5EF4-FFF2-40B4-BE49-F238E27FC236}">
                <a16:creationId xmlns:a16="http://schemas.microsoft.com/office/drawing/2014/main" id="{6623636B-28ED-7A89-7359-4021F0CF5A20}"/>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7" name="Text Placeholder 10">
            <a:extLst>
              <a:ext uri="{FF2B5EF4-FFF2-40B4-BE49-F238E27FC236}">
                <a16:creationId xmlns:a16="http://schemas.microsoft.com/office/drawing/2014/main" id="{9F707444-1D10-2217-B45E-EDAE8E8635A9}"/>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2369724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Z_Comparison + text onl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2452F3D-7620-4EBD-8019-4CC5BF89300E}"/>
              </a:ext>
            </a:extLst>
          </p:cNvPr>
          <p:cNvSpPr txBox="1"/>
          <p:nvPr userDrawn="1"/>
        </p:nvSpPr>
        <p:spPr>
          <a:xfrm>
            <a:off x="0" y="6858000"/>
            <a:ext cx="5160387"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Comparison + text only</a:t>
            </a:r>
            <a:endParaRPr lang="en-IN" sz="1600" b="0" kern="1200">
              <a:solidFill>
                <a:schemeClr val="tx1"/>
              </a:solidFill>
              <a:latin typeface="+mn-lt"/>
              <a:ea typeface="+mn-ea"/>
              <a:cs typeface="+mn-cs"/>
            </a:endParaRPr>
          </a:p>
        </p:txBody>
      </p:sp>
      <p:sp>
        <p:nvSpPr>
          <p:cNvPr id="11" name="Text Placeholder 17">
            <a:extLst>
              <a:ext uri="{FF2B5EF4-FFF2-40B4-BE49-F238E27FC236}">
                <a16:creationId xmlns:a16="http://schemas.microsoft.com/office/drawing/2014/main" id="{7B1C093A-2F1D-4ED6-8246-B962E0A911E9}"/>
              </a:ext>
            </a:extLst>
          </p:cNvPr>
          <p:cNvSpPr>
            <a:spLocks noGrp="1"/>
          </p:cNvSpPr>
          <p:nvPr>
            <p:ph type="body" sz="quarter" idx="19" hasCustomPrompt="1"/>
          </p:nvPr>
        </p:nvSpPr>
        <p:spPr>
          <a:xfrm>
            <a:off x="749998" y="2767262"/>
            <a:ext cx="5069759" cy="2995361"/>
          </a:xfrm>
          <a:prstGeom prst="roundRect">
            <a:avLst>
              <a:gd name="adj" fmla="val 6409"/>
            </a:avLst>
          </a:prstGeom>
        </p:spPr>
        <p:txBody>
          <a:bodyPr anchor="t"/>
          <a:lstStyle>
            <a:lvl1pPr marL="0" indent="0" algn="l" defTabSz="914446" rtl="0" eaLnBrk="1" latinLnBrk="0" hangingPunct="1">
              <a:lnSpc>
                <a:spcPct val="100000"/>
              </a:lnSpc>
              <a:spcBef>
                <a:spcPct val="0"/>
              </a:spcBef>
              <a:spcAft>
                <a:spcPts val="1000"/>
              </a:spcAft>
              <a:buClr>
                <a:srgbClr val="EF7C00"/>
              </a:buClr>
              <a:buFont typeface="Arial" panose="020B0604020202020204" pitchFamily="34" charset="0"/>
              <a:buNone/>
              <a:defRPr lang="en-US" sz="1800" b="0" kern="1200" dirty="0" smtClean="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Body Copy  </a:t>
            </a:r>
            <a:endParaRPr lang="en-IN"/>
          </a:p>
        </p:txBody>
      </p:sp>
      <p:sp>
        <p:nvSpPr>
          <p:cNvPr id="12" name="Text Placeholder 17">
            <a:extLst>
              <a:ext uri="{FF2B5EF4-FFF2-40B4-BE49-F238E27FC236}">
                <a16:creationId xmlns:a16="http://schemas.microsoft.com/office/drawing/2014/main" id="{AB3F157C-5874-4B78-B6EB-D34A43307C1F}"/>
              </a:ext>
            </a:extLst>
          </p:cNvPr>
          <p:cNvSpPr>
            <a:spLocks noGrp="1"/>
          </p:cNvSpPr>
          <p:nvPr>
            <p:ph type="body" sz="quarter" idx="20" hasCustomPrompt="1"/>
          </p:nvPr>
        </p:nvSpPr>
        <p:spPr>
          <a:xfrm>
            <a:off x="6260725" y="2767261"/>
            <a:ext cx="5069760" cy="2995362"/>
          </a:xfrm>
          <a:prstGeom prst="roundRect">
            <a:avLst>
              <a:gd name="adj" fmla="val 6409"/>
            </a:avLst>
          </a:prstGeom>
        </p:spPr>
        <p:txBody>
          <a:bodyPr anchor="t"/>
          <a:lstStyle>
            <a:lvl1pPr marL="0" indent="0" algn="l" defTabSz="914446" rtl="0" eaLnBrk="1" latinLnBrk="0" hangingPunct="1">
              <a:lnSpc>
                <a:spcPct val="90000"/>
              </a:lnSpc>
              <a:spcBef>
                <a:spcPct val="0"/>
              </a:spcBef>
              <a:buClr>
                <a:srgbClr val="EF7C00"/>
              </a:buClr>
              <a:buFont typeface="Arial" panose="020B0604020202020204" pitchFamily="34" charset="0"/>
              <a:buNone/>
              <a:defRPr lang="en-IN" sz="1800" b="0" kern="1200" dirty="0">
                <a:solidFill>
                  <a:srgbClr val="25274D"/>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Click to edit Body Copy  </a:t>
            </a:r>
            <a:endParaRPr lang="en-IN"/>
          </a:p>
        </p:txBody>
      </p:sp>
      <p:sp>
        <p:nvSpPr>
          <p:cNvPr id="3" name="Text Placeholder 17">
            <a:extLst>
              <a:ext uri="{FF2B5EF4-FFF2-40B4-BE49-F238E27FC236}">
                <a16:creationId xmlns:a16="http://schemas.microsoft.com/office/drawing/2014/main" id="{3ECBD337-B788-8EBA-2112-0DAB7E5195BC}"/>
              </a:ext>
            </a:extLst>
          </p:cNvPr>
          <p:cNvSpPr>
            <a:spLocks noGrp="1"/>
          </p:cNvSpPr>
          <p:nvPr>
            <p:ph type="body" sz="quarter" idx="23" hasCustomPrompt="1"/>
          </p:nvPr>
        </p:nvSpPr>
        <p:spPr>
          <a:xfrm>
            <a:off x="761386" y="1901560"/>
            <a:ext cx="5047474" cy="462022"/>
          </a:xfrm>
          <a:prstGeom prst="roundRect">
            <a:avLst>
              <a:gd name="adj" fmla="val 23351"/>
            </a:avLst>
          </a:prstGeom>
        </p:spPr>
        <p:txBody>
          <a:bodyPr wrap="square" anchor="t" anchorCtr="0">
            <a:spAutoFit/>
          </a:bodyPr>
          <a:lstStyle>
            <a:lvl1pPr marL="0" indent="0" algn="l" defTabSz="914446" rtl="0" eaLnBrk="1" latinLnBrk="0" hangingPunct="1">
              <a:lnSpc>
                <a:spcPct val="100000"/>
              </a:lnSpc>
              <a:spcBef>
                <a:spcPct val="0"/>
              </a:spcBef>
              <a:spcAft>
                <a:spcPts val="1000"/>
              </a:spcAft>
              <a:buFont typeface="Arial" panose="020B0604020202020204" pitchFamily="34" charset="0"/>
              <a:buNone/>
              <a:defRPr lang="en-US" sz="2000" b="1" kern="1200" dirty="0" smtClean="0">
                <a:solidFill>
                  <a:srgbClr val="29648A"/>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Heading</a:t>
            </a:r>
          </a:p>
        </p:txBody>
      </p:sp>
      <p:sp>
        <p:nvSpPr>
          <p:cNvPr id="4" name="Text Placeholder 17">
            <a:extLst>
              <a:ext uri="{FF2B5EF4-FFF2-40B4-BE49-F238E27FC236}">
                <a16:creationId xmlns:a16="http://schemas.microsoft.com/office/drawing/2014/main" id="{CB3F27F6-CCC6-CF7D-A192-CFFC7955AC5A}"/>
              </a:ext>
            </a:extLst>
          </p:cNvPr>
          <p:cNvSpPr>
            <a:spLocks noGrp="1"/>
          </p:cNvSpPr>
          <p:nvPr>
            <p:ph type="body" sz="quarter" idx="37" hasCustomPrompt="1"/>
          </p:nvPr>
        </p:nvSpPr>
        <p:spPr>
          <a:xfrm>
            <a:off x="6272617" y="1901559"/>
            <a:ext cx="5099464" cy="462022"/>
          </a:xfrm>
          <a:prstGeom prst="roundRect">
            <a:avLst>
              <a:gd name="adj" fmla="val 23351"/>
            </a:avLst>
          </a:prstGeom>
        </p:spPr>
        <p:txBody>
          <a:bodyPr wrap="square" anchor="t" anchorCtr="0">
            <a:spAutoFit/>
          </a:bodyPr>
          <a:lstStyle>
            <a:lvl1pPr marL="0" indent="0" algn="l" defTabSz="914446" rtl="0" eaLnBrk="1" latinLnBrk="0" hangingPunct="1">
              <a:lnSpc>
                <a:spcPct val="100000"/>
              </a:lnSpc>
              <a:spcBef>
                <a:spcPct val="0"/>
              </a:spcBef>
              <a:spcAft>
                <a:spcPts val="1000"/>
              </a:spcAft>
              <a:buFont typeface="Arial" panose="020B0604020202020204" pitchFamily="34" charset="0"/>
              <a:buNone/>
              <a:defRPr lang="en-US" sz="2000" b="1" kern="1200" dirty="0" smtClean="0">
                <a:solidFill>
                  <a:srgbClr val="29648A"/>
                </a:solidFill>
                <a:latin typeface="Montserrat" panose="00000500000000000000" pitchFamily="2" charset="0"/>
                <a:ea typeface="+mj-ea"/>
                <a:cs typeface="Arial" panose="020B0604020202020204" pitchFamily="34" charset="0"/>
              </a:defRPr>
            </a:lvl1pPr>
            <a:lvl2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2pPr>
            <a:lvl3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3pPr>
            <a:lvl4pPr marL="0" indent="0" algn="l" defTabSz="914446" rtl="0" eaLnBrk="1" latinLnBrk="0" hangingPunct="1">
              <a:lnSpc>
                <a:spcPct val="90000"/>
              </a:lnSpc>
              <a:spcBef>
                <a:spcPct val="0"/>
              </a:spcBef>
              <a:buNone/>
              <a:defRPr lang="en-US" sz="2267" b="0" kern="1200" dirty="0" smtClean="0">
                <a:solidFill>
                  <a:schemeClr val="tx1"/>
                </a:solidFill>
                <a:latin typeface="Arial" panose="020B0604020202020204" pitchFamily="34" charset="0"/>
                <a:ea typeface="+mj-ea"/>
                <a:cs typeface="Arial" panose="020B0604020202020204" pitchFamily="34" charset="0"/>
              </a:defRPr>
            </a:lvl4pPr>
            <a:lvl5pPr marL="0" indent="0" algn="l" defTabSz="914446" rtl="0" eaLnBrk="1" latinLnBrk="0" hangingPunct="1">
              <a:lnSpc>
                <a:spcPct val="90000"/>
              </a:lnSpc>
              <a:spcBef>
                <a:spcPct val="0"/>
              </a:spcBef>
              <a:buNone/>
              <a:defRPr lang="en-IN" sz="2267" b="0" kern="1200" dirty="0">
                <a:solidFill>
                  <a:schemeClr val="tx1"/>
                </a:solidFill>
                <a:latin typeface="Arial" panose="020B0604020202020204" pitchFamily="34" charset="0"/>
                <a:ea typeface="+mj-ea"/>
                <a:cs typeface="Arial" panose="020B0604020202020204" pitchFamily="34" charset="0"/>
              </a:defRPr>
            </a:lvl5pPr>
          </a:lstStyle>
          <a:p>
            <a:pPr lvl="0"/>
            <a:r>
              <a:rPr lang="en-US"/>
              <a:t>Heading</a:t>
            </a:r>
          </a:p>
        </p:txBody>
      </p:sp>
      <p:sp>
        <p:nvSpPr>
          <p:cNvPr id="9" name="Title 8">
            <a:extLst>
              <a:ext uri="{FF2B5EF4-FFF2-40B4-BE49-F238E27FC236}">
                <a16:creationId xmlns:a16="http://schemas.microsoft.com/office/drawing/2014/main" id="{11266D2A-FA51-3F55-77C2-386958E2A0F3}"/>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0" name="Text Placeholder 10">
            <a:extLst>
              <a:ext uri="{FF2B5EF4-FFF2-40B4-BE49-F238E27FC236}">
                <a16:creationId xmlns:a16="http://schemas.microsoft.com/office/drawing/2014/main" id="{4AB88724-7AC3-5D07-E40B-5ECB81DFFC24}"/>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29287925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AA_Equation/Formula + text">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26708F3-E016-41F6-9851-D5056D0001FD}"/>
              </a:ext>
            </a:extLst>
          </p:cNvPr>
          <p:cNvSpPr txBox="1"/>
          <p:nvPr userDrawn="1"/>
        </p:nvSpPr>
        <p:spPr>
          <a:xfrm>
            <a:off x="0" y="6858000"/>
            <a:ext cx="5420074" cy="338554"/>
          </a:xfrm>
          <a:prstGeom prst="rect">
            <a:avLst/>
          </a:prstGeom>
          <a:solidFill>
            <a:srgbClr val="FFC000"/>
          </a:solidFill>
        </p:spPr>
        <p:txBody>
          <a:bodyPr wrap="none" rtlCol="0" anchor="b">
            <a:spAutoFit/>
          </a:bodyPr>
          <a:lstStyle/>
          <a:p>
            <a:pPr marL="0" algn="l" defTabSz="304815" rtl="0" eaLnBrk="1" latinLnBrk="0" hangingPunct="1"/>
            <a:r>
              <a:rPr lang="en-US" sz="1600" b="1" kern="1200">
                <a:solidFill>
                  <a:schemeClr val="tx1"/>
                </a:solidFill>
                <a:latin typeface="+mn-lt"/>
                <a:ea typeface="+mn-ea"/>
                <a:cs typeface="+mn-cs"/>
              </a:rPr>
              <a:t>NULL FRAME: </a:t>
            </a:r>
            <a:r>
              <a:rPr lang="en-US" sz="1600" b="0" kern="1200">
                <a:solidFill>
                  <a:schemeClr val="tx1"/>
                </a:solidFill>
                <a:latin typeface="+mn-lt"/>
                <a:ea typeface="+mn-ea"/>
                <a:cs typeface="+mn-cs"/>
              </a:rPr>
              <a:t>Headers + </a:t>
            </a:r>
            <a:r>
              <a:rPr lang="en-IN" sz="1600" b="0" kern="1200">
                <a:solidFill>
                  <a:schemeClr val="tx1"/>
                </a:solidFill>
                <a:latin typeface="+mn-lt"/>
                <a:ea typeface="+mn-ea"/>
                <a:cs typeface="+mn-cs"/>
              </a:rPr>
              <a:t>Equation/Formulae + text</a:t>
            </a:r>
          </a:p>
        </p:txBody>
      </p:sp>
      <p:sp>
        <p:nvSpPr>
          <p:cNvPr id="3" name="Text Placeholder 15">
            <a:extLst>
              <a:ext uri="{FF2B5EF4-FFF2-40B4-BE49-F238E27FC236}">
                <a16:creationId xmlns:a16="http://schemas.microsoft.com/office/drawing/2014/main" id="{621FF0BE-FEBA-D3A9-5801-06D011452727}"/>
              </a:ext>
            </a:extLst>
          </p:cNvPr>
          <p:cNvSpPr>
            <a:spLocks noGrp="1"/>
          </p:cNvSpPr>
          <p:nvPr>
            <p:ph type="body" sz="quarter" idx="32" hasCustomPrompt="1"/>
          </p:nvPr>
        </p:nvSpPr>
        <p:spPr>
          <a:xfrm>
            <a:off x="749998" y="1849324"/>
            <a:ext cx="10622082" cy="558366"/>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lvl="0"/>
            <a:r>
              <a:rPr lang="en-US"/>
              <a:t>Click to edit Body Copy</a:t>
            </a:r>
          </a:p>
        </p:txBody>
      </p:sp>
      <p:sp>
        <p:nvSpPr>
          <p:cNvPr id="4" name="Text Placeholder 15">
            <a:extLst>
              <a:ext uri="{FF2B5EF4-FFF2-40B4-BE49-F238E27FC236}">
                <a16:creationId xmlns:a16="http://schemas.microsoft.com/office/drawing/2014/main" id="{E3E35873-B5E3-8E8C-F95F-132E320C1981}"/>
              </a:ext>
            </a:extLst>
          </p:cNvPr>
          <p:cNvSpPr>
            <a:spLocks noGrp="1"/>
          </p:cNvSpPr>
          <p:nvPr>
            <p:ph type="body" sz="quarter" idx="33" hasCustomPrompt="1"/>
          </p:nvPr>
        </p:nvSpPr>
        <p:spPr>
          <a:xfrm>
            <a:off x="749998" y="5346801"/>
            <a:ext cx="10622082" cy="638390"/>
          </a:xfrm>
          <a:prstGeom prst="roundRect">
            <a:avLst/>
          </a:prstGeom>
        </p:spPr>
        <p:txBody>
          <a:bodyPr anchor="ctr"/>
          <a:lstStyle>
            <a:lvl1pPr marL="0" indent="0" algn="ctr">
              <a:buNone/>
              <a:defRPr sz="1800" baseline="0">
                <a:solidFill>
                  <a:srgbClr val="25274D"/>
                </a:solidFill>
                <a:latin typeface="Montserrat" panose="00000500000000000000" pitchFamily="2" charset="0"/>
                <a:cs typeface="Arial" panose="020B0604020202020204" pitchFamily="34" charset="0"/>
              </a:defRPr>
            </a:lvl1pPr>
            <a:lvl2pPr>
              <a:defRPr sz="1867"/>
            </a:lvl2pPr>
            <a:lvl3pPr>
              <a:defRPr sz="1867"/>
            </a:lvl3pPr>
            <a:lvl4pPr>
              <a:defRPr sz="1867"/>
            </a:lvl4pPr>
            <a:lvl5pPr>
              <a:defRPr sz="1867"/>
            </a:lvl5pPr>
          </a:lstStyle>
          <a:p>
            <a:pPr lvl="0"/>
            <a:r>
              <a:rPr lang="en-US"/>
              <a:t>Click to edit Body Copy</a:t>
            </a:r>
          </a:p>
        </p:txBody>
      </p:sp>
      <p:sp>
        <p:nvSpPr>
          <p:cNvPr id="6" name="Text Placeholder 2">
            <a:extLst>
              <a:ext uri="{FF2B5EF4-FFF2-40B4-BE49-F238E27FC236}">
                <a16:creationId xmlns:a16="http://schemas.microsoft.com/office/drawing/2014/main" id="{1936CF57-A9DF-B42A-27B9-09DF643C635A}"/>
              </a:ext>
            </a:extLst>
          </p:cNvPr>
          <p:cNvSpPr>
            <a:spLocks noGrp="1"/>
          </p:cNvSpPr>
          <p:nvPr>
            <p:ph type="body" sz="quarter" idx="35" hasCustomPrompt="1"/>
          </p:nvPr>
        </p:nvSpPr>
        <p:spPr>
          <a:xfrm>
            <a:off x="749998" y="2568881"/>
            <a:ext cx="10622082" cy="2616729"/>
          </a:xfrm>
          <a:prstGeom prst="roundRect">
            <a:avLst>
              <a:gd name="adj" fmla="val 8391"/>
            </a:avLst>
          </a:prstGeom>
        </p:spPr>
        <p:txBody>
          <a:bodyPr/>
          <a:lstStyle>
            <a:lvl1pPr marL="0" indent="0">
              <a:buNone/>
              <a:defRPr sz="1800">
                <a:solidFill>
                  <a:srgbClr val="25274D"/>
                </a:solidFill>
                <a:latin typeface="Montserrat" panose="00000500000000000000" pitchFamily="2" charset="0"/>
                <a:cs typeface="Arial" panose="020B0604020202020204" pitchFamily="34" charset="0"/>
              </a:defRPr>
            </a:lvl1pPr>
          </a:lstStyle>
          <a:p>
            <a:pPr lvl="0"/>
            <a:r>
              <a:rPr lang="en-US"/>
              <a:t>Insert formula</a:t>
            </a:r>
          </a:p>
        </p:txBody>
      </p:sp>
      <p:sp>
        <p:nvSpPr>
          <p:cNvPr id="9" name="Title 8">
            <a:extLst>
              <a:ext uri="{FF2B5EF4-FFF2-40B4-BE49-F238E27FC236}">
                <a16:creationId xmlns:a16="http://schemas.microsoft.com/office/drawing/2014/main" id="{19FD135B-DA62-F32B-CA68-9A2BD559EBED}"/>
              </a:ext>
            </a:extLst>
          </p:cNvPr>
          <p:cNvSpPr>
            <a:spLocks noGrp="1"/>
          </p:cNvSpPr>
          <p:nvPr>
            <p:ph type="title"/>
          </p:nvPr>
        </p:nvSpPr>
        <p:spPr>
          <a:xfrm>
            <a:off x="749998" y="490685"/>
            <a:ext cx="10622083" cy="540674"/>
          </a:xfrm>
          <a:prstGeom prst="rect">
            <a:avLst/>
          </a:prstGeom>
        </p:spPr>
        <p:txBody>
          <a:bodyPr/>
          <a:lstStyle>
            <a:lvl1pPr algn="l">
              <a:defRPr sz="3200" b="1">
                <a:solidFill>
                  <a:srgbClr val="25274D"/>
                </a:solidFill>
                <a:latin typeface="Montserrat" panose="00000500000000000000" pitchFamily="2" charset="0"/>
              </a:defRPr>
            </a:lvl1pPr>
          </a:lstStyle>
          <a:p>
            <a:r>
              <a:rPr lang="en-US"/>
              <a:t>Click to edit Master title style</a:t>
            </a:r>
            <a:endParaRPr lang="en-IN"/>
          </a:p>
        </p:txBody>
      </p:sp>
      <p:sp>
        <p:nvSpPr>
          <p:cNvPr id="10" name="Text Placeholder 10">
            <a:extLst>
              <a:ext uri="{FF2B5EF4-FFF2-40B4-BE49-F238E27FC236}">
                <a16:creationId xmlns:a16="http://schemas.microsoft.com/office/drawing/2014/main" id="{0CC3203A-6271-C85E-5D67-D1120D15CF5F}"/>
              </a:ext>
            </a:extLst>
          </p:cNvPr>
          <p:cNvSpPr>
            <a:spLocks noGrp="1"/>
          </p:cNvSpPr>
          <p:nvPr>
            <p:ph type="body" sz="quarter" idx="10"/>
          </p:nvPr>
        </p:nvSpPr>
        <p:spPr>
          <a:xfrm>
            <a:off x="749999" y="1109610"/>
            <a:ext cx="10622082" cy="450239"/>
          </a:xfrm>
          <a:prstGeom prst="rect">
            <a:avLst/>
          </a:prstGeom>
        </p:spPr>
        <p:txBody>
          <a:bodyPr/>
          <a:lstStyle>
            <a:lvl1pPr marL="0" indent="0" algn="l">
              <a:buNone/>
              <a:defRPr sz="2400" b="0">
                <a:solidFill>
                  <a:srgbClr val="2E9CCA"/>
                </a:solidFill>
                <a:latin typeface="Montserrat" panose="00000500000000000000" pitchFamily="2" charset="0"/>
              </a:defRPr>
            </a:lvl1pPr>
            <a:lvl2pPr marL="457223" indent="0">
              <a:buNone/>
              <a:defRPr/>
            </a:lvl2pPr>
          </a:lstStyle>
          <a:p>
            <a:pPr lvl="0"/>
            <a:r>
              <a:rPr lang="en-US"/>
              <a:t>Click to edit Master text styles</a:t>
            </a:r>
          </a:p>
        </p:txBody>
      </p:sp>
    </p:spTree>
    <p:extLst>
      <p:ext uri="{BB962C8B-B14F-4D97-AF65-F5344CB8AC3E}">
        <p14:creationId xmlns:p14="http://schemas.microsoft.com/office/powerpoint/2010/main" val="4106479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opic Title">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A7A19495-89EC-78C0-4A8B-9FD3BA431518}"/>
              </a:ext>
            </a:extLst>
          </p:cNvPr>
          <p:cNvSpPr>
            <a:spLocks noGrp="1"/>
          </p:cNvSpPr>
          <p:nvPr>
            <p:ph type="body" sz="quarter" idx="12" hasCustomPrompt="1"/>
          </p:nvPr>
        </p:nvSpPr>
        <p:spPr>
          <a:xfrm>
            <a:off x="749999" y="2482074"/>
            <a:ext cx="5346000" cy="1893851"/>
          </a:xfrm>
          <a:prstGeom prst="rect">
            <a:avLst/>
          </a:prstGeom>
        </p:spPr>
        <p:txBody>
          <a:bodyPr lIns="0" tIns="0" rIns="0" bIns="0" anchor="ctr" anchorCtr="0"/>
          <a:lstStyle>
            <a:lvl1pPr marL="0" indent="0">
              <a:buNone/>
              <a:defRPr sz="3200" b="1">
                <a:solidFill>
                  <a:srgbClr val="25274D"/>
                </a:solidFill>
                <a:latin typeface="Montserrat" panose="00000500000000000000" pitchFamily="2" charset="0"/>
                <a:cs typeface="Arial" panose="020B0604020202020204" pitchFamily="34" charset="0"/>
              </a:defRPr>
            </a:lvl1pPr>
            <a:lvl2pPr>
              <a:defRPr>
                <a:solidFill>
                  <a:srgbClr val="009BDB"/>
                </a:solidFill>
              </a:defRPr>
            </a:lvl2pPr>
            <a:lvl3pPr>
              <a:defRPr>
                <a:solidFill>
                  <a:srgbClr val="009BDB"/>
                </a:solidFill>
              </a:defRPr>
            </a:lvl3pPr>
            <a:lvl4pPr>
              <a:defRPr>
                <a:solidFill>
                  <a:srgbClr val="009BDB"/>
                </a:solidFill>
              </a:defRPr>
            </a:lvl4pPr>
            <a:lvl5pPr>
              <a:defRPr>
                <a:solidFill>
                  <a:srgbClr val="009BDB"/>
                </a:solidFill>
              </a:defRPr>
            </a:lvl5pPr>
          </a:lstStyle>
          <a:p>
            <a:pPr lvl="0"/>
            <a:r>
              <a:rPr lang="en-US"/>
              <a:t>Topic title will come here</a:t>
            </a:r>
            <a:endParaRPr lang="en-IN"/>
          </a:p>
        </p:txBody>
      </p:sp>
      <p:sp>
        <p:nvSpPr>
          <p:cNvPr id="2" name="Oval 1">
            <a:extLst>
              <a:ext uri="{FF2B5EF4-FFF2-40B4-BE49-F238E27FC236}">
                <a16:creationId xmlns:a16="http://schemas.microsoft.com/office/drawing/2014/main" id="{D3570D88-FF17-664B-5ED4-B94300A22A58}"/>
              </a:ext>
            </a:extLst>
          </p:cNvPr>
          <p:cNvSpPr/>
          <p:nvPr userDrawn="1"/>
        </p:nvSpPr>
        <p:spPr>
          <a:xfrm>
            <a:off x="-1696983" y="3318331"/>
            <a:ext cx="5410200" cy="5410200"/>
          </a:xfrm>
          <a:prstGeom prst="ellipse">
            <a:avLst/>
          </a:prstGeom>
          <a:solidFill>
            <a:srgbClr val="2E9CCA">
              <a:alpha val="40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B84299F5-B404-C73D-E391-864D8AE9FB67}"/>
              </a:ext>
            </a:extLst>
          </p:cNvPr>
          <p:cNvSpPr/>
          <p:nvPr userDrawn="1"/>
        </p:nvSpPr>
        <p:spPr>
          <a:xfrm>
            <a:off x="8478785" y="-1576506"/>
            <a:ext cx="5410200" cy="5410200"/>
          </a:xfrm>
          <a:prstGeom prst="ellipse">
            <a:avLst/>
          </a:prstGeom>
          <a:solidFill>
            <a:srgbClr val="464866">
              <a:alpha val="30196"/>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E58DC3F5-A776-A6D4-39D9-02ED8452FAE0}"/>
              </a:ext>
            </a:extLst>
          </p:cNvPr>
          <p:cNvCxnSpPr/>
          <p:nvPr userDrawn="1"/>
        </p:nvCxnSpPr>
        <p:spPr>
          <a:xfrm>
            <a:off x="739366" y="4375925"/>
            <a:ext cx="10127108" cy="0"/>
          </a:xfrm>
          <a:prstGeom prst="line">
            <a:avLst/>
          </a:prstGeom>
          <a:ln w="28575">
            <a:solidFill>
              <a:srgbClr val="2527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6911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361FA6-EFB1-C46A-4CE9-F757619068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AFD6CA2-8E40-F109-7DD4-292AD9FBC8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07DF56-F5B7-BE81-FC8E-44502B75F6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C3F75D-4688-4B8E-9E14-9186137B2A8A}" type="datetimeFigureOut">
              <a:rPr lang="en-GB" smtClean="0"/>
              <a:t>16/11/2025</a:t>
            </a:fld>
            <a:endParaRPr lang="en-GB"/>
          </a:p>
        </p:txBody>
      </p:sp>
      <p:sp>
        <p:nvSpPr>
          <p:cNvPr id="5" name="Footer Placeholder 4">
            <a:extLst>
              <a:ext uri="{FF2B5EF4-FFF2-40B4-BE49-F238E27FC236}">
                <a16:creationId xmlns:a16="http://schemas.microsoft.com/office/drawing/2014/main" id="{7C5F7B8C-6A93-D5E1-DAE8-FC0EA2683F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7987539-A276-3DA7-F7A1-E028A489A5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02D4BE-250B-47A9-AB79-776E42941E3C}" type="slidenum">
              <a:rPr lang="en-GB" smtClean="0"/>
              <a:t>‹#›</a:t>
            </a:fld>
            <a:endParaRPr lang="en-GB"/>
          </a:p>
        </p:txBody>
      </p:sp>
    </p:spTree>
    <p:extLst>
      <p:ext uri="{BB962C8B-B14F-4D97-AF65-F5344CB8AC3E}">
        <p14:creationId xmlns:p14="http://schemas.microsoft.com/office/powerpoint/2010/main" val="3927807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 id="2147483682" r:id="rId15"/>
    <p:sldLayoutId id="2147483683" r:id="rId16"/>
    <p:sldLayoutId id="2147483684" r:id="rId17"/>
    <p:sldLayoutId id="214748368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5F5F5">
            <a:alpha val="10000"/>
          </a:srgbClr>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36C692-B2B4-AA04-134F-2AF94DE462DA}"/>
              </a:ext>
            </a:extLst>
          </p:cNvPr>
          <p:cNvSpPr/>
          <p:nvPr userDrawn="1"/>
        </p:nvSpPr>
        <p:spPr>
          <a:xfrm>
            <a:off x="-1696983" y="3318331"/>
            <a:ext cx="5410200" cy="5410200"/>
          </a:xfrm>
          <a:prstGeom prst="ellipse">
            <a:avLst/>
          </a:prstGeom>
          <a:solidFill>
            <a:srgbClr val="2E9CCA">
              <a:alpha val="40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F065AE3-2C3A-A121-8E69-84D5D8871264}"/>
              </a:ext>
            </a:extLst>
          </p:cNvPr>
          <p:cNvSpPr/>
          <p:nvPr userDrawn="1"/>
        </p:nvSpPr>
        <p:spPr>
          <a:xfrm>
            <a:off x="8478785" y="-1576506"/>
            <a:ext cx="5410200" cy="5410200"/>
          </a:xfrm>
          <a:prstGeom prst="ellipse">
            <a:avLst/>
          </a:prstGeom>
          <a:solidFill>
            <a:srgbClr val="464866">
              <a:alpha val="30196"/>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0C8095CD-5EA4-DD4F-746F-9DBE80460E4D}"/>
              </a:ext>
            </a:extLst>
          </p:cNvPr>
          <p:cNvGrpSpPr/>
          <p:nvPr userDrawn="1"/>
        </p:nvGrpSpPr>
        <p:grpSpPr>
          <a:xfrm>
            <a:off x="-704040" y="0"/>
            <a:ext cx="546100" cy="2257188"/>
            <a:chOff x="11391900" y="2133600"/>
            <a:chExt cx="546100" cy="2257188"/>
          </a:xfrm>
        </p:grpSpPr>
        <p:sp>
          <p:nvSpPr>
            <p:cNvPr id="10" name="Rectangle 9">
              <a:extLst>
                <a:ext uri="{FF2B5EF4-FFF2-40B4-BE49-F238E27FC236}">
                  <a16:creationId xmlns:a16="http://schemas.microsoft.com/office/drawing/2014/main" id="{5BE84AF3-75D7-8AEB-333D-C0482217696F}"/>
                </a:ext>
              </a:extLst>
            </p:cNvPr>
            <p:cNvSpPr/>
            <p:nvPr/>
          </p:nvSpPr>
          <p:spPr>
            <a:xfrm>
              <a:off x="11391900" y="2133600"/>
              <a:ext cx="546100" cy="369332"/>
            </a:xfrm>
            <a:prstGeom prst="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8A21AE6-222E-95CC-34F7-29BE90402033}"/>
                </a:ext>
              </a:extLst>
            </p:cNvPr>
            <p:cNvSpPr/>
            <p:nvPr/>
          </p:nvSpPr>
          <p:spPr>
            <a:xfrm>
              <a:off x="11391900" y="2605564"/>
              <a:ext cx="546100" cy="369332"/>
            </a:xfrm>
            <a:prstGeom prst="rect">
              <a:avLst/>
            </a:prstGeom>
            <a:solidFill>
              <a:srgbClr val="4648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DD23FB4-ECF4-020A-AC70-8BA51C2AB905}"/>
                </a:ext>
              </a:extLst>
            </p:cNvPr>
            <p:cNvSpPr/>
            <p:nvPr/>
          </p:nvSpPr>
          <p:spPr>
            <a:xfrm>
              <a:off x="11391900" y="3077528"/>
              <a:ext cx="546100" cy="369332"/>
            </a:xfrm>
            <a:prstGeom prst="rect">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2FA2BA7F-BDA8-DBCA-CDD9-471490135368}"/>
                </a:ext>
              </a:extLst>
            </p:cNvPr>
            <p:cNvSpPr/>
            <p:nvPr/>
          </p:nvSpPr>
          <p:spPr>
            <a:xfrm>
              <a:off x="11391900" y="3549492"/>
              <a:ext cx="546100" cy="369332"/>
            </a:xfrm>
            <a:prstGeom prst="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624EB427-4A38-EB63-0F04-DE01C855C27B}"/>
                </a:ext>
              </a:extLst>
            </p:cNvPr>
            <p:cNvSpPr/>
            <p:nvPr/>
          </p:nvSpPr>
          <p:spPr>
            <a:xfrm>
              <a:off x="11391900" y="4021456"/>
              <a:ext cx="546100" cy="369332"/>
            </a:xfrm>
            <a:prstGeom prst="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419652691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5" r:id="rId17"/>
  </p:sldLayoutIdLst>
  <p:txStyles>
    <p:titleStyle>
      <a:lvl1pPr marL="0" algn="ctr" defTabSz="914446" rtl="0" eaLnBrk="1" latinLnBrk="0" hangingPunct="1">
        <a:lnSpc>
          <a:spcPct val="90000"/>
        </a:lnSpc>
        <a:spcBef>
          <a:spcPct val="0"/>
        </a:spcBef>
        <a:buNone/>
        <a:defRPr lang="en-US" sz="4000" b="1" kern="1200" dirty="0">
          <a:solidFill>
            <a:srgbClr val="EF7C00"/>
          </a:solidFill>
          <a:latin typeface="Arial" panose="020B0604020202020204" pitchFamily="34" charset="0"/>
          <a:ea typeface="+mj-ea"/>
          <a:cs typeface="Arial" panose="020B0604020202020204" pitchFamily="34" charset="0"/>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5">
          <p15:clr>
            <a:srgbClr val="F26B43"/>
          </p15:clr>
        </p15:guide>
        <p15:guide id="2" orient="horz" pos="448">
          <p15:clr>
            <a:srgbClr val="F26B43"/>
          </p15:clr>
        </p15:guide>
        <p15:guide id="3" orient="horz" pos="592">
          <p15:clr>
            <a:srgbClr val="F26B43"/>
          </p15:clr>
        </p15:guide>
        <p15:guide id="4" orient="horz" pos="7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hyperlink" Target="https://eduficdigitalchennai.sharepoint.com/sites/VIT_POC/Shared%20Documents/Forms/AllItems.aspx?id=%2Fsites%2FVIT%5FPOC%2FShared%20Documents%2FIITM%2FUpdate%2FIITM%5FNew%20Updates&amp;viewid=19c08f3b%2D1a47%2D4333%2Dae8a%2D24f97b9eb04c&amp;p=true&amp;ga=1"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C_D9370810.xm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microsoft.com/office/2018/10/relationships/comments" Target="../comments/modernComment_985_92F7A90F.xml"/><Relationship Id="rId2" Type="http://schemas.openxmlformats.org/officeDocument/2006/relationships/notesSlide" Target="../notesSlides/notesSlide6.xml"/><Relationship Id="rId1" Type="http://schemas.openxmlformats.org/officeDocument/2006/relationships/slideLayout" Target="../slideLayouts/slideLayout32.xml"/><Relationship Id="rId5" Type="http://schemas.openxmlformats.org/officeDocument/2006/relationships/image" Target="../media/image16.pn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3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sv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44.sv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 Id="rId14" Type="http://schemas.openxmlformats.org/officeDocument/2006/relationships/image" Target="../media/image52.sv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19.xml"/><Relationship Id="rId5" Type="http://schemas.openxmlformats.org/officeDocument/2006/relationships/image" Target="../media/image58.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25.xml"/><Relationship Id="rId1" Type="http://schemas.openxmlformats.org/officeDocument/2006/relationships/slideLayout" Target="../slideLayouts/slideLayout19.xml"/><Relationship Id="rId6" Type="http://schemas.openxmlformats.org/officeDocument/2006/relationships/image" Target="../media/image65.sv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1.xml"/><Relationship Id="rId1" Type="http://schemas.openxmlformats.org/officeDocument/2006/relationships/slideLayout" Target="../slideLayouts/slideLayout19.xml"/><Relationship Id="rId5" Type="http://schemas.openxmlformats.org/officeDocument/2006/relationships/image" Target="../media/image76.png"/><Relationship Id="rId4" Type="http://schemas.openxmlformats.org/officeDocument/2006/relationships/image" Target="../media/image75.png"/></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2.xml"/><Relationship Id="rId1" Type="http://schemas.openxmlformats.org/officeDocument/2006/relationships/slideLayout" Target="../slideLayouts/slideLayout19.xml"/><Relationship Id="rId4" Type="http://schemas.openxmlformats.org/officeDocument/2006/relationships/image" Target="../media/image7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19.xml"/><Relationship Id="rId4" Type="http://schemas.openxmlformats.org/officeDocument/2006/relationships/image" Target="../media/image80.png"/></Relationships>
</file>

<file path=ppt/slides/_rels/slide4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5.xml"/><Relationship Id="rId1" Type="http://schemas.openxmlformats.org/officeDocument/2006/relationships/slideLayout" Target="../slideLayouts/slideLayout19.xml"/><Relationship Id="rId4" Type="http://schemas.openxmlformats.org/officeDocument/2006/relationships/image" Target="../media/image82.png"/></Relationships>
</file>

<file path=ppt/slides/_rels/slide4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6.xml"/><Relationship Id="rId1" Type="http://schemas.openxmlformats.org/officeDocument/2006/relationships/slideLayout" Target="../slideLayouts/slideLayout19.xml"/><Relationship Id="rId5" Type="http://schemas.openxmlformats.org/officeDocument/2006/relationships/image" Target="../media/image85.png"/><Relationship Id="rId4" Type="http://schemas.openxmlformats.org/officeDocument/2006/relationships/image" Target="../media/image84.png"/></Relationships>
</file>

<file path=ppt/slides/_rels/slide45.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37.xml"/><Relationship Id="rId1" Type="http://schemas.openxmlformats.org/officeDocument/2006/relationships/slideLayout" Target="../slideLayouts/slideLayout19.xml"/><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87.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38.xml"/><Relationship Id="rId1" Type="http://schemas.openxmlformats.org/officeDocument/2006/relationships/slideLayout" Target="../slideLayouts/slideLayout19.xml"/><Relationship Id="rId6" Type="http://schemas.openxmlformats.org/officeDocument/2006/relationships/image" Target="../media/image95.svg"/><Relationship Id="rId5" Type="http://schemas.openxmlformats.org/officeDocument/2006/relationships/image" Target="../media/image94.png"/><Relationship Id="rId10" Type="http://schemas.openxmlformats.org/officeDocument/2006/relationships/image" Target="../media/image99.svg"/><Relationship Id="rId4" Type="http://schemas.openxmlformats.org/officeDocument/2006/relationships/image" Target="../media/image93.svg"/><Relationship Id="rId9" Type="http://schemas.openxmlformats.org/officeDocument/2006/relationships/image" Target="../media/image98.png"/></Relationships>
</file>

<file path=ppt/slides/_rels/slide4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9.xml"/><Relationship Id="rId1" Type="http://schemas.openxmlformats.org/officeDocument/2006/relationships/slideLayout" Target="../slideLayouts/slideLayout19.xml"/><Relationship Id="rId4" Type="http://schemas.openxmlformats.org/officeDocument/2006/relationships/image" Target="../media/image101.png"/></Relationships>
</file>

<file path=ppt/slides/_rels/slide4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0.xml"/><Relationship Id="rId1" Type="http://schemas.openxmlformats.org/officeDocument/2006/relationships/slideLayout" Target="../slideLayouts/slideLayout19.xml"/><Relationship Id="rId5" Type="http://schemas.openxmlformats.org/officeDocument/2006/relationships/image" Target="../media/image104.png"/><Relationship Id="rId4" Type="http://schemas.openxmlformats.org/officeDocument/2006/relationships/image" Target="../media/image103.png"/></Relationships>
</file>

<file path=ppt/slides/_rels/slide5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9.xml"/><Relationship Id="rId4" Type="http://schemas.openxmlformats.org/officeDocument/2006/relationships/image" Target="../media/image106.png"/></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44.xml"/><Relationship Id="rId1" Type="http://schemas.openxmlformats.org/officeDocument/2006/relationships/slideLayout" Target="../slideLayouts/slideLayout19.xml"/><Relationship Id="rId6" Type="http://schemas.openxmlformats.org/officeDocument/2006/relationships/image" Target="../media/image112.svg"/><Relationship Id="rId5" Type="http://schemas.openxmlformats.org/officeDocument/2006/relationships/image" Target="../media/image111.png"/><Relationship Id="rId10" Type="http://schemas.openxmlformats.org/officeDocument/2006/relationships/image" Target="../media/image116.svg"/><Relationship Id="rId4" Type="http://schemas.openxmlformats.org/officeDocument/2006/relationships/image" Target="../media/image110.svg"/><Relationship Id="rId9" Type="http://schemas.openxmlformats.org/officeDocument/2006/relationships/image" Target="../media/image115.png"/></Relationships>
</file>

<file path=ppt/slides/_rels/slide5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8.xml"/><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9.xml"/><Relationship Id="rId1" Type="http://schemas.openxmlformats.org/officeDocument/2006/relationships/slideLayout" Target="../slideLayouts/slideLayout19.xml"/><Relationship Id="rId4" Type="http://schemas.openxmlformats.org/officeDocument/2006/relationships/image" Target="../media/image119.png"/></Relationships>
</file>

<file path=ppt/slides/_rels/slide6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0.xml"/><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32.xml"/></Relationships>
</file>

<file path=ppt/slides/_rels/slide6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52.xml"/><Relationship Id="rId1" Type="http://schemas.openxmlformats.org/officeDocument/2006/relationships/slideLayout" Target="../slideLayouts/slideLayout32.xml"/></Relationships>
</file>

<file path=ppt/slides/_rels/slide6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53.xml"/><Relationship Id="rId1" Type="http://schemas.openxmlformats.org/officeDocument/2006/relationships/slideLayout" Target="../slideLayouts/slideLayout19.xml"/><Relationship Id="rId4" Type="http://schemas.openxmlformats.org/officeDocument/2006/relationships/image" Target="../media/image125.png"/></Relationships>
</file>

<file path=ppt/slides/_rels/slide6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4.xml"/><Relationship Id="rId1" Type="http://schemas.openxmlformats.org/officeDocument/2006/relationships/slideLayout" Target="../slideLayouts/slideLayout19.xml"/><Relationship Id="rId5" Type="http://schemas.openxmlformats.org/officeDocument/2006/relationships/image" Target="../media/image128.png"/><Relationship Id="rId4" Type="http://schemas.openxmlformats.org/officeDocument/2006/relationships/image" Target="../media/image12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6.xml"/><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7.xml"/><Relationship Id="rId1" Type="http://schemas.openxmlformats.org/officeDocument/2006/relationships/slideLayout" Target="../slideLayouts/slideLayout19.xml"/><Relationship Id="rId5" Type="http://schemas.openxmlformats.org/officeDocument/2006/relationships/image" Target="../media/image132.png"/><Relationship Id="rId4" Type="http://schemas.openxmlformats.org/officeDocument/2006/relationships/image" Target="../media/image131.png"/></Relationships>
</file>

<file path=ppt/slides/_rels/slide6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8.xml"/><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60.xml"/><Relationship Id="rId1" Type="http://schemas.openxmlformats.org/officeDocument/2006/relationships/slideLayout" Target="../slideLayouts/slideLayout19.xml"/><Relationship Id="rId4" Type="http://schemas.openxmlformats.org/officeDocument/2006/relationships/image" Target="../media/image135.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2.xml"/><Relationship Id="rId5" Type="http://schemas.openxmlformats.org/officeDocument/2006/relationships/image" Target="../media/image136.png"/><Relationship Id="rId4" Type="http://schemas.openxmlformats.org/officeDocument/2006/relationships/image" Target="../media/image1330.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63.xml"/><Relationship Id="rId1" Type="http://schemas.openxmlformats.org/officeDocument/2006/relationships/slideLayout" Target="../slideLayouts/slideLayout19.xml"/><Relationship Id="rId4" Type="http://schemas.openxmlformats.org/officeDocument/2006/relationships/image" Target="../media/image138.png"/></Relationships>
</file>

<file path=ppt/slides/_rels/slide7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64.xml"/><Relationship Id="rId1" Type="http://schemas.openxmlformats.org/officeDocument/2006/relationships/slideLayout" Target="../slideLayouts/slideLayout19.xml"/><Relationship Id="rId4" Type="http://schemas.openxmlformats.org/officeDocument/2006/relationships/image" Target="../media/image140.png"/></Relationships>
</file>

<file path=ppt/slides/_rels/slide7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65.xml"/><Relationship Id="rId1" Type="http://schemas.openxmlformats.org/officeDocument/2006/relationships/slideLayout" Target="../slideLayouts/slideLayout19.xml"/><Relationship Id="rId4" Type="http://schemas.openxmlformats.org/officeDocument/2006/relationships/image" Target="../media/image142.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67.xml"/><Relationship Id="rId1" Type="http://schemas.openxmlformats.org/officeDocument/2006/relationships/slideLayout" Target="../slideLayouts/slideLayout19.xml"/><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image" Target="../media/image144.sv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69.xml"/><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8" Type="http://schemas.openxmlformats.org/officeDocument/2006/relationships/image" Target="../media/image153.sv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notesSlide" Target="../notesSlides/notesSlide71.xml"/><Relationship Id="rId1" Type="http://schemas.openxmlformats.org/officeDocument/2006/relationships/slideLayout" Target="../slideLayouts/slideLayout19.xml"/><Relationship Id="rId6" Type="http://schemas.openxmlformats.org/officeDocument/2006/relationships/image" Target="../media/image151.svg"/><Relationship Id="rId5" Type="http://schemas.openxmlformats.org/officeDocument/2006/relationships/image" Target="../media/image150.png"/><Relationship Id="rId4" Type="http://schemas.openxmlformats.org/officeDocument/2006/relationships/image" Target="../media/image149.sv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8" Type="http://schemas.openxmlformats.org/officeDocument/2006/relationships/image" Target="../media/image159.sv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notesSlide" Target="../notesSlides/notesSlide72.xml"/><Relationship Id="rId1" Type="http://schemas.openxmlformats.org/officeDocument/2006/relationships/slideLayout" Target="../slideLayouts/slideLayout19.xml"/><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155.svg"/></Relationships>
</file>

<file path=ppt/slides/_rels/slide8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3.xml"/><Relationship Id="rId1" Type="http://schemas.openxmlformats.org/officeDocument/2006/relationships/slideLayout" Target="../slideLayouts/slideLayout19.xml"/><Relationship Id="rId6" Type="http://schemas.openxmlformats.org/officeDocument/2006/relationships/image" Target="../media/image163.svg"/><Relationship Id="rId5" Type="http://schemas.openxmlformats.org/officeDocument/2006/relationships/image" Target="../media/image162.png"/><Relationship Id="rId4" Type="http://schemas.openxmlformats.org/officeDocument/2006/relationships/image" Target="../media/image161.svg"/></Relationships>
</file>

<file path=ppt/slides/_rels/slide8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74.xml"/><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76.xml"/><Relationship Id="rId1" Type="http://schemas.openxmlformats.org/officeDocument/2006/relationships/slideLayout" Target="../slideLayouts/slideLayout32.xml"/></Relationships>
</file>

<file path=ppt/slides/_rels/slide9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77.xml"/><Relationship Id="rId1" Type="http://schemas.openxmlformats.org/officeDocument/2006/relationships/slideLayout" Target="../slideLayouts/slideLayout19.xml"/><Relationship Id="rId5" Type="http://schemas.openxmlformats.org/officeDocument/2006/relationships/image" Target="../media/image168.png"/><Relationship Id="rId4" Type="http://schemas.openxmlformats.org/officeDocument/2006/relationships/image" Target="../media/image167.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79.xml"/><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81.xml"/><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82.xml"/><Relationship Id="rId1" Type="http://schemas.openxmlformats.org/officeDocument/2006/relationships/slideLayout" Target="../slideLayouts/slideLayout33.xml"/><Relationship Id="rId4" Type="http://schemas.openxmlformats.org/officeDocument/2006/relationships/image" Target="../media/image172.png"/></Relationships>
</file>

<file path=ppt/slides/_rels/slide97.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83.xml"/><Relationship Id="rId1" Type="http://schemas.openxmlformats.org/officeDocument/2006/relationships/slideLayout" Target="../slideLayouts/slideLayout19.xml"/><Relationship Id="rId4" Type="http://schemas.openxmlformats.org/officeDocument/2006/relationships/image" Target="../media/image174.png"/></Relationships>
</file>

<file path=ppt/slides/_rels/slide98.xml.rels><?xml version="1.0" encoding="UTF-8" standalone="yes"?>
<Relationships xmlns="http://schemas.openxmlformats.org/package/2006/relationships"><Relationship Id="rId8" Type="http://schemas.openxmlformats.org/officeDocument/2006/relationships/image" Target="../media/image180.svg"/><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notesSlide" Target="../notesSlides/notesSlide84.xml"/><Relationship Id="rId1" Type="http://schemas.openxmlformats.org/officeDocument/2006/relationships/slideLayout" Target="../slideLayouts/slideLayout19.xml"/><Relationship Id="rId6" Type="http://schemas.openxmlformats.org/officeDocument/2006/relationships/image" Target="../media/image178.svg"/><Relationship Id="rId5" Type="http://schemas.openxmlformats.org/officeDocument/2006/relationships/image" Target="../media/image177.png"/><Relationship Id="rId10" Type="http://schemas.openxmlformats.org/officeDocument/2006/relationships/image" Target="../media/image182.svg"/><Relationship Id="rId4" Type="http://schemas.openxmlformats.org/officeDocument/2006/relationships/image" Target="../media/image176.svg"/><Relationship Id="rId9" Type="http://schemas.openxmlformats.org/officeDocument/2006/relationships/image" Target="../media/image181.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9.xml"/></Relationships>
</file>

<file path=ppt/slides/_rels/slide100.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86.xml"/><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87.xml"/><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88.xml"/><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9.xml"/></Relationships>
</file>

<file path=ppt/slides/_rels/slide104.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90.xml"/><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92.xml"/><Relationship Id="rId1" Type="http://schemas.openxmlformats.org/officeDocument/2006/relationships/slideLayout" Target="../slideLayouts/slideLayout19.xml"/></Relationships>
</file>

<file path=ppt/slides/_rels/slide107.xml.rels><?xml version="1.0" encoding="UTF-8" standalone="yes"?>
<Relationships xmlns="http://schemas.openxmlformats.org/package/2006/relationships"><Relationship Id="rId8" Type="http://schemas.openxmlformats.org/officeDocument/2006/relationships/image" Target="../media/image193.svg"/><Relationship Id="rId3" Type="http://schemas.openxmlformats.org/officeDocument/2006/relationships/image" Target="../media/image188.png"/><Relationship Id="rId7" Type="http://schemas.openxmlformats.org/officeDocument/2006/relationships/image" Target="../media/image192.png"/><Relationship Id="rId2" Type="http://schemas.openxmlformats.org/officeDocument/2006/relationships/notesSlide" Target="../notesSlides/notesSlide93.xml"/><Relationship Id="rId1" Type="http://schemas.openxmlformats.org/officeDocument/2006/relationships/slideLayout" Target="../slideLayouts/slideLayout19.xml"/><Relationship Id="rId6" Type="http://schemas.openxmlformats.org/officeDocument/2006/relationships/image" Target="../media/image191.svg"/><Relationship Id="rId5" Type="http://schemas.openxmlformats.org/officeDocument/2006/relationships/image" Target="../media/image190.png"/><Relationship Id="rId10" Type="http://schemas.openxmlformats.org/officeDocument/2006/relationships/image" Target="../media/image195.svg"/><Relationship Id="rId4" Type="http://schemas.openxmlformats.org/officeDocument/2006/relationships/image" Target="../media/image189.svg"/><Relationship Id="rId9" Type="http://schemas.openxmlformats.org/officeDocument/2006/relationships/image" Target="../media/image19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9.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94.xml"/><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F1B2868-CC79-C07D-E1F7-1A218C26B05E}"/>
              </a:ext>
            </a:extLst>
          </p:cNvPr>
          <p:cNvSpPr>
            <a:spLocks noGrp="1"/>
          </p:cNvSpPr>
          <p:nvPr>
            <p:ph type="body" sz="quarter" idx="12"/>
          </p:nvPr>
        </p:nvSpPr>
        <p:spPr>
          <a:xfrm>
            <a:off x="3852863" y="400050"/>
            <a:ext cx="7731125" cy="1349375"/>
          </a:xfrm>
        </p:spPr>
        <p:txBody>
          <a:bodyPr/>
          <a:lstStyle/>
          <a:p>
            <a:r>
              <a:rPr lang="en-US" sz="3200" b="1" dirty="0"/>
              <a:t>Professional Certificate </a:t>
            </a:r>
            <a:r>
              <a:rPr lang="en-US" sz="3200" b="1" dirty="0" err="1"/>
              <a:t>Programme</a:t>
            </a:r>
            <a:r>
              <a:rPr lang="en-US" sz="3200" b="1" dirty="0"/>
              <a:t> in Agentic AI</a:t>
            </a:r>
            <a:r>
              <a:rPr lang="en-US" dirty="0"/>
              <a:t> and Applications</a:t>
            </a:r>
            <a:endParaRPr lang="en-US" sz="3200" b="1" dirty="0"/>
          </a:p>
        </p:txBody>
      </p:sp>
    </p:spTree>
    <p:extLst>
      <p:ext uri="{BB962C8B-B14F-4D97-AF65-F5344CB8AC3E}">
        <p14:creationId xmlns:p14="http://schemas.microsoft.com/office/powerpoint/2010/main" val="544941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3F440C-590D-527C-0A07-88DC764A2AA5}"/>
              </a:ext>
            </a:extLst>
          </p:cNvPr>
          <p:cNvSpPr>
            <a:spLocks noGrp="1"/>
          </p:cNvSpPr>
          <p:nvPr>
            <p:ph type="body" sz="quarter" idx="12"/>
          </p:nvPr>
        </p:nvSpPr>
        <p:spPr/>
        <p:txBody>
          <a:bodyPr>
            <a:normAutofit/>
          </a:bodyPr>
          <a:lstStyle/>
          <a:p>
            <a:r>
              <a:rPr lang="en-US" sz="4400" dirty="0"/>
              <a:t>Data Types, Variables, Control Flow </a:t>
            </a:r>
            <a:r>
              <a:rPr lang="en-US" sz="4400"/>
              <a:t>&amp; Functions</a:t>
            </a:r>
            <a:endParaRPr lang="en-IN" sz="4400" dirty="0"/>
          </a:p>
        </p:txBody>
      </p:sp>
      <p:sp>
        <p:nvSpPr>
          <p:cNvPr id="4" name="TextBox 3">
            <a:extLst>
              <a:ext uri="{FF2B5EF4-FFF2-40B4-BE49-F238E27FC236}">
                <a16:creationId xmlns:a16="http://schemas.microsoft.com/office/drawing/2014/main" id="{942C0670-457D-4098-DABB-C392153D9749}"/>
              </a:ext>
            </a:extLst>
          </p:cNvPr>
          <p:cNvSpPr txBox="1"/>
          <p:nvPr/>
        </p:nvSpPr>
        <p:spPr>
          <a:xfrm>
            <a:off x="3027948" y="3464913"/>
            <a:ext cx="6120062" cy="369332"/>
          </a:xfrm>
          <a:prstGeom prst="rect">
            <a:avLst/>
          </a:prstGeom>
          <a:noFill/>
        </p:spPr>
        <p:txBody>
          <a:bodyPr wrap="square">
            <a:spAutoFit/>
          </a:bodyPr>
          <a:lstStyle/>
          <a:p>
            <a:r>
              <a:rPr lang="en-IN" dirty="0">
                <a:hlinkClick r:id="rId2"/>
              </a:rPr>
              <a:t>VIT_POC - Documents - </a:t>
            </a:r>
            <a:r>
              <a:rPr lang="en-IN" dirty="0" err="1">
                <a:hlinkClick r:id="rId2"/>
              </a:rPr>
              <a:t>IITM_New</a:t>
            </a:r>
            <a:r>
              <a:rPr lang="en-IN" dirty="0">
                <a:hlinkClick r:id="rId2"/>
              </a:rPr>
              <a:t> Updates - All Documents</a:t>
            </a:r>
            <a:endParaRPr lang="en-GB" dirty="0"/>
          </a:p>
        </p:txBody>
      </p:sp>
      <p:sp>
        <p:nvSpPr>
          <p:cNvPr id="6" name="TextBox 5">
            <a:extLst>
              <a:ext uri="{FF2B5EF4-FFF2-40B4-BE49-F238E27FC236}">
                <a16:creationId xmlns:a16="http://schemas.microsoft.com/office/drawing/2014/main" id="{34DE392C-057D-B711-2C1F-0D3D7D47AE5A}"/>
              </a:ext>
            </a:extLst>
          </p:cNvPr>
          <p:cNvSpPr txBox="1"/>
          <p:nvPr/>
        </p:nvSpPr>
        <p:spPr>
          <a:xfrm>
            <a:off x="3027948" y="3464913"/>
            <a:ext cx="6120062" cy="369332"/>
          </a:xfrm>
          <a:prstGeom prst="rect">
            <a:avLst/>
          </a:prstGeom>
          <a:noFill/>
        </p:spPr>
        <p:txBody>
          <a:bodyPr wrap="square">
            <a:spAutoFit/>
          </a:bodyPr>
          <a:lstStyle/>
          <a:p>
            <a:r>
              <a:rPr lang="en-IN" dirty="0">
                <a:hlinkClick r:id="rId2"/>
              </a:rPr>
              <a:t>VIT_POC - Documents - </a:t>
            </a:r>
            <a:r>
              <a:rPr lang="en-IN" dirty="0" err="1">
                <a:hlinkClick r:id="rId2"/>
              </a:rPr>
              <a:t>IITM_New</a:t>
            </a:r>
            <a:r>
              <a:rPr lang="en-IN" dirty="0">
                <a:hlinkClick r:id="rId2"/>
              </a:rPr>
              <a:t> Updates - All Documents</a:t>
            </a:r>
            <a:endParaRPr lang="en-GB" dirty="0"/>
          </a:p>
        </p:txBody>
      </p:sp>
    </p:spTree>
    <p:extLst>
      <p:ext uri="{BB962C8B-B14F-4D97-AF65-F5344CB8AC3E}">
        <p14:creationId xmlns:p14="http://schemas.microsoft.com/office/powerpoint/2010/main" val="3014377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49872-3DFF-A3A1-BC22-ED290D4F50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A8FC51-DD82-DFC9-D66F-8807F868C0F5}"/>
              </a:ext>
            </a:extLst>
          </p:cNvPr>
          <p:cNvSpPr>
            <a:spLocks noGrp="1"/>
          </p:cNvSpPr>
          <p:nvPr>
            <p:ph type="title"/>
          </p:nvPr>
        </p:nvSpPr>
        <p:spPr/>
        <p:txBody>
          <a:bodyPr/>
          <a:lstStyle/>
          <a:p>
            <a:r>
              <a:rPr lang="en-US" dirty="0"/>
              <a:t>Revisit the Learning So Far</a:t>
            </a:r>
            <a:endParaRPr lang="en-GB" dirty="0"/>
          </a:p>
        </p:txBody>
      </p:sp>
      <p:sp>
        <p:nvSpPr>
          <p:cNvPr id="4" name="Text Placeholder 3">
            <a:extLst>
              <a:ext uri="{FF2B5EF4-FFF2-40B4-BE49-F238E27FC236}">
                <a16:creationId xmlns:a16="http://schemas.microsoft.com/office/drawing/2014/main" id="{7D983698-F039-08F8-E4CE-CFB3B1AE93E1}"/>
              </a:ext>
            </a:extLst>
          </p:cNvPr>
          <p:cNvSpPr>
            <a:spLocks noGrp="1"/>
          </p:cNvSpPr>
          <p:nvPr>
            <p:ph type="body" sz="quarter" idx="10"/>
          </p:nvPr>
        </p:nvSpPr>
        <p:spPr>
          <a:xfrm>
            <a:off x="525409" y="2369066"/>
            <a:ext cx="11778886" cy="4627418"/>
          </a:xfrm>
        </p:spPr>
        <p:txBody>
          <a:bodyPr lIns="91440" tIns="45720" rIns="91440" bIns="45720" anchor="t">
            <a:noAutofit/>
          </a:bodyPr>
          <a:lstStyle/>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How AI has evolved over time, from early rule-based systems to today’s intelligent models</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What Agentic AI is and how autonomous, goal-driven systems differ from traditional      approaches</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The key limitations and advantages of current AI technologies in practical use</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Real-world examples demonstrating how Agentic AI is applied across industries</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The core components that enable Agentic AI systems to plan, reason and act independently</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How to get started with ChatGPT and Python for building simple AI-driven workflows</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The basics of writing Python scripts to automate tasks and interact with AI tools</a:t>
            </a:r>
            <a:endParaRPr lang="en-IN" sz="1800" dirty="0">
              <a:solidFill>
                <a:srgbClr val="25274D"/>
              </a:solidFill>
            </a:endParaRPr>
          </a:p>
          <a:p>
            <a:pPr marL="285750" indent="-285750">
              <a:lnSpc>
                <a:spcPct val="100000"/>
              </a:lnSpc>
              <a:spcBef>
                <a:spcPts val="0"/>
              </a:spcBef>
              <a:buFont typeface="Arial" panose="020B0604020202020204" pitchFamily="34" charset="0"/>
              <a:buChar char="•"/>
            </a:pPr>
            <a:endParaRPr lang="en-GB" sz="1800" dirty="0">
              <a:solidFill>
                <a:srgbClr val="25274D"/>
              </a:solidFill>
            </a:endParaRPr>
          </a:p>
        </p:txBody>
      </p:sp>
      <p:sp>
        <p:nvSpPr>
          <p:cNvPr id="2" name="Text 1">
            <a:extLst>
              <a:ext uri="{FF2B5EF4-FFF2-40B4-BE49-F238E27FC236}">
                <a16:creationId xmlns:a16="http://schemas.microsoft.com/office/drawing/2014/main" id="{143BCF80-BCCD-7406-9C36-D142023110BE}"/>
              </a:ext>
            </a:extLst>
          </p:cNvPr>
          <p:cNvSpPr/>
          <p:nvPr/>
        </p:nvSpPr>
        <p:spPr>
          <a:xfrm>
            <a:off x="723900" y="1325082"/>
            <a:ext cx="10718101" cy="750261"/>
          </a:xfrm>
          <a:prstGeom prst="rect">
            <a:avLst/>
          </a:prstGeom>
        </p:spPr>
        <p:txBody>
          <a:bodyPr/>
          <a:lstStyle/>
          <a:p>
            <a:pPr defTabSz="914446">
              <a:lnSpc>
                <a:spcPct val="90000"/>
              </a:lnSpc>
              <a:spcBef>
                <a:spcPts val="1000"/>
              </a:spcBef>
            </a:pPr>
            <a:r>
              <a:rPr lang="en-US" sz="2400" dirty="0">
                <a:solidFill>
                  <a:srgbClr val="2E9CCA"/>
                </a:solidFill>
                <a:latin typeface="Montserrat" panose="00000500000000000000" pitchFamily="2" charset="0"/>
              </a:rPr>
              <a:t>Let’s take a quick look at the key ideas and concepts you have explored in your learning journey.</a:t>
            </a:r>
          </a:p>
        </p:txBody>
      </p:sp>
    </p:spTree>
    <p:extLst>
      <p:ext uri="{BB962C8B-B14F-4D97-AF65-F5344CB8AC3E}">
        <p14:creationId xmlns:p14="http://schemas.microsoft.com/office/powerpoint/2010/main" val="3929151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1000"/>
                                        <p:tgtEl>
                                          <p:spTgt spid="4">
                                            <p:txEl>
                                              <p:pRg st="2" end="2"/>
                                            </p:txEl>
                                          </p:spTgt>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1000"/>
                                        <p:tgtEl>
                                          <p:spTgt spid="4">
                                            <p:txEl>
                                              <p:pRg st="6" end="6"/>
                                            </p:txEl>
                                          </p:spTgt>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4">
                                            <p:txEl>
                                              <p:pRg st="8" end="8"/>
                                            </p:txEl>
                                          </p:spTgt>
                                        </p:tgtEl>
                                        <p:attrNameLst>
                                          <p:attrName>style.visibility</p:attrName>
                                        </p:attrNameLst>
                                      </p:cBhvr>
                                      <p:to>
                                        <p:strVal val="visible"/>
                                      </p:to>
                                    </p:set>
                                    <p:animEffect transition="in" filter="fade">
                                      <p:cBhvr>
                                        <p:cTn id="25" dur="1000"/>
                                        <p:tgtEl>
                                          <p:spTgt spid="4">
                                            <p:txEl>
                                              <p:pRg st="8" end="8"/>
                                            </p:txEl>
                                          </p:spTgt>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4">
                                            <p:txEl>
                                              <p:pRg st="10" end="10"/>
                                            </p:txEl>
                                          </p:spTgt>
                                        </p:tgtEl>
                                        <p:attrNameLst>
                                          <p:attrName>style.visibility</p:attrName>
                                        </p:attrNameLst>
                                      </p:cBhvr>
                                      <p:to>
                                        <p:strVal val="visible"/>
                                      </p:to>
                                    </p:set>
                                    <p:animEffect transition="in" filter="fade">
                                      <p:cBhvr>
                                        <p:cTn id="28" dur="1000"/>
                                        <p:tgtEl>
                                          <p:spTgt spid="4">
                                            <p:txEl>
                                              <p:pRg st="10" end="10"/>
                                            </p:txEl>
                                          </p:spTgt>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4">
                                            <p:txEl>
                                              <p:pRg st="12" end="12"/>
                                            </p:txEl>
                                          </p:spTgt>
                                        </p:tgtEl>
                                        <p:attrNameLst>
                                          <p:attrName>style.visibility</p:attrName>
                                        </p:attrNameLst>
                                      </p:cBhvr>
                                      <p:to>
                                        <p:strVal val="visible"/>
                                      </p:to>
                                    </p:set>
                                    <p:animEffect transition="in" filter="fade">
                                      <p:cBhvr>
                                        <p:cTn id="31" dur="10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1F90-DE56-CE03-0C89-735203072A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620FE0-B289-D9DA-EEC7-A00E007DA4ED}"/>
              </a:ext>
            </a:extLst>
          </p:cNvPr>
          <p:cNvSpPr>
            <a:spLocks noGrp="1"/>
          </p:cNvSpPr>
          <p:nvPr>
            <p:ph type="title"/>
          </p:nvPr>
        </p:nvSpPr>
        <p:spPr/>
        <p:txBody>
          <a:bodyPr/>
          <a:lstStyle/>
          <a:p>
            <a:r>
              <a:rPr lang="en-US" dirty="0"/>
              <a:t>Revisit the Learning So Far</a:t>
            </a:r>
            <a:endParaRPr lang="en-GB" dirty="0"/>
          </a:p>
        </p:txBody>
      </p:sp>
      <p:sp>
        <p:nvSpPr>
          <p:cNvPr id="4" name="Text Placeholder 3">
            <a:extLst>
              <a:ext uri="{FF2B5EF4-FFF2-40B4-BE49-F238E27FC236}">
                <a16:creationId xmlns:a16="http://schemas.microsoft.com/office/drawing/2014/main" id="{416F737F-68E1-3E0E-7428-36600E1CBCB3}"/>
              </a:ext>
            </a:extLst>
          </p:cNvPr>
          <p:cNvSpPr>
            <a:spLocks noGrp="1"/>
          </p:cNvSpPr>
          <p:nvPr>
            <p:ph type="body" sz="quarter" idx="10"/>
          </p:nvPr>
        </p:nvSpPr>
        <p:spPr>
          <a:xfrm>
            <a:off x="525409" y="2369066"/>
            <a:ext cx="11778886" cy="4627418"/>
          </a:xfrm>
        </p:spPr>
        <p:txBody>
          <a:bodyPr lIns="91440" tIns="45720" rIns="91440" bIns="45720" anchor="t">
            <a:noAutofit/>
          </a:bodyPr>
          <a:lstStyle/>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How to prompt, debug and reflect effectively when working with ChatGPT</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The principles of prompt engineering for clearer, more accurate AI responses</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How to use AI tools to support debugging and improve problem-solving efficiency</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A group exercise designed to </a:t>
            </a:r>
            <a:r>
              <a:rPr lang="en-US" sz="1800" dirty="0" err="1">
                <a:solidFill>
                  <a:srgbClr val="25274D"/>
                </a:solidFill>
                <a:latin typeface="Montserrat"/>
              </a:rPr>
              <a:t>practise</a:t>
            </a:r>
            <a:r>
              <a:rPr lang="en-US" sz="1800" dirty="0">
                <a:solidFill>
                  <a:srgbClr val="25274D"/>
                </a:solidFill>
                <a:latin typeface="Montserrat"/>
              </a:rPr>
              <a:t> prompting, collaboration and applied AI skills</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Common pitfalls when using ChatGPT and how to avoid them</a:t>
            </a:r>
          </a:p>
          <a:p>
            <a:pPr marL="285750" indent="-285750">
              <a:lnSpc>
                <a:spcPct val="100000"/>
              </a:lnSpc>
              <a:spcBef>
                <a:spcPts val="0"/>
              </a:spcBef>
              <a:buFont typeface="Arial" panose="020B0604020202020204" pitchFamily="34" charset="0"/>
              <a:buChar char="•"/>
            </a:pPr>
            <a:endParaRPr lang="en-US" sz="1800" dirty="0">
              <a:solidFill>
                <a:srgbClr val="25274D"/>
              </a:solidFill>
              <a:latin typeface="Montserrat"/>
            </a:endParaRPr>
          </a:p>
          <a:p>
            <a:pPr marL="285750" indent="-285750">
              <a:lnSpc>
                <a:spcPct val="100000"/>
              </a:lnSpc>
              <a:spcBef>
                <a:spcPts val="0"/>
              </a:spcBef>
              <a:buFont typeface="Arial" panose="020B0604020202020204" pitchFamily="34" charset="0"/>
              <a:buChar char="•"/>
            </a:pPr>
            <a:r>
              <a:rPr lang="en-US" sz="1800" dirty="0">
                <a:solidFill>
                  <a:srgbClr val="25274D"/>
                </a:solidFill>
                <a:latin typeface="Montserrat"/>
              </a:rPr>
              <a:t>An activity session to consolidate learning through hands-on exploration</a:t>
            </a:r>
            <a:endParaRPr lang="en-GB" sz="1800" dirty="0">
              <a:solidFill>
                <a:srgbClr val="25274D"/>
              </a:solidFill>
            </a:endParaRPr>
          </a:p>
        </p:txBody>
      </p:sp>
      <p:sp>
        <p:nvSpPr>
          <p:cNvPr id="2" name="Text 1">
            <a:extLst>
              <a:ext uri="{FF2B5EF4-FFF2-40B4-BE49-F238E27FC236}">
                <a16:creationId xmlns:a16="http://schemas.microsoft.com/office/drawing/2014/main" id="{116A8B40-AED4-9B70-1FD7-97DAABD8A6AF}"/>
              </a:ext>
            </a:extLst>
          </p:cNvPr>
          <p:cNvSpPr/>
          <p:nvPr/>
        </p:nvSpPr>
        <p:spPr>
          <a:xfrm>
            <a:off x="723900" y="1325082"/>
            <a:ext cx="10718101" cy="750261"/>
          </a:xfrm>
          <a:prstGeom prst="rect">
            <a:avLst/>
          </a:prstGeom>
        </p:spPr>
        <p:txBody>
          <a:bodyPr/>
          <a:lstStyle/>
          <a:p>
            <a:pPr defTabSz="914446">
              <a:lnSpc>
                <a:spcPct val="90000"/>
              </a:lnSpc>
              <a:spcBef>
                <a:spcPts val="1000"/>
              </a:spcBef>
            </a:pPr>
            <a:r>
              <a:rPr lang="en-US" sz="2400" dirty="0">
                <a:solidFill>
                  <a:srgbClr val="2E9CCA"/>
                </a:solidFill>
                <a:latin typeface="Montserrat" panose="00000500000000000000" pitchFamily="2" charset="0"/>
              </a:rPr>
              <a:t>Let’s take a quick look at the key ideas and concepts you have explored in your learning journey.</a:t>
            </a:r>
          </a:p>
        </p:txBody>
      </p:sp>
    </p:spTree>
    <p:extLst>
      <p:ext uri="{BB962C8B-B14F-4D97-AF65-F5344CB8AC3E}">
        <p14:creationId xmlns:p14="http://schemas.microsoft.com/office/powerpoint/2010/main" val="307829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1000"/>
                                        <p:tgtEl>
                                          <p:spTgt spid="4">
                                            <p:txEl>
                                              <p:pRg st="2" end="2"/>
                                            </p:txEl>
                                          </p:spTgt>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1000"/>
                                        <p:tgtEl>
                                          <p:spTgt spid="4">
                                            <p:txEl>
                                              <p:pRg st="6" end="6"/>
                                            </p:txEl>
                                          </p:spTgt>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4">
                                            <p:txEl>
                                              <p:pRg st="8" end="8"/>
                                            </p:txEl>
                                          </p:spTgt>
                                        </p:tgtEl>
                                        <p:attrNameLst>
                                          <p:attrName>style.visibility</p:attrName>
                                        </p:attrNameLst>
                                      </p:cBhvr>
                                      <p:to>
                                        <p:strVal val="visible"/>
                                      </p:to>
                                    </p:set>
                                    <p:animEffect transition="in" filter="fade">
                                      <p:cBhvr>
                                        <p:cTn id="25" dur="1000"/>
                                        <p:tgtEl>
                                          <p:spTgt spid="4">
                                            <p:txEl>
                                              <p:pRg st="8" end="8"/>
                                            </p:txEl>
                                          </p:spTgt>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4">
                                            <p:txEl>
                                              <p:pRg st="10" end="10"/>
                                            </p:txEl>
                                          </p:spTgt>
                                        </p:tgtEl>
                                        <p:attrNameLst>
                                          <p:attrName>style.visibility</p:attrName>
                                        </p:attrNameLst>
                                      </p:cBhvr>
                                      <p:to>
                                        <p:strVal val="visible"/>
                                      </p:to>
                                    </p:set>
                                    <p:animEffect transition="in" filter="fade">
                                      <p:cBhvr>
                                        <p:cTn id="28" dur="10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630A54-FD01-543B-EDB6-41786C826453}"/>
              </a:ext>
            </a:extLst>
          </p:cNvPr>
          <p:cNvSpPr>
            <a:spLocks noGrp="1"/>
          </p:cNvSpPr>
          <p:nvPr>
            <p:ph type="title"/>
          </p:nvPr>
        </p:nvSpPr>
        <p:spPr/>
        <p:txBody>
          <a:bodyPr/>
          <a:lstStyle/>
          <a:p>
            <a:r>
              <a:rPr lang="en-GB" dirty="0"/>
              <a:t>Topics Covered</a:t>
            </a:r>
          </a:p>
        </p:txBody>
      </p:sp>
      <p:sp>
        <p:nvSpPr>
          <p:cNvPr id="4" name="Text Placeholder 3">
            <a:extLst>
              <a:ext uri="{FF2B5EF4-FFF2-40B4-BE49-F238E27FC236}">
                <a16:creationId xmlns:a16="http://schemas.microsoft.com/office/drawing/2014/main" id="{1ECB5BBD-A0A5-225F-000A-2DF6CB4D1EE7}"/>
              </a:ext>
            </a:extLst>
          </p:cNvPr>
          <p:cNvSpPr>
            <a:spLocks noGrp="1"/>
          </p:cNvSpPr>
          <p:nvPr>
            <p:ph type="body" sz="quarter" idx="10"/>
          </p:nvPr>
        </p:nvSpPr>
        <p:spPr>
          <a:xfrm>
            <a:off x="749999" y="1295532"/>
            <a:ext cx="10622082" cy="4248696"/>
          </a:xfrm>
        </p:spPr>
        <p:txBody>
          <a:bodyPr lIns="91440" tIns="45720" rIns="91440" bIns="45720" anchor="t">
            <a:noAutofit/>
          </a:bodyPr>
          <a:lstStyle/>
          <a:p>
            <a:pPr marL="285750" indent="-285750">
              <a:lnSpc>
                <a:spcPct val="200000"/>
              </a:lnSpc>
              <a:buFont typeface="Arial" panose="020B0604020202020204" pitchFamily="34" charset="0"/>
              <a:buChar char="•"/>
            </a:pPr>
            <a:r>
              <a:rPr lang="en-US" sz="1800" dirty="0">
                <a:solidFill>
                  <a:srgbClr val="25274D"/>
                </a:solidFill>
                <a:latin typeface="Montserrat"/>
              </a:rPr>
              <a:t>Python Basics: Variables, Data Types &amp; Numbers</a:t>
            </a:r>
          </a:p>
          <a:p>
            <a:pPr marL="285750" indent="-285750">
              <a:lnSpc>
                <a:spcPct val="200000"/>
              </a:lnSpc>
              <a:buFont typeface="Arial" panose="020B0604020202020204" pitchFamily="34" charset="0"/>
              <a:buChar char="•"/>
            </a:pPr>
            <a:r>
              <a:rPr lang="en-US" sz="1800" dirty="0">
                <a:solidFill>
                  <a:srgbClr val="25274D"/>
                </a:solidFill>
                <a:latin typeface="Montserrat"/>
              </a:rPr>
              <a:t>Python Data Structures: Building Blocks for Efficient Programming</a:t>
            </a:r>
          </a:p>
          <a:p>
            <a:pPr marL="285750" indent="-285750">
              <a:lnSpc>
                <a:spcPct val="200000"/>
              </a:lnSpc>
              <a:buFont typeface="Arial" panose="020B0604020202020204" pitchFamily="34" charset="0"/>
              <a:buChar char="•"/>
            </a:pPr>
            <a:r>
              <a:rPr lang="en-US" sz="1800" dirty="0">
                <a:solidFill>
                  <a:srgbClr val="25274D"/>
                </a:solidFill>
                <a:latin typeface="Montserrat"/>
              </a:rPr>
              <a:t>Lists</a:t>
            </a:r>
          </a:p>
          <a:p>
            <a:pPr marL="285750" indent="-285750">
              <a:lnSpc>
                <a:spcPct val="200000"/>
              </a:lnSpc>
              <a:buFont typeface="Arial" panose="020B0604020202020204" pitchFamily="34" charset="0"/>
              <a:buChar char="•"/>
            </a:pPr>
            <a:r>
              <a:rPr lang="en-US" sz="1800" dirty="0">
                <a:solidFill>
                  <a:srgbClr val="25274D"/>
                </a:solidFill>
                <a:latin typeface="Montserrat"/>
              </a:rPr>
              <a:t>Tuples</a:t>
            </a:r>
          </a:p>
          <a:p>
            <a:pPr marL="285750" indent="-285750">
              <a:lnSpc>
                <a:spcPct val="200000"/>
              </a:lnSpc>
              <a:buFont typeface="Arial" panose="020B0604020202020204" pitchFamily="34" charset="0"/>
              <a:buChar char="•"/>
            </a:pPr>
            <a:r>
              <a:rPr lang="en-US" sz="1800" dirty="0">
                <a:solidFill>
                  <a:srgbClr val="25274D"/>
                </a:solidFill>
                <a:latin typeface="Montserrat"/>
              </a:rPr>
              <a:t>Sets</a:t>
            </a:r>
          </a:p>
          <a:p>
            <a:pPr marL="285750" indent="-285750">
              <a:lnSpc>
                <a:spcPct val="200000"/>
              </a:lnSpc>
              <a:buFont typeface="Arial" panose="020B0604020202020204" pitchFamily="34" charset="0"/>
              <a:buChar char="•"/>
            </a:pPr>
            <a:r>
              <a:rPr lang="en-US" sz="1800" dirty="0">
                <a:solidFill>
                  <a:srgbClr val="25274D"/>
                </a:solidFill>
                <a:latin typeface="Montserrat"/>
              </a:rPr>
              <a:t>Dictionaries</a:t>
            </a:r>
          </a:p>
          <a:p>
            <a:pPr marL="285750" indent="-285750">
              <a:lnSpc>
                <a:spcPct val="200000"/>
              </a:lnSpc>
              <a:buFont typeface="Arial" panose="020B0604020202020204" pitchFamily="34" charset="0"/>
              <a:buChar char="•"/>
            </a:pPr>
            <a:r>
              <a:rPr lang="en-US" sz="1800" dirty="0">
                <a:solidFill>
                  <a:srgbClr val="25274D"/>
                </a:solidFill>
                <a:latin typeface="Montserrat"/>
              </a:rPr>
              <a:t>Python Conditional Statements</a:t>
            </a:r>
          </a:p>
          <a:p>
            <a:pPr>
              <a:lnSpc>
                <a:spcPct val="200000"/>
              </a:lnSpc>
            </a:pPr>
            <a:endParaRPr lang="en-US" sz="1800" dirty="0">
              <a:solidFill>
                <a:srgbClr val="25274D"/>
              </a:solidFill>
              <a:latin typeface="Montserrat"/>
            </a:endParaRPr>
          </a:p>
        </p:txBody>
      </p:sp>
    </p:spTree>
    <p:extLst>
      <p:ext uri="{BB962C8B-B14F-4D97-AF65-F5344CB8AC3E}">
        <p14:creationId xmlns:p14="http://schemas.microsoft.com/office/powerpoint/2010/main" val="852161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1000"/>
                                        <p:tgtEl>
                                          <p:spTgt spid="4">
                                            <p:txEl>
                                              <p:pRg st="2" end="2"/>
                                            </p:txEl>
                                          </p:spTgt>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1000"/>
                                        <p:tgtEl>
                                          <p:spTgt spid="4">
                                            <p:txEl>
                                              <p:pRg st="3" end="3"/>
                                            </p:txEl>
                                          </p:spTgt>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1000"/>
                                        <p:tgtEl>
                                          <p:spTgt spid="4">
                                            <p:txEl>
                                              <p:pRg st="5" end="5"/>
                                            </p:txEl>
                                          </p:spTgt>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9A08-D1A4-7E99-DCBE-774AE84FB2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120EC7-A35F-3142-FA3F-A5ECD9725F39}"/>
              </a:ext>
            </a:extLst>
          </p:cNvPr>
          <p:cNvSpPr>
            <a:spLocks noGrp="1"/>
          </p:cNvSpPr>
          <p:nvPr>
            <p:ph type="title"/>
          </p:nvPr>
        </p:nvSpPr>
        <p:spPr/>
        <p:txBody>
          <a:bodyPr/>
          <a:lstStyle/>
          <a:p>
            <a:r>
              <a:rPr lang="en-GB" dirty="0"/>
              <a:t>Topics Covered</a:t>
            </a:r>
          </a:p>
        </p:txBody>
      </p:sp>
      <p:sp>
        <p:nvSpPr>
          <p:cNvPr id="4" name="Text Placeholder 3">
            <a:extLst>
              <a:ext uri="{FF2B5EF4-FFF2-40B4-BE49-F238E27FC236}">
                <a16:creationId xmlns:a16="http://schemas.microsoft.com/office/drawing/2014/main" id="{DA151BB8-A22C-7E7B-37C4-E25F7BBEFA22}"/>
              </a:ext>
            </a:extLst>
          </p:cNvPr>
          <p:cNvSpPr>
            <a:spLocks noGrp="1"/>
          </p:cNvSpPr>
          <p:nvPr>
            <p:ph type="body" sz="quarter" idx="10"/>
          </p:nvPr>
        </p:nvSpPr>
        <p:spPr>
          <a:xfrm>
            <a:off x="749999" y="1295532"/>
            <a:ext cx="10622082" cy="4248696"/>
          </a:xfrm>
        </p:spPr>
        <p:txBody>
          <a:bodyPr lIns="91440" tIns="45720" rIns="91440" bIns="45720" anchor="t">
            <a:noAutofit/>
          </a:bodyPr>
          <a:lstStyle/>
          <a:p>
            <a:pPr marL="285750" indent="-285750">
              <a:lnSpc>
                <a:spcPct val="200000"/>
              </a:lnSpc>
              <a:buFont typeface="Arial" panose="020B0604020202020204" pitchFamily="34" charset="0"/>
              <a:buChar char="•"/>
            </a:pPr>
            <a:r>
              <a:rPr lang="en-US" sz="1800" dirty="0">
                <a:solidFill>
                  <a:srgbClr val="25274D"/>
                </a:solidFill>
                <a:latin typeface="Montserrat"/>
              </a:rPr>
              <a:t>Loops in Python: Automating Repetitive Tasks​</a:t>
            </a:r>
          </a:p>
          <a:p>
            <a:pPr marL="285750" indent="-285750">
              <a:lnSpc>
                <a:spcPct val="200000"/>
              </a:lnSpc>
              <a:buFont typeface="Arial" panose="020B0604020202020204" pitchFamily="34" charset="0"/>
              <a:buChar char="•"/>
            </a:pPr>
            <a:r>
              <a:rPr lang="en-US" sz="1800" dirty="0">
                <a:solidFill>
                  <a:srgbClr val="25274D"/>
                </a:solidFill>
                <a:latin typeface="Montserrat"/>
              </a:rPr>
              <a:t>Building a Simple Chatbot in Python​</a:t>
            </a:r>
          </a:p>
          <a:p>
            <a:pPr marL="285750" indent="-285750">
              <a:lnSpc>
                <a:spcPct val="200000"/>
              </a:lnSpc>
              <a:buFont typeface="Arial" panose="020B0604020202020204" pitchFamily="34" charset="0"/>
              <a:buChar char="•"/>
            </a:pPr>
            <a:r>
              <a:rPr lang="en-US" sz="1800" dirty="0">
                <a:solidFill>
                  <a:srgbClr val="25274D"/>
                </a:solidFill>
                <a:latin typeface="Montserrat"/>
              </a:rPr>
              <a:t>Recap</a:t>
            </a:r>
          </a:p>
          <a:p>
            <a:pPr marL="285750" indent="-285750">
              <a:lnSpc>
                <a:spcPct val="200000"/>
              </a:lnSpc>
              <a:buFont typeface="Arial" panose="020B0604020202020204" pitchFamily="34" charset="0"/>
              <a:buChar char="•"/>
            </a:pPr>
            <a:r>
              <a:rPr lang="en-US" sz="1800" dirty="0">
                <a:solidFill>
                  <a:srgbClr val="25274D"/>
                </a:solidFill>
                <a:latin typeface="Montserrat"/>
              </a:rPr>
              <a:t>Python User-Defined Functions​</a:t>
            </a:r>
          </a:p>
          <a:p>
            <a:pPr marL="285750" indent="-285750">
              <a:lnSpc>
                <a:spcPct val="200000"/>
              </a:lnSpc>
              <a:buFont typeface="Arial" panose="020B0604020202020204" pitchFamily="34" charset="0"/>
              <a:buChar char="•"/>
            </a:pPr>
            <a:r>
              <a:rPr lang="en-US" sz="1800" dirty="0">
                <a:solidFill>
                  <a:srgbClr val="25274D"/>
                </a:solidFill>
                <a:latin typeface="Montserrat"/>
              </a:rPr>
              <a:t>Example: Chatbot with Function</a:t>
            </a:r>
          </a:p>
          <a:p>
            <a:pPr>
              <a:lnSpc>
                <a:spcPct val="200000"/>
              </a:lnSpc>
            </a:pPr>
            <a:endParaRPr lang="en-US" sz="1800" dirty="0">
              <a:solidFill>
                <a:srgbClr val="25274D"/>
              </a:solidFill>
              <a:latin typeface="Montserrat"/>
            </a:endParaRPr>
          </a:p>
        </p:txBody>
      </p:sp>
    </p:spTree>
    <p:extLst>
      <p:ext uri="{BB962C8B-B14F-4D97-AF65-F5344CB8AC3E}">
        <p14:creationId xmlns:p14="http://schemas.microsoft.com/office/powerpoint/2010/main" val="123888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1000"/>
                                        <p:tgtEl>
                                          <p:spTgt spid="4">
                                            <p:txEl>
                                              <p:pRg st="1" end="1"/>
                                            </p:tx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1000"/>
                                        <p:tgtEl>
                                          <p:spTgt spid="4">
                                            <p:txEl>
                                              <p:pRg st="2" end="2"/>
                                            </p:txEl>
                                          </p:spTgt>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1000"/>
                                        <p:tgtEl>
                                          <p:spTgt spid="4">
                                            <p:txEl>
                                              <p:pRg st="3" end="3"/>
                                            </p:txEl>
                                          </p:spTgt>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B396A13C-459C-86A7-1E33-508B3CE96947}"/>
              </a:ext>
            </a:extLst>
          </p:cNvPr>
          <p:cNvSpPr>
            <a:spLocks noGrp="1"/>
          </p:cNvSpPr>
          <p:nvPr>
            <p:ph type="body" sz="quarter" idx="12" hasCustomPrompt="1"/>
          </p:nvPr>
        </p:nvSpPr>
        <p:spPr>
          <a:prstGeom prst="rect">
            <a:avLst/>
          </a:prstGeom>
        </p:spPr>
        <p:txBody>
          <a:bodyPr lIns="0" tIns="0" rIns="0" bIns="0" anchor="ctr" anchorCtr="0"/>
          <a:lstStyle>
            <a:lvl1pPr marL="0" indent="0">
              <a:buNone/>
              <a:defRPr sz="3200" b="1">
                <a:solidFill>
                  <a:schemeClr val="bg1"/>
                </a:solidFill>
                <a:latin typeface="Montserrat" panose="00000500000000000000" pitchFamily="2" charset="0"/>
                <a:cs typeface="Arial" panose="020B0604020202020204" pitchFamily="34" charset="0"/>
              </a:defRPr>
            </a:lvl1pPr>
            <a:lvl2pPr>
              <a:defRPr>
                <a:solidFill>
                  <a:srgbClr val="009BDB"/>
                </a:solidFill>
              </a:defRPr>
            </a:lvl2pPr>
            <a:lvl3pPr>
              <a:defRPr>
                <a:solidFill>
                  <a:srgbClr val="009BDB"/>
                </a:solidFill>
              </a:defRPr>
            </a:lvl3pPr>
            <a:lvl4pPr>
              <a:defRPr>
                <a:solidFill>
                  <a:srgbClr val="009BDB"/>
                </a:solidFill>
              </a:defRPr>
            </a:lvl4pPr>
            <a:lvl5pPr>
              <a:defRPr>
                <a:solidFill>
                  <a:srgbClr val="009BDB"/>
                </a:solidFill>
              </a:defRPr>
            </a:lvl5pPr>
          </a:lstStyle>
          <a:p>
            <a:pPr lvl="0"/>
            <a:r>
              <a:rPr lang="en-GB" dirty="0">
                <a:solidFill>
                  <a:srgbClr val="25274D"/>
                </a:solidFill>
              </a:rPr>
              <a:t>Python Fundamentals</a:t>
            </a:r>
            <a:endParaRPr lang="en-US" dirty="0">
              <a:solidFill>
                <a:srgbClr val="25274D"/>
              </a:solidFill>
            </a:endParaRPr>
          </a:p>
        </p:txBody>
      </p:sp>
    </p:spTree>
    <p:extLst>
      <p:ext uri="{BB962C8B-B14F-4D97-AF65-F5344CB8AC3E}">
        <p14:creationId xmlns:p14="http://schemas.microsoft.com/office/powerpoint/2010/main" val="364426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18D8905-F26E-841F-731E-999B555548D1}"/>
              </a:ext>
            </a:extLst>
          </p:cNvPr>
          <p:cNvSpPr>
            <a:spLocks noGrp="1"/>
          </p:cNvSpPr>
          <p:nvPr>
            <p:ph type="body" sz="quarter" idx="12"/>
          </p:nvPr>
        </p:nvSpPr>
        <p:spPr>
          <a:xfrm>
            <a:off x="749998" y="2482074"/>
            <a:ext cx="6448469" cy="1893851"/>
          </a:xfrm>
        </p:spPr>
        <p:txBody>
          <a:bodyPr>
            <a:normAutofit/>
          </a:bodyPr>
          <a:lstStyle/>
          <a:p>
            <a:r>
              <a:rPr lang="en-US" sz="3600" b="1" dirty="0">
                <a:latin typeface="Montserrat"/>
                <a:cs typeface="Arial"/>
              </a:rPr>
              <a:t>Python Basics: Variables, Data Types &amp; Numbers</a:t>
            </a:r>
          </a:p>
        </p:txBody>
      </p:sp>
      <p:sp>
        <p:nvSpPr>
          <p:cNvPr id="2" name="Text 1">
            <a:extLst>
              <a:ext uri="{FF2B5EF4-FFF2-40B4-BE49-F238E27FC236}">
                <a16:creationId xmlns:a16="http://schemas.microsoft.com/office/drawing/2014/main" id="{01DAC7AF-241E-EA35-A8D7-2D249B299DAE}"/>
              </a:ext>
            </a:extLst>
          </p:cNvPr>
          <p:cNvSpPr/>
          <p:nvPr/>
        </p:nvSpPr>
        <p:spPr>
          <a:xfrm>
            <a:off x="749999" y="4554282"/>
            <a:ext cx="6297018" cy="264617"/>
          </a:xfrm>
          <a:prstGeom prst="rect">
            <a:avLst/>
          </a:prstGeom>
          <a:noFill/>
          <a:ln/>
        </p:spPr>
        <p:txBody>
          <a:bodyPr wrap="none" lIns="0" tIns="0" rIns="0" bIns="0" rtlCol="0" anchor="t"/>
          <a:lstStyle/>
          <a:p>
            <a:pPr>
              <a:lnSpc>
                <a:spcPts val="2083"/>
              </a:lnSpc>
            </a:pPr>
            <a:r>
              <a:rPr lang="en-US" sz="1300" dirty="0">
                <a:solidFill>
                  <a:srgbClr val="25274D"/>
                </a:solidFill>
                <a:latin typeface="Montserrat" pitchFamily="34" charset="0"/>
                <a:ea typeface="Montserrat" pitchFamily="34" charset="-122"/>
                <a:cs typeface="Montserrat" pitchFamily="34" charset="-120"/>
              </a:rPr>
              <a:t>Foundation for writing and understanding Python programs</a:t>
            </a:r>
            <a:endParaRPr lang="en-US" sz="1300" dirty="0">
              <a:solidFill>
                <a:srgbClr val="25274D"/>
              </a:solidFill>
            </a:endParaRPr>
          </a:p>
        </p:txBody>
      </p:sp>
      <p:sp>
        <p:nvSpPr>
          <p:cNvPr id="3" name="Text 2">
            <a:extLst>
              <a:ext uri="{FF2B5EF4-FFF2-40B4-BE49-F238E27FC236}">
                <a16:creationId xmlns:a16="http://schemas.microsoft.com/office/drawing/2014/main" id="{AF685945-A6B0-AF70-DE69-556251E04D12}"/>
              </a:ext>
            </a:extLst>
          </p:cNvPr>
          <p:cNvSpPr/>
          <p:nvPr/>
        </p:nvSpPr>
        <p:spPr>
          <a:xfrm>
            <a:off x="749999" y="5004933"/>
            <a:ext cx="6297018" cy="264617"/>
          </a:xfrm>
          <a:prstGeom prst="rect">
            <a:avLst/>
          </a:prstGeom>
          <a:noFill/>
          <a:ln/>
        </p:spPr>
        <p:txBody>
          <a:bodyPr wrap="none" lIns="0" tIns="0" rIns="0" bIns="0" rtlCol="0" anchor="t"/>
          <a:lstStyle/>
          <a:p>
            <a:pPr>
              <a:lnSpc>
                <a:spcPts val="2083"/>
              </a:lnSpc>
            </a:pPr>
            <a:r>
              <a:rPr lang="en-US" sz="1300" dirty="0">
                <a:solidFill>
                  <a:srgbClr val="25274D"/>
                </a:solidFill>
                <a:latin typeface="Montserrat" pitchFamily="34" charset="0"/>
                <a:ea typeface="Montserrat" pitchFamily="34" charset="-122"/>
                <a:cs typeface="Montserrat" pitchFamily="34" charset="-120"/>
              </a:rPr>
              <a:t>Key building blocks for data manipulation and analysis</a:t>
            </a:r>
            <a:endParaRPr lang="en-US" sz="1300" dirty="0">
              <a:solidFill>
                <a:srgbClr val="25274D"/>
              </a:solidFill>
            </a:endParaRPr>
          </a:p>
        </p:txBody>
      </p:sp>
      <p:sp>
        <p:nvSpPr>
          <p:cNvPr id="6" name="Text 1">
            <a:extLst>
              <a:ext uri="{FF2B5EF4-FFF2-40B4-BE49-F238E27FC236}">
                <a16:creationId xmlns:a16="http://schemas.microsoft.com/office/drawing/2014/main" id="{79B7EC80-FE05-9178-63E8-11B9D8A57C89}"/>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1 of 12)</a:t>
            </a:r>
            <a:endParaRPr lang="en-US" dirty="0">
              <a:solidFill>
                <a:srgbClr val="25274D"/>
              </a:solidFill>
            </a:endParaRPr>
          </a:p>
        </p:txBody>
      </p:sp>
    </p:spTree>
    <p:extLst>
      <p:ext uri="{BB962C8B-B14F-4D97-AF65-F5344CB8AC3E}">
        <p14:creationId xmlns:p14="http://schemas.microsoft.com/office/powerpoint/2010/main" val="103293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P spid="3"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2D349-B16A-3C71-D8FE-08074CEADDF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1045366-E4EC-C4F8-9137-0FE2010517D9}"/>
              </a:ext>
            </a:extLst>
          </p:cNvPr>
          <p:cNvSpPr/>
          <p:nvPr/>
        </p:nvSpPr>
        <p:spPr>
          <a:xfrm>
            <a:off x="6324600" y="2481870"/>
            <a:ext cx="5067300" cy="1072703"/>
          </a:xfrm>
          <a:prstGeom prst="roundRect">
            <a:avLst>
              <a:gd name="adj" fmla="val 50000"/>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9F64390-FE8E-7B36-A5D8-CF40C24A8910}"/>
              </a:ext>
            </a:extLst>
          </p:cNvPr>
          <p:cNvSpPr/>
          <p:nvPr/>
        </p:nvSpPr>
        <p:spPr>
          <a:xfrm>
            <a:off x="6324600" y="3996106"/>
            <a:ext cx="5067300" cy="1072703"/>
          </a:xfrm>
          <a:prstGeom prst="roundRect">
            <a:avLst>
              <a:gd name="adj" fmla="val 50000"/>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C139566-4365-FF20-CA15-783FD8D35909}"/>
              </a:ext>
            </a:extLst>
          </p:cNvPr>
          <p:cNvSpPr>
            <a:spLocks noGrp="1"/>
          </p:cNvSpPr>
          <p:nvPr>
            <p:ph type="title"/>
          </p:nvPr>
        </p:nvSpPr>
        <p:spPr/>
        <p:txBody>
          <a:bodyPr>
            <a:normAutofit fontScale="90000"/>
          </a:bodyPr>
          <a:lstStyle/>
          <a:p>
            <a:pPr>
              <a:lnSpc>
                <a:spcPts val="4042"/>
              </a:lnSpc>
            </a:pPr>
            <a:r>
              <a:rPr lang="en-US" dirty="0">
                <a:latin typeface="Montserrat Bold" pitchFamily="34" charset="0"/>
                <a:ea typeface="Montserrat Bold" pitchFamily="34" charset="-122"/>
                <a:cs typeface="Montserrat Bold" pitchFamily="34" charset="-120"/>
              </a:rPr>
              <a:t>Introduction</a:t>
            </a:r>
            <a:endParaRPr lang="en-US" dirty="0"/>
          </a:p>
        </p:txBody>
      </p:sp>
      <p:sp>
        <p:nvSpPr>
          <p:cNvPr id="17" name="TextBox 16">
            <a:extLst>
              <a:ext uri="{FF2B5EF4-FFF2-40B4-BE49-F238E27FC236}">
                <a16:creationId xmlns:a16="http://schemas.microsoft.com/office/drawing/2014/main" id="{4101977E-DCC6-F8D1-DD01-4E2253AFD355}"/>
              </a:ext>
            </a:extLst>
          </p:cNvPr>
          <p:cNvSpPr txBox="1"/>
          <p:nvPr/>
        </p:nvSpPr>
        <p:spPr>
          <a:xfrm>
            <a:off x="6575754" y="2837403"/>
            <a:ext cx="4564993" cy="361637"/>
          </a:xfrm>
          <a:prstGeom prst="rect">
            <a:avLst/>
          </a:prstGeom>
          <a:noFill/>
        </p:spPr>
        <p:txBody>
          <a:bodyPr wrap="square">
            <a:spAutoFit/>
          </a:bodyPr>
          <a:lstStyle/>
          <a:p>
            <a:pPr algn="ctr">
              <a:lnSpc>
                <a:spcPts val="2083"/>
              </a:lnSpc>
            </a:pPr>
            <a:r>
              <a:rPr lang="en-US" sz="1800" dirty="0">
                <a:solidFill>
                  <a:schemeClr val="bg1"/>
                </a:solidFill>
                <a:latin typeface="Montserrat" panose="00000500000000000000" pitchFamily="2" charset="0"/>
                <a:ea typeface="Montserrat" pitchFamily="34" charset="-122"/>
                <a:cs typeface="Montserrat" pitchFamily="34" charset="-120"/>
              </a:rPr>
              <a:t>Emphasises simplicity and readability</a:t>
            </a:r>
            <a:endParaRPr lang="en-US" sz="1800" dirty="0">
              <a:solidFill>
                <a:schemeClr val="bg1"/>
              </a:solidFill>
              <a:latin typeface="Montserrat" panose="00000500000000000000" pitchFamily="2" charset="0"/>
            </a:endParaRPr>
          </a:p>
        </p:txBody>
      </p:sp>
      <p:pic>
        <p:nvPicPr>
          <p:cNvPr id="5" name="Picture Placeholder 4" descr="A computer screen with text and images&#10;&#10;AI-generated content may be incorrect.">
            <a:extLst>
              <a:ext uri="{FF2B5EF4-FFF2-40B4-BE49-F238E27FC236}">
                <a16:creationId xmlns:a16="http://schemas.microsoft.com/office/drawing/2014/main" id="{DD93AA98-A9C1-BBBA-4D14-FDB55203FD81}"/>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2956" b="2956"/>
          <a:stretch>
            <a:fillRect/>
          </a:stretch>
        </p:blipFill>
        <p:spPr>
          <a:xfrm>
            <a:off x="749998" y="2095500"/>
            <a:ext cx="5356325" cy="3359679"/>
          </a:xfrm>
        </p:spPr>
      </p:pic>
      <p:sp>
        <p:nvSpPr>
          <p:cNvPr id="9" name="TextBox 8">
            <a:extLst>
              <a:ext uri="{FF2B5EF4-FFF2-40B4-BE49-F238E27FC236}">
                <a16:creationId xmlns:a16="http://schemas.microsoft.com/office/drawing/2014/main" id="{33CF1058-50B2-F132-7BBB-5A52F4579AE5}"/>
              </a:ext>
            </a:extLst>
          </p:cNvPr>
          <p:cNvSpPr txBox="1"/>
          <p:nvPr/>
        </p:nvSpPr>
        <p:spPr>
          <a:xfrm>
            <a:off x="6575754" y="4357110"/>
            <a:ext cx="4564993" cy="361637"/>
          </a:xfrm>
          <a:prstGeom prst="rect">
            <a:avLst/>
          </a:prstGeom>
          <a:noFill/>
        </p:spPr>
        <p:txBody>
          <a:bodyPr wrap="square">
            <a:spAutoFit/>
          </a:bodyPr>
          <a:lstStyle/>
          <a:p>
            <a:pPr algn="ctr">
              <a:lnSpc>
                <a:spcPts val="2083"/>
              </a:lnSpc>
            </a:pPr>
            <a:r>
              <a:rPr lang="en-US" sz="1800" dirty="0">
                <a:solidFill>
                  <a:schemeClr val="bg1"/>
                </a:solidFill>
                <a:latin typeface="Montserrat" panose="00000500000000000000" pitchFamily="2" charset="0"/>
                <a:ea typeface="Montserrat" pitchFamily="34" charset="-122"/>
                <a:cs typeface="Montserrat" pitchFamily="34" charset="-120"/>
              </a:rPr>
              <a:t>Treats everything as an object</a:t>
            </a:r>
          </a:p>
        </p:txBody>
      </p:sp>
    </p:spTree>
    <p:extLst>
      <p:ext uri="{BB962C8B-B14F-4D97-AF65-F5344CB8AC3E}">
        <p14:creationId xmlns:p14="http://schemas.microsoft.com/office/powerpoint/2010/main" val="429207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childTnLst>
                                </p:cTn>
                              </p:par>
                              <p:par>
                                <p:cTn id="17" presetID="10" presetClass="entr" presetSubtype="0" fill="hold" nodeType="withEffect">
                                  <p:stCondLst>
                                    <p:cond delay="5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00EAA-4295-7300-1828-9431F9290CF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9BF2F44-8B39-18E0-1BBE-8715518634F3}"/>
              </a:ext>
            </a:extLst>
          </p:cNvPr>
          <p:cNvSpPr>
            <a:spLocks noGrp="1"/>
          </p:cNvSpPr>
          <p:nvPr>
            <p:ph type="title"/>
          </p:nvPr>
        </p:nvSpPr>
        <p:spPr/>
        <p:txBody>
          <a:bodyPr/>
          <a:lstStyle/>
          <a:p>
            <a:r>
              <a:rPr lang="en-US" dirty="0"/>
              <a:t>Key Concepts in Python</a:t>
            </a:r>
            <a:br>
              <a:rPr lang="en-US" dirty="0"/>
            </a:br>
            <a:endParaRPr lang="en-US" dirty="0"/>
          </a:p>
        </p:txBody>
      </p:sp>
      <p:sp>
        <p:nvSpPr>
          <p:cNvPr id="13" name="Sev01">
            <a:extLst>
              <a:ext uri="{FF2B5EF4-FFF2-40B4-BE49-F238E27FC236}">
                <a16:creationId xmlns:a16="http://schemas.microsoft.com/office/drawing/2014/main" id="{B80BA26D-4D8E-EDC6-208C-A2A48155E86C}"/>
              </a:ext>
            </a:extLst>
          </p:cNvPr>
          <p:cNvSpPr/>
          <p:nvPr/>
        </p:nvSpPr>
        <p:spPr>
          <a:xfrm>
            <a:off x="2277533" y="2469458"/>
            <a:ext cx="1612996" cy="1612996"/>
          </a:xfrm>
          <a:prstGeom prst="teardrop">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333">
              <a:solidFill>
                <a:schemeClr val="bg1"/>
              </a:solidFill>
              <a:latin typeface="FontAwesome" pitchFamily="2" charset="0"/>
            </a:endParaRPr>
          </a:p>
        </p:txBody>
      </p:sp>
      <p:sp>
        <p:nvSpPr>
          <p:cNvPr id="15" name="Sev02">
            <a:extLst>
              <a:ext uri="{FF2B5EF4-FFF2-40B4-BE49-F238E27FC236}">
                <a16:creationId xmlns:a16="http://schemas.microsoft.com/office/drawing/2014/main" id="{FC29E983-FF39-2389-5584-BB2268BB19D5}"/>
              </a:ext>
            </a:extLst>
          </p:cNvPr>
          <p:cNvSpPr/>
          <p:nvPr/>
        </p:nvSpPr>
        <p:spPr>
          <a:xfrm>
            <a:off x="4960125" y="2469458"/>
            <a:ext cx="1612996" cy="1612996"/>
          </a:xfrm>
          <a:prstGeom prst="teardrop">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0">
              <a:solidFill>
                <a:schemeClr val="bg1"/>
              </a:solidFill>
              <a:latin typeface="FontAwesome" pitchFamily="2" charset="0"/>
            </a:endParaRPr>
          </a:p>
        </p:txBody>
      </p:sp>
      <p:sp>
        <p:nvSpPr>
          <p:cNvPr id="16" name="Sev03">
            <a:extLst>
              <a:ext uri="{FF2B5EF4-FFF2-40B4-BE49-F238E27FC236}">
                <a16:creationId xmlns:a16="http://schemas.microsoft.com/office/drawing/2014/main" id="{09501850-7A59-7F42-4FAC-F9E47A2ABFC4}"/>
              </a:ext>
            </a:extLst>
          </p:cNvPr>
          <p:cNvSpPr/>
          <p:nvPr/>
        </p:nvSpPr>
        <p:spPr>
          <a:xfrm>
            <a:off x="7642717" y="2469458"/>
            <a:ext cx="1612996" cy="1612996"/>
          </a:xfrm>
          <a:prstGeom prst="teardrop">
            <a:avLst/>
          </a:prstGeom>
          <a:solidFill>
            <a:srgbClr val="2964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333">
              <a:solidFill>
                <a:schemeClr val="bg1"/>
              </a:solidFill>
              <a:latin typeface="FontAwesome" pitchFamily="2" charset="0"/>
            </a:endParaRPr>
          </a:p>
        </p:txBody>
      </p:sp>
      <p:sp>
        <p:nvSpPr>
          <p:cNvPr id="17" name="Half Frame 16">
            <a:extLst>
              <a:ext uri="{FF2B5EF4-FFF2-40B4-BE49-F238E27FC236}">
                <a16:creationId xmlns:a16="http://schemas.microsoft.com/office/drawing/2014/main" id="{344C6B34-E052-5813-0347-F8D723254098}"/>
              </a:ext>
            </a:extLst>
          </p:cNvPr>
          <p:cNvSpPr/>
          <p:nvPr/>
        </p:nvSpPr>
        <p:spPr>
          <a:xfrm rot="5400000">
            <a:off x="3035060" y="2281933"/>
            <a:ext cx="1086201" cy="1086201"/>
          </a:xfrm>
          <a:prstGeom prst="halfFrame">
            <a:avLst>
              <a:gd name="adj1" fmla="val 4570"/>
              <a:gd name="adj2" fmla="val 3947"/>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8" name="Half Frame 17">
            <a:extLst>
              <a:ext uri="{FF2B5EF4-FFF2-40B4-BE49-F238E27FC236}">
                <a16:creationId xmlns:a16="http://schemas.microsoft.com/office/drawing/2014/main" id="{0EDCF3BD-F8AA-50B0-976F-CC4AEC4B7171}"/>
              </a:ext>
            </a:extLst>
          </p:cNvPr>
          <p:cNvSpPr/>
          <p:nvPr/>
        </p:nvSpPr>
        <p:spPr>
          <a:xfrm rot="5400000">
            <a:off x="5717652" y="2281933"/>
            <a:ext cx="1086201" cy="1086201"/>
          </a:xfrm>
          <a:prstGeom prst="halfFrame">
            <a:avLst>
              <a:gd name="adj1" fmla="val 4570"/>
              <a:gd name="adj2" fmla="val 3947"/>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9" name="Half Frame 18">
            <a:extLst>
              <a:ext uri="{FF2B5EF4-FFF2-40B4-BE49-F238E27FC236}">
                <a16:creationId xmlns:a16="http://schemas.microsoft.com/office/drawing/2014/main" id="{02125EC3-A71D-DAB6-EE67-E3F59D062ED3}"/>
              </a:ext>
            </a:extLst>
          </p:cNvPr>
          <p:cNvSpPr/>
          <p:nvPr/>
        </p:nvSpPr>
        <p:spPr>
          <a:xfrm rot="5400000">
            <a:off x="8400244" y="2281933"/>
            <a:ext cx="1086201" cy="1086201"/>
          </a:xfrm>
          <a:prstGeom prst="halfFrame">
            <a:avLst>
              <a:gd name="adj1" fmla="val 4570"/>
              <a:gd name="adj2" fmla="val 3947"/>
            </a:avLst>
          </a:prstGeom>
          <a:solidFill>
            <a:srgbClr val="2964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20" name="TextBox 19">
            <a:extLst>
              <a:ext uri="{FF2B5EF4-FFF2-40B4-BE49-F238E27FC236}">
                <a16:creationId xmlns:a16="http://schemas.microsoft.com/office/drawing/2014/main" id="{15FB9C86-88C2-736F-3DC6-BD6FB810795F}"/>
              </a:ext>
            </a:extLst>
          </p:cNvPr>
          <p:cNvSpPr txBox="1"/>
          <p:nvPr/>
        </p:nvSpPr>
        <p:spPr>
          <a:xfrm>
            <a:off x="2359913" y="4145643"/>
            <a:ext cx="1439356" cy="369332"/>
          </a:xfrm>
          <a:prstGeom prst="rect">
            <a:avLst/>
          </a:prstGeom>
          <a:noFill/>
        </p:spPr>
        <p:txBody>
          <a:bodyPr wrap="square" rtlCol="0">
            <a:spAutoFit/>
          </a:bodyPr>
          <a:lstStyle/>
          <a:p>
            <a:pPr algn="ctr"/>
            <a:r>
              <a:rPr lang="en-US" dirty="0">
                <a:solidFill>
                  <a:srgbClr val="25274D"/>
                </a:solidFill>
                <a:latin typeface="Montserrat" panose="00000500000000000000" pitchFamily="2" charset="0"/>
              </a:rPr>
              <a:t>Variables</a:t>
            </a:r>
          </a:p>
        </p:txBody>
      </p:sp>
      <p:sp>
        <p:nvSpPr>
          <p:cNvPr id="21" name="TextBox 20">
            <a:extLst>
              <a:ext uri="{FF2B5EF4-FFF2-40B4-BE49-F238E27FC236}">
                <a16:creationId xmlns:a16="http://schemas.microsoft.com/office/drawing/2014/main" id="{DC703CE7-28B0-4B93-3CC9-DD11F949252B}"/>
              </a:ext>
            </a:extLst>
          </p:cNvPr>
          <p:cNvSpPr txBox="1"/>
          <p:nvPr/>
        </p:nvSpPr>
        <p:spPr>
          <a:xfrm>
            <a:off x="5014992" y="4145643"/>
            <a:ext cx="1527476" cy="369332"/>
          </a:xfrm>
          <a:prstGeom prst="rect">
            <a:avLst/>
          </a:prstGeom>
          <a:noFill/>
        </p:spPr>
        <p:txBody>
          <a:bodyPr wrap="square" rtlCol="0">
            <a:spAutoFit/>
          </a:bodyPr>
          <a:lstStyle/>
          <a:p>
            <a:pPr algn="ctr"/>
            <a:r>
              <a:rPr lang="en-US" dirty="0">
                <a:solidFill>
                  <a:srgbClr val="25274D"/>
                </a:solidFill>
                <a:latin typeface="Montserrat" panose="00000500000000000000" pitchFamily="2" charset="0"/>
              </a:rPr>
              <a:t>Data types</a:t>
            </a:r>
          </a:p>
        </p:txBody>
      </p:sp>
      <p:sp>
        <p:nvSpPr>
          <p:cNvPr id="22" name="TextBox 21">
            <a:extLst>
              <a:ext uri="{FF2B5EF4-FFF2-40B4-BE49-F238E27FC236}">
                <a16:creationId xmlns:a16="http://schemas.microsoft.com/office/drawing/2014/main" id="{0ECF56C9-8A36-15FB-9646-F78819B6C1B8}"/>
              </a:ext>
            </a:extLst>
          </p:cNvPr>
          <p:cNvSpPr txBox="1"/>
          <p:nvPr/>
        </p:nvSpPr>
        <p:spPr>
          <a:xfrm>
            <a:off x="7831798" y="4145643"/>
            <a:ext cx="1325082" cy="369332"/>
          </a:xfrm>
          <a:prstGeom prst="rect">
            <a:avLst/>
          </a:prstGeom>
          <a:noFill/>
        </p:spPr>
        <p:txBody>
          <a:bodyPr wrap="square" rtlCol="0">
            <a:spAutoFit/>
          </a:bodyPr>
          <a:lstStyle/>
          <a:p>
            <a:pPr algn="ctr"/>
            <a:r>
              <a:rPr lang="en-US" dirty="0">
                <a:solidFill>
                  <a:srgbClr val="25274D"/>
                </a:solidFill>
                <a:latin typeface="Montserrat" panose="00000500000000000000" pitchFamily="2" charset="0"/>
              </a:rPr>
              <a:t>Numbers</a:t>
            </a:r>
          </a:p>
        </p:txBody>
      </p:sp>
      <p:pic>
        <p:nvPicPr>
          <p:cNvPr id="4" name="Graphic 3">
            <a:extLst>
              <a:ext uri="{FF2B5EF4-FFF2-40B4-BE49-F238E27FC236}">
                <a16:creationId xmlns:a16="http://schemas.microsoft.com/office/drawing/2014/main" id="{FB25DD9E-5EE5-8F0E-C0A3-853EB19A0D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4118" y="2904925"/>
            <a:ext cx="799827" cy="742063"/>
          </a:xfrm>
          <a:prstGeom prst="rect">
            <a:avLst/>
          </a:prstGeom>
        </p:spPr>
      </p:pic>
      <p:pic>
        <p:nvPicPr>
          <p:cNvPr id="6" name="Graphic 5">
            <a:extLst>
              <a:ext uri="{FF2B5EF4-FFF2-40B4-BE49-F238E27FC236}">
                <a16:creationId xmlns:a16="http://schemas.microsoft.com/office/drawing/2014/main" id="{72F79D41-D26F-2804-3E63-91609D5C9C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1183" y="2927143"/>
            <a:ext cx="1070880" cy="697626"/>
          </a:xfrm>
          <a:prstGeom prst="rect">
            <a:avLst/>
          </a:prstGeom>
        </p:spPr>
      </p:pic>
      <p:pic>
        <p:nvPicPr>
          <p:cNvPr id="11" name="Graphic 10">
            <a:extLst>
              <a:ext uri="{FF2B5EF4-FFF2-40B4-BE49-F238E27FC236}">
                <a16:creationId xmlns:a16="http://schemas.microsoft.com/office/drawing/2014/main" id="{830A0B67-5E3B-976E-A568-7F9EAC4DDA8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02688" y="2823514"/>
            <a:ext cx="893055" cy="904885"/>
          </a:xfrm>
          <a:prstGeom prst="rect">
            <a:avLst/>
          </a:prstGeom>
        </p:spPr>
      </p:pic>
    </p:spTree>
    <p:extLst>
      <p:ext uri="{BB962C8B-B14F-4D97-AF65-F5344CB8AC3E}">
        <p14:creationId xmlns:p14="http://schemas.microsoft.com/office/powerpoint/2010/main" val="35604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childTnLst>
                                </p:cTn>
                              </p:par>
                              <p:par>
                                <p:cTn id="11" presetID="10" presetClass="entr" presetSubtype="0" fill="hold"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000"/>
                                        <p:tgtEl>
                                          <p:spTgt spid="17"/>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childTnLst>
                                </p:cTn>
                              </p:par>
                              <p:par>
                                <p:cTn id="23" presetID="10" presetClass="entr" presetSubtype="0" fill="hold" nodeType="withEffect">
                                  <p:stCondLst>
                                    <p:cond delay="5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childTnLst>
                                </p:cTn>
                              </p:par>
                              <p:par>
                                <p:cTn id="32" presetID="10" presetClass="entr" presetSubtype="0" fill="hold" nodeType="withEffect">
                                  <p:stCondLst>
                                    <p:cond delay="5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animBg="1"/>
      <p:bldP spid="15" grpId="0" animBg="1"/>
      <p:bldP spid="16" grpId="0" animBg="1"/>
      <p:bldP spid="17" grpId="0" animBg="1"/>
      <p:bldP spid="18" grpId="0" animBg="1"/>
      <p:bldP spid="19" grpId="0" animBg="1"/>
      <p:bldP spid="2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4470C-9673-6716-4EFF-138544AE4CA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77FFCA1-758D-DDA0-E743-356C395A242E}"/>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Variables in Python</a:t>
            </a:r>
            <a:endParaRPr lang="en-US" dirty="0"/>
          </a:p>
        </p:txBody>
      </p:sp>
      <p:pic>
        <p:nvPicPr>
          <p:cNvPr id="5" name="Picture Placeholder 4" descr="A person typing on a computer&#10;&#10;AI-generated content may be incorrect.">
            <a:extLst>
              <a:ext uri="{FF2B5EF4-FFF2-40B4-BE49-F238E27FC236}">
                <a16:creationId xmlns:a16="http://schemas.microsoft.com/office/drawing/2014/main" id="{5B182DAA-5BCC-2E00-AEDC-F8F18604EEF0}"/>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l="2716" r="2716"/>
          <a:stretch>
            <a:fillRect/>
          </a:stretch>
        </p:blipFill>
        <p:spPr/>
      </p:pic>
      <p:grpSp>
        <p:nvGrpSpPr>
          <p:cNvPr id="16" name="Group 15">
            <a:extLst>
              <a:ext uri="{FF2B5EF4-FFF2-40B4-BE49-F238E27FC236}">
                <a16:creationId xmlns:a16="http://schemas.microsoft.com/office/drawing/2014/main" id="{50A836B1-0639-535E-A045-8D36F62AB586}"/>
              </a:ext>
            </a:extLst>
          </p:cNvPr>
          <p:cNvGrpSpPr/>
          <p:nvPr/>
        </p:nvGrpSpPr>
        <p:grpSpPr>
          <a:xfrm>
            <a:off x="6661854" y="1917342"/>
            <a:ext cx="5356325" cy="3789268"/>
            <a:chOff x="6661854" y="2213988"/>
            <a:chExt cx="5356325" cy="3789268"/>
          </a:xfrm>
        </p:grpSpPr>
        <p:grpSp>
          <p:nvGrpSpPr>
            <p:cNvPr id="15" name="Group 14">
              <a:extLst>
                <a:ext uri="{FF2B5EF4-FFF2-40B4-BE49-F238E27FC236}">
                  <a16:creationId xmlns:a16="http://schemas.microsoft.com/office/drawing/2014/main" id="{54C9E350-1DBA-48A5-B492-E5CE16C47E1A}"/>
                </a:ext>
              </a:extLst>
            </p:cNvPr>
            <p:cNvGrpSpPr/>
            <p:nvPr/>
          </p:nvGrpSpPr>
          <p:grpSpPr>
            <a:xfrm>
              <a:off x="6661854" y="2213988"/>
              <a:ext cx="5356325" cy="1290646"/>
              <a:chOff x="6610338" y="2213988"/>
              <a:chExt cx="5356325" cy="1290646"/>
            </a:xfrm>
          </p:grpSpPr>
          <p:sp>
            <p:nvSpPr>
              <p:cNvPr id="6" name="TextBox 5">
                <a:extLst>
                  <a:ext uri="{FF2B5EF4-FFF2-40B4-BE49-F238E27FC236}">
                    <a16:creationId xmlns:a16="http://schemas.microsoft.com/office/drawing/2014/main" id="{62CCDACD-496A-48E0-C2E0-7BAB6838A66F}"/>
                  </a:ext>
                </a:extLst>
              </p:cNvPr>
              <p:cNvSpPr txBox="1"/>
              <p:nvPr/>
            </p:nvSpPr>
            <p:spPr>
              <a:xfrm>
                <a:off x="6610338" y="2213988"/>
                <a:ext cx="5356325" cy="361637"/>
              </a:xfrm>
              <a:prstGeom prst="rect">
                <a:avLst/>
              </a:prstGeom>
              <a:noFill/>
            </p:spPr>
            <p:txBody>
              <a:bodyPr wrap="square">
                <a:spAutoFit/>
              </a:bodyPr>
              <a:lstStyle/>
              <a:p>
                <a:pPr>
                  <a:lnSpc>
                    <a:spcPts val="2083"/>
                  </a:lnSpc>
                </a:pPr>
                <a:r>
                  <a:rPr lang="en-US" sz="1800" b="1" dirty="0">
                    <a:solidFill>
                      <a:srgbClr val="25274D"/>
                    </a:solidFill>
                    <a:latin typeface="Montserrat" pitchFamily="34" charset="0"/>
                    <a:ea typeface="Montserrat" pitchFamily="34" charset="-122"/>
                    <a:cs typeface="Montserrat" pitchFamily="34" charset="-120"/>
                  </a:rPr>
                  <a:t>Definition</a:t>
                </a:r>
              </a:p>
            </p:txBody>
          </p:sp>
          <p:sp>
            <p:nvSpPr>
              <p:cNvPr id="7" name="TextBox 6">
                <a:extLst>
                  <a:ext uri="{FF2B5EF4-FFF2-40B4-BE49-F238E27FC236}">
                    <a16:creationId xmlns:a16="http://schemas.microsoft.com/office/drawing/2014/main" id="{9F2BD8FD-838B-5AB3-222D-6C792BCCEBB5}"/>
                  </a:ext>
                </a:extLst>
              </p:cNvPr>
              <p:cNvSpPr txBox="1"/>
              <p:nvPr/>
            </p:nvSpPr>
            <p:spPr>
              <a:xfrm>
                <a:off x="6610338" y="2581304"/>
                <a:ext cx="4742432" cy="923330"/>
              </a:xfrm>
              <a:prstGeom prst="rect">
                <a:avLst/>
              </a:prstGeom>
              <a:noFill/>
            </p:spPr>
            <p:txBody>
              <a:bodyPr wrap="square">
                <a:spAutoFit/>
              </a:bodyPr>
              <a:lstStyle/>
              <a:p>
                <a:pPr marL="0" lvl="1"/>
                <a:r>
                  <a:rPr lang="en-US" dirty="0">
                    <a:solidFill>
                      <a:srgbClr val="25274D"/>
                    </a:solidFill>
                    <a:latin typeface="Montserrat" pitchFamily="34" charset="0"/>
                    <a:ea typeface="Montserrat" pitchFamily="34" charset="-122"/>
                    <a:cs typeface="Montserrat" pitchFamily="34" charset="-120"/>
                  </a:rPr>
                  <a:t>Store values using a name (no type declaration needed; Python is dynamically typed)</a:t>
                </a:r>
              </a:p>
            </p:txBody>
          </p:sp>
        </p:grpSp>
        <p:sp>
          <p:nvSpPr>
            <p:cNvPr id="9" name="TextBox 8">
              <a:extLst>
                <a:ext uri="{FF2B5EF4-FFF2-40B4-BE49-F238E27FC236}">
                  <a16:creationId xmlns:a16="http://schemas.microsoft.com/office/drawing/2014/main" id="{619CA1A7-FA90-1F6F-FD62-C39D34E2313E}"/>
                </a:ext>
              </a:extLst>
            </p:cNvPr>
            <p:cNvSpPr txBox="1"/>
            <p:nvPr/>
          </p:nvSpPr>
          <p:spPr>
            <a:xfrm>
              <a:off x="6661854" y="3743137"/>
              <a:ext cx="5356325" cy="361637"/>
            </a:xfrm>
            <a:prstGeom prst="rect">
              <a:avLst/>
            </a:prstGeom>
            <a:noFill/>
          </p:spPr>
          <p:txBody>
            <a:bodyPr wrap="square">
              <a:spAutoFit/>
            </a:bodyPr>
            <a:lstStyle/>
            <a:p>
              <a:pPr>
                <a:lnSpc>
                  <a:spcPts val="2083"/>
                </a:lnSpc>
              </a:pPr>
              <a:r>
                <a:rPr lang="en-US" sz="1800" b="1" dirty="0">
                  <a:solidFill>
                    <a:srgbClr val="25274D"/>
                  </a:solidFill>
                  <a:latin typeface="Montserrat" pitchFamily="34" charset="0"/>
                  <a:ea typeface="Montserrat" pitchFamily="34" charset="-122"/>
                  <a:cs typeface="Montserrat" pitchFamily="34" charset="-120"/>
                </a:rPr>
                <a:t>Syntax</a:t>
              </a:r>
            </a:p>
          </p:txBody>
        </p:sp>
        <p:grpSp>
          <p:nvGrpSpPr>
            <p:cNvPr id="13" name="Group 12">
              <a:extLst>
                <a:ext uri="{FF2B5EF4-FFF2-40B4-BE49-F238E27FC236}">
                  <a16:creationId xmlns:a16="http://schemas.microsoft.com/office/drawing/2014/main" id="{A3D5A071-A0BB-4305-D397-E459D4D08E61}"/>
                </a:ext>
              </a:extLst>
            </p:cNvPr>
            <p:cNvGrpSpPr/>
            <p:nvPr/>
          </p:nvGrpSpPr>
          <p:grpSpPr>
            <a:xfrm>
              <a:off x="6661854" y="4995288"/>
              <a:ext cx="5356325" cy="1007968"/>
              <a:chOff x="6610338" y="4995288"/>
              <a:chExt cx="5356325" cy="1007968"/>
            </a:xfrm>
          </p:grpSpPr>
          <p:sp>
            <p:nvSpPr>
              <p:cNvPr id="11" name="TextBox 10">
                <a:extLst>
                  <a:ext uri="{FF2B5EF4-FFF2-40B4-BE49-F238E27FC236}">
                    <a16:creationId xmlns:a16="http://schemas.microsoft.com/office/drawing/2014/main" id="{E522B92E-732B-4547-D795-4C1490327CFE}"/>
                  </a:ext>
                </a:extLst>
              </p:cNvPr>
              <p:cNvSpPr txBox="1"/>
              <p:nvPr/>
            </p:nvSpPr>
            <p:spPr>
              <a:xfrm>
                <a:off x="6610338" y="4995288"/>
                <a:ext cx="5356325" cy="361637"/>
              </a:xfrm>
              <a:prstGeom prst="rect">
                <a:avLst/>
              </a:prstGeom>
              <a:noFill/>
            </p:spPr>
            <p:txBody>
              <a:bodyPr wrap="square">
                <a:spAutoFit/>
              </a:bodyPr>
              <a:lstStyle/>
              <a:p>
                <a:pPr>
                  <a:lnSpc>
                    <a:spcPts val="2083"/>
                  </a:lnSpc>
                </a:pPr>
                <a:r>
                  <a:rPr lang="en-US" sz="1800" b="1" dirty="0">
                    <a:solidFill>
                      <a:srgbClr val="25274D"/>
                    </a:solidFill>
                    <a:latin typeface="Montserrat" pitchFamily="34" charset="0"/>
                    <a:ea typeface="Montserrat" pitchFamily="34" charset="-122"/>
                    <a:cs typeface="Montserrat" pitchFamily="34" charset="-120"/>
                  </a:rPr>
                  <a:t>Naming rules</a:t>
                </a:r>
              </a:p>
            </p:txBody>
          </p:sp>
          <p:sp>
            <p:nvSpPr>
              <p:cNvPr id="12" name="TextBox 11">
                <a:extLst>
                  <a:ext uri="{FF2B5EF4-FFF2-40B4-BE49-F238E27FC236}">
                    <a16:creationId xmlns:a16="http://schemas.microsoft.com/office/drawing/2014/main" id="{327B4DB1-9403-B866-FCAF-1C155A2BFB88}"/>
                  </a:ext>
                </a:extLst>
              </p:cNvPr>
              <p:cNvSpPr txBox="1"/>
              <p:nvPr/>
            </p:nvSpPr>
            <p:spPr>
              <a:xfrm>
                <a:off x="6648974" y="5356925"/>
                <a:ext cx="4665159" cy="646331"/>
              </a:xfrm>
              <a:prstGeom prst="rect">
                <a:avLst/>
              </a:prstGeom>
              <a:noFill/>
            </p:spPr>
            <p:txBody>
              <a:bodyPr wrap="square">
                <a:spAutoFit/>
              </a:bodyPr>
              <a:lstStyle/>
              <a:p>
                <a:pPr marL="0" lvl="1"/>
                <a:r>
                  <a:rPr lang="en-US" dirty="0">
                    <a:solidFill>
                      <a:srgbClr val="25274D"/>
                    </a:solidFill>
                    <a:latin typeface="Montserrat" pitchFamily="34" charset="0"/>
                    <a:ea typeface="Montserrat" pitchFamily="34" charset="-122"/>
                    <a:cs typeface="Montserrat" pitchFamily="34" charset="-120"/>
                  </a:rPr>
                  <a:t>Start variable names with a letter or underscore, not a number</a:t>
                </a:r>
              </a:p>
            </p:txBody>
          </p:sp>
        </p:grpSp>
      </p:grpSp>
      <p:grpSp>
        <p:nvGrpSpPr>
          <p:cNvPr id="4" name="Group 3">
            <a:extLst>
              <a:ext uri="{FF2B5EF4-FFF2-40B4-BE49-F238E27FC236}">
                <a16:creationId xmlns:a16="http://schemas.microsoft.com/office/drawing/2014/main" id="{B8205E11-C1EA-1978-ECFD-549FBB8647C3}"/>
              </a:ext>
            </a:extLst>
          </p:cNvPr>
          <p:cNvGrpSpPr/>
          <p:nvPr/>
        </p:nvGrpSpPr>
        <p:grpSpPr>
          <a:xfrm>
            <a:off x="6560625" y="3808128"/>
            <a:ext cx="2400496" cy="890514"/>
            <a:chOff x="6560625" y="3808128"/>
            <a:chExt cx="2400496" cy="890514"/>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6560625" y="3808128"/>
              <a:ext cx="2400496" cy="89051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1498537-ABFF-BBAF-7803-7D8EF80A5C99}"/>
                </a:ext>
              </a:extLst>
            </p:cNvPr>
            <p:cNvPicPr>
              <a:picLocks noChangeAspect="1"/>
            </p:cNvPicPr>
            <p:nvPr/>
          </p:nvPicPr>
          <p:blipFill>
            <a:blip r:embed="rId5"/>
            <a:stretch>
              <a:fillRect/>
            </a:stretch>
          </p:blipFill>
          <p:spPr>
            <a:xfrm>
              <a:off x="6700490" y="3886621"/>
              <a:ext cx="2143424" cy="733527"/>
            </a:xfrm>
            <a:prstGeom prst="rect">
              <a:avLst/>
            </a:prstGeom>
          </p:spPr>
        </p:pic>
      </p:grpSp>
    </p:spTree>
    <p:extLst>
      <p:ext uri="{BB962C8B-B14F-4D97-AF65-F5344CB8AC3E}">
        <p14:creationId xmlns:p14="http://schemas.microsoft.com/office/powerpoint/2010/main" val="246570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par>
                                <p:cTn id="11" presetID="10" presetClass="entr" presetSubtype="0" fill="hold"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10" presetClass="entr" presetSubtype="0" fill="hold" nodeType="withEffect">
                                  <p:stCondLst>
                                    <p:cond delay="5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CF35A-C677-E4C2-736F-C9D074A3CE8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C441159-C136-E3CE-2FF7-10C99C2E8C1F}"/>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Rules &amp; Conventions for Variables</a:t>
            </a:r>
            <a:endParaRPr lang="en-US" dirty="0"/>
          </a:p>
        </p:txBody>
      </p:sp>
      <p:sp>
        <p:nvSpPr>
          <p:cNvPr id="2" name="TextBox 1">
            <a:extLst>
              <a:ext uri="{FF2B5EF4-FFF2-40B4-BE49-F238E27FC236}">
                <a16:creationId xmlns:a16="http://schemas.microsoft.com/office/drawing/2014/main" id="{EDB04486-30A8-CB57-67DA-B36CF6765D07}"/>
              </a:ext>
            </a:extLst>
          </p:cNvPr>
          <p:cNvSpPr txBox="1"/>
          <p:nvPr/>
        </p:nvSpPr>
        <p:spPr>
          <a:xfrm>
            <a:off x="3832698" y="2315183"/>
            <a:ext cx="8171234" cy="3268494"/>
          </a:xfrm>
          <a:prstGeom prst="rect">
            <a:avLst/>
          </a:prstGeom>
        </p:spPr>
        <p:txBody>
          <a:bodyPr wrap="square" rtlCol="0" anchor="ctr">
            <a:spAutoFit/>
          </a:bodyPr>
          <a:lstStyle/>
          <a:p>
            <a:pPr algn="l"/>
            <a:endParaRPr lang="en-GB" sz="3400" b="1" dirty="0"/>
          </a:p>
        </p:txBody>
      </p:sp>
      <p:sp>
        <p:nvSpPr>
          <p:cNvPr id="13" name="Rectangle: Rounded Corners 12">
            <a:extLst>
              <a:ext uri="{FF2B5EF4-FFF2-40B4-BE49-F238E27FC236}">
                <a16:creationId xmlns:a16="http://schemas.microsoft.com/office/drawing/2014/main" id="{D97E97B2-AE3E-F4B8-261D-827045757E89}"/>
              </a:ext>
            </a:extLst>
          </p:cNvPr>
          <p:cNvSpPr/>
          <p:nvPr/>
        </p:nvSpPr>
        <p:spPr>
          <a:xfrm>
            <a:off x="2129118" y="1484313"/>
            <a:ext cx="7933764" cy="828581"/>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65D48A-6D4D-04B8-43A0-AFDD85F312B1}"/>
              </a:ext>
            </a:extLst>
          </p:cNvPr>
          <p:cNvSpPr txBox="1"/>
          <p:nvPr/>
        </p:nvSpPr>
        <p:spPr>
          <a:xfrm>
            <a:off x="3043518" y="1716823"/>
            <a:ext cx="6911788" cy="363561"/>
          </a:xfrm>
          <a:prstGeom prst="rect">
            <a:avLst/>
          </a:prstGeom>
          <a:noFill/>
        </p:spPr>
        <p:txBody>
          <a:bodyPr wrap="square">
            <a:spAutoFit/>
          </a:bodyPr>
          <a:lstStyle/>
          <a:p>
            <a:pPr>
              <a:lnSpc>
                <a:spcPts val="2083"/>
              </a:lnSpc>
              <a:buSzPct val="100000"/>
            </a:pPr>
            <a:r>
              <a:rPr lang="en-US" sz="1800" dirty="0">
                <a:solidFill>
                  <a:schemeClr val="bg1"/>
                </a:solidFill>
                <a:latin typeface="Montserrat" panose="00000500000000000000" pitchFamily="2" charset="0"/>
                <a:ea typeface="Montserrat" pitchFamily="34" charset="-122"/>
                <a:cs typeface="Montserrat" pitchFamily="34" charset="-120"/>
              </a:rPr>
              <a:t>Use letters, numbers and underscores (e.g. </a:t>
            </a:r>
            <a:r>
              <a:rPr lang="en-US" sz="1800" dirty="0" err="1">
                <a:solidFill>
                  <a:schemeClr val="bg1"/>
                </a:solidFill>
                <a:latin typeface="Montserrat" panose="00000500000000000000" pitchFamily="2" charset="0"/>
                <a:ea typeface="Montserrat" pitchFamily="34" charset="-122"/>
                <a:cs typeface="Courier New" panose="02070309020205020404" pitchFamily="49" charset="0"/>
              </a:rPr>
              <a:t>student_name</a:t>
            </a:r>
            <a:r>
              <a:rPr lang="en-US" sz="1800" dirty="0">
                <a:solidFill>
                  <a:schemeClr val="bg1"/>
                </a:solidFill>
                <a:latin typeface="Montserrat" panose="00000500000000000000" pitchFamily="2" charset="0"/>
                <a:ea typeface="Montserrat" pitchFamily="34" charset="-122"/>
                <a:cs typeface="Montserrat" pitchFamily="34" charset="-120"/>
              </a:rPr>
              <a:t>)</a:t>
            </a:r>
          </a:p>
        </p:txBody>
      </p:sp>
      <p:sp>
        <p:nvSpPr>
          <p:cNvPr id="16" name="Rectangle: Rounded Corners 15">
            <a:extLst>
              <a:ext uri="{FF2B5EF4-FFF2-40B4-BE49-F238E27FC236}">
                <a16:creationId xmlns:a16="http://schemas.microsoft.com/office/drawing/2014/main" id="{B1F7936E-74D0-681A-18DC-B5B95FB2553D}"/>
              </a:ext>
            </a:extLst>
          </p:cNvPr>
          <p:cNvSpPr/>
          <p:nvPr/>
        </p:nvSpPr>
        <p:spPr>
          <a:xfrm>
            <a:off x="2129118" y="2427288"/>
            <a:ext cx="7933764" cy="828581"/>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C0FD010-EB16-6008-0496-37142264FC2B}"/>
              </a:ext>
            </a:extLst>
          </p:cNvPr>
          <p:cNvSpPr txBox="1"/>
          <p:nvPr/>
        </p:nvSpPr>
        <p:spPr>
          <a:xfrm>
            <a:off x="3043518" y="2659798"/>
            <a:ext cx="6911788" cy="363561"/>
          </a:xfrm>
          <a:prstGeom prst="rect">
            <a:avLst/>
          </a:prstGeom>
          <a:noFill/>
        </p:spPr>
        <p:txBody>
          <a:bodyPr wrap="square">
            <a:spAutoFit/>
          </a:bodyPr>
          <a:lstStyle/>
          <a:p>
            <a:pPr>
              <a:lnSpc>
                <a:spcPts val="2083"/>
              </a:lnSpc>
              <a:buSzPct val="100000"/>
            </a:pPr>
            <a:r>
              <a:rPr lang="en-US" sz="1800" dirty="0">
                <a:solidFill>
                  <a:schemeClr val="bg1"/>
                </a:solidFill>
                <a:latin typeface="Montserrat" panose="00000500000000000000" pitchFamily="2" charset="0"/>
                <a:ea typeface="Montserrat" pitchFamily="34" charset="-122"/>
                <a:cs typeface="Montserrat" pitchFamily="34" charset="-120"/>
              </a:rPr>
              <a:t>Avoid reserved keywords (e.g. for, class)</a:t>
            </a:r>
          </a:p>
        </p:txBody>
      </p:sp>
      <p:sp>
        <p:nvSpPr>
          <p:cNvPr id="18" name="Rectangle: Rounded Corners 17">
            <a:extLst>
              <a:ext uri="{FF2B5EF4-FFF2-40B4-BE49-F238E27FC236}">
                <a16:creationId xmlns:a16="http://schemas.microsoft.com/office/drawing/2014/main" id="{40DF1948-E606-558F-F96C-05344DC3D500}"/>
              </a:ext>
            </a:extLst>
          </p:cNvPr>
          <p:cNvSpPr/>
          <p:nvPr/>
        </p:nvSpPr>
        <p:spPr>
          <a:xfrm>
            <a:off x="2129118" y="3400519"/>
            <a:ext cx="7933764" cy="828581"/>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F98ADC0-0BAF-0093-E525-EFCE30EE6DF4}"/>
              </a:ext>
            </a:extLst>
          </p:cNvPr>
          <p:cNvSpPr txBox="1"/>
          <p:nvPr/>
        </p:nvSpPr>
        <p:spPr>
          <a:xfrm>
            <a:off x="3043518" y="3633029"/>
            <a:ext cx="6911788" cy="363561"/>
          </a:xfrm>
          <a:prstGeom prst="rect">
            <a:avLst/>
          </a:prstGeom>
          <a:noFill/>
        </p:spPr>
        <p:txBody>
          <a:bodyPr wrap="square">
            <a:spAutoFit/>
          </a:bodyPr>
          <a:lstStyle/>
          <a:p>
            <a:pPr>
              <a:lnSpc>
                <a:spcPts val="2083"/>
              </a:lnSpc>
              <a:buSzPct val="100000"/>
            </a:pPr>
            <a:r>
              <a:rPr lang="en-US" sz="1800" dirty="0">
                <a:solidFill>
                  <a:schemeClr val="bg1"/>
                </a:solidFill>
                <a:latin typeface="Montserrat" panose="00000500000000000000" pitchFamily="2" charset="0"/>
                <a:ea typeface="Montserrat" pitchFamily="34" charset="-122"/>
                <a:cs typeface="Montserrat" pitchFamily="34" charset="-120"/>
              </a:rPr>
              <a:t>Distinguish between cases (Age ≠ age)</a:t>
            </a:r>
          </a:p>
        </p:txBody>
      </p:sp>
      <p:sp>
        <p:nvSpPr>
          <p:cNvPr id="20" name="Rectangle: Rounded Corners 19">
            <a:extLst>
              <a:ext uri="{FF2B5EF4-FFF2-40B4-BE49-F238E27FC236}">
                <a16:creationId xmlns:a16="http://schemas.microsoft.com/office/drawing/2014/main" id="{4F38AE84-5123-4E70-E085-8791E5448C24}"/>
              </a:ext>
            </a:extLst>
          </p:cNvPr>
          <p:cNvSpPr/>
          <p:nvPr/>
        </p:nvSpPr>
        <p:spPr>
          <a:xfrm>
            <a:off x="2129118" y="4343494"/>
            <a:ext cx="7933764" cy="828581"/>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06FB3F1-80AD-BF3A-F1E4-CB7143C7AFD0}"/>
              </a:ext>
            </a:extLst>
          </p:cNvPr>
          <p:cNvSpPr txBox="1"/>
          <p:nvPr/>
        </p:nvSpPr>
        <p:spPr>
          <a:xfrm>
            <a:off x="3043518" y="4576004"/>
            <a:ext cx="6911788" cy="363561"/>
          </a:xfrm>
          <a:prstGeom prst="rect">
            <a:avLst/>
          </a:prstGeom>
          <a:noFill/>
        </p:spPr>
        <p:txBody>
          <a:bodyPr wrap="square">
            <a:spAutoFit/>
          </a:bodyPr>
          <a:lstStyle/>
          <a:p>
            <a:pPr>
              <a:lnSpc>
                <a:spcPts val="2083"/>
              </a:lnSpc>
              <a:buSzPct val="100000"/>
            </a:pPr>
            <a:r>
              <a:rPr lang="en-US" sz="1800" dirty="0">
                <a:solidFill>
                  <a:schemeClr val="bg1"/>
                </a:solidFill>
                <a:latin typeface="Montserrat" panose="00000500000000000000" pitchFamily="2" charset="0"/>
                <a:ea typeface="Montserrat" pitchFamily="34" charset="-122"/>
                <a:cs typeface="Montserrat" pitchFamily="34" charset="-120"/>
              </a:rPr>
              <a:t>Choose descriptive names to improve readability</a:t>
            </a:r>
          </a:p>
        </p:txBody>
      </p:sp>
      <p:pic>
        <p:nvPicPr>
          <p:cNvPr id="5" name="Graphic 4">
            <a:extLst>
              <a:ext uri="{FF2B5EF4-FFF2-40B4-BE49-F238E27FC236}">
                <a16:creationId xmlns:a16="http://schemas.microsoft.com/office/drawing/2014/main" id="{76521B66-EDD5-CA44-6095-8E9A7F7600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88244" y="3533822"/>
            <a:ext cx="619125" cy="561975"/>
          </a:xfrm>
          <a:prstGeom prst="rect">
            <a:avLst/>
          </a:prstGeom>
        </p:spPr>
      </p:pic>
      <p:pic>
        <p:nvPicPr>
          <p:cNvPr id="9" name="Graphic 8">
            <a:extLst>
              <a:ext uri="{FF2B5EF4-FFF2-40B4-BE49-F238E27FC236}">
                <a16:creationId xmlns:a16="http://schemas.microsoft.com/office/drawing/2014/main" id="{600FC50D-A9AA-4582-9083-199F239FAB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82189" y="4502341"/>
            <a:ext cx="528205" cy="510886"/>
          </a:xfrm>
          <a:prstGeom prst="rect">
            <a:avLst/>
          </a:prstGeom>
        </p:spPr>
      </p:pic>
      <p:pic>
        <p:nvPicPr>
          <p:cNvPr id="11" name="Graphic 10">
            <a:extLst>
              <a:ext uri="{FF2B5EF4-FFF2-40B4-BE49-F238E27FC236}">
                <a16:creationId xmlns:a16="http://schemas.microsoft.com/office/drawing/2014/main" id="{7F93661D-2C33-683A-AC5C-7BD5D4EFBB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84354" y="1670003"/>
            <a:ext cx="523875" cy="457200"/>
          </a:xfrm>
          <a:prstGeom prst="rect">
            <a:avLst/>
          </a:prstGeom>
        </p:spPr>
      </p:pic>
      <p:pic>
        <p:nvPicPr>
          <p:cNvPr id="12" name="Graphic 11">
            <a:extLst>
              <a:ext uri="{FF2B5EF4-FFF2-40B4-BE49-F238E27FC236}">
                <a16:creationId xmlns:a16="http://schemas.microsoft.com/office/drawing/2014/main" id="{7E15F734-1329-0806-0319-C14CD519D97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2284353" y="2612978"/>
            <a:ext cx="523875" cy="457200"/>
          </a:xfrm>
          <a:prstGeom prst="rect">
            <a:avLst/>
          </a:prstGeom>
        </p:spPr>
      </p:pic>
    </p:spTree>
    <p:extLst>
      <p:ext uri="{BB962C8B-B14F-4D97-AF65-F5344CB8AC3E}">
        <p14:creationId xmlns:p14="http://schemas.microsoft.com/office/powerpoint/2010/main" val="180294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0"/>
                                        <p:tgtEl>
                                          <p:spTgt spid="16"/>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1000"/>
                                        <p:tgtEl>
                                          <p:spTgt spid="19"/>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1000"/>
                                        <p:tgtEl>
                                          <p:spTgt spid="20"/>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childTnLst>
                                </p:cTn>
                              </p:par>
                              <p:par>
                                <p:cTn id="32" presetID="10" presetClass="entr" presetSubtype="0" fill="hold" nodeType="withEffect">
                                  <p:stCondLst>
                                    <p:cond delay="50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childTnLst>
                                </p:cTn>
                              </p:par>
                              <p:par>
                                <p:cTn id="35" presetID="10" presetClass="entr" presetSubtype="0" fill="hold" nodeType="withEffect">
                                  <p:stCondLst>
                                    <p:cond delay="50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childTnLst>
                                </p:cTn>
                              </p:par>
                              <p:par>
                                <p:cTn id="38" presetID="10" presetClass="entr" presetSubtype="0" fill="hold" nodeType="withEffect">
                                  <p:stCondLst>
                                    <p:cond delay="50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1000"/>
                                        <p:tgtEl>
                                          <p:spTgt spid="11"/>
                                        </p:tgtEl>
                                      </p:cBhvr>
                                    </p:animEffect>
                                  </p:childTnLst>
                                </p:cTn>
                              </p:par>
                              <p:par>
                                <p:cTn id="41" presetID="10" presetClass="entr" presetSubtype="0" fill="hold" nodeType="withEffect">
                                  <p:stCondLst>
                                    <p:cond delay="5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animBg="1"/>
      <p:bldP spid="15" grpId="0"/>
      <p:bldP spid="16" grpId="0" animBg="1"/>
      <p:bldP spid="17" grpId="0"/>
      <p:bldP spid="18" grpId="0" animBg="1"/>
      <p:bldP spid="19" grpId="0"/>
      <p:bldP spid="20" grpId="0" animBg="1"/>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E7173-E5F8-B1E5-B63B-7BB8D04F13A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FE50DA0-7F1E-287A-EFB4-1EA418D21264}"/>
              </a:ext>
            </a:extLst>
          </p:cNvPr>
          <p:cNvSpPr>
            <a:spLocks noGrp="1"/>
          </p:cNvSpPr>
          <p:nvPr>
            <p:ph type="title"/>
          </p:nvPr>
        </p:nvSpPr>
        <p:spPr/>
        <p:txBody>
          <a:bodyPr/>
          <a:lstStyle/>
          <a:p>
            <a:r>
              <a:rPr lang="en-US" dirty="0">
                <a:latin typeface="Montserrat Bold" pitchFamily="34" charset="0"/>
                <a:ea typeface="Montserrat Bold" pitchFamily="34" charset="-122"/>
                <a:cs typeface="Montserrat Bold" pitchFamily="34" charset="-120"/>
              </a:rPr>
              <a:t>Built-in Data Types in Python</a:t>
            </a:r>
            <a:br>
              <a:rPr lang="en-US" dirty="0"/>
            </a:br>
            <a:endParaRPr lang="en-GB" dirty="0"/>
          </a:p>
        </p:txBody>
      </p:sp>
      <p:sp>
        <p:nvSpPr>
          <p:cNvPr id="2" name="Rectangle: Rounded Corners 1">
            <a:extLst>
              <a:ext uri="{FF2B5EF4-FFF2-40B4-BE49-F238E27FC236}">
                <a16:creationId xmlns:a16="http://schemas.microsoft.com/office/drawing/2014/main" id="{497F7DB1-F1A1-A036-C5EF-3923E09CB5AE}"/>
              </a:ext>
            </a:extLst>
          </p:cNvPr>
          <p:cNvSpPr/>
          <p:nvPr/>
        </p:nvSpPr>
        <p:spPr>
          <a:xfrm>
            <a:off x="911225" y="1642161"/>
            <a:ext cx="5067300" cy="1072703"/>
          </a:xfrm>
          <a:prstGeom prst="roundRect">
            <a:avLst>
              <a:gd name="adj" fmla="val 50000"/>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A53E13-3161-95D9-2E26-79DB180DF9B8}"/>
              </a:ext>
            </a:extLst>
          </p:cNvPr>
          <p:cNvSpPr/>
          <p:nvPr/>
        </p:nvSpPr>
        <p:spPr>
          <a:xfrm>
            <a:off x="911225" y="3219905"/>
            <a:ext cx="5067300" cy="1072703"/>
          </a:xfrm>
          <a:prstGeom prst="roundRect">
            <a:avLst>
              <a:gd name="adj" fmla="val 50000"/>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4AA7105-5AB4-F1ED-49ED-5824739FF1B2}"/>
              </a:ext>
            </a:extLst>
          </p:cNvPr>
          <p:cNvSpPr txBox="1"/>
          <p:nvPr/>
        </p:nvSpPr>
        <p:spPr>
          <a:xfrm>
            <a:off x="1162380" y="1714813"/>
            <a:ext cx="1217964" cy="361637"/>
          </a:xfrm>
          <a:prstGeom prst="rect">
            <a:avLst/>
          </a:prstGeom>
          <a:noFill/>
        </p:spPr>
        <p:txBody>
          <a:bodyPr wrap="square">
            <a:spAutoFit/>
          </a:bodyPr>
          <a:lstStyle/>
          <a:p>
            <a:pPr>
              <a:lnSpc>
                <a:spcPts val="2083"/>
              </a:lnSpc>
            </a:pPr>
            <a:r>
              <a:rPr lang="en-US" b="1" dirty="0">
                <a:solidFill>
                  <a:schemeClr val="bg1"/>
                </a:solidFill>
                <a:latin typeface="Montserrat" panose="00000500000000000000" pitchFamily="2" charset="0"/>
                <a:ea typeface="Montserrat" pitchFamily="34" charset="-122"/>
                <a:cs typeface="Montserrat" pitchFamily="34" charset="-120"/>
              </a:rPr>
              <a:t>Numeric</a:t>
            </a:r>
          </a:p>
        </p:txBody>
      </p:sp>
      <p:sp>
        <p:nvSpPr>
          <p:cNvPr id="12" name="Rectangle: Rounded Corners 11">
            <a:extLst>
              <a:ext uri="{FF2B5EF4-FFF2-40B4-BE49-F238E27FC236}">
                <a16:creationId xmlns:a16="http://schemas.microsoft.com/office/drawing/2014/main" id="{16C3A6ED-54C3-3177-18E0-9441725882C3}"/>
              </a:ext>
            </a:extLst>
          </p:cNvPr>
          <p:cNvSpPr/>
          <p:nvPr/>
        </p:nvSpPr>
        <p:spPr>
          <a:xfrm>
            <a:off x="911225" y="4797648"/>
            <a:ext cx="5067300" cy="1072703"/>
          </a:xfrm>
          <a:prstGeom prst="roundRect">
            <a:avLst>
              <a:gd name="adj" fmla="val 50000"/>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E7EB559-E37C-D6C1-7357-C01F51137892}"/>
              </a:ext>
            </a:extLst>
          </p:cNvPr>
          <p:cNvSpPr txBox="1"/>
          <p:nvPr/>
        </p:nvSpPr>
        <p:spPr>
          <a:xfrm>
            <a:off x="1162379" y="2006600"/>
            <a:ext cx="4736145" cy="646331"/>
          </a:xfrm>
          <a:prstGeom prst="rect">
            <a:avLst/>
          </a:prstGeom>
          <a:noFill/>
        </p:spPr>
        <p:txBody>
          <a:bodyPr wrap="square">
            <a:spAutoFit/>
          </a:bodyPr>
          <a:lstStyle/>
          <a:p>
            <a:r>
              <a:rPr lang="en-US" dirty="0">
                <a:solidFill>
                  <a:schemeClr val="bg1"/>
                </a:solidFill>
                <a:latin typeface="Montserrat" panose="00000500000000000000" pitchFamily="2" charset="0"/>
                <a:ea typeface="Montserrat Bold" pitchFamily="34" charset="-122"/>
                <a:cs typeface="Courier New" panose="02070309020205020404" pitchFamily="49" charset="0"/>
              </a:rPr>
              <a:t>Represent numbers using </a:t>
            </a:r>
            <a:r>
              <a:rPr lang="en-US" dirty="0">
                <a:solidFill>
                  <a:schemeClr val="bg1"/>
                </a:solidFill>
                <a:latin typeface="Courier New" panose="02070309020205020404" pitchFamily="49" charset="0"/>
                <a:ea typeface="Montserrat Bold" pitchFamily="34" charset="-122"/>
                <a:cs typeface="Courier New" panose="02070309020205020404" pitchFamily="49" charset="0"/>
              </a:rPr>
              <a:t>int, float </a:t>
            </a:r>
            <a:r>
              <a:rPr lang="en-US" dirty="0">
                <a:solidFill>
                  <a:schemeClr val="bg1"/>
                </a:solidFill>
                <a:latin typeface="Montserrat" panose="00000500000000000000" pitchFamily="2" charset="0"/>
                <a:ea typeface="Montserrat Bold" pitchFamily="34" charset="-122"/>
                <a:cs typeface="Courier New" panose="02070309020205020404" pitchFamily="49" charset="0"/>
              </a:rPr>
              <a:t>or</a:t>
            </a:r>
            <a:r>
              <a:rPr lang="en-US" dirty="0">
                <a:solidFill>
                  <a:schemeClr val="bg1"/>
                </a:solidFill>
                <a:latin typeface="Courier New" panose="02070309020205020404" pitchFamily="49" charset="0"/>
                <a:ea typeface="Montserrat Bold" pitchFamily="34" charset="-122"/>
                <a:cs typeface="Courier New" panose="02070309020205020404" pitchFamily="49" charset="0"/>
              </a:rPr>
              <a:t> complex</a:t>
            </a:r>
          </a:p>
        </p:txBody>
      </p:sp>
      <p:grpSp>
        <p:nvGrpSpPr>
          <p:cNvPr id="18" name="Group 17">
            <a:extLst>
              <a:ext uri="{FF2B5EF4-FFF2-40B4-BE49-F238E27FC236}">
                <a16:creationId xmlns:a16="http://schemas.microsoft.com/office/drawing/2014/main" id="{4781A243-725C-6179-111C-F1B4F61D3ACC}"/>
              </a:ext>
            </a:extLst>
          </p:cNvPr>
          <p:cNvGrpSpPr/>
          <p:nvPr/>
        </p:nvGrpSpPr>
        <p:grpSpPr>
          <a:xfrm>
            <a:off x="1162379" y="3425452"/>
            <a:ext cx="4581195" cy="661119"/>
            <a:chOff x="1162379" y="3290982"/>
            <a:chExt cx="4581195" cy="661119"/>
          </a:xfrm>
        </p:grpSpPr>
        <p:sp>
          <p:nvSpPr>
            <p:cNvPr id="16" name="TextBox 15">
              <a:extLst>
                <a:ext uri="{FF2B5EF4-FFF2-40B4-BE49-F238E27FC236}">
                  <a16:creationId xmlns:a16="http://schemas.microsoft.com/office/drawing/2014/main" id="{991C29F3-A1DF-8CAC-4A10-5EAE72571DCD}"/>
                </a:ext>
              </a:extLst>
            </p:cNvPr>
            <p:cNvSpPr txBox="1"/>
            <p:nvPr/>
          </p:nvSpPr>
          <p:spPr>
            <a:xfrm>
              <a:off x="1162379" y="3290982"/>
              <a:ext cx="1338773" cy="361637"/>
            </a:xfrm>
            <a:prstGeom prst="rect">
              <a:avLst/>
            </a:prstGeom>
            <a:noFill/>
          </p:spPr>
          <p:txBody>
            <a:bodyPr wrap="square">
              <a:spAutoFit/>
            </a:bodyPr>
            <a:lstStyle/>
            <a:p>
              <a:pPr>
                <a:lnSpc>
                  <a:spcPts val="2083"/>
                </a:lnSpc>
              </a:pPr>
              <a:r>
                <a:rPr lang="en-US" b="1" dirty="0">
                  <a:solidFill>
                    <a:schemeClr val="bg1"/>
                  </a:solidFill>
                  <a:latin typeface="Montserrat" panose="00000500000000000000" pitchFamily="2" charset="0"/>
                  <a:ea typeface="Montserrat" pitchFamily="34" charset="-122"/>
                  <a:cs typeface="Montserrat" pitchFamily="34" charset="-120"/>
                </a:rPr>
                <a:t>Mapping</a:t>
              </a:r>
            </a:p>
          </p:txBody>
        </p:sp>
        <p:sp>
          <p:nvSpPr>
            <p:cNvPr id="17" name="TextBox 16">
              <a:extLst>
                <a:ext uri="{FF2B5EF4-FFF2-40B4-BE49-F238E27FC236}">
                  <a16:creationId xmlns:a16="http://schemas.microsoft.com/office/drawing/2014/main" id="{F0EBF2EA-64C5-ADB8-D75B-8FF384CF7B46}"/>
                </a:ext>
              </a:extLst>
            </p:cNvPr>
            <p:cNvSpPr txBox="1"/>
            <p:nvPr/>
          </p:nvSpPr>
          <p:spPr>
            <a:xfrm>
              <a:off x="1162379" y="3582769"/>
              <a:ext cx="4581195" cy="369332"/>
            </a:xfrm>
            <a:prstGeom prst="rect">
              <a:avLst/>
            </a:prstGeom>
            <a:noFill/>
          </p:spPr>
          <p:txBody>
            <a:bodyPr wrap="square">
              <a:spAutoFit/>
            </a:bodyPr>
            <a:lstStyle/>
            <a:p>
              <a:r>
                <a:rPr lang="en-US" dirty="0">
                  <a:solidFill>
                    <a:schemeClr val="bg1"/>
                  </a:solidFill>
                  <a:latin typeface="Montserrat" panose="00000500000000000000" pitchFamily="2" charset="0"/>
                  <a:ea typeface="Montserrat Bold" pitchFamily="34" charset="-122"/>
                  <a:cs typeface="Courier New" panose="02070309020205020404" pitchFamily="49" charset="0"/>
                </a:rPr>
                <a:t>Link keys to values using </a:t>
              </a:r>
              <a:r>
                <a:rPr lang="en-US" dirty="0" err="1">
                  <a:solidFill>
                    <a:schemeClr val="bg1"/>
                  </a:solidFill>
                  <a:latin typeface="Courier New" panose="02070309020205020404" pitchFamily="49" charset="0"/>
                  <a:ea typeface="Montserrat Bold" pitchFamily="34" charset="-122"/>
                  <a:cs typeface="Courier New" panose="02070309020205020404" pitchFamily="49" charset="0"/>
                </a:rPr>
                <a:t>dict</a:t>
              </a:r>
              <a:endParaRPr lang="en-US" dirty="0">
                <a:solidFill>
                  <a:schemeClr val="bg1"/>
                </a:solidFill>
                <a:latin typeface="Courier New" panose="02070309020205020404" pitchFamily="49" charset="0"/>
                <a:ea typeface="Montserrat Bold" pitchFamily="34" charset="-122"/>
                <a:cs typeface="Courier New" panose="02070309020205020404" pitchFamily="49" charset="0"/>
              </a:endParaRPr>
            </a:p>
          </p:txBody>
        </p:sp>
      </p:grpSp>
      <p:sp>
        <p:nvSpPr>
          <p:cNvPr id="19" name="TextBox 18">
            <a:extLst>
              <a:ext uri="{FF2B5EF4-FFF2-40B4-BE49-F238E27FC236}">
                <a16:creationId xmlns:a16="http://schemas.microsoft.com/office/drawing/2014/main" id="{F2BCAEEE-5DE8-0355-C776-88ABBC70173F}"/>
              </a:ext>
            </a:extLst>
          </p:cNvPr>
          <p:cNvSpPr txBox="1"/>
          <p:nvPr/>
        </p:nvSpPr>
        <p:spPr>
          <a:xfrm>
            <a:off x="1162380" y="4861425"/>
            <a:ext cx="1217964" cy="361637"/>
          </a:xfrm>
          <a:prstGeom prst="rect">
            <a:avLst/>
          </a:prstGeom>
          <a:noFill/>
        </p:spPr>
        <p:txBody>
          <a:bodyPr wrap="square">
            <a:spAutoFit/>
          </a:bodyPr>
          <a:lstStyle/>
          <a:p>
            <a:pPr>
              <a:lnSpc>
                <a:spcPts val="2083"/>
              </a:lnSpc>
            </a:pPr>
            <a:r>
              <a:rPr lang="en-US" b="1" dirty="0">
                <a:solidFill>
                  <a:schemeClr val="bg1"/>
                </a:solidFill>
                <a:latin typeface="Montserrat" panose="00000500000000000000" pitchFamily="2" charset="0"/>
                <a:ea typeface="Montserrat" pitchFamily="34" charset="-122"/>
                <a:cs typeface="Montserrat" pitchFamily="34" charset="-120"/>
              </a:rPr>
              <a:t>Boolean</a:t>
            </a:r>
          </a:p>
        </p:txBody>
      </p:sp>
      <p:sp>
        <p:nvSpPr>
          <p:cNvPr id="20" name="TextBox 19">
            <a:extLst>
              <a:ext uri="{FF2B5EF4-FFF2-40B4-BE49-F238E27FC236}">
                <a16:creationId xmlns:a16="http://schemas.microsoft.com/office/drawing/2014/main" id="{C38BD28E-0DED-E49E-F589-C4DD912E853A}"/>
              </a:ext>
            </a:extLst>
          </p:cNvPr>
          <p:cNvSpPr txBox="1"/>
          <p:nvPr/>
        </p:nvSpPr>
        <p:spPr>
          <a:xfrm>
            <a:off x="1162379" y="5153212"/>
            <a:ext cx="4581195" cy="646331"/>
          </a:xfrm>
          <a:prstGeom prst="rect">
            <a:avLst/>
          </a:prstGeom>
          <a:noFill/>
        </p:spPr>
        <p:txBody>
          <a:bodyPr wrap="square">
            <a:spAutoFit/>
          </a:bodyPr>
          <a:lstStyle/>
          <a:p>
            <a:r>
              <a:rPr lang="en-US" dirty="0">
                <a:solidFill>
                  <a:schemeClr val="bg1"/>
                </a:solidFill>
                <a:latin typeface="Montserrat" panose="00000500000000000000" pitchFamily="2" charset="0"/>
                <a:ea typeface="Montserrat Bold" pitchFamily="34" charset="-122"/>
                <a:cs typeface="Courier New" panose="02070309020205020404" pitchFamily="49" charset="0"/>
              </a:rPr>
              <a:t>Express truth values using </a:t>
            </a:r>
            <a:r>
              <a:rPr lang="en-US" dirty="0">
                <a:solidFill>
                  <a:schemeClr val="bg1"/>
                </a:solidFill>
                <a:latin typeface="Courier New" panose="02070309020205020404" pitchFamily="49" charset="0"/>
                <a:ea typeface="Montserrat Bold" pitchFamily="34" charset="-122"/>
                <a:cs typeface="Courier New" panose="02070309020205020404" pitchFamily="49" charset="0"/>
              </a:rPr>
              <a:t>True / False</a:t>
            </a:r>
          </a:p>
        </p:txBody>
      </p:sp>
      <p:sp>
        <p:nvSpPr>
          <p:cNvPr id="37" name="Rectangle: Rounded Corners 36">
            <a:extLst>
              <a:ext uri="{FF2B5EF4-FFF2-40B4-BE49-F238E27FC236}">
                <a16:creationId xmlns:a16="http://schemas.microsoft.com/office/drawing/2014/main" id="{B4F3B1B7-E10E-BA4D-F556-72BBC5505047}"/>
              </a:ext>
            </a:extLst>
          </p:cNvPr>
          <p:cNvSpPr/>
          <p:nvPr/>
        </p:nvSpPr>
        <p:spPr>
          <a:xfrm>
            <a:off x="6142038" y="1642161"/>
            <a:ext cx="5067300" cy="1072703"/>
          </a:xfrm>
          <a:prstGeom prst="roundRect">
            <a:avLst>
              <a:gd name="adj" fmla="val 50000"/>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C47BC0A4-9DCC-E7E3-DF8E-9F98C5143AEA}"/>
              </a:ext>
            </a:extLst>
          </p:cNvPr>
          <p:cNvSpPr/>
          <p:nvPr/>
        </p:nvSpPr>
        <p:spPr>
          <a:xfrm>
            <a:off x="6142038" y="3219905"/>
            <a:ext cx="5067300" cy="1072703"/>
          </a:xfrm>
          <a:prstGeom prst="roundRect">
            <a:avLst>
              <a:gd name="adj" fmla="val 50000"/>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CFA242B-B0E7-09EB-3D28-DBA944EF3DD8}"/>
              </a:ext>
            </a:extLst>
          </p:cNvPr>
          <p:cNvSpPr txBox="1"/>
          <p:nvPr/>
        </p:nvSpPr>
        <p:spPr>
          <a:xfrm>
            <a:off x="6393193" y="1714813"/>
            <a:ext cx="1385646" cy="361637"/>
          </a:xfrm>
          <a:prstGeom prst="rect">
            <a:avLst/>
          </a:prstGeom>
          <a:noFill/>
        </p:spPr>
        <p:txBody>
          <a:bodyPr wrap="square">
            <a:spAutoFit/>
          </a:bodyPr>
          <a:lstStyle/>
          <a:p>
            <a:pPr>
              <a:lnSpc>
                <a:spcPts val="2083"/>
              </a:lnSpc>
            </a:pPr>
            <a:r>
              <a:rPr lang="en-US" b="1" dirty="0">
                <a:solidFill>
                  <a:schemeClr val="bg1"/>
                </a:solidFill>
                <a:latin typeface="Montserrat" panose="00000500000000000000" pitchFamily="2" charset="0"/>
                <a:ea typeface="Montserrat" pitchFamily="34" charset="-122"/>
                <a:cs typeface="Montserrat" pitchFamily="34" charset="-120"/>
              </a:rPr>
              <a:t>Sequence</a:t>
            </a:r>
          </a:p>
        </p:txBody>
      </p:sp>
      <p:sp>
        <p:nvSpPr>
          <p:cNvPr id="40" name="Rectangle: Rounded Corners 39">
            <a:extLst>
              <a:ext uri="{FF2B5EF4-FFF2-40B4-BE49-F238E27FC236}">
                <a16:creationId xmlns:a16="http://schemas.microsoft.com/office/drawing/2014/main" id="{44AB671A-487E-ACDA-4816-6462F5BD5AE4}"/>
              </a:ext>
            </a:extLst>
          </p:cNvPr>
          <p:cNvSpPr/>
          <p:nvPr/>
        </p:nvSpPr>
        <p:spPr>
          <a:xfrm>
            <a:off x="6142038" y="4797648"/>
            <a:ext cx="5067300" cy="1072703"/>
          </a:xfrm>
          <a:prstGeom prst="roundRect">
            <a:avLst>
              <a:gd name="adj" fmla="val 50000"/>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88039F80-499C-8AE4-493E-82735C32D230}"/>
              </a:ext>
            </a:extLst>
          </p:cNvPr>
          <p:cNvSpPr txBox="1"/>
          <p:nvPr/>
        </p:nvSpPr>
        <p:spPr>
          <a:xfrm>
            <a:off x="6393192" y="2006600"/>
            <a:ext cx="4581195" cy="646331"/>
          </a:xfrm>
          <a:prstGeom prst="rect">
            <a:avLst/>
          </a:prstGeom>
          <a:noFill/>
        </p:spPr>
        <p:txBody>
          <a:bodyPr wrap="square">
            <a:spAutoFit/>
          </a:bodyPr>
          <a:lstStyle/>
          <a:p>
            <a:r>
              <a:rPr lang="en-US" dirty="0">
                <a:solidFill>
                  <a:schemeClr val="bg1"/>
                </a:solidFill>
                <a:latin typeface="Montserrat" panose="00000500000000000000" pitchFamily="2" charset="0"/>
                <a:ea typeface="Montserrat Bold" pitchFamily="34" charset="-122"/>
                <a:cs typeface="Courier New" panose="02070309020205020404" pitchFamily="49" charset="0"/>
              </a:rPr>
              <a:t>Stores ordered data using </a:t>
            </a:r>
            <a:r>
              <a:rPr lang="en-US" dirty="0">
                <a:solidFill>
                  <a:schemeClr val="bg1"/>
                </a:solidFill>
                <a:latin typeface="Courier New" panose="02070309020205020404" pitchFamily="49" charset="0"/>
                <a:ea typeface="Montserrat Bold" pitchFamily="34" charset="-122"/>
                <a:cs typeface="Courier New" panose="02070309020205020404" pitchFamily="49" charset="0"/>
              </a:rPr>
              <a:t>str</a:t>
            </a:r>
          </a:p>
          <a:p>
            <a:r>
              <a:rPr lang="en-US" dirty="0">
                <a:solidFill>
                  <a:schemeClr val="bg1"/>
                </a:solidFill>
                <a:latin typeface="Courier New" panose="02070309020205020404" pitchFamily="49" charset="0"/>
                <a:ea typeface="Montserrat Bold" pitchFamily="34" charset="-122"/>
                <a:cs typeface="Courier New" panose="02070309020205020404" pitchFamily="49" charset="0"/>
              </a:rPr>
              <a:t>str, list, tuple</a:t>
            </a:r>
          </a:p>
        </p:txBody>
      </p:sp>
      <p:grpSp>
        <p:nvGrpSpPr>
          <p:cNvPr id="42" name="Group 41">
            <a:extLst>
              <a:ext uri="{FF2B5EF4-FFF2-40B4-BE49-F238E27FC236}">
                <a16:creationId xmlns:a16="http://schemas.microsoft.com/office/drawing/2014/main" id="{82D3D7F8-A7EB-7EC6-ACEB-A4920A65DFD2}"/>
              </a:ext>
            </a:extLst>
          </p:cNvPr>
          <p:cNvGrpSpPr/>
          <p:nvPr/>
        </p:nvGrpSpPr>
        <p:grpSpPr>
          <a:xfrm>
            <a:off x="6393192" y="3296662"/>
            <a:ext cx="4581195" cy="938118"/>
            <a:chOff x="1162379" y="3162192"/>
            <a:chExt cx="4581195" cy="938118"/>
          </a:xfrm>
        </p:grpSpPr>
        <p:sp>
          <p:nvSpPr>
            <p:cNvPr id="43" name="TextBox 42">
              <a:extLst>
                <a:ext uri="{FF2B5EF4-FFF2-40B4-BE49-F238E27FC236}">
                  <a16:creationId xmlns:a16="http://schemas.microsoft.com/office/drawing/2014/main" id="{68AF0FFB-A7FB-A911-12DC-844CAF4CE1F6}"/>
                </a:ext>
              </a:extLst>
            </p:cNvPr>
            <p:cNvSpPr txBox="1"/>
            <p:nvPr/>
          </p:nvSpPr>
          <p:spPr>
            <a:xfrm>
              <a:off x="1162379" y="3162192"/>
              <a:ext cx="1338773" cy="361637"/>
            </a:xfrm>
            <a:prstGeom prst="rect">
              <a:avLst/>
            </a:prstGeom>
            <a:noFill/>
          </p:spPr>
          <p:txBody>
            <a:bodyPr wrap="square">
              <a:spAutoFit/>
            </a:bodyPr>
            <a:lstStyle/>
            <a:p>
              <a:pPr>
                <a:lnSpc>
                  <a:spcPts val="2083"/>
                </a:lnSpc>
              </a:pPr>
              <a:r>
                <a:rPr lang="en-US" b="1" dirty="0">
                  <a:solidFill>
                    <a:schemeClr val="bg1"/>
                  </a:solidFill>
                  <a:latin typeface="Montserrat" panose="00000500000000000000" pitchFamily="2" charset="0"/>
                  <a:ea typeface="Montserrat" pitchFamily="34" charset="-122"/>
                  <a:cs typeface="Montserrat" pitchFamily="34" charset="-120"/>
                </a:rPr>
                <a:t>Set types</a:t>
              </a:r>
            </a:p>
          </p:txBody>
        </p:sp>
        <p:sp>
          <p:nvSpPr>
            <p:cNvPr id="44" name="TextBox 43">
              <a:extLst>
                <a:ext uri="{FF2B5EF4-FFF2-40B4-BE49-F238E27FC236}">
                  <a16:creationId xmlns:a16="http://schemas.microsoft.com/office/drawing/2014/main" id="{AE35F572-CC9D-C409-F13F-0AD13FDA719D}"/>
                </a:ext>
              </a:extLst>
            </p:cNvPr>
            <p:cNvSpPr txBox="1"/>
            <p:nvPr/>
          </p:nvSpPr>
          <p:spPr>
            <a:xfrm>
              <a:off x="1162379" y="3453979"/>
              <a:ext cx="4581195" cy="646331"/>
            </a:xfrm>
            <a:prstGeom prst="rect">
              <a:avLst/>
            </a:prstGeom>
            <a:noFill/>
          </p:spPr>
          <p:txBody>
            <a:bodyPr wrap="square">
              <a:spAutoFit/>
            </a:bodyPr>
            <a:lstStyle/>
            <a:p>
              <a:r>
                <a:rPr lang="en-US" dirty="0">
                  <a:solidFill>
                    <a:schemeClr val="bg1"/>
                  </a:solidFill>
                  <a:latin typeface="Montserrat" panose="00000500000000000000" pitchFamily="2" charset="0"/>
                  <a:ea typeface="Montserrat Bold" pitchFamily="34" charset="-122"/>
                  <a:cs typeface="Courier New" panose="02070309020205020404" pitchFamily="49" charset="0"/>
                </a:rPr>
                <a:t>Hold unique items using set</a:t>
              </a:r>
            </a:p>
            <a:p>
              <a:r>
                <a:rPr lang="en-US" dirty="0">
                  <a:solidFill>
                    <a:schemeClr val="bg1"/>
                  </a:solidFill>
                  <a:latin typeface="Courier New" panose="02070309020205020404" pitchFamily="49" charset="0"/>
                  <a:ea typeface="Montserrat Bold" pitchFamily="34" charset="-122"/>
                  <a:cs typeface="Courier New" panose="02070309020205020404" pitchFamily="49" charset="0"/>
                </a:rPr>
                <a:t>Set </a:t>
              </a:r>
              <a:r>
                <a:rPr lang="en-US" dirty="0">
                  <a:solidFill>
                    <a:schemeClr val="bg1"/>
                  </a:solidFill>
                  <a:latin typeface="Montserrat" panose="00000500000000000000" pitchFamily="2" charset="0"/>
                  <a:ea typeface="Montserrat Bold" pitchFamily="34" charset="-122"/>
                  <a:cs typeface="Courier New" panose="02070309020205020404" pitchFamily="49" charset="0"/>
                </a:rPr>
                <a:t>or</a:t>
              </a:r>
              <a:r>
                <a:rPr lang="en-US" dirty="0">
                  <a:solidFill>
                    <a:schemeClr val="bg1"/>
                  </a:solidFill>
                  <a:latin typeface="Courier New" panose="02070309020205020404" pitchFamily="49" charset="0"/>
                  <a:ea typeface="Montserrat Bold" pitchFamily="34" charset="-122"/>
                  <a:cs typeface="Courier New" panose="02070309020205020404" pitchFamily="49" charset="0"/>
                </a:rPr>
                <a:t> </a:t>
              </a:r>
              <a:r>
                <a:rPr lang="en-US" dirty="0" err="1">
                  <a:solidFill>
                    <a:schemeClr val="bg1"/>
                  </a:solidFill>
                  <a:latin typeface="Courier New" panose="02070309020205020404" pitchFamily="49" charset="0"/>
                  <a:ea typeface="Montserrat Bold" pitchFamily="34" charset="-122"/>
                  <a:cs typeface="Courier New" panose="02070309020205020404" pitchFamily="49" charset="0"/>
                </a:rPr>
                <a:t>frozenset</a:t>
              </a:r>
              <a:endParaRPr lang="en-US" dirty="0">
                <a:solidFill>
                  <a:schemeClr val="bg1"/>
                </a:solidFill>
                <a:latin typeface="Courier New" panose="02070309020205020404" pitchFamily="49" charset="0"/>
                <a:ea typeface="Montserrat Bold" pitchFamily="34" charset="-122"/>
                <a:cs typeface="Courier New" panose="02070309020205020404" pitchFamily="49" charset="0"/>
              </a:endParaRPr>
            </a:p>
          </p:txBody>
        </p:sp>
      </p:grpSp>
      <p:sp>
        <p:nvSpPr>
          <p:cNvPr id="45" name="TextBox 44">
            <a:extLst>
              <a:ext uri="{FF2B5EF4-FFF2-40B4-BE49-F238E27FC236}">
                <a16:creationId xmlns:a16="http://schemas.microsoft.com/office/drawing/2014/main" id="{A691378A-3E2A-85D5-571D-DEA24F772921}"/>
              </a:ext>
            </a:extLst>
          </p:cNvPr>
          <p:cNvSpPr txBox="1"/>
          <p:nvPr/>
        </p:nvSpPr>
        <p:spPr>
          <a:xfrm>
            <a:off x="6393193" y="5028852"/>
            <a:ext cx="1217964" cy="361637"/>
          </a:xfrm>
          <a:prstGeom prst="rect">
            <a:avLst/>
          </a:prstGeom>
          <a:noFill/>
        </p:spPr>
        <p:txBody>
          <a:bodyPr wrap="square">
            <a:spAutoFit/>
          </a:bodyPr>
          <a:lstStyle/>
          <a:p>
            <a:pPr>
              <a:lnSpc>
                <a:spcPts val="2083"/>
              </a:lnSpc>
            </a:pPr>
            <a:r>
              <a:rPr lang="en-US" b="1" dirty="0">
                <a:solidFill>
                  <a:schemeClr val="bg1"/>
                </a:solidFill>
                <a:latin typeface="Montserrat" panose="00000500000000000000" pitchFamily="2" charset="0"/>
                <a:ea typeface="Montserrat" pitchFamily="34" charset="-122"/>
                <a:cs typeface="Montserrat" pitchFamily="34" charset="-120"/>
              </a:rPr>
              <a:t>None</a:t>
            </a:r>
          </a:p>
        </p:txBody>
      </p:sp>
      <p:sp>
        <p:nvSpPr>
          <p:cNvPr id="46" name="TextBox 45">
            <a:extLst>
              <a:ext uri="{FF2B5EF4-FFF2-40B4-BE49-F238E27FC236}">
                <a16:creationId xmlns:a16="http://schemas.microsoft.com/office/drawing/2014/main" id="{333E38B0-11E0-CBD4-D7A6-E7CDB76925B7}"/>
              </a:ext>
            </a:extLst>
          </p:cNvPr>
          <p:cNvSpPr txBox="1"/>
          <p:nvPr/>
        </p:nvSpPr>
        <p:spPr>
          <a:xfrm>
            <a:off x="6393192" y="5320639"/>
            <a:ext cx="4581195" cy="369332"/>
          </a:xfrm>
          <a:prstGeom prst="rect">
            <a:avLst/>
          </a:prstGeom>
          <a:noFill/>
        </p:spPr>
        <p:txBody>
          <a:bodyPr wrap="square">
            <a:spAutoFit/>
          </a:bodyPr>
          <a:lstStyle/>
          <a:p>
            <a:r>
              <a:rPr lang="en-US" dirty="0">
                <a:solidFill>
                  <a:schemeClr val="bg1"/>
                </a:solidFill>
                <a:latin typeface="Montserrat" panose="00000500000000000000" pitchFamily="2" charset="0"/>
                <a:ea typeface="Montserrat Bold" pitchFamily="34" charset="-122"/>
                <a:cs typeface="Courier New" panose="02070309020205020404" pitchFamily="49" charset="0"/>
              </a:rPr>
              <a:t>Indicate absence of value using </a:t>
            </a:r>
            <a:r>
              <a:rPr lang="en-US" dirty="0">
                <a:solidFill>
                  <a:schemeClr val="bg1"/>
                </a:solidFill>
                <a:latin typeface="Courier New" panose="02070309020205020404" pitchFamily="49" charset="0"/>
                <a:ea typeface="Montserrat Bold" pitchFamily="34" charset="-122"/>
                <a:cs typeface="Courier New" panose="02070309020205020404" pitchFamily="49" charset="0"/>
              </a:rPr>
              <a:t>None</a:t>
            </a:r>
          </a:p>
        </p:txBody>
      </p:sp>
    </p:spTree>
    <p:extLst>
      <p:ext uri="{BB962C8B-B14F-4D97-AF65-F5344CB8AC3E}">
        <p14:creationId xmlns:p14="http://schemas.microsoft.com/office/powerpoint/2010/main" val="252768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childTnLst>
                                </p:cTn>
                              </p:par>
                              <p:par>
                                <p:cTn id="23" presetID="10" presetClass="entr" presetSubtype="0" fill="hold" nodeType="withEffect">
                                  <p:stCondLst>
                                    <p:cond delay="5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1000"/>
                                        <p:tgtEl>
                                          <p:spTgt spid="18"/>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1000"/>
                                        <p:tgtEl>
                                          <p:spTgt spid="37"/>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1000"/>
                                        <p:tgtEl>
                                          <p:spTgt spid="38"/>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1000"/>
                                        <p:tgtEl>
                                          <p:spTgt spid="39"/>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1000"/>
                                        <p:tgtEl>
                                          <p:spTgt spid="40"/>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1000"/>
                                        <p:tgtEl>
                                          <p:spTgt spid="41"/>
                                        </p:tgtEl>
                                      </p:cBhvr>
                                    </p:animEffect>
                                  </p:childTnLst>
                                </p:cTn>
                              </p:par>
                              <p:par>
                                <p:cTn id="47" presetID="10" presetClass="entr" presetSubtype="0" fill="hold" nodeType="withEffect">
                                  <p:stCondLst>
                                    <p:cond delay="50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1000"/>
                                        <p:tgtEl>
                                          <p:spTgt spid="42"/>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1000"/>
                                        <p:tgtEl>
                                          <p:spTgt spid="45"/>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46"/>
                                        </p:tgtEl>
                                        <p:attrNameLst>
                                          <p:attrName>style.visibility</p:attrName>
                                        </p:attrNameLst>
                                      </p:cBhvr>
                                      <p:to>
                                        <p:strVal val="visible"/>
                                      </p:to>
                                    </p:set>
                                    <p:animEffect transition="in" filter="fade">
                                      <p:cBhvr>
                                        <p:cTn id="55"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P spid="5" grpId="0" animBg="1"/>
      <p:bldP spid="7" grpId="0"/>
      <p:bldP spid="12" grpId="0" animBg="1"/>
      <p:bldP spid="15" grpId="0"/>
      <p:bldP spid="19" grpId="0"/>
      <p:bldP spid="20" grpId="0"/>
      <p:bldP spid="37" grpId="0" animBg="1"/>
      <p:bldP spid="38" grpId="0" animBg="1"/>
      <p:bldP spid="39" grpId="0"/>
      <p:bldP spid="40" grpId="0" animBg="1"/>
      <p:bldP spid="41" grpId="0"/>
      <p:bldP spid="45" grpId="0"/>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4630D-27D0-9B63-D3C1-8497EBEA7AD2}"/>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D4C61D15-78B8-F6A4-4B6D-F0E990CEABB0}"/>
              </a:ext>
            </a:extLst>
          </p:cNvPr>
          <p:cNvSpPr>
            <a:spLocks noGrp="1"/>
          </p:cNvSpPr>
          <p:nvPr>
            <p:ph type="title"/>
          </p:nvPr>
        </p:nvSpPr>
        <p:spPr/>
        <p:txBody>
          <a:bodyPr/>
          <a:lstStyle/>
          <a:p>
            <a:pPr>
              <a:lnSpc>
                <a:spcPts val="3833"/>
              </a:lnSpc>
            </a:pPr>
            <a:r>
              <a:rPr lang="en-US" dirty="0">
                <a:latin typeface="Montserrat Bold" pitchFamily="34" charset="0"/>
                <a:ea typeface="Montserrat Bold" pitchFamily="34" charset="-122"/>
                <a:cs typeface="Montserrat Bold" pitchFamily="34" charset="-120"/>
              </a:rPr>
              <a:t>Checking Data Types</a:t>
            </a:r>
            <a:endParaRPr lang="en-US" dirty="0"/>
          </a:p>
        </p:txBody>
      </p:sp>
      <p:sp>
        <p:nvSpPr>
          <p:cNvPr id="2" name="Text Placeholder 1">
            <a:extLst>
              <a:ext uri="{FF2B5EF4-FFF2-40B4-BE49-F238E27FC236}">
                <a16:creationId xmlns:a16="http://schemas.microsoft.com/office/drawing/2014/main" id="{FB11460C-0BAF-FA5D-B621-4834FEC07F48}"/>
              </a:ext>
            </a:extLst>
          </p:cNvPr>
          <p:cNvSpPr>
            <a:spLocks noGrp="1"/>
          </p:cNvSpPr>
          <p:nvPr>
            <p:ph type="body" sz="quarter" idx="10"/>
          </p:nvPr>
        </p:nvSpPr>
        <p:spPr/>
        <p:txBody>
          <a:bodyPr/>
          <a:lstStyle/>
          <a:p>
            <a:r>
              <a:rPr lang="en-GB" dirty="0"/>
              <a:t>Use type() function:</a:t>
            </a:r>
          </a:p>
          <a:p>
            <a:endParaRPr lang="en-GB" dirty="0"/>
          </a:p>
        </p:txBody>
      </p:sp>
      <p:pic>
        <p:nvPicPr>
          <p:cNvPr id="6" name="Picture Placeholder 5" descr="A person typing on a computer&#10;&#10;AI-generated content may be incorrect.">
            <a:extLst>
              <a:ext uri="{FF2B5EF4-FFF2-40B4-BE49-F238E27FC236}">
                <a16:creationId xmlns:a16="http://schemas.microsoft.com/office/drawing/2014/main" id="{83BE3E2B-75B9-07FF-694C-887484C55B23}"/>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25" r="1725"/>
          <a:stretch>
            <a:fillRect/>
          </a:stretch>
        </p:blipFill>
        <p:spPr/>
      </p:pic>
      <p:grpSp>
        <p:nvGrpSpPr>
          <p:cNvPr id="8" name="Group 7">
            <a:extLst>
              <a:ext uri="{FF2B5EF4-FFF2-40B4-BE49-F238E27FC236}">
                <a16:creationId xmlns:a16="http://schemas.microsoft.com/office/drawing/2014/main" id="{EC4841B2-4957-22E2-252D-4751F41C5A08}"/>
              </a:ext>
            </a:extLst>
          </p:cNvPr>
          <p:cNvGrpSpPr/>
          <p:nvPr/>
        </p:nvGrpSpPr>
        <p:grpSpPr>
          <a:xfrm>
            <a:off x="6734431" y="2298359"/>
            <a:ext cx="4226011" cy="2889678"/>
            <a:chOff x="6734431" y="2298359"/>
            <a:chExt cx="4226011" cy="2889678"/>
          </a:xfrm>
        </p:grpSpPr>
        <p:sp>
          <p:nvSpPr>
            <p:cNvPr id="7" name="Rectangle: Rounded Corners 6">
              <a:extLst>
                <a:ext uri="{FF2B5EF4-FFF2-40B4-BE49-F238E27FC236}">
                  <a16:creationId xmlns:a16="http://schemas.microsoft.com/office/drawing/2014/main" id="{5A366FC2-0C28-3F4D-4AD7-4980974C63CA}"/>
                </a:ext>
              </a:extLst>
            </p:cNvPr>
            <p:cNvSpPr/>
            <p:nvPr/>
          </p:nvSpPr>
          <p:spPr>
            <a:xfrm>
              <a:off x="6734431" y="2298359"/>
              <a:ext cx="4226011" cy="2889678"/>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Picture 11">
              <a:extLst>
                <a:ext uri="{FF2B5EF4-FFF2-40B4-BE49-F238E27FC236}">
                  <a16:creationId xmlns:a16="http://schemas.microsoft.com/office/drawing/2014/main" id="{F62E8CCF-5799-E587-2D19-1BBEAB88D20D}"/>
                </a:ext>
              </a:extLst>
            </p:cNvPr>
            <p:cNvPicPr>
              <a:picLocks noChangeAspect="1"/>
            </p:cNvPicPr>
            <p:nvPr/>
          </p:nvPicPr>
          <p:blipFill>
            <a:blip r:embed="rId4"/>
            <a:stretch>
              <a:fillRect/>
            </a:stretch>
          </p:blipFill>
          <p:spPr>
            <a:xfrm>
              <a:off x="6979658" y="2465397"/>
              <a:ext cx="3762864" cy="2563110"/>
            </a:xfrm>
            <a:prstGeom prst="rect">
              <a:avLst/>
            </a:prstGeom>
          </p:spPr>
        </p:pic>
      </p:grpSp>
    </p:spTree>
    <p:extLst>
      <p:ext uri="{BB962C8B-B14F-4D97-AF65-F5344CB8AC3E}">
        <p14:creationId xmlns:p14="http://schemas.microsoft.com/office/powerpoint/2010/main" val="139483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par>
                                <p:cTn id="14" presetID="10" presetClass="entr" presetSubtype="0" fill="hold" nodeType="withEffect">
                                  <p:stCondLst>
                                    <p:cond delay="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44EC-3AB7-7157-94D4-FDEDE9F22B4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98C4EA0-E2BF-52E5-69A6-EEB215E33A35}"/>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Numbers in Python</a:t>
            </a:r>
            <a:endParaRPr lang="en-US" dirty="0"/>
          </a:p>
        </p:txBody>
      </p:sp>
      <p:grpSp>
        <p:nvGrpSpPr>
          <p:cNvPr id="13" name="Group 12">
            <a:extLst>
              <a:ext uri="{FF2B5EF4-FFF2-40B4-BE49-F238E27FC236}">
                <a16:creationId xmlns:a16="http://schemas.microsoft.com/office/drawing/2014/main" id="{0C2855C7-68D2-8A6B-405C-44618EA38DB6}"/>
              </a:ext>
            </a:extLst>
          </p:cNvPr>
          <p:cNvGrpSpPr/>
          <p:nvPr/>
        </p:nvGrpSpPr>
        <p:grpSpPr>
          <a:xfrm>
            <a:off x="3684270" y="1721213"/>
            <a:ext cx="5001260" cy="1057964"/>
            <a:chOff x="1316843" y="1792106"/>
            <a:chExt cx="4611956" cy="1057964"/>
          </a:xfrm>
        </p:grpSpPr>
        <p:sp>
          <p:nvSpPr>
            <p:cNvPr id="17" name="Rectangle: Rounded Corners 16">
              <a:extLst>
                <a:ext uri="{FF2B5EF4-FFF2-40B4-BE49-F238E27FC236}">
                  <a16:creationId xmlns:a16="http://schemas.microsoft.com/office/drawing/2014/main" id="{E847521F-7913-9312-348A-51768388751A}"/>
                </a:ext>
              </a:extLst>
            </p:cNvPr>
            <p:cNvSpPr/>
            <p:nvPr/>
          </p:nvSpPr>
          <p:spPr>
            <a:xfrm>
              <a:off x="1316843" y="1792106"/>
              <a:ext cx="4611956" cy="1057964"/>
            </a:xfrm>
            <a:prstGeom prst="roundRect">
              <a:avLst>
                <a:gd name="adj" fmla="val 9369"/>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8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3011A4C9-73E8-ADAA-99C9-B40F6042ECF7}"/>
                </a:ext>
              </a:extLst>
            </p:cNvPr>
            <p:cNvSpPr txBox="1"/>
            <p:nvPr/>
          </p:nvSpPr>
          <p:spPr>
            <a:xfrm>
              <a:off x="1839024" y="1988404"/>
              <a:ext cx="2182946"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Integers (int)</a:t>
              </a:r>
            </a:p>
          </p:txBody>
        </p:sp>
        <p:sp>
          <p:nvSpPr>
            <p:cNvPr id="19" name="TextBox 18">
              <a:extLst>
                <a:ext uri="{FF2B5EF4-FFF2-40B4-BE49-F238E27FC236}">
                  <a16:creationId xmlns:a16="http://schemas.microsoft.com/office/drawing/2014/main" id="{111B1DE9-64B9-571C-66A0-406125570A5E}"/>
                </a:ext>
              </a:extLst>
            </p:cNvPr>
            <p:cNvSpPr txBox="1"/>
            <p:nvPr/>
          </p:nvSpPr>
          <p:spPr>
            <a:xfrm>
              <a:off x="1839024" y="2289740"/>
              <a:ext cx="3562764"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Whole numbers e.g., </a:t>
              </a: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10,-5,200</a:t>
              </a:r>
            </a:p>
          </p:txBody>
        </p:sp>
      </p:grpSp>
      <p:grpSp>
        <p:nvGrpSpPr>
          <p:cNvPr id="23" name="Group 22">
            <a:extLst>
              <a:ext uri="{FF2B5EF4-FFF2-40B4-BE49-F238E27FC236}">
                <a16:creationId xmlns:a16="http://schemas.microsoft.com/office/drawing/2014/main" id="{15B63CC0-016A-9440-B4BC-C7923AEDFF41}"/>
              </a:ext>
            </a:extLst>
          </p:cNvPr>
          <p:cNvGrpSpPr/>
          <p:nvPr/>
        </p:nvGrpSpPr>
        <p:grpSpPr>
          <a:xfrm>
            <a:off x="3709670" y="3165657"/>
            <a:ext cx="5013960" cy="1057964"/>
            <a:chOff x="1351978" y="1792106"/>
            <a:chExt cx="4623668" cy="1057964"/>
          </a:xfrm>
        </p:grpSpPr>
        <p:sp>
          <p:nvSpPr>
            <p:cNvPr id="25" name="Rectangle: Rounded Corners 24">
              <a:extLst>
                <a:ext uri="{FF2B5EF4-FFF2-40B4-BE49-F238E27FC236}">
                  <a16:creationId xmlns:a16="http://schemas.microsoft.com/office/drawing/2014/main" id="{A8FE2675-BCE5-39C1-0820-44066424DB58}"/>
                </a:ext>
              </a:extLst>
            </p:cNvPr>
            <p:cNvSpPr/>
            <p:nvPr/>
          </p:nvSpPr>
          <p:spPr>
            <a:xfrm>
              <a:off x="1351978" y="1792106"/>
              <a:ext cx="4623668" cy="1057964"/>
            </a:xfrm>
            <a:prstGeom prst="roundRect">
              <a:avLst>
                <a:gd name="adj" fmla="val 9369"/>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BCE6FD97-932F-F890-81D9-5C322C7F1A53}"/>
                </a:ext>
              </a:extLst>
            </p:cNvPr>
            <p:cNvSpPr txBox="1"/>
            <p:nvPr/>
          </p:nvSpPr>
          <p:spPr>
            <a:xfrm>
              <a:off x="1839024" y="1988398"/>
              <a:ext cx="2182946"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Floats (float)</a:t>
              </a:r>
            </a:p>
          </p:txBody>
        </p:sp>
        <p:sp>
          <p:nvSpPr>
            <p:cNvPr id="27" name="TextBox 26">
              <a:extLst>
                <a:ext uri="{FF2B5EF4-FFF2-40B4-BE49-F238E27FC236}">
                  <a16:creationId xmlns:a16="http://schemas.microsoft.com/office/drawing/2014/main" id="{6927F59B-A4C2-CC8C-E666-E0B16151AC9D}"/>
                </a:ext>
              </a:extLst>
            </p:cNvPr>
            <p:cNvSpPr txBox="1"/>
            <p:nvPr/>
          </p:nvSpPr>
          <p:spPr>
            <a:xfrm>
              <a:off x="1839023" y="2289734"/>
              <a:ext cx="3937529"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Decimal numbers, e.g., </a:t>
              </a: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3.14, -2.5</a:t>
              </a:r>
            </a:p>
          </p:txBody>
        </p:sp>
      </p:grpSp>
      <p:grpSp>
        <p:nvGrpSpPr>
          <p:cNvPr id="29" name="Group 28">
            <a:extLst>
              <a:ext uri="{FF2B5EF4-FFF2-40B4-BE49-F238E27FC236}">
                <a16:creationId xmlns:a16="http://schemas.microsoft.com/office/drawing/2014/main" id="{B67591FB-44E0-0C61-9341-EC952658C7D6}"/>
              </a:ext>
            </a:extLst>
          </p:cNvPr>
          <p:cNvGrpSpPr/>
          <p:nvPr/>
        </p:nvGrpSpPr>
        <p:grpSpPr>
          <a:xfrm>
            <a:off x="3735070" y="4610100"/>
            <a:ext cx="5026660" cy="1057964"/>
            <a:chOff x="1387112" y="1792106"/>
            <a:chExt cx="4635379" cy="1057964"/>
          </a:xfrm>
        </p:grpSpPr>
        <p:sp>
          <p:nvSpPr>
            <p:cNvPr id="31" name="Rectangle: Rounded Corners 30">
              <a:extLst>
                <a:ext uri="{FF2B5EF4-FFF2-40B4-BE49-F238E27FC236}">
                  <a16:creationId xmlns:a16="http://schemas.microsoft.com/office/drawing/2014/main" id="{B959C5ED-16E1-CA3C-BAF2-43D005BB72C9}"/>
                </a:ext>
              </a:extLst>
            </p:cNvPr>
            <p:cNvSpPr/>
            <p:nvPr/>
          </p:nvSpPr>
          <p:spPr>
            <a:xfrm>
              <a:off x="1387112" y="1792106"/>
              <a:ext cx="4635379" cy="1057964"/>
            </a:xfrm>
            <a:prstGeom prst="roundRect">
              <a:avLst>
                <a:gd name="adj" fmla="val 9369"/>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B36E9B08-815B-9786-2F95-581BA97EA33A}"/>
                </a:ext>
              </a:extLst>
            </p:cNvPr>
            <p:cNvSpPr txBox="1"/>
            <p:nvPr/>
          </p:nvSpPr>
          <p:spPr>
            <a:xfrm>
              <a:off x="1839023" y="1975698"/>
              <a:ext cx="3457361"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Complex numbers (complex)</a:t>
              </a:r>
            </a:p>
          </p:txBody>
        </p:sp>
        <p:sp>
          <p:nvSpPr>
            <p:cNvPr id="33" name="TextBox 32">
              <a:extLst>
                <a:ext uri="{FF2B5EF4-FFF2-40B4-BE49-F238E27FC236}">
                  <a16:creationId xmlns:a16="http://schemas.microsoft.com/office/drawing/2014/main" id="{8C2E123B-0E8A-5D85-F02A-80B96B9B2033}"/>
                </a:ext>
              </a:extLst>
            </p:cNvPr>
            <p:cNvSpPr txBox="1"/>
            <p:nvPr/>
          </p:nvSpPr>
          <p:spPr>
            <a:xfrm>
              <a:off x="1839024" y="2277034"/>
              <a:ext cx="2789810"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Cambria Math" panose="02040503050406030204" pitchFamily="18" charset="0"/>
                  <a:ea typeface="Cambria Math" panose="02040503050406030204" pitchFamily="18" charset="0"/>
                  <a:cs typeface="Arial" panose="020B0604020202020204" pitchFamily="34" charset="0"/>
                </a:rPr>
                <a:t>𝑎 + 𝑏𝑗 </a:t>
              </a: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form, e.g., </a:t>
              </a: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3 + 5j</a:t>
              </a:r>
            </a:p>
          </p:txBody>
        </p:sp>
      </p:grpSp>
      <p:pic>
        <p:nvPicPr>
          <p:cNvPr id="3" name="Graphic 2">
            <a:extLst>
              <a:ext uri="{FF2B5EF4-FFF2-40B4-BE49-F238E27FC236}">
                <a16:creationId xmlns:a16="http://schemas.microsoft.com/office/drawing/2014/main" id="{09F43D23-11CE-1B89-EF1B-5745FEE09A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07217" y="1990877"/>
            <a:ext cx="322707" cy="518637"/>
          </a:xfrm>
          <a:prstGeom prst="rect">
            <a:avLst/>
          </a:prstGeom>
        </p:spPr>
      </p:pic>
      <p:pic>
        <p:nvPicPr>
          <p:cNvPr id="5" name="Graphic 4">
            <a:extLst>
              <a:ext uri="{FF2B5EF4-FFF2-40B4-BE49-F238E27FC236}">
                <a16:creationId xmlns:a16="http://schemas.microsoft.com/office/drawing/2014/main" id="{31469529-958C-CC58-8AB2-0D9FECDD9BA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78352" y="3282645"/>
            <a:ext cx="528205" cy="389659"/>
          </a:xfrm>
          <a:prstGeom prst="rect">
            <a:avLst/>
          </a:prstGeom>
        </p:spPr>
      </p:pic>
      <p:pic>
        <p:nvPicPr>
          <p:cNvPr id="10" name="Graphic 9">
            <a:extLst>
              <a:ext uri="{FF2B5EF4-FFF2-40B4-BE49-F238E27FC236}">
                <a16:creationId xmlns:a16="http://schemas.microsoft.com/office/drawing/2014/main" id="{3D4583E2-7BCD-5C83-251B-D813C96866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36974" y="4509864"/>
            <a:ext cx="361950" cy="419100"/>
          </a:xfrm>
          <a:prstGeom prst="rect">
            <a:avLst/>
          </a:prstGeom>
        </p:spPr>
      </p:pic>
    </p:spTree>
    <p:extLst>
      <p:ext uri="{BB962C8B-B14F-4D97-AF65-F5344CB8AC3E}">
        <p14:creationId xmlns:p14="http://schemas.microsoft.com/office/powerpoint/2010/main" val="48039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childTnLst>
                                </p:cTn>
                              </p:par>
                              <p:par>
                                <p:cTn id="11" presetID="10" presetClass="entr" presetSubtype="0" fill="hold" nodeType="withEffect">
                                  <p:stCondLst>
                                    <p:cond delay="50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1000"/>
                                        <p:tgtEl>
                                          <p:spTgt spid="23"/>
                                        </p:tgtEl>
                                      </p:cBhvr>
                                    </p:animEffect>
                                  </p:childTnLst>
                                </p:cTn>
                              </p:par>
                              <p:par>
                                <p:cTn id="14" presetID="10" presetClass="entr" presetSubtype="0" fill="hold" nodeType="withEffect">
                                  <p:stCondLst>
                                    <p:cond delay="5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33098-0075-29D1-639A-9B26D8AE935B}"/>
            </a:ext>
          </a:extLst>
        </p:cNvPr>
        <p:cNvGrpSpPr/>
        <p:nvPr/>
      </p:nvGrpSpPr>
      <p:grpSpPr>
        <a:xfrm>
          <a:off x="0" y="0"/>
          <a:ext cx="0" cy="0"/>
          <a:chOff x="0" y="0"/>
          <a:chExt cx="0" cy="0"/>
        </a:xfrm>
      </p:grpSpPr>
      <p:sp>
        <p:nvSpPr>
          <p:cNvPr id="6" name="Title 20">
            <a:extLst>
              <a:ext uri="{FF2B5EF4-FFF2-40B4-BE49-F238E27FC236}">
                <a16:creationId xmlns:a16="http://schemas.microsoft.com/office/drawing/2014/main" id="{367035B4-E135-91E6-AD9D-480A8522C4F2}"/>
              </a:ext>
            </a:extLst>
          </p:cNvPr>
          <p:cNvSpPr>
            <a:spLocks noGrp="1"/>
          </p:cNvSpPr>
          <p:nvPr>
            <p:ph type="title"/>
          </p:nvPr>
        </p:nvSpPr>
        <p:spPr>
          <a:xfrm>
            <a:off x="749998" y="490685"/>
            <a:ext cx="10622083" cy="540674"/>
          </a:xfrm>
        </p:spPr>
        <p:txBody>
          <a:bodyPr/>
          <a:lstStyle/>
          <a:p>
            <a:pPr>
              <a:lnSpc>
                <a:spcPts val="3833"/>
              </a:lnSpc>
            </a:pPr>
            <a:r>
              <a:rPr lang="en-US" dirty="0">
                <a:latin typeface="Montserrat Bold" pitchFamily="34" charset="0"/>
                <a:ea typeface="Montserrat Bold" pitchFamily="34" charset="-122"/>
                <a:cs typeface="Montserrat Bold" pitchFamily="34" charset="-120"/>
              </a:rPr>
              <a:t>Number Operations</a:t>
            </a:r>
          </a:p>
        </p:txBody>
      </p:sp>
      <p:sp>
        <p:nvSpPr>
          <p:cNvPr id="8" name="Text Placeholder 1">
            <a:extLst>
              <a:ext uri="{FF2B5EF4-FFF2-40B4-BE49-F238E27FC236}">
                <a16:creationId xmlns:a16="http://schemas.microsoft.com/office/drawing/2014/main" id="{9DB961F3-0168-7BB9-D09A-976BCA72F2A7}"/>
              </a:ext>
            </a:extLst>
          </p:cNvPr>
          <p:cNvSpPr txBox="1">
            <a:spLocks/>
          </p:cNvSpPr>
          <p:nvPr/>
        </p:nvSpPr>
        <p:spPr>
          <a:xfrm>
            <a:off x="749999" y="1109610"/>
            <a:ext cx="10622082" cy="450239"/>
          </a:xfrm>
          <a:prstGeom prst="rect">
            <a:avLst/>
          </a:prstGeom>
        </p:spPr>
        <p:txBody>
          <a:bodyPr/>
          <a:lstStyle>
            <a:lvl1pPr marL="0" indent="0" algn="l" defTabSz="914446" rtl="0" eaLnBrk="1" latinLnBrk="0" hangingPunct="1">
              <a:lnSpc>
                <a:spcPct val="90000"/>
              </a:lnSpc>
              <a:spcBef>
                <a:spcPts val="1000"/>
              </a:spcBef>
              <a:buFont typeface="Arial" panose="020B0604020202020204" pitchFamily="34" charset="0"/>
              <a:buNone/>
              <a:defRPr sz="2400" b="0" kern="1200">
                <a:solidFill>
                  <a:srgbClr val="2E9CCA"/>
                </a:solidFill>
                <a:latin typeface="Montserrat" panose="00000500000000000000" pitchFamily="2" charset="0"/>
                <a:ea typeface="+mn-ea"/>
                <a:cs typeface="+mn-cs"/>
              </a:defRPr>
            </a:lvl1pPr>
            <a:lvl2pPr marL="457223" indent="0" algn="l" defTabSz="914446"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Basic Arithmetic</a:t>
            </a:r>
          </a:p>
        </p:txBody>
      </p:sp>
      <p:grpSp>
        <p:nvGrpSpPr>
          <p:cNvPr id="3" name="Group 2">
            <a:extLst>
              <a:ext uri="{FF2B5EF4-FFF2-40B4-BE49-F238E27FC236}">
                <a16:creationId xmlns:a16="http://schemas.microsoft.com/office/drawing/2014/main" id="{565BCB37-AAF0-6BB0-7E8E-BC458658C849}"/>
              </a:ext>
            </a:extLst>
          </p:cNvPr>
          <p:cNvGrpSpPr/>
          <p:nvPr/>
        </p:nvGrpSpPr>
        <p:grpSpPr>
          <a:xfrm>
            <a:off x="3717325" y="2261286"/>
            <a:ext cx="4757351" cy="3592607"/>
            <a:chOff x="3855307" y="2261286"/>
            <a:chExt cx="4757351" cy="3592607"/>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3855307" y="2261286"/>
              <a:ext cx="4757351" cy="3592607"/>
            </a:xfrm>
            <a:prstGeom prst="roundRect">
              <a:avLst>
                <a:gd name="adj" fmla="val 5182"/>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4BCDED30-AC1F-D297-0655-E2C0CB103EB3}"/>
                </a:ext>
              </a:extLst>
            </p:cNvPr>
            <p:cNvPicPr>
              <a:picLocks noChangeAspect="1"/>
            </p:cNvPicPr>
            <p:nvPr/>
          </p:nvPicPr>
          <p:blipFill>
            <a:blip r:embed="rId3"/>
            <a:stretch>
              <a:fillRect/>
            </a:stretch>
          </p:blipFill>
          <p:spPr>
            <a:xfrm>
              <a:off x="4059137" y="2380637"/>
              <a:ext cx="4414487" cy="3367753"/>
            </a:xfrm>
            <a:prstGeom prst="rect">
              <a:avLst/>
            </a:prstGeom>
          </p:spPr>
        </p:pic>
      </p:grpSp>
    </p:spTree>
    <p:extLst>
      <p:ext uri="{BB962C8B-B14F-4D97-AF65-F5344CB8AC3E}">
        <p14:creationId xmlns:p14="http://schemas.microsoft.com/office/powerpoint/2010/main" val="337153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E670-40C3-092A-5768-134320A13C00}"/>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651EB284-86C8-9509-A60B-A0914931B93F}"/>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Type Conversion</a:t>
            </a:r>
            <a:endParaRPr lang="en-US" dirty="0"/>
          </a:p>
        </p:txBody>
      </p:sp>
      <p:sp>
        <p:nvSpPr>
          <p:cNvPr id="2" name="Text Placeholder 1">
            <a:extLst>
              <a:ext uri="{FF2B5EF4-FFF2-40B4-BE49-F238E27FC236}">
                <a16:creationId xmlns:a16="http://schemas.microsoft.com/office/drawing/2014/main" id="{8D1F4911-1ABA-D347-8A7D-E90D9AAEC1E6}"/>
              </a:ext>
            </a:extLst>
          </p:cNvPr>
          <p:cNvSpPr>
            <a:spLocks noGrp="1"/>
          </p:cNvSpPr>
          <p:nvPr>
            <p:ph type="body" sz="quarter" idx="10"/>
          </p:nvPr>
        </p:nvSpPr>
        <p:spPr/>
        <p:txBody>
          <a:bodyPr/>
          <a:lstStyle/>
          <a:p>
            <a:r>
              <a:rPr lang="en-US" dirty="0"/>
              <a:t>Convert Between Types Using Built-in Functions:</a:t>
            </a:r>
          </a:p>
          <a:p>
            <a:endParaRPr lang="en-GB" dirty="0"/>
          </a:p>
        </p:txBody>
      </p:sp>
      <p:grpSp>
        <p:nvGrpSpPr>
          <p:cNvPr id="4" name="Group 3">
            <a:extLst>
              <a:ext uri="{FF2B5EF4-FFF2-40B4-BE49-F238E27FC236}">
                <a16:creationId xmlns:a16="http://schemas.microsoft.com/office/drawing/2014/main" id="{609A51D0-7758-CCED-7EC0-ED0A70471273}"/>
              </a:ext>
            </a:extLst>
          </p:cNvPr>
          <p:cNvGrpSpPr/>
          <p:nvPr/>
        </p:nvGrpSpPr>
        <p:grpSpPr>
          <a:xfrm>
            <a:off x="3723503" y="2509200"/>
            <a:ext cx="4744995" cy="2211860"/>
            <a:chOff x="4176583" y="2509200"/>
            <a:chExt cx="4744995" cy="2211860"/>
          </a:xfrm>
        </p:grpSpPr>
        <p:sp>
          <p:nvSpPr>
            <p:cNvPr id="3" name="Rectangle: Rounded Corners 2">
              <a:extLst>
                <a:ext uri="{FF2B5EF4-FFF2-40B4-BE49-F238E27FC236}">
                  <a16:creationId xmlns:a16="http://schemas.microsoft.com/office/drawing/2014/main" id="{5A366FC2-0C28-3F4D-4AD7-4980974C63CA}"/>
                </a:ext>
              </a:extLst>
            </p:cNvPr>
            <p:cNvSpPr/>
            <p:nvPr/>
          </p:nvSpPr>
          <p:spPr>
            <a:xfrm>
              <a:off x="4176583" y="2509200"/>
              <a:ext cx="4744995" cy="221186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0BEDC9F0-E76C-8C3E-3D20-DF21E63D9EC9}"/>
                </a:ext>
              </a:extLst>
            </p:cNvPr>
            <p:cNvPicPr>
              <a:picLocks noChangeAspect="1"/>
            </p:cNvPicPr>
            <p:nvPr/>
          </p:nvPicPr>
          <p:blipFill>
            <a:blip r:embed="rId3"/>
            <a:stretch>
              <a:fillRect/>
            </a:stretch>
          </p:blipFill>
          <p:spPr>
            <a:xfrm>
              <a:off x="4349613" y="2697171"/>
              <a:ext cx="4398935" cy="1835918"/>
            </a:xfrm>
            <a:prstGeom prst="rect">
              <a:avLst/>
            </a:prstGeom>
          </p:spPr>
        </p:pic>
      </p:grpSp>
    </p:spTree>
    <p:extLst>
      <p:ext uri="{BB962C8B-B14F-4D97-AF65-F5344CB8AC3E}">
        <p14:creationId xmlns:p14="http://schemas.microsoft.com/office/powerpoint/2010/main" val="246471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E00E8-2097-B5B0-8316-536F5E2051A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00F0422-12E2-E23A-AB20-3B61E5FAD64F}"/>
              </a:ext>
            </a:extLst>
          </p:cNvPr>
          <p:cNvSpPr>
            <a:spLocks noGrp="1"/>
          </p:cNvSpPr>
          <p:nvPr>
            <p:ph type="body" sz="quarter" idx="12"/>
          </p:nvPr>
        </p:nvSpPr>
        <p:spPr>
          <a:xfrm>
            <a:off x="749998" y="2482074"/>
            <a:ext cx="6428041" cy="1893851"/>
          </a:xfrm>
        </p:spPr>
        <p:txBody>
          <a:bodyPr>
            <a:normAutofit/>
          </a:bodyPr>
          <a:lstStyle/>
          <a:p>
            <a:r>
              <a:rPr lang="en-US" sz="3600" dirty="0"/>
              <a:t>Python Data Structures: Building Blocks for Efficient Programming</a:t>
            </a:r>
          </a:p>
        </p:txBody>
      </p:sp>
      <p:sp>
        <p:nvSpPr>
          <p:cNvPr id="2" name="Text 1">
            <a:extLst>
              <a:ext uri="{FF2B5EF4-FFF2-40B4-BE49-F238E27FC236}">
                <a16:creationId xmlns:a16="http://schemas.microsoft.com/office/drawing/2014/main" id="{487CBDB4-E0D1-9019-AB02-04BECF897C35}"/>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2 of 12)</a:t>
            </a:r>
            <a:endParaRPr lang="en-US" dirty="0">
              <a:solidFill>
                <a:srgbClr val="25274D"/>
              </a:solidFill>
            </a:endParaRPr>
          </a:p>
        </p:txBody>
      </p:sp>
    </p:spTree>
    <p:extLst>
      <p:ext uri="{BB962C8B-B14F-4D97-AF65-F5344CB8AC3E}">
        <p14:creationId xmlns:p14="http://schemas.microsoft.com/office/powerpoint/2010/main" val="304561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9A3F5-38BE-C243-A88D-150CAB506B16}"/>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8F74F377-85EA-3420-C86A-5DD40C43889C}"/>
              </a:ext>
            </a:extLst>
          </p:cNvPr>
          <p:cNvSpPr>
            <a:spLocks noGrp="1"/>
          </p:cNvSpPr>
          <p:nvPr>
            <p:ph type="body" sz="quarter" idx="34"/>
          </p:nvPr>
        </p:nvSpPr>
        <p:spPr>
          <a:xfrm>
            <a:off x="6532937" y="2797647"/>
            <a:ext cx="4477963" cy="659999"/>
          </a:xfrm>
        </p:spPr>
        <p:txBody>
          <a:bodyPr/>
          <a:lstStyle/>
          <a:p>
            <a:pPr marL="285750" indent="-285750" algn="l">
              <a:buFont typeface="Arial" panose="020B0604020202020204" pitchFamily="34" charset="0"/>
              <a:buChar char="•"/>
            </a:pPr>
            <a:r>
              <a:rPr lang="en-US" b="0" dirty="0" err="1"/>
              <a:t>Organise</a:t>
            </a:r>
            <a:r>
              <a:rPr lang="en-US" b="0" dirty="0"/>
              <a:t> data based on your specific needs</a:t>
            </a:r>
            <a:endParaRPr lang="en-GB" b="0" dirty="0"/>
          </a:p>
        </p:txBody>
      </p:sp>
      <p:sp>
        <p:nvSpPr>
          <p:cNvPr id="16" name="Text Placeholder 15">
            <a:extLst>
              <a:ext uri="{FF2B5EF4-FFF2-40B4-BE49-F238E27FC236}">
                <a16:creationId xmlns:a16="http://schemas.microsoft.com/office/drawing/2014/main" id="{089E79BB-AB81-F494-6792-0BBD5AB1F05E}"/>
              </a:ext>
            </a:extLst>
          </p:cNvPr>
          <p:cNvSpPr>
            <a:spLocks noGrp="1"/>
          </p:cNvSpPr>
          <p:nvPr>
            <p:ph type="body" sz="quarter" idx="42"/>
          </p:nvPr>
        </p:nvSpPr>
        <p:spPr>
          <a:xfrm>
            <a:off x="6538285" y="3973327"/>
            <a:ext cx="4472615" cy="659999"/>
          </a:xfrm>
        </p:spPr>
        <p:txBody>
          <a:bodyPr/>
          <a:lstStyle/>
          <a:p>
            <a:pPr marL="285750" indent="-285750" algn="l">
              <a:buFont typeface="Arial" panose="020B0604020202020204" pitchFamily="34" charset="0"/>
              <a:buChar char="•"/>
            </a:pPr>
            <a:r>
              <a:rPr lang="en-US" b="0" dirty="0"/>
              <a:t>Enable efficient storage, access and manipulation of data</a:t>
            </a:r>
            <a:endParaRPr lang="en-GB" b="0" dirty="0"/>
          </a:p>
        </p:txBody>
      </p:sp>
      <p:sp>
        <p:nvSpPr>
          <p:cNvPr id="8" name="Title 7">
            <a:extLst>
              <a:ext uri="{FF2B5EF4-FFF2-40B4-BE49-F238E27FC236}">
                <a16:creationId xmlns:a16="http://schemas.microsoft.com/office/drawing/2014/main" id="{592B03E9-6E4C-E056-D7B3-6D8B70C60207}"/>
              </a:ext>
            </a:extLst>
          </p:cNvPr>
          <p:cNvSpPr>
            <a:spLocks noGrp="1"/>
          </p:cNvSpPr>
          <p:nvPr>
            <p:ph type="title"/>
          </p:nvPr>
        </p:nvSpPr>
        <p:spPr/>
        <p:txBody>
          <a:bodyPr/>
          <a:lstStyle/>
          <a:p>
            <a:pPr>
              <a:lnSpc>
                <a:spcPts val="4625"/>
              </a:lnSpc>
            </a:pPr>
            <a:r>
              <a:rPr lang="en-US" dirty="0">
                <a:latin typeface="Montserrat Bold" pitchFamily="34" charset="0"/>
                <a:ea typeface="Montserrat Bold" pitchFamily="34" charset="-122"/>
                <a:cs typeface="Montserrat Bold" pitchFamily="34" charset="-120"/>
              </a:rPr>
              <a:t>Data Structures in Python</a:t>
            </a:r>
            <a:endParaRPr lang="en-US" dirty="0"/>
          </a:p>
        </p:txBody>
      </p:sp>
      <p:pic>
        <p:nvPicPr>
          <p:cNvPr id="5" name="Picture Placeholder 4">
            <a:extLst>
              <a:ext uri="{FF2B5EF4-FFF2-40B4-BE49-F238E27FC236}">
                <a16:creationId xmlns:a16="http://schemas.microsoft.com/office/drawing/2014/main" id="{DF239C72-94C0-D29F-1993-DEA1CE2CAD0C}"/>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2716" r="2716"/>
          <a:stretch>
            <a:fillRect/>
          </a:stretch>
        </p:blipFill>
        <p:spPr>
          <a:xfrm>
            <a:off x="749998" y="2099147"/>
            <a:ext cx="5356325" cy="3359679"/>
          </a:xfrm>
        </p:spPr>
      </p:pic>
    </p:spTree>
    <p:extLst>
      <p:ext uri="{BB962C8B-B14F-4D97-AF65-F5344CB8AC3E}">
        <p14:creationId xmlns:p14="http://schemas.microsoft.com/office/powerpoint/2010/main" val="2488996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1000"/>
                                        <p:tgtEl>
                                          <p:spTgt spid="9">
                                            <p:txEl>
                                              <p:pRg st="0" end="0"/>
                                            </p:txEl>
                                          </p:spTgt>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6">
                                            <p:txEl>
                                              <p:pRg st="0" end="0"/>
                                            </p:txEl>
                                          </p:spTgt>
                                        </p:tgtEl>
                                        <p:attrNameLst>
                                          <p:attrName>style.visibility</p:attrName>
                                        </p:attrNameLst>
                                      </p:cBhvr>
                                      <p:to>
                                        <p:strVal val="visible"/>
                                      </p:to>
                                    </p:set>
                                    <p:animEffect transition="in" filter="fade">
                                      <p:cBhvr>
                                        <p:cTn id="16" dur="1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6" grpId="0" build="p"/>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7AE43-9C07-F404-EF85-492DAB30F64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21A70C1-7092-6073-5717-BB6608A34937}"/>
              </a:ext>
            </a:extLst>
          </p:cNvPr>
          <p:cNvSpPr>
            <a:spLocks noGrp="1"/>
          </p:cNvSpPr>
          <p:nvPr>
            <p:ph type="title"/>
          </p:nvPr>
        </p:nvSpPr>
        <p:spPr/>
        <p:txBody>
          <a:bodyPr/>
          <a:lstStyle/>
          <a:p>
            <a:pPr>
              <a:lnSpc>
                <a:spcPts val="4625"/>
              </a:lnSpc>
            </a:pPr>
            <a:r>
              <a:rPr lang="en-US" sz="2800" dirty="0">
                <a:latin typeface="Montserrat Bold" pitchFamily="34" charset="0"/>
                <a:ea typeface="Montserrat Bold" pitchFamily="34" charset="-122"/>
                <a:cs typeface="Montserrat Bold" pitchFamily="34" charset="-120"/>
              </a:rPr>
              <a:t>Types of Data Structures in Python</a:t>
            </a:r>
            <a:endParaRPr lang="en-US" sz="2800" dirty="0"/>
          </a:p>
        </p:txBody>
      </p:sp>
      <p:grpSp>
        <p:nvGrpSpPr>
          <p:cNvPr id="5" name="Group 4">
            <a:extLst>
              <a:ext uri="{FF2B5EF4-FFF2-40B4-BE49-F238E27FC236}">
                <a16:creationId xmlns:a16="http://schemas.microsoft.com/office/drawing/2014/main" id="{F460BA90-829A-84AE-8117-00C2C2765347}"/>
              </a:ext>
            </a:extLst>
          </p:cNvPr>
          <p:cNvGrpSpPr/>
          <p:nvPr/>
        </p:nvGrpSpPr>
        <p:grpSpPr>
          <a:xfrm>
            <a:off x="1080196" y="1285628"/>
            <a:ext cx="10158796" cy="5085376"/>
            <a:chOff x="1351785" y="1542627"/>
            <a:chExt cx="9488431" cy="4749801"/>
          </a:xfrm>
        </p:grpSpPr>
        <p:sp>
          <p:nvSpPr>
            <p:cNvPr id="6" name="Round Diagonal Corner Rectangle 94">
              <a:extLst>
                <a:ext uri="{FF2B5EF4-FFF2-40B4-BE49-F238E27FC236}">
                  <a16:creationId xmlns:a16="http://schemas.microsoft.com/office/drawing/2014/main" id="{ECD5A784-4C7D-E14C-8799-AD915CE14836}"/>
                </a:ext>
              </a:extLst>
            </p:cNvPr>
            <p:cNvSpPr/>
            <p:nvPr/>
          </p:nvSpPr>
          <p:spPr>
            <a:xfrm flipH="1" flipV="1">
              <a:off x="6257495" y="4192013"/>
              <a:ext cx="4582721" cy="2100415"/>
            </a:xfrm>
            <a:prstGeom prst="round2DiagRect">
              <a:avLst>
                <a:gd name="adj1" fmla="val 9472"/>
                <a:gd name="adj2" fmla="val 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Up Arrow 95">
              <a:extLst>
                <a:ext uri="{FF2B5EF4-FFF2-40B4-BE49-F238E27FC236}">
                  <a16:creationId xmlns:a16="http://schemas.microsoft.com/office/drawing/2014/main" id="{E2A2C5E8-5B1B-2267-2E2C-7669EF0B73E3}"/>
                </a:ext>
              </a:extLst>
            </p:cNvPr>
            <p:cNvSpPr/>
            <p:nvPr/>
          </p:nvSpPr>
          <p:spPr>
            <a:xfrm rot="18900000" flipH="1" flipV="1">
              <a:off x="7013618" y="4754904"/>
              <a:ext cx="857229" cy="819141"/>
            </a:xfrm>
            <a:prstGeom prst="upArrow">
              <a:avLst/>
            </a:prstGeom>
            <a:solidFill>
              <a:srgbClr val="2E9CC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ound Diagonal Corner Rectangle 97">
              <a:extLst>
                <a:ext uri="{FF2B5EF4-FFF2-40B4-BE49-F238E27FC236}">
                  <a16:creationId xmlns:a16="http://schemas.microsoft.com/office/drawing/2014/main" id="{678EE066-B800-A712-2CB4-99D2DD276C3F}"/>
                </a:ext>
              </a:extLst>
            </p:cNvPr>
            <p:cNvSpPr/>
            <p:nvPr/>
          </p:nvSpPr>
          <p:spPr>
            <a:xfrm flipV="1">
              <a:off x="1351786" y="4192013"/>
              <a:ext cx="4582721" cy="2100415"/>
            </a:xfrm>
            <a:prstGeom prst="round2DiagRect">
              <a:avLst>
                <a:gd name="adj1" fmla="val 9472"/>
                <a:gd name="adj2" fmla="val 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Up Arrow 98">
              <a:extLst>
                <a:ext uri="{FF2B5EF4-FFF2-40B4-BE49-F238E27FC236}">
                  <a16:creationId xmlns:a16="http://schemas.microsoft.com/office/drawing/2014/main" id="{0138DFD4-6B06-51CB-B7A0-A13EFF46DC49}"/>
                </a:ext>
              </a:extLst>
            </p:cNvPr>
            <p:cNvSpPr/>
            <p:nvPr/>
          </p:nvSpPr>
          <p:spPr>
            <a:xfrm rot="2700000" flipV="1">
              <a:off x="4321154" y="4754904"/>
              <a:ext cx="857229" cy="819141"/>
            </a:xfrm>
            <a:prstGeom prst="upArrow">
              <a:avLst/>
            </a:prstGeom>
            <a:solidFill>
              <a:srgbClr val="29648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ound Diagonal Corner Rectangle 89">
              <a:extLst>
                <a:ext uri="{FF2B5EF4-FFF2-40B4-BE49-F238E27FC236}">
                  <a16:creationId xmlns:a16="http://schemas.microsoft.com/office/drawing/2014/main" id="{FA53344C-BABF-2AA9-5DAC-DE3A9A85D96F}"/>
                </a:ext>
              </a:extLst>
            </p:cNvPr>
            <p:cNvSpPr/>
            <p:nvPr/>
          </p:nvSpPr>
          <p:spPr>
            <a:xfrm flipH="1">
              <a:off x="6257493" y="1542627"/>
              <a:ext cx="4582722" cy="2100414"/>
            </a:xfrm>
            <a:prstGeom prst="round2DiagRect">
              <a:avLst>
                <a:gd name="adj1" fmla="val 9472"/>
                <a:gd name="adj2" fmla="val 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Up Arrow 92">
              <a:extLst>
                <a:ext uri="{FF2B5EF4-FFF2-40B4-BE49-F238E27FC236}">
                  <a16:creationId xmlns:a16="http://schemas.microsoft.com/office/drawing/2014/main" id="{14BCA6C7-04F8-6A8C-9F63-1266B315B446}"/>
                </a:ext>
              </a:extLst>
            </p:cNvPr>
            <p:cNvSpPr/>
            <p:nvPr/>
          </p:nvSpPr>
          <p:spPr>
            <a:xfrm rot="2700000" flipH="1">
              <a:off x="7013618" y="2240688"/>
              <a:ext cx="857229" cy="819141"/>
            </a:xfrm>
            <a:prstGeom prst="upArrow">
              <a:avLst/>
            </a:prstGeom>
            <a:solidFill>
              <a:srgbClr val="2E9CC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Round Diagonal Corner Rectangle 79">
              <a:extLst>
                <a:ext uri="{FF2B5EF4-FFF2-40B4-BE49-F238E27FC236}">
                  <a16:creationId xmlns:a16="http://schemas.microsoft.com/office/drawing/2014/main" id="{F006348D-CF05-F188-5250-17EB95F80752}"/>
                </a:ext>
              </a:extLst>
            </p:cNvPr>
            <p:cNvSpPr/>
            <p:nvPr/>
          </p:nvSpPr>
          <p:spPr>
            <a:xfrm>
              <a:off x="1351785" y="1542627"/>
              <a:ext cx="4582722" cy="2100415"/>
            </a:xfrm>
            <a:prstGeom prst="round2DiagRect">
              <a:avLst>
                <a:gd name="adj1" fmla="val 9472"/>
                <a:gd name="adj2" fmla="val 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Up Arrow 84">
              <a:extLst>
                <a:ext uri="{FF2B5EF4-FFF2-40B4-BE49-F238E27FC236}">
                  <a16:creationId xmlns:a16="http://schemas.microsoft.com/office/drawing/2014/main" id="{D04FADD0-1D3C-CE4D-F1B3-F03A4B9B345F}"/>
                </a:ext>
              </a:extLst>
            </p:cNvPr>
            <p:cNvSpPr/>
            <p:nvPr/>
          </p:nvSpPr>
          <p:spPr>
            <a:xfrm rot="18900000">
              <a:off x="4321154" y="2240688"/>
              <a:ext cx="857229" cy="819141"/>
            </a:xfrm>
            <a:prstGeom prst="upArrow">
              <a:avLst/>
            </a:prstGeom>
            <a:solidFill>
              <a:srgbClr val="25274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Oval 20">
              <a:extLst>
                <a:ext uri="{FF2B5EF4-FFF2-40B4-BE49-F238E27FC236}">
                  <a16:creationId xmlns:a16="http://schemas.microsoft.com/office/drawing/2014/main" id="{DF55EFCC-1BBF-CF62-3A26-01DEC8233671}"/>
                </a:ext>
              </a:extLst>
            </p:cNvPr>
            <p:cNvSpPr/>
            <p:nvPr/>
          </p:nvSpPr>
          <p:spPr>
            <a:xfrm>
              <a:off x="4538973" y="2402899"/>
              <a:ext cx="3055148" cy="3055148"/>
            </a:xfrm>
            <a:prstGeom prst="ellipse">
              <a:avLst/>
            </a:prstGeom>
            <a:solidFill>
              <a:schemeClr val="bg1"/>
            </a:solidFill>
            <a:ln>
              <a:noFill/>
            </a:ln>
            <a:effectLst>
              <a:innerShdw blurRad="635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Pie 73">
              <a:extLst>
                <a:ext uri="{FF2B5EF4-FFF2-40B4-BE49-F238E27FC236}">
                  <a16:creationId xmlns:a16="http://schemas.microsoft.com/office/drawing/2014/main" id="{8F884D7B-7D29-4AEE-3E09-8FCC861CC62B}"/>
                </a:ext>
              </a:extLst>
            </p:cNvPr>
            <p:cNvSpPr/>
            <p:nvPr/>
          </p:nvSpPr>
          <p:spPr>
            <a:xfrm>
              <a:off x="4660140" y="2534939"/>
              <a:ext cx="1374659" cy="1374660"/>
            </a:xfrm>
            <a:prstGeom prst="pieWedge">
              <a:avLst/>
            </a:prstGeom>
            <a:solidFill>
              <a:srgbClr val="25274D"/>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23" name="Pie 74">
              <a:extLst>
                <a:ext uri="{FF2B5EF4-FFF2-40B4-BE49-F238E27FC236}">
                  <a16:creationId xmlns:a16="http://schemas.microsoft.com/office/drawing/2014/main" id="{8FB74E0B-524B-29D8-6EDC-7A7FCE668072}"/>
                </a:ext>
              </a:extLst>
            </p:cNvPr>
            <p:cNvSpPr/>
            <p:nvPr/>
          </p:nvSpPr>
          <p:spPr>
            <a:xfrm rot="5400000">
              <a:off x="6098295" y="2534939"/>
              <a:ext cx="1374659" cy="1374660"/>
            </a:xfrm>
            <a:prstGeom prst="pieWedge">
              <a:avLst/>
            </a:prstGeom>
            <a:solidFill>
              <a:srgbClr val="2E9CCA"/>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24" name="Pie 77">
              <a:extLst>
                <a:ext uri="{FF2B5EF4-FFF2-40B4-BE49-F238E27FC236}">
                  <a16:creationId xmlns:a16="http://schemas.microsoft.com/office/drawing/2014/main" id="{40A8C9A5-486D-CC53-92A0-75C4D3ADD48A}"/>
                </a:ext>
              </a:extLst>
            </p:cNvPr>
            <p:cNvSpPr/>
            <p:nvPr/>
          </p:nvSpPr>
          <p:spPr>
            <a:xfrm rot="16200000">
              <a:off x="4660142" y="3973092"/>
              <a:ext cx="1374659" cy="1374660"/>
            </a:xfrm>
            <a:prstGeom prst="pieWedge">
              <a:avLst/>
            </a:prstGeom>
            <a:solidFill>
              <a:srgbClr val="29648A"/>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25" name="Pie 75">
              <a:extLst>
                <a:ext uri="{FF2B5EF4-FFF2-40B4-BE49-F238E27FC236}">
                  <a16:creationId xmlns:a16="http://schemas.microsoft.com/office/drawing/2014/main" id="{A940F2B0-BA92-EC45-AEFC-D78AF9C8168E}"/>
                </a:ext>
              </a:extLst>
            </p:cNvPr>
            <p:cNvSpPr/>
            <p:nvPr/>
          </p:nvSpPr>
          <p:spPr>
            <a:xfrm rot="10800000">
              <a:off x="6098297" y="3973093"/>
              <a:ext cx="1374660" cy="1374659"/>
            </a:xfrm>
            <a:prstGeom prst="pieWedge">
              <a:avLst/>
            </a:prstGeom>
            <a:solidFill>
              <a:srgbClr val="2E9CCA"/>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26" name="Text Placeholder 3">
              <a:extLst>
                <a:ext uri="{FF2B5EF4-FFF2-40B4-BE49-F238E27FC236}">
                  <a16:creationId xmlns:a16="http://schemas.microsoft.com/office/drawing/2014/main" id="{023C7D1A-3A1E-4D1E-C403-5CD5E2CD6F99}"/>
                </a:ext>
              </a:extLst>
            </p:cNvPr>
            <p:cNvSpPr txBox="1">
              <a:spLocks/>
            </p:cNvSpPr>
            <p:nvPr/>
          </p:nvSpPr>
          <p:spPr>
            <a:xfrm>
              <a:off x="1642300" y="2075394"/>
              <a:ext cx="2667785" cy="25872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b="1" dirty="0">
                  <a:solidFill>
                    <a:srgbClr val="25274D"/>
                  </a:solidFill>
                  <a:latin typeface="Montserrat" panose="00000500000000000000" pitchFamily="50" charset="0"/>
                  <a:cs typeface="+mj-cs"/>
                </a:rPr>
                <a:t>Lists</a:t>
              </a:r>
            </a:p>
          </p:txBody>
        </p:sp>
        <p:sp>
          <p:nvSpPr>
            <p:cNvPr id="27" name="Text Placeholder 3">
              <a:extLst>
                <a:ext uri="{FF2B5EF4-FFF2-40B4-BE49-F238E27FC236}">
                  <a16:creationId xmlns:a16="http://schemas.microsoft.com/office/drawing/2014/main" id="{C322686A-8583-D552-81A6-352AE543888E}"/>
                </a:ext>
              </a:extLst>
            </p:cNvPr>
            <p:cNvSpPr txBox="1">
              <a:spLocks/>
            </p:cNvSpPr>
            <p:nvPr/>
          </p:nvSpPr>
          <p:spPr>
            <a:xfrm>
              <a:off x="7944177" y="1928441"/>
              <a:ext cx="2777242" cy="25872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b="1" dirty="0">
                  <a:solidFill>
                    <a:srgbClr val="25274D"/>
                  </a:solidFill>
                  <a:latin typeface="Montserrat" panose="00000500000000000000" pitchFamily="50" charset="0"/>
                  <a:cs typeface="+mj-cs"/>
                </a:rPr>
                <a:t>Tuples</a:t>
              </a:r>
            </a:p>
          </p:txBody>
        </p:sp>
        <p:sp>
          <p:nvSpPr>
            <p:cNvPr id="28" name="Text Placeholder 3">
              <a:extLst>
                <a:ext uri="{FF2B5EF4-FFF2-40B4-BE49-F238E27FC236}">
                  <a16:creationId xmlns:a16="http://schemas.microsoft.com/office/drawing/2014/main" id="{4D699803-02E4-3E95-5E3C-3E70E6474BBA}"/>
                </a:ext>
              </a:extLst>
            </p:cNvPr>
            <p:cNvSpPr txBox="1">
              <a:spLocks/>
            </p:cNvSpPr>
            <p:nvPr/>
          </p:nvSpPr>
          <p:spPr>
            <a:xfrm>
              <a:off x="1642300" y="4562126"/>
              <a:ext cx="2732884" cy="25872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b="1" dirty="0">
                  <a:solidFill>
                    <a:srgbClr val="25274D"/>
                  </a:solidFill>
                  <a:latin typeface="Montserrat" panose="00000500000000000000" pitchFamily="50" charset="0"/>
                  <a:cs typeface="+mj-cs"/>
                </a:rPr>
                <a:t>Sets</a:t>
              </a:r>
            </a:p>
          </p:txBody>
        </p:sp>
        <p:sp>
          <p:nvSpPr>
            <p:cNvPr id="29" name="Text Placeholder 3">
              <a:extLst>
                <a:ext uri="{FF2B5EF4-FFF2-40B4-BE49-F238E27FC236}">
                  <a16:creationId xmlns:a16="http://schemas.microsoft.com/office/drawing/2014/main" id="{A2D68E5F-F31C-AE38-67D4-0918FAD012F1}"/>
                </a:ext>
              </a:extLst>
            </p:cNvPr>
            <p:cNvSpPr txBox="1">
              <a:spLocks/>
            </p:cNvSpPr>
            <p:nvPr/>
          </p:nvSpPr>
          <p:spPr>
            <a:xfrm>
              <a:off x="7944176" y="4427109"/>
              <a:ext cx="2777243" cy="25872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b="1" dirty="0">
                  <a:solidFill>
                    <a:srgbClr val="25274D"/>
                  </a:solidFill>
                  <a:latin typeface="Montserrat" panose="00000500000000000000" pitchFamily="50" charset="0"/>
                  <a:cs typeface="+mj-cs"/>
                </a:rPr>
                <a:t>Dictionaries</a:t>
              </a:r>
            </a:p>
          </p:txBody>
        </p:sp>
        <p:sp>
          <p:nvSpPr>
            <p:cNvPr id="30" name="Text Placeholder 3">
              <a:extLst>
                <a:ext uri="{FF2B5EF4-FFF2-40B4-BE49-F238E27FC236}">
                  <a16:creationId xmlns:a16="http://schemas.microsoft.com/office/drawing/2014/main" id="{52467A23-73D3-1D2A-6A13-57108E7E8B2E}"/>
                </a:ext>
              </a:extLst>
            </p:cNvPr>
            <p:cNvSpPr txBox="1">
              <a:spLocks/>
            </p:cNvSpPr>
            <p:nvPr/>
          </p:nvSpPr>
          <p:spPr>
            <a:xfrm>
              <a:off x="7944177" y="2266413"/>
              <a:ext cx="2777242" cy="1034881"/>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dirty="0">
                  <a:solidFill>
                    <a:srgbClr val="25274D"/>
                  </a:solidFill>
                  <a:latin typeface="Montserrat" panose="00000500000000000000" pitchFamily="50" charset="0"/>
                  <a:cs typeface="+mj-cs"/>
                </a:rPr>
                <a:t>An immutable collection, like an ID card with unchangeable personal information</a:t>
              </a:r>
            </a:p>
          </p:txBody>
        </p:sp>
        <p:sp>
          <p:nvSpPr>
            <p:cNvPr id="31" name="Text Placeholder 3">
              <a:extLst>
                <a:ext uri="{FF2B5EF4-FFF2-40B4-BE49-F238E27FC236}">
                  <a16:creationId xmlns:a16="http://schemas.microsoft.com/office/drawing/2014/main" id="{816E48B4-A5EF-38A4-9371-3E6ACA2D125B}"/>
                </a:ext>
              </a:extLst>
            </p:cNvPr>
            <p:cNvSpPr txBox="1">
              <a:spLocks/>
            </p:cNvSpPr>
            <p:nvPr/>
          </p:nvSpPr>
          <p:spPr>
            <a:xfrm>
              <a:off x="7944176" y="4763701"/>
              <a:ext cx="2860928" cy="1293602"/>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dirty="0">
                  <a:solidFill>
                    <a:srgbClr val="25274D"/>
                  </a:solidFill>
                  <a:latin typeface="Montserrat" panose="00000500000000000000" pitchFamily="50" charset="0"/>
                  <a:cs typeface="+mj-cs"/>
                </a:rPr>
                <a:t>A collection of key-value pairs, like a real-world dictionary, where a </a:t>
              </a:r>
              <a:r>
                <a:rPr lang="en-US" sz="1800" b="1" dirty="0">
                  <a:solidFill>
                    <a:srgbClr val="25274D"/>
                  </a:solidFill>
                  <a:latin typeface="Montserrat" panose="00000500000000000000" pitchFamily="50" charset="0"/>
                  <a:cs typeface="+mj-cs"/>
                </a:rPr>
                <a:t>word (key) </a:t>
              </a:r>
              <a:r>
                <a:rPr lang="en-US" sz="1800" dirty="0">
                  <a:solidFill>
                    <a:srgbClr val="25274D"/>
                  </a:solidFill>
                  <a:latin typeface="Montserrat" panose="00000500000000000000" pitchFamily="50" charset="0"/>
                  <a:cs typeface="+mj-cs"/>
                </a:rPr>
                <a:t>has a </a:t>
              </a:r>
              <a:r>
                <a:rPr lang="en-US" sz="1800" b="1" dirty="0">
                  <a:solidFill>
                    <a:srgbClr val="25274D"/>
                  </a:solidFill>
                  <a:latin typeface="Montserrat" panose="00000500000000000000" pitchFamily="50" charset="0"/>
                  <a:cs typeface="+mj-cs"/>
                </a:rPr>
                <a:t>meaning (value)</a:t>
              </a:r>
            </a:p>
          </p:txBody>
        </p:sp>
        <p:sp>
          <p:nvSpPr>
            <p:cNvPr id="32" name="Text Placeholder 3">
              <a:extLst>
                <a:ext uri="{FF2B5EF4-FFF2-40B4-BE49-F238E27FC236}">
                  <a16:creationId xmlns:a16="http://schemas.microsoft.com/office/drawing/2014/main" id="{28D5601C-A15B-B3E2-9996-9CBCFF4AEF41}"/>
                </a:ext>
              </a:extLst>
            </p:cNvPr>
            <p:cNvSpPr txBox="1">
              <a:spLocks/>
            </p:cNvSpPr>
            <p:nvPr/>
          </p:nvSpPr>
          <p:spPr>
            <a:xfrm>
              <a:off x="1642300" y="2411895"/>
              <a:ext cx="2667785" cy="776161"/>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dirty="0">
                  <a:solidFill>
                    <a:srgbClr val="25274D"/>
                  </a:solidFill>
                  <a:latin typeface="Montserrat" panose="00000500000000000000" pitchFamily="50" charset="0"/>
                  <a:cs typeface="+mj-cs"/>
                </a:rPr>
                <a:t>An ordered collection where items can be added or removed</a:t>
              </a:r>
            </a:p>
          </p:txBody>
        </p:sp>
        <p:sp>
          <p:nvSpPr>
            <p:cNvPr id="33" name="Text Placeholder 3">
              <a:extLst>
                <a:ext uri="{FF2B5EF4-FFF2-40B4-BE49-F238E27FC236}">
                  <a16:creationId xmlns:a16="http://schemas.microsoft.com/office/drawing/2014/main" id="{FC7FE24C-64DF-DFF2-FE4E-5D2CA54AB0F1}"/>
                </a:ext>
              </a:extLst>
            </p:cNvPr>
            <p:cNvSpPr txBox="1">
              <a:spLocks/>
            </p:cNvSpPr>
            <p:nvPr/>
          </p:nvSpPr>
          <p:spPr>
            <a:xfrm>
              <a:off x="1642300" y="4897052"/>
              <a:ext cx="2732884" cy="1034881"/>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170">
                <a:spcBef>
                  <a:spcPct val="20000"/>
                </a:spcBef>
                <a:defRPr/>
              </a:pPr>
              <a:r>
                <a:rPr lang="en-US" sz="1800" dirty="0">
                  <a:solidFill>
                    <a:srgbClr val="25274D"/>
                  </a:solidFill>
                  <a:latin typeface="Montserrat" panose="00000500000000000000" pitchFamily="50" charset="0"/>
                  <a:cs typeface="+mj-cs"/>
                </a:rPr>
                <a:t>A collection of unique items, like a box of toys where order does not matter</a:t>
              </a:r>
            </a:p>
          </p:txBody>
        </p:sp>
      </p:grpSp>
      <p:pic>
        <p:nvPicPr>
          <p:cNvPr id="35" name="Graphic 34">
            <a:extLst>
              <a:ext uri="{FF2B5EF4-FFF2-40B4-BE49-F238E27FC236}">
                <a16:creationId xmlns:a16="http://schemas.microsoft.com/office/drawing/2014/main" id="{2025ADCA-E6EB-5748-A409-E53574F97D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8822" y="2826405"/>
            <a:ext cx="571696" cy="694203"/>
          </a:xfrm>
          <a:prstGeom prst="rect">
            <a:avLst/>
          </a:prstGeom>
        </p:spPr>
      </p:pic>
      <p:pic>
        <p:nvPicPr>
          <p:cNvPr id="37" name="Graphic 36">
            <a:extLst>
              <a:ext uri="{FF2B5EF4-FFF2-40B4-BE49-F238E27FC236}">
                <a16:creationId xmlns:a16="http://schemas.microsoft.com/office/drawing/2014/main" id="{57430280-B63E-D1CC-8C68-37DA9B91B8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65573" y="4157514"/>
            <a:ext cx="536903" cy="628946"/>
          </a:xfrm>
          <a:prstGeom prst="rect">
            <a:avLst/>
          </a:prstGeom>
        </p:spPr>
      </p:pic>
      <p:pic>
        <p:nvPicPr>
          <p:cNvPr id="39" name="Graphic 38">
            <a:extLst>
              <a:ext uri="{FF2B5EF4-FFF2-40B4-BE49-F238E27FC236}">
                <a16:creationId xmlns:a16="http://schemas.microsoft.com/office/drawing/2014/main" id="{FE0DAEDA-AD93-C6AC-2CD7-356D87672C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29549" y="2844101"/>
            <a:ext cx="668215" cy="705340"/>
          </a:xfrm>
          <a:prstGeom prst="rect">
            <a:avLst/>
          </a:prstGeom>
        </p:spPr>
      </p:pic>
      <p:pic>
        <p:nvPicPr>
          <p:cNvPr id="41" name="Graphic 40">
            <a:extLst>
              <a:ext uri="{FF2B5EF4-FFF2-40B4-BE49-F238E27FC236}">
                <a16:creationId xmlns:a16="http://schemas.microsoft.com/office/drawing/2014/main" id="{75FE5133-96DD-E680-15E6-33EC65687D0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24600" y="4267200"/>
            <a:ext cx="938807" cy="395285"/>
          </a:xfrm>
          <a:prstGeom prst="rect">
            <a:avLst/>
          </a:prstGeom>
        </p:spPr>
      </p:pic>
    </p:spTree>
    <p:extLst>
      <p:ext uri="{BB962C8B-B14F-4D97-AF65-F5344CB8AC3E}">
        <p14:creationId xmlns:p14="http://schemas.microsoft.com/office/powerpoint/2010/main" val="118942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par>
                                <p:cTn id="11" presetID="10" presetClass="entr" presetSubtype="0" fill="hold" nodeType="withEffect">
                                  <p:stCondLst>
                                    <p:cond delay="50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1000"/>
                                        <p:tgtEl>
                                          <p:spTgt spid="41"/>
                                        </p:tgtEl>
                                      </p:cBhvr>
                                    </p:animEffect>
                                  </p:childTnLst>
                                </p:cTn>
                              </p:par>
                              <p:par>
                                <p:cTn id="14" presetID="10" presetClass="entr" presetSubtype="0" fill="hold" nodeType="withEffect">
                                  <p:stCondLst>
                                    <p:cond delay="50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1000"/>
                                        <p:tgtEl>
                                          <p:spTgt spid="39"/>
                                        </p:tgtEl>
                                      </p:cBhvr>
                                    </p:animEffect>
                                  </p:childTnLst>
                                </p:cTn>
                              </p:par>
                              <p:par>
                                <p:cTn id="17" presetID="10" presetClass="entr" presetSubtype="0" fill="hold" nodeType="withEffect">
                                  <p:stCondLst>
                                    <p:cond delay="5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1000"/>
                                        <p:tgtEl>
                                          <p:spTgt spid="35"/>
                                        </p:tgtEl>
                                      </p:cBhvr>
                                    </p:animEffect>
                                  </p:childTnLst>
                                </p:cTn>
                              </p:par>
                              <p:par>
                                <p:cTn id="20" presetID="10" presetClass="entr" presetSubtype="0" fill="hold" nodeType="withEffect">
                                  <p:stCondLst>
                                    <p:cond delay="50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039CD-FEFF-2440-FF75-FA3C3FBF9FC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A23E692-0C43-1BFE-8EE6-285848F6670D}"/>
              </a:ext>
            </a:extLst>
          </p:cNvPr>
          <p:cNvSpPr>
            <a:spLocks noGrp="1"/>
          </p:cNvSpPr>
          <p:nvPr>
            <p:ph type="title"/>
          </p:nvPr>
        </p:nvSpPr>
        <p:spPr/>
        <p:txBody>
          <a:bodyPr/>
          <a:lstStyle/>
          <a:p>
            <a:pPr>
              <a:lnSpc>
                <a:spcPts val="4167"/>
              </a:lnSpc>
            </a:pPr>
            <a:r>
              <a:rPr lang="en-US" dirty="0">
                <a:latin typeface="Montserrat Bold" pitchFamily="34" charset="0"/>
                <a:ea typeface="Montserrat Bold" pitchFamily="34" charset="-122"/>
                <a:cs typeface="Montserrat Bold" pitchFamily="34" charset="-120"/>
              </a:rPr>
              <a:t>Comparing Data Structures</a:t>
            </a:r>
            <a:endParaRPr lang="en-US" dirty="0"/>
          </a:p>
        </p:txBody>
      </p:sp>
      <p:graphicFrame>
        <p:nvGraphicFramePr>
          <p:cNvPr id="2" name="Table 1">
            <a:extLst>
              <a:ext uri="{FF2B5EF4-FFF2-40B4-BE49-F238E27FC236}">
                <a16:creationId xmlns:a16="http://schemas.microsoft.com/office/drawing/2014/main" id="{B6C50F20-ED95-835C-F083-7C4C0AF5C780}"/>
              </a:ext>
            </a:extLst>
          </p:cNvPr>
          <p:cNvGraphicFramePr>
            <a:graphicFrameLocks noGrp="1"/>
          </p:cNvGraphicFramePr>
          <p:nvPr>
            <p:extLst>
              <p:ext uri="{D42A27DB-BD31-4B8C-83A1-F6EECF244321}">
                <p14:modId xmlns:p14="http://schemas.microsoft.com/office/powerpoint/2010/main" val="1732514815"/>
              </p:ext>
            </p:extLst>
          </p:nvPr>
        </p:nvGraphicFramePr>
        <p:xfrm>
          <a:off x="2032000" y="2095500"/>
          <a:ext cx="8128000" cy="2736306"/>
        </p:xfrm>
        <a:graphic>
          <a:graphicData uri="http://schemas.openxmlformats.org/drawingml/2006/table">
            <a:tbl>
              <a:tblPr firstRow="1" bandRow="1">
                <a:tableStyleId>{21E4AEA4-8DFA-4A89-87EB-49C32662AFE0}</a:tableStyleId>
              </a:tblPr>
              <a:tblGrid>
                <a:gridCol w="2587625">
                  <a:extLst>
                    <a:ext uri="{9D8B030D-6E8A-4147-A177-3AD203B41FA5}">
                      <a16:colId xmlns:a16="http://schemas.microsoft.com/office/drawing/2014/main" val="1694067471"/>
                    </a:ext>
                  </a:extLst>
                </a:gridCol>
                <a:gridCol w="5540375">
                  <a:extLst>
                    <a:ext uri="{9D8B030D-6E8A-4147-A177-3AD203B41FA5}">
                      <a16:colId xmlns:a16="http://schemas.microsoft.com/office/drawing/2014/main" val="156881185"/>
                    </a:ext>
                  </a:extLst>
                </a:gridCol>
              </a:tblGrid>
              <a:tr h="429986">
                <a:tc>
                  <a:txBody>
                    <a:bodyPr/>
                    <a:lstStyle/>
                    <a:p>
                      <a:r>
                        <a:rPr lang="en-GB" dirty="0"/>
                        <a:t>Data structure</a:t>
                      </a:r>
                    </a:p>
                  </a:txBody>
                  <a:tcPr>
                    <a:solidFill>
                      <a:srgbClr val="25274D"/>
                    </a:solidFill>
                  </a:tcPr>
                </a:tc>
                <a:tc>
                  <a:txBody>
                    <a:bodyPr/>
                    <a:lstStyle/>
                    <a:p>
                      <a:r>
                        <a:rPr lang="en-GB" dirty="0"/>
                        <a:t>Characteristics</a:t>
                      </a:r>
                    </a:p>
                  </a:txBody>
                  <a:tcPr>
                    <a:solidFill>
                      <a:srgbClr val="25274D"/>
                    </a:solidFill>
                  </a:tcPr>
                </a:tc>
                <a:extLst>
                  <a:ext uri="{0D108BD9-81ED-4DB2-BD59-A6C34878D82A}">
                    <a16:rowId xmlns:a16="http://schemas.microsoft.com/office/drawing/2014/main" val="3431743002"/>
                  </a:ext>
                </a:extLst>
              </a:tr>
              <a:tr h="576580">
                <a:tc>
                  <a:txBody>
                    <a:bodyPr/>
                    <a:lstStyle/>
                    <a:p>
                      <a:r>
                        <a:rPr lang="en-US" sz="1800" b="1" dirty="0">
                          <a:solidFill>
                            <a:srgbClr val="25274D"/>
                          </a:solidFill>
                          <a:latin typeface="Montserrat" panose="00000500000000000000" pitchFamily="2" charset="0"/>
                          <a:ea typeface="Montserrat Bold" pitchFamily="34" charset="-122"/>
                          <a:cs typeface="Montserrat Bold" pitchFamily="34" charset="-120"/>
                        </a:rPr>
                        <a:t>Lists</a:t>
                      </a:r>
                      <a:endParaRPr lang="en-GB" dirty="0">
                        <a:solidFill>
                          <a:srgbClr val="25274D"/>
                        </a:solidFill>
                        <a:latin typeface="Montserrat" panose="00000500000000000000" pitchFamily="2" charset="0"/>
                      </a:endParaRPr>
                    </a:p>
                  </a:txBody>
                  <a:tcPr>
                    <a:solidFill>
                      <a:schemeClr val="bg1">
                        <a:lumMod val="95000"/>
                      </a:schemeClr>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dirty="0">
                          <a:solidFill>
                            <a:srgbClr val="25274D"/>
                          </a:solidFill>
                          <a:latin typeface="Montserrat" pitchFamily="34" charset="0"/>
                          <a:ea typeface="Montserrat" pitchFamily="34" charset="-122"/>
                          <a:cs typeface="Montserrat" pitchFamily="34" charset="-120"/>
                        </a:rPr>
                        <a:t>Ordered, changeable, allows duplicates</a:t>
                      </a:r>
                    </a:p>
                  </a:txBody>
                  <a:tcPr>
                    <a:solidFill>
                      <a:schemeClr val="bg1">
                        <a:lumMod val="95000"/>
                      </a:schemeClr>
                    </a:solidFill>
                  </a:tcPr>
                </a:tc>
                <a:extLst>
                  <a:ext uri="{0D108BD9-81ED-4DB2-BD59-A6C34878D82A}">
                    <a16:rowId xmlns:a16="http://schemas.microsoft.com/office/drawing/2014/main" val="296678502"/>
                  </a:ext>
                </a:extLst>
              </a:tr>
              <a:tr h="576580">
                <a:tc>
                  <a:txBody>
                    <a:bodyPr/>
                    <a:lstStyle/>
                    <a:p>
                      <a:r>
                        <a:rPr lang="en-US" b="1" dirty="0">
                          <a:solidFill>
                            <a:srgbClr val="25274D"/>
                          </a:solidFill>
                          <a:latin typeface="Montserrat" panose="00000500000000000000" pitchFamily="2" charset="0"/>
                          <a:ea typeface="Montserrat Bold" pitchFamily="34" charset="-122"/>
                          <a:cs typeface="Montserrat Bold" pitchFamily="34" charset="-120"/>
                        </a:rPr>
                        <a:t>Tuples</a:t>
                      </a:r>
                      <a:endParaRPr lang="en-GB" dirty="0">
                        <a:solidFill>
                          <a:srgbClr val="25274D"/>
                        </a:solidFill>
                        <a:latin typeface="Montserrat" panose="00000500000000000000" pitchFamily="2" charset="0"/>
                      </a:endParaRPr>
                    </a:p>
                  </a:txBody>
                  <a:tcPr>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dirty="0">
                          <a:solidFill>
                            <a:srgbClr val="25274D"/>
                          </a:solidFill>
                          <a:latin typeface="Montserrat" pitchFamily="34" charset="0"/>
                          <a:ea typeface="Montserrat" pitchFamily="34" charset="-122"/>
                          <a:cs typeface="Montserrat" pitchFamily="34" charset="-120"/>
                        </a:rPr>
                        <a:t>Ordered, unchangeable, allows duplicates</a:t>
                      </a:r>
                    </a:p>
                  </a:txBody>
                  <a:tcPr>
                    <a:solidFill>
                      <a:schemeClr val="bg1"/>
                    </a:solidFill>
                  </a:tcPr>
                </a:tc>
                <a:extLst>
                  <a:ext uri="{0D108BD9-81ED-4DB2-BD59-A6C34878D82A}">
                    <a16:rowId xmlns:a16="http://schemas.microsoft.com/office/drawing/2014/main" val="684630072"/>
                  </a:ext>
                </a:extLst>
              </a:tr>
              <a:tr h="576580">
                <a:tc>
                  <a:txBody>
                    <a:bodyPr/>
                    <a:lstStyle/>
                    <a:p>
                      <a:r>
                        <a:rPr lang="en-US" b="1" dirty="0">
                          <a:solidFill>
                            <a:srgbClr val="25274D"/>
                          </a:solidFill>
                          <a:latin typeface="Montserrat" panose="00000500000000000000" pitchFamily="2" charset="0"/>
                          <a:ea typeface="Montserrat Bold" pitchFamily="34" charset="-122"/>
                          <a:cs typeface="Montserrat Bold" pitchFamily="34" charset="-120"/>
                        </a:rPr>
                        <a:t>Sets</a:t>
                      </a:r>
                      <a:endParaRPr lang="en-GB" dirty="0">
                        <a:solidFill>
                          <a:srgbClr val="25274D"/>
                        </a:solidFill>
                        <a:latin typeface="Montserrat" panose="00000500000000000000" pitchFamily="2" charset="0"/>
                      </a:endParaRPr>
                    </a:p>
                  </a:txBody>
                  <a:tcPr>
                    <a:solidFill>
                      <a:schemeClr val="bg1">
                        <a:lumMod val="95000"/>
                      </a:schemeClr>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dirty="0">
                          <a:solidFill>
                            <a:srgbClr val="25274D"/>
                          </a:solidFill>
                          <a:latin typeface="Montserrat" pitchFamily="34" charset="0"/>
                          <a:ea typeface="Montserrat" pitchFamily="34" charset="-122"/>
                          <a:cs typeface="Montserrat" pitchFamily="34" charset="-120"/>
                        </a:rPr>
                        <a:t>Unordered, unique, no duplicates</a:t>
                      </a:r>
                    </a:p>
                  </a:txBody>
                  <a:tcPr>
                    <a:solidFill>
                      <a:schemeClr val="bg1">
                        <a:lumMod val="95000"/>
                      </a:schemeClr>
                    </a:solidFill>
                  </a:tcPr>
                </a:tc>
                <a:extLst>
                  <a:ext uri="{0D108BD9-81ED-4DB2-BD59-A6C34878D82A}">
                    <a16:rowId xmlns:a16="http://schemas.microsoft.com/office/drawing/2014/main" val="4257898072"/>
                  </a:ext>
                </a:extLst>
              </a:tr>
              <a:tr h="576580">
                <a:tc>
                  <a:txBody>
                    <a:bodyPr/>
                    <a:lstStyle/>
                    <a:p>
                      <a:r>
                        <a:rPr lang="en-US" b="1" dirty="0">
                          <a:solidFill>
                            <a:srgbClr val="25274D"/>
                          </a:solidFill>
                          <a:latin typeface="Montserrat" panose="00000500000000000000" pitchFamily="2" charset="0"/>
                          <a:ea typeface="Montserrat Bold" pitchFamily="34" charset="-122"/>
                          <a:cs typeface="Montserrat Bold" pitchFamily="34" charset="-120"/>
                        </a:rPr>
                        <a:t>Dictionaries</a:t>
                      </a:r>
                      <a:endParaRPr lang="en-GB" dirty="0">
                        <a:solidFill>
                          <a:srgbClr val="25274D"/>
                        </a:solidFill>
                        <a:latin typeface="Montserrat" panose="00000500000000000000" pitchFamily="2" charset="0"/>
                      </a:endParaRPr>
                    </a:p>
                  </a:txBody>
                  <a:tcPr>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dirty="0">
                          <a:solidFill>
                            <a:srgbClr val="25274D"/>
                          </a:solidFill>
                          <a:latin typeface="Montserrat" pitchFamily="34" charset="0"/>
                          <a:ea typeface="Montserrat" pitchFamily="34" charset="-122"/>
                          <a:cs typeface="Montserrat" pitchFamily="34" charset="-120"/>
                        </a:rPr>
                        <a:t>Key-value pairs, fast lookups and retrievals</a:t>
                      </a:r>
                      <a:endParaRPr lang="en-US" dirty="0">
                        <a:solidFill>
                          <a:srgbClr val="25274D"/>
                        </a:solidFill>
                      </a:endParaRPr>
                    </a:p>
                  </a:txBody>
                  <a:tcPr>
                    <a:solidFill>
                      <a:schemeClr val="bg1"/>
                    </a:solidFill>
                  </a:tcPr>
                </a:tc>
                <a:extLst>
                  <a:ext uri="{0D108BD9-81ED-4DB2-BD59-A6C34878D82A}">
                    <a16:rowId xmlns:a16="http://schemas.microsoft.com/office/drawing/2014/main" val="2047555590"/>
                  </a:ext>
                </a:extLst>
              </a:tr>
            </a:tbl>
          </a:graphicData>
        </a:graphic>
      </p:graphicFrame>
    </p:spTree>
    <p:extLst>
      <p:ext uri="{BB962C8B-B14F-4D97-AF65-F5344CB8AC3E}">
        <p14:creationId xmlns:p14="http://schemas.microsoft.com/office/powerpoint/2010/main" val="288565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443FB-ECB1-1BF5-84AB-5B20D42E6DF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FD6F3CE-46A5-8C31-21C2-A390B492ABC2}"/>
              </a:ext>
            </a:extLst>
          </p:cNvPr>
          <p:cNvSpPr>
            <a:spLocks noGrp="1"/>
          </p:cNvSpPr>
          <p:nvPr>
            <p:ph type="body" sz="quarter" idx="12"/>
          </p:nvPr>
        </p:nvSpPr>
        <p:spPr>
          <a:xfrm>
            <a:off x="749999" y="2482074"/>
            <a:ext cx="5761160" cy="1893851"/>
          </a:xfrm>
        </p:spPr>
        <p:txBody>
          <a:bodyPr>
            <a:normAutofit/>
          </a:bodyPr>
          <a:lstStyle/>
          <a:p>
            <a:r>
              <a:rPr lang="en-IN" sz="3600" dirty="0"/>
              <a:t>Lists</a:t>
            </a:r>
          </a:p>
        </p:txBody>
      </p:sp>
      <p:sp>
        <p:nvSpPr>
          <p:cNvPr id="2" name="Text 1">
            <a:extLst>
              <a:ext uri="{FF2B5EF4-FFF2-40B4-BE49-F238E27FC236}">
                <a16:creationId xmlns:a16="http://schemas.microsoft.com/office/drawing/2014/main" id="{7942569A-ECD0-336B-4F49-23AE21DA658C}"/>
              </a:ext>
            </a:extLst>
          </p:cNvPr>
          <p:cNvSpPr/>
          <p:nvPr/>
        </p:nvSpPr>
        <p:spPr>
          <a:xfrm>
            <a:off x="-583649" y="4554973"/>
            <a:ext cx="6297018" cy="302419"/>
          </a:xfrm>
          <a:prstGeom prst="rect">
            <a:avLst/>
          </a:prstGeom>
          <a:noFill/>
          <a:ln/>
        </p:spPr>
        <p:txBody>
          <a:bodyPr wrap="none" lIns="0" tIns="0" rIns="0" bIns="0" rtlCol="0" anchor="t"/>
          <a:lstStyle/>
          <a:p>
            <a:pPr algn="ctr">
              <a:lnSpc>
                <a:spcPts val="2375"/>
              </a:lnSpc>
            </a:pPr>
            <a:r>
              <a:rPr lang="en-US" sz="1458" dirty="0">
                <a:solidFill>
                  <a:srgbClr val="25274D"/>
                </a:solidFill>
                <a:latin typeface="Montserrat" pitchFamily="34" charset="0"/>
                <a:ea typeface="Montserrat" pitchFamily="34" charset="-122"/>
                <a:cs typeface="Montserrat" pitchFamily="34" charset="-120"/>
              </a:rPr>
              <a:t>Python's most versatile data structure</a:t>
            </a:r>
            <a:endParaRPr lang="en-US" sz="1458" dirty="0">
              <a:solidFill>
                <a:srgbClr val="25274D"/>
              </a:solidFill>
            </a:endParaRPr>
          </a:p>
        </p:txBody>
      </p:sp>
      <p:sp>
        <p:nvSpPr>
          <p:cNvPr id="3" name="Text 1">
            <a:extLst>
              <a:ext uri="{FF2B5EF4-FFF2-40B4-BE49-F238E27FC236}">
                <a16:creationId xmlns:a16="http://schemas.microsoft.com/office/drawing/2014/main" id="{D1F0726A-98E9-D05F-1ACB-038F753C4CD1}"/>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3 of 12)</a:t>
            </a:r>
            <a:endParaRPr lang="en-US" dirty="0">
              <a:solidFill>
                <a:srgbClr val="25274D"/>
              </a:solidFill>
            </a:endParaRPr>
          </a:p>
        </p:txBody>
      </p:sp>
    </p:spTree>
    <p:extLst>
      <p:ext uri="{BB962C8B-B14F-4D97-AF65-F5344CB8AC3E}">
        <p14:creationId xmlns:p14="http://schemas.microsoft.com/office/powerpoint/2010/main" val="159311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CFFD2-0A13-DC0D-FAD6-F72CBCE2946F}"/>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A91946FC-5933-C02F-2F34-3587B1FE4DAC}"/>
              </a:ext>
            </a:extLst>
          </p:cNvPr>
          <p:cNvSpPr>
            <a:spLocks noGrp="1"/>
          </p:cNvSpPr>
          <p:nvPr>
            <p:ph type="title"/>
          </p:nvPr>
        </p:nvSpPr>
        <p:spPr/>
        <p:txBody>
          <a:bodyPr/>
          <a:lstStyle/>
          <a:p>
            <a:r>
              <a:rPr lang="en-US" dirty="0">
                <a:latin typeface="Montserrat Bold" pitchFamily="34" charset="0"/>
                <a:ea typeface="Montserrat Bold" pitchFamily="34" charset="-122"/>
                <a:cs typeface="Montserrat Bold" pitchFamily="34" charset="-120"/>
              </a:rPr>
              <a:t>Introduction to Lists in Python</a:t>
            </a:r>
            <a:endParaRPr lang="en-US" dirty="0"/>
          </a:p>
        </p:txBody>
      </p:sp>
      <p:sp>
        <p:nvSpPr>
          <p:cNvPr id="2" name="Text Placeholder 1">
            <a:extLst>
              <a:ext uri="{FF2B5EF4-FFF2-40B4-BE49-F238E27FC236}">
                <a16:creationId xmlns:a16="http://schemas.microsoft.com/office/drawing/2014/main" id="{47F37478-EBD1-36D3-AE76-43C2293A2347}"/>
              </a:ext>
            </a:extLst>
          </p:cNvPr>
          <p:cNvSpPr>
            <a:spLocks noGrp="1"/>
          </p:cNvSpPr>
          <p:nvPr>
            <p:ph type="body" sz="quarter" idx="10"/>
          </p:nvPr>
        </p:nvSpPr>
        <p:spPr/>
        <p:txBody>
          <a:bodyPr/>
          <a:lstStyle/>
          <a:p>
            <a:r>
              <a:rPr lang="en-GB"/>
              <a:t>A Dynamic, Adjustable Collection</a:t>
            </a:r>
            <a:endParaRPr lang="en-GB" dirty="0"/>
          </a:p>
        </p:txBody>
      </p:sp>
      <p:pic>
        <p:nvPicPr>
          <p:cNvPr id="6" name="Graphic 5">
            <a:extLst>
              <a:ext uri="{FF2B5EF4-FFF2-40B4-BE49-F238E27FC236}">
                <a16:creationId xmlns:a16="http://schemas.microsoft.com/office/drawing/2014/main" id="{CABB9637-0488-05DC-30CE-FC9C136480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83702" y="2032844"/>
            <a:ext cx="1082440" cy="1039712"/>
          </a:xfrm>
          <a:prstGeom prst="rect">
            <a:avLst/>
          </a:prstGeom>
        </p:spPr>
      </p:pic>
      <p:sp>
        <p:nvSpPr>
          <p:cNvPr id="8" name="TextBox 7">
            <a:extLst>
              <a:ext uri="{FF2B5EF4-FFF2-40B4-BE49-F238E27FC236}">
                <a16:creationId xmlns:a16="http://schemas.microsoft.com/office/drawing/2014/main" id="{0F77D074-B8BB-0352-4C58-45CCC9CF568D}"/>
              </a:ext>
            </a:extLst>
          </p:cNvPr>
          <p:cNvSpPr txBox="1"/>
          <p:nvPr/>
        </p:nvSpPr>
        <p:spPr>
          <a:xfrm>
            <a:off x="3615927" y="2095500"/>
            <a:ext cx="6092371" cy="665567"/>
          </a:xfrm>
          <a:prstGeom prst="rect">
            <a:avLst/>
          </a:prstGeom>
          <a:noFill/>
        </p:spPr>
        <p:txBody>
          <a:bodyPr wrap="square">
            <a:spAutoFit/>
          </a:bodyPr>
          <a:lstStyle/>
          <a:p>
            <a:pPr>
              <a:lnSpc>
                <a:spcPts val="2292"/>
              </a:lnSpc>
            </a:pPr>
            <a:r>
              <a:rPr lang="en-US" sz="1800" b="1" dirty="0">
                <a:solidFill>
                  <a:srgbClr val="25274D"/>
                </a:solidFill>
                <a:latin typeface="Montserrat" panose="00000500000000000000" pitchFamily="2" charset="0"/>
                <a:ea typeface="Montserrat Bold" pitchFamily="34" charset="-122"/>
                <a:cs typeface="Montserrat Bold" pitchFamily="34" charset="-120"/>
              </a:rPr>
              <a:t>Ordered</a:t>
            </a:r>
          </a:p>
          <a:p>
            <a:pPr>
              <a:lnSpc>
                <a:spcPts val="2292"/>
              </a:lnSpc>
            </a:pPr>
            <a:r>
              <a:rPr lang="en-US" dirty="0">
                <a:solidFill>
                  <a:srgbClr val="25274D"/>
                </a:solidFill>
                <a:latin typeface="Montserrat" pitchFamily="34" charset="0"/>
                <a:ea typeface="Montserrat" pitchFamily="34" charset="-122"/>
                <a:cs typeface="Montserrat" pitchFamily="34" charset="-120"/>
              </a:rPr>
              <a:t>Elements have a defined order, accessible by index</a:t>
            </a:r>
          </a:p>
        </p:txBody>
      </p:sp>
      <p:pic>
        <p:nvPicPr>
          <p:cNvPr id="9" name="Graphic 8">
            <a:extLst>
              <a:ext uri="{FF2B5EF4-FFF2-40B4-BE49-F238E27FC236}">
                <a16:creationId xmlns:a16="http://schemas.microsoft.com/office/drawing/2014/main" id="{E960B9F7-3E03-7544-E4B1-35B7F0B178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83702" y="3485702"/>
            <a:ext cx="1082440" cy="1039712"/>
          </a:xfrm>
          <a:prstGeom prst="rect">
            <a:avLst/>
          </a:prstGeom>
        </p:spPr>
      </p:pic>
      <p:sp>
        <p:nvSpPr>
          <p:cNvPr id="10" name="TextBox 9">
            <a:extLst>
              <a:ext uri="{FF2B5EF4-FFF2-40B4-BE49-F238E27FC236}">
                <a16:creationId xmlns:a16="http://schemas.microsoft.com/office/drawing/2014/main" id="{67683DA2-16EF-E618-D9C1-D209D4639E62}"/>
              </a:ext>
            </a:extLst>
          </p:cNvPr>
          <p:cNvSpPr txBox="1"/>
          <p:nvPr/>
        </p:nvSpPr>
        <p:spPr>
          <a:xfrm>
            <a:off x="3615927" y="3548358"/>
            <a:ext cx="6092371" cy="665567"/>
          </a:xfrm>
          <a:prstGeom prst="rect">
            <a:avLst/>
          </a:prstGeom>
          <a:noFill/>
        </p:spPr>
        <p:txBody>
          <a:bodyPr wrap="square">
            <a:spAutoFit/>
          </a:bodyPr>
          <a:lstStyle/>
          <a:p>
            <a:pPr>
              <a:lnSpc>
                <a:spcPts val="2292"/>
              </a:lnSpc>
            </a:pPr>
            <a:r>
              <a:rPr lang="en-US" sz="1800" b="1" dirty="0">
                <a:solidFill>
                  <a:srgbClr val="25274D"/>
                </a:solidFill>
                <a:latin typeface="Montserrat" panose="00000500000000000000" pitchFamily="2" charset="0"/>
                <a:ea typeface="Montserrat Bold" pitchFamily="34" charset="-122"/>
                <a:cs typeface="Montserrat Bold" pitchFamily="34" charset="-120"/>
              </a:rPr>
              <a:t>Mutable</a:t>
            </a:r>
          </a:p>
          <a:p>
            <a:pPr>
              <a:lnSpc>
                <a:spcPts val="2292"/>
              </a:lnSpc>
            </a:pPr>
            <a:r>
              <a:rPr lang="en-US" dirty="0">
                <a:solidFill>
                  <a:srgbClr val="25274D"/>
                </a:solidFill>
                <a:latin typeface="Montserrat" pitchFamily="34" charset="0"/>
                <a:ea typeface="Montserrat" pitchFamily="34" charset="-122"/>
                <a:cs typeface="Montserrat" pitchFamily="34" charset="-120"/>
              </a:rPr>
              <a:t>Can be modified (add, remove, change items)</a:t>
            </a:r>
          </a:p>
        </p:txBody>
      </p:sp>
      <p:pic>
        <p:nvPicPr>
          <p:cNvPr id="11" name="Graphic 10">
            <a:extLst>
              <a:ext uri="{FF2B5EF4-FFF2-40B4-BE49-F238E27FC236}">
                <a16:creationId xmlns:a16="http://schemas.microsoft.com/office/drawing/2014/main" id="{4408148D-9FBD-11F4-9B96-C4F6FAC99E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83702" y="4938560"/>
            <a:ext cx="1082440" cy="1039712"/>
          </a:xfrm>
          <a:prstGeom prst="rect">
            <a:avLst/>
          </a:prstGeom>
        </p:spPr>
      </p:pic>
      <p:sp>
        <p:nvSpPr>
          <p:cNvPr id="12" name="TextBox 11">
            <a:extLst>
              <a:ext uri="{FF2B5EF4-FFF2-40B4-BE49-F238E27FC236}">
                <a16:creationId xmlns:a16="http://schemas.microsoft.com/office/drawing/2014/main" id="{13FF491C-467F-DE97-1025-80BB49378F48}"/>
              </a:ext>
            </a:extLst>
          </p:cNvPr>
          <p:cNvSpPr txBox="1"/>
          <p:nvPr/>
        </p:nvSpPr>
        <p:spPr>
          <a:xfrm>
            <a:off x="3615927" y="5001216"/>
            <a:ext cx="6092371" cy="665567"/>
          </a:xfrm>
          <a:prstGeom prst="rect">
            <a:avLst/>
          </a:prstGeom>
          <a:noFill/>
        </p:spPr>
        <p:txBody>
          <a:bodyPr wrap="square">
            <a:spAutoFit/>
          </a:bodyPr>
          <a:lstStyle/>
          <a:p>
            <a:pPr>
              <a:lnSpc>
                <a:spcPts val="2292"/>
              </a:lnSpc>
            </a:pPr>
            <a:r>
              <a:rPr lang="en-US" sz="1800" b="1" dirty="0">
                <a:solidFill>
                  <a:srgbClr val="25274D"/>
                </a:solidFill>
                <a:latin typeface="Montserrat" panose="00000500000000000000" pitchFamily="2" charset="0"/>
                <a:ea typeface="Montserrat Bold" pitchFamily="34" charset="-122"/>
                <a:cs typeface="Montserrat Bold" pitchFamily="34" charset="-120"/>
              </a:rPr>
              <a:t>Versatile</a:t>
            </a:r>
          </a:p>
          <a:p>
            <a:pPr>
              <a:lnSpc>
                <a:spcPts val="2292"/>
              </a:lnSpc>
            </a:pPr>
            <a:r>
              <a:rPr lang="en-US" dirty="0">
                <a:solidFill>
                  <a:srgbClr val="25274D"/>
                </a:solidFill>
                <a:latin typeface="Montserrat" pitchFamily="34" charset="0"/>
                <a:ea typeface="Montserrat" pitchFamily="34" charset="-122"/>
                <a:cs typeface="Montserrat" pitchFamily="34" charset="-120"/>
              </a:rPr>
              <a:t>Supports duplicates and mixed data types</a:t>
            </a:r>
          </a:p>
        </p:txBody>
      </p:sp>
      <p:pic>
        <p:nvPicPr>
          <p:cNvPr id="15" name="Graphic 14">
            <a:extLst>
              <a:ext uri="{FF2B5EF4-FFF2-40B4-BE49-F238E27FC236}">
                <a16:creationId xmlns:a16="http://schemas.microsoft.com/office/drawing/2014/main" id="{9F30FA50-0EF4-8471-A2A4-7AAD91F8C98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38483" y="2255243"/>
            <a:ext cx="572878" cy="594914"/>
          </a:xfrm>
          <a:prstGeom prst="rect">
            <a:avLst/>
          </a:prstGeom>
        </p:spPr>
      </p:pic>
      <p:pic>
        <p:nvPicPr>
          <p:cNvPr id="18" name="Graphic 17">
            <a:extLst>
              <a:ext uri="{FF2B5EF4-FFF2-40B4-BE49-F238E27FC236}">
                <a16:creationId xmlns:a16="http://schemas.microsoft.com/office/drawing/2014/main" id="{DB604A15-C41D-CFAB-8B5E-3568539CBB4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747664" y="3722792"/>
            <a:ext cx="554516" cy="565533"/>
          </a:xfrm>
          <a:prstGeom prst="rect">
            <a:avLst/>
          </a:prstGeom>
        </p:spPr>
      </p:pic>
      <p:pic>
        <p:nvPicPr>
          <p:cNvPr id="20" name="Graphic 19">
            <a:extLst>
              <a:ext uri="{FF2B5EF4-FFF2-40B4-BE49-F238E27FC236}">
                <a16:creationId xmlns:a16="http://schemas.microsoft.com/office/drawing/2014/main" id="{85BDC63F-5821-A3CC-BB39-A2C2C767F11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677752" y="5093646"/>
            <a:ext cx="714996" cy="626128"/>
          </a:xfrm>
          <a:prstGeom prst="rect">
            <a:avLst/>
          </a:prstGeom>
        </p:spPr>
      </p:pic>
    </p:spTree>
    <p:extLst>
      <p:ext uri="{BB962C8B-B14F-4D97-AF65-F5344CB8AC3E}">
        <p14:creationId xmlns:p14="http://schemas.microsoft.com/office/powerpoint/2010/main" val="352620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par>
                                <p:cTn id="20" presetID="10" presetClass="entr" presetSubtype="0" fill="hold" nodeType="withEffect">
                                  <p:stCondLst>
                                    <p:cond delay="5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childTnLst>
                                </p:cTn>
                              </p:par>
                              <p:par>
                                <p:cTn id="23" presetID="10" presetClass="entr" presetSubtype="0" fill="hold" nodeType="withEffect">
                                  <p:stCondLst>
                                    <p:cond delay="5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childTnLst>
                                </p:cTn>
                              </p:par>
                              <p:par>
                                <p:cTn id="26" presetID="10" presetClass="entr" presetSubtype="0" fill="hold" nodeType="withEffect">
                                  <p:stCondLst>
                                    <p:cond delay="50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childTnLst>
                                </p:cTn>
                              </p:par>
                              <p:par>
                                <p:cTn id="29" presetID="10" presetClass="entr" presetSubtype="0" fill="hold" nodeType="withEffect">
                                  <p:stCondLst>
                                    <p:cond delay="5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childTnLst>
                                </p:cTn>
                              </p:par>
                              <p:par>
                                <p:cTn id="32" presetID="10" presetClass="entr" presetSubtype="0" fill="hold" nodeType="withEffect">
                                  <p:stCondLst>
                                    <p:cond delay="50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childTnLst>
                                </p:cTn>
                              </p:par>
                              <p:par>
                                <p:cTn id="35" presetID="10" presetClass="entr" presetSubtype="0" fill="hold" nodeType="withEffect">
                                  <p:stCondLst>
                                    <p:cond delay="5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build="p"/>
      <p:bldP spid="8" grpId="0"/>
      <p:bldP spid="10"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F9D38-41D3-D5A9-2A91-E4E1287230F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63C0990-9AF4-439A-A4BD-ADB7B53C63C6}"/>
              </a:ext>
            </a:extLst>
          </p:cNvPr>
          <p:cNvSpPr>
            <a:spLocks noGrp="1"/>
          </p:cNvSpPr>
          <p:nvPr>
            <p:ph type="title"/>
          </p:nvPr>
        </p:nvSpPr>
        <p:spPr/>
        <p:txBody>
          <a:bodyPr/>
          <a:lstStyle/>
          <a:p>
            <a:pPr>
              <a:lnSpc>
                <a:spcPts val="4167"/>
              </a:lnSpc>
            </a:pPr>
            <a:r>
              <a:rPr lang="en-US" dirty="0">
                <a:latin typeface="Montserrat Bold" pitchFamily="34" charset="0"/>
                <a:ea typeface="Montserrat Bold" pitchFamily="34" charset="-122"/>
                <a:cs typeface="Montserrat Bold" pitchFamily="34" charset="-120"/>
              </a:rPr>
              <a:t>Creating Lists in Python</a:t>
            </a:r>
            <a:endParaRPr lang="en-US" dirty="0"/>
          </a:p>
        </p:txBody>
      </p:sp>
      <p:sp>
        <p:nvSpPr>
          <p:cNvPr id="2" name="Text Placeholder 1">
            <a:extLst>
              <a:ext uri="{FF2B5EF4-FFF2-40B4-BE49-F238E27FC236}">
                <a16:creationId xmlns:a16="http://schemas.microsoft.com/office/drawing/2014/main" id="{9EF2B557-1CB4-02A2-98D6-550C9825C435}"/>
              </a:ext>
            </a:extLst>
          </p:cNvPr>
          <p:cNvSpPr>
            <a:spLocks noGrp="1"/>
          </p:cNvSpPr>
          <p:nvPr>
            <p:ph type="body" sz="quarter" idx="10"/>
          </p:nvPr>
        </p:nvSpPr>
        <p:spPr/>
        <p:txBody>
          <a:bodyPr/>
          <a:lstStyle/>
          <a:p>
            <a:r>
              <a:rPr lang="en-US" dirty="0"/>
              <a:t>Start Empty or </a:t>
            </a:r>
            <a:r>
              <a:rPr lang="en-US" dirty="0" err="1"/>
              <a:t>Initialise</a:t>
            </a:r>
            <a:r>
              <a:rPr lang="en-US" dirty="0"/>
              <a:t> with Items</a:t>
            </a:r>
            <a:endParaRPr lang="en-GB" dirty="0"/>
          </a:p>
        </p:txBody>
      </p:sp>
      <p:sp>
        <p:nvSpPr>
          <p:cNvPr id="11" name="TextBox 10">
            <a:extLst>
              <a:ext uri="{FF2B5EF4-FFF2-40B4-BE49-F238E27FC236}">
                <a16:creationId xmlns:a16="http://schemas.microsoft.com/office/drawing/2014/main" id="{9347C2EE-BB78-43F7-F8FB-397ED2942876}"/>
              </a:ext>
            </a:extLst>
          </p:cNvPr>
          <p:cNvSpPr txBox="1"/>
          <p:nvPr/>
        </p:nvSpPr>
        <p:spPr>
          <a:xfrm>
            <a:off x="7800436" y="3374357"/>
            <a:ext cx="3571645" cy="900246"/>
          </a:xfrm>
          <a:prstGeom prst="rect">
            <a:avLst/>
          </a:prstGeom>
          <a:noFill/>
        </p:spPr>
        <p:txBody>
          <a:bodyPr wrap="square">
            <a:spAutoFit/>
          </a:bodyPr>
          <a:lstStyle/>
          <a:p>
            <a:pPr>
              <a:lnSpc>
                <a:spcPts val="2125"/>
              </a:lnSpc>
            </a:pPr>
            <a:r>
              <a:rPr lang="en-US" sz="1800" dirty="0">
                <a:solidFill>
                  <a:srgbClr val="25274D"/>
                </a:solidFill>
                <a:latin typeface="Montserrat" panose="00000500000000000000" pitchFamily="2" charset="0"/>
                <a:ea typeface="Montserrat" pitchFamily="34" charset="-122"/>
                <a:cs typeface="Montserrat" pitchFamily="34" charset="-120"/>
              </a:rPr>
              <a:t>Lists use square brackets </a:t>
            </a:r>
            <a:r>
              <a:rPr lang="en-US" sz="1800" dirty="0">
                <a:solidFill>
                  <a:srgbClr val="25274D"/>
                </a:solidFill>
                <a:latin typeface="Montserrat" panose="00000500000000000000" pitchFamily="2" charset="0"/>
                <a:ea typeface="Montserrat" pitchFamily="34" charset="-122"/>
                <a:cs typeface="Courier New" panose="02070309020205020404" pitchFamily="49" charset="0"/>
              </a:rPr>
              <a:t>[ ] </a:t>
            </a:r>
            <a:r>
              <a:rPr lang="en-US" sz="1800" dirty="0">
                <a:solidFill>
                  <a:srgbClr val="25274D"/>
                </a:solidFill>
                <a:latin typeface="Montserrat" panose="00000500000000000000" pitchFamily="2" charset="0"/>
                <a:ea typeface="Montserrat" pitchFamily="34" charset="-122"/>
                <a:cs typeface="Montserrat" pitchFamily="34" charset="-120"/>
              </a:rPr>
              <a:t>and can contain any data type, including other lists.</a:t>
            </a:r>
            <a:endParaRPr lang="en-US" sz="1800" dirty="0">
              <a:solidFill>
                <a:srgbClr val="25274D"/>
              </a:solidFill>
              <a:latin typeface="Montserrat" panose="00000500000000000000" pitchFamily="2" charset="0"/>
            </a:endParaRPr>
          </a:p>
        </p:txBody>
      </p:sp>
      <p:grpSp>
        <p:nvGrpSpPr>
          <p:cNvPr id="4" name="Group 3">
            <a:extLst>
              <a:ext uri="{FF2B5EF4-FFF2-40B4-BE49-F238E27FC236}">
                <a16:creationId xmlns:a16="http://schemas.microsoft.com/office/drawing/2014/main" id="{E125DD96-1128-EFA8-BCFF-4E7141B809BB}"/>
              </a:ext>
            </a:extLst>
          </p:cNvPr>
          <p:cNvGrpSpPr/>
          <p:nvPr/>
        </p:nvGrpSpPr>
        <p:grpSpPr>
          <a:xfrm>
            <a:off x="802158" y="2446637"/>
            <a:ext cx="6636608" cy="2767913"/>
            <a:chOff x="802158" y="2446637"/>
            <a:chExt cx="6636608" cy="2767913"/>
          </a:xfrm>
        </p:grpSpPr>
        <p:sp>
          <p:nvSpPr>
            <p:cNvPr id="3" name="Rectangle: Rounded Corners 2">
              <a:extLst>
                <a:ext uri="{FF2B5EF4-FFF2-40B4-BE49-F238E27FC236}">
                  <a16:creationId xmlns:a16="http://schemas.microsoft.com/office/drawing/2014/main" id="{5A366FC2-0C28-3F4D-4AD7-4980974C63CA}"/>
                </a:ext>
              </a:extLst>
            </p:cNvPr>
            <p:cNvSpPr/>
            <p:nvPr/>
          </p:nvSpPr>
          <p:spPr>
            <a:xfrm>
              <a:off x="802158" y="2446637"/>
              <a:ext cx="6636608" cy="276791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AF5C2578-6F48-450E-A4FB-6F78FF169E7E}"/>
                </a:ext>
              </a:extLst>
            </p:cNvPr>
            <p:cNvPicPr>
              <a:picLocks noChangeAspect="1"/>
            </p:cNvPicPr>
            <p:nvPr/>
          </p:nvPicPr>
          <p:blipFill>
            <a:blip r:embed="rId3"/>
            <a:stretch>
              <a:fillRect/>
            </a:stretch>
          </p:blipFill>
          <p:spPr>
            <a:xfrm>
              <a:off x="975246" y="2663618"/>
              <a:ext cx="6290433" cy="2333951"/>
            </a:xfrm>
            <a:prstGeom prst="rect">
              <a:avLst/>
            </a:prstGeom>
          </p:spPr>
        </p:pic>
      </p:grpSp>
    </p:spTree>
    <p:extLst>
      <p:ext uri="{BB962C8B-B14F-4D97-AF65-F5344CB8AC3E}">
        <p14:creationId xmlns:p14="http://schemas.microsoft.com/office/powerpoint/2010/main" val="237196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childTnLst>
                                </p:cTn>
                              </p:par>
                              <p:par>
                                <p:cTn id="14" presetID="10" presetClass="entr" presetSubtype="0" fill="hold" nodeType="withEffect">
                                  <p:stCondLst>
                                    <p:cond delay="5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B19AE-907B-ECE1-1F35-B03875A79FE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D6993CC-01AC-8AAF-A838-795BCA1D9C13}"/>
              </a:ext>
            </a:extLst>
          </p:cNvPr>
          <p:cNvSpPr>
            <a:spLocks noGrp="1"/>
          </p:cNvSpPr>
          <p:nvPr>
            <p:ph type="title"/>
          </p:nvPr>
        </p:nvSpPr>
        <p:spPr/>
        <p:txBody>
          <a:bodyPr/>
          <a:lstStyle/>
          <a:p>
            <a:pPr>
              <a:lnSpc>
                <a:spcPts val="3458"/>
              </a:lnSpc>
            </a:pPr>
            <a:r>
              <a:rPr lang="en-US" dirty="0">
                <a:latin typeface="Montserrat Bold" pitchFamily="34" charset="0"/>
                <a:ea typeface="Montserrat Bold" pitchFamily="34" charset="-122"/>
                <a:cs typeface="Montserrat Bold" pitchFamily="34" charset="-120"/>
              </a:rPr>
              <a:t>Accessing List Elements</a:t>
            </a:r>
            <a:endParaRPr lang="en-US" dirty="0"/>
          </a:p>
        </p:txBody>
      </p:sp>
      <p:sp>
        <p:nvSpPr>
          <p:cNvPr id="9" name="TextBox 8">
            <a:extLst>
              <a:ext uri="{FF2B5EF4-FFF2-40B4-BE49-F238E27FC236}">
                <a16:creationId xmlns:a16="http://schemas.microsoft.com/office/drawing/2014/main" id="{34A78460-1FFB-4BBA-B1D5-127D26F7AC6C}"/>
              </a:ext>
            </a:extLst>
          </p:cNvPr>
          <p:cNvSpPr txBox="1"/>
          <p:nvPr/>
        </p:nvSpPr>
        <p:spPr>
          <a:xfrm>
            <a:off x="1818651" y="1929856"/>
            <a:ext cx="8554699" cy="923330"/>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Ordered Collections: Access items using their index (zero-based)</a:t>
            </a:r>
          </a:p>
          <a:p>
            <a:pPr marL="285750" indent="-285750">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buFont typeface="Arial" panose="020B0604020202020204" pitchFamily="34" charset="0"/>
              <a:buChar char="•"/>
            </a:pPr>
            <a:r>
              <a:rPr lang="en-US" dirty="0">
                <a:solidFill>
                  <a:srgbClr val="25274D"/>
                </a:solidFill>
                <a:latin typeface="Montserrat" panose="00000500000000000000" pitchFamily="2" charset="0"/>
              </a:rPr>
              <a:t>Example:</a:t>
            </a:r>
          </a:p>
        </p:txBody>
      </p:sp>
      <p:grpSp>
        <p:nvGrpSpPr>
          <p:cNvPr id="3" name="Group 2">
            <a:extLst>
              <a:ext uri="{FF2B5EF4-FFF2-40B4-BE49-F238E27FC236}">
                <a16:creationId xmlns:a16="http://schemas.microsoft.com/office/drawing/2014/main" id="{EBC349F3-C8E4-6029-364A-BD70E9C2BBD4}"/>
              </a:ext>
            </a:extLst>
          </p:cNvPr>
          <p:cNvGrpSpPr/>
          <p:nvPr/>
        </p:nvGrpSpPr>
        <p:grpSpPr>
          <a:xfrm>
            <a:off x="3091543" y="3429000"/>
            <a:ext cx="4633232" cy="1452552"/>
            <a:chOff x="3091543" y="3429000"/>
            <a:chExt cx="4633232" cy="1452552"/>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3091543" y="3429000"/>
              <a:ext cx="4633232" cy="145255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45904CE3-D3A6-0817-CECA-07F83BD58EF5}"/>
                </a:ext>
              </a:extLst>
            </p:cNvPr>
            <p:cNvPicPr>
              <a:picLocks noChangeAspect="1"/>
            </p:cNvPicPr>
            <p:nvPr/>
          </p:nvPicPr>
          <p:blipFill>
            <a:blip r:embed="rId3"/>
            <a:stretch>
              <a:fillRect/>
            </a:stretch>
          </p:blipFill>
          <p:spPr>
            <a:xfrm>
              <a:off x="3213842" y="3553022"/>
              <a:ext cx="4377672" cy="1204508"/>
            </a:xfrm>
            <a:prstGeom prst="rect">
              <a:avLst/>
            </a:prstGeom>
          </p:spPr>
        </p:pic>
      </p:grpSp>
    </p:spTree>
    <p:extLst>
      <p:ext uri="{BB962C8B-B14F-4D97-AF65-F5344CB8AC3E}">
        <p14:creationId xmlns:p14="http://schemas.microsoft.com/office/powerpoint/2010/main" val="203271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512D6-D030-6C44-29E2-87A3672F79C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1C91947-9F65-5A9E-4E34-93D318C26B70}"/>
              </a:ext>
            </a:extLst>
          </p:cNvPr>
          <p:cNvSpPr>
            <a:spLocks noGrp="1"/>
          </p:cNvSpPr>
          <p:nvPr>
            <p:ph type="title"/>
          </p:nvPr>
        </p:nvSpPr>
        <p:spPr/>
        <p:txBody>
          <a:bodyPr/>
          <a:lstStyle/>
          <a:p>
            <a:r>
              <a:rPr lang="en-US" dirty="0">
                <a:latin typeface="Montserrat Bold" pitchFamily="34" charset="0"/>
                <a:ea typeface="Montserrat Bold" pitchFamily="34" charset="-122"/>
                <a:cs typeface="Montserrat Bold" pitchFamily="34" charset="-120"/>
              </a:rPr>
              <a:t>Modifying List Elements</a:t>
            </a:r>
            <a:br>
              <a:rPr lang="en-US" dirty="0"/>
            </a:br>
            <a:endParaRPr lang="en-US" dirty="0"/>
          </a:p>
        </p:txBody>
      </p:sp>
      <p:sp>
        <p:nvSpPr>
          <p:cNvPr id="5" name="TextBox 4">
            <a:extLst>
              <a:ext uri="{FF2B5EF4-FFF2-40B4-BE49-F238E27FC236}">
                <a16:creationId xmlns:a16="http://schemas.microsoft.com/office/drawing/2014/main" id="{C64C4F08-C7CB-46FD-E63B-32E372EFD0D9}"/>
              </a:ext>
            </a:extLst>
          </p:cNvPr>
          <p:cNvSpPr txBox="1"/>
          <p:nvPr/>
        </p:nvSpPr>
        <p:spPr>
          <a:xfrm>
            <a:off x="2198370" y="1449388"/>
            <a:ext cx="7795260" cy="646331"/>
          </a:xfrm>
          <a:prstGeom prst="rect">
            <a:avLst/>
          </a:prstGeom>
          <a:noFill/>
        </p:spPr>
        <p:txBody>
          <a:bodyPr wrap="square">
            <a:spAutoFit/>
          </a:bodyPr>
          <a:lstStyle/>
          <a:p>
            <a:r>
              <a:rPr lang="en-US" sz="1800" dirty="0">
                <a:solidFill>
                  <a:srgbClr val="25274D"/>
                </a:solidFill>
                <a:latin typeface="Montserrat" pitchFamily="34" charset="0"/>
                <a:ea typeface="Montserrat" pitchFamily="34" charset="-122"/>
                <a:cs typeface="Montserrat" pitchFamily="34" charset="-120"/>
              </a:rPr>
              <a:t>Lists are mutable, allowing you to change their content without creating a new list.</a:t>
            </a:r>
            <a:endParaRPr lang="en-US" sz="1800" dirty="0">
              <a:solidFill>
                <a:srgbClr val="25274D"/>
              </a:solidFill>
            </a:endParaRPr>
          </a:p>
        </p:txBody>
      </p:sp>
      <p:grpSp>
        <p:nvGrpSpPr>
          <p:cNvPr id="3" name="Group 2">
            <a:extLst>
              <a:ext uri="{FF2B5EF4-FFF2-40B4-BE49-F238E27FC236}">
                <a16:creationId xmlns:a16="http://schemas.microsoft.com/office/drawing/2014/main" id="{DE2E727A-5AD3-4A2A-B481-D74A352A9175}"/>
              </a:ext>
            </a:extLst>
          </p:cNvPr>
          <p:cNvGrpSpPr/>
          <p:nvPr/>
        </p:nvGrpSpPr>
        <p:grpSpPr>
          <a:xfrm>
            <a:off x="3324225" y="2324100"/>
            <a:ext cx="5543550" cy="3609975"/>
            <a:chOff x="3324225" y="2324100"/>
            <a:chExt cx="5543550" cy="3609975"/>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3324225" y="2324100"/>
              <a:ext cx="5543550" cy="3609975"/>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01121F3E-91C5-1C00-A831-85A3F0C66CCD}"/>
                </a:ext>
              </a:extLst>
            </p:cNvPr>
            <p:cNvPicPr>
              <a:picLocks noChangeAspect="1"/>
            </p:cNvPicPr>
            <p:nvPr/>
          </p:nvPicPr>
          <p:blipFill>
            <a:blip r:embed="rId3"/>
            <a:stretch>
              <a:fillRect/>
            </a:stretch>
          </p:blipFill>
          <p:spPr>
            <a:xfrm>
              <a:off x="3570096" y="2511143"/>
              <a:ext cx="5051809" cy="3235888"/>
            </a:xfrm>
            <a:prstGeom prst="rect">
              <a:avLst/>
            </a:prstGeom>
          </p:spPr>
        </p:pic>
      </p:grpSp>
    </p:spTree>
    <p:extLst>
      <p:ext uri="{BB962C8B-B14F-4D97-AF65-F5344CB8AC3E}">
        <p14:creationId xmlns:p14="http://schemas.microsoft.com/office/powerpoint/2010/main" val="83540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2BF5-E6CB-DEB7-6917-F3B7C638B85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81571EF-2A68-A7BB-0DC5-2572C302633D}"/>
              </a:ext>
            </a:extLst>
          </p:cNvPr>
          <p:cNvSpPr>
            <a:spLocks noGrp="1"/>
          </p:cNvSpPr>
          <p:nvPr>
            <p:ph type="title"/>
          </p:nvPr>
        </p:nvSpPr>
        <p:spPr/>
        <p:txBody>
          <a:bodyPr/>
          <a:lstStyle/>
          <a:p>
            <a:pPr>
              <a:lnSpc>
                <a:spcPts val="4625"/>
              </a:lnSpc>
            </a:pPr>
            <a:r>
              <a:rPr lang="en-US" dirty="0">
                <a:latin typeface="Montserrat Bold" pitchFamily="34" charset="0"/>
                <a:ea typeface="Montserrat Bold" pitchFamily="34" charset="-122"/>
                <a:cs typeface="Montserrat Bold" pitchFamily="34" charset="-120"/>
              </a:rPr>
              <a:t>Common List Operations</a:t>
            </a:r>
            <a:endParaRPr lang="en-US" dirty="0"/>
          </a:p>
        </p:txBody>
      </p:sp>
      <p:sp>
        <p:nvSpPr>
          <p:cNvPr id="6" name="Text Placeholder 5">
            <a:extLst>
              <a:ext uri="{FF2B5EF4-FFF2-40B4-BE49-F238E27FC236}">
                <a16:creationId xmlns:a16="http://schemas.microsoft.com/office/drawing/2014/main" id="{A1F64A12-9AB1-E92A-4941-4207FBE94FD7}"/>
              </a:ext>
            </a:extLst>
          </p:cNvPr>
          <p:cNvSpPr>
            <a:spLocks noGrp="1"/>
          </p:cNvSpPr>
          <p:nvPr>
            <p:ph type="body" sz="quarter" idx="10"/>
          </p:nvPr>
        </p:nvSpPr>
        <p:spPr/>
        <p:txBody>
          <a:bodyPr/>
          <a:lstStyle/>
          <a:p>
            <a:r>
              <a:rPr lang="en-US" dirty="0"/>
              <a:t>Built-in Methods in Python </a:t>
            </a:r>
          </a:p>
        </p:txBody>
      </p:sp>
      <p:sp>
        <p:nvSpPr>
          <p:cNvPr id="12" name="TextBox 11">
            <a:extLst>
              <a:ext uri="{FF2B5EF4-FFF2-40B4-BE49-F238E27FC236}">
                <a16:creationId xmlns:a16="http://schemas.microsoft.com/office/drawing/2014/main" id="{F4CDAE52-832B-F820-E178-24EB0DD01B10}"/>
              </a:ext>
            </a:extLst>
          </p:cNvPr>
          <p:cNvSpPr txBox="1"/>
          <p:nvPr/>
        </p:nvSpPr>
        <p:spPr>
          <a:xfrm>
            <a:off x="749998" y="2237943"/>
            <a:ext cx="4545202" cy="1025409"/>
          </a:xfrm>
          <a:prstGeom prst="rect">
            <a:avLst/>
          </a:prstGeom>
          <a:noFill/>
        </p:spPr>
        <p:txBody>
          <a:bodyPr wrap="square">
            <a:spAutoFit/>
          </a:bodyPr>
          <a:lstStyle/>
          <a:p>
            <a:pPr marR="0">
              <a:lnSpc>
                <a:spcPct val="115000"/>
              </a:lnSpc>
              <a:spcAft>
                <a:spcPts val="800"/>
              </a:spcAft>
            </a:pPr>
            <a:r>
              <a:rPr lang="en-US" sz="1800" b="1" kern="100" dirty="0">
                <a:solidFill>
                  <a:srgbClr val="25274D"/>
                </a:solidFill>
                <a:effectLst/>
                <a:ea typeface="Aptos" panose="020B0004020202020204" pitchFamily="34" charset="0"/>
                <a:cs typeface="Arial" panose="020B0604020202020204" pitchFamily="34" charset="0"/>
              </a:rPr>
              <a:t>Sorting and reversing</a:t>
            </a:r>
            <a:r>
              <a:rPr lang="en-US" sz="1800" kern="100" dirty="0">
                <a:solidFill>
                  <a:srgbClr val="25274D"/>
                </a:solidFill>
                <a:effectLst/>
                <a:ea typeface="Aptos" panose="020B0004020202020204" pitchFamily="34" charset="0"/>
                <a:cs typeface="Arial" panose="020B0604020202020204" pitchFamily="34" charset="0"/>
              </a:rPr>
              <a:t>: Use </a:t>
            </a:r>
            <a:r>
              <a:rPr lang="en-US" sz="1800" kern="100" dirty="0">
                <a:solidFill>
                  <a:srgbClr val="25274D"/>
                </a:solidFill>
                <a:effectLst/>
                <a:latin typeface="Courier New" panose="02070309020205020404" pitchFamily="49" charset="0"/>
                <a:ea typeface="Aptos" panose="020B0004020202020204" pitchFamily="34" charset="0"/>
                <a:cs typeface="Courier New" panose="02070309020205020404" pitchFamily="49" charset="0"/>
              </a:rPr>
              <a:t>sort() </a:t>
            </a:r>
            <a:r>
              <a:rPr lang="en-US" sz="1800" kern="100" dirty="0">
                <a:solidFill>
                  <a:srgbClr val="25274D"/>
                </a:solidFill>
                <a:effectLst/>
                <a:ea typeface="Aptos" panose="020B0004020202020204" pitchFamily="34" charset="0"/>
                <a:cs typeface="Arial" panose="020B0604020202020204" pitchFamily="34" charset="0"/>
              </a:rPr>
              <a:t>to sort and </a:t>
            </a:r>
            <a:r>
              <a:rPr lang="en-US" sz="1800" kern="100" dirty="0">
                <a:solidFill>
                  <a:srgbClr val="25274D"/>
                </a:solidFill>
                <a:effectLst/>
                <a:latin typeface="Courier New" panose="02070309020205020404" pitchFamily="49" charset="0"/>
                <a:ea typeface="Aptos" panose="020B0004020202020204" pitchFamily="34" charset="0"/>
                <a:cs typeface="Courier New" panose="02070309020205020404" pitchFamily="49" charset="0"/>
              </a:rPr>
              <a:t>reverse()</a:t>
            </a:r>
            <a:r>
              <a:rPr lang="en-US" sz="1800" kern="100" dirty="0">
                <a:solidFill>
                  <a:srgbClr val="25274D"/>
                </a:solidFill>
                <a:effectLst/>
                <a:ea typeface="Aptos" panose="020B0004020202020204" pitchFamily="34" charset="0"/>
                <a:cs typeface="Arial" panose="020B0604020202020204" pitchFamily="34" charset="0"/>
              </a:rPr>
              <a:t> to reverse the list order.</a:t>
            </a:r>
          </a:p>
        </p:txBody>
      </p:sp>
      <p:sp>
        <p:nvSpPr>
          <p:cNvPr id="14" name="TextBox 13">
            <a:extLst>
              <a:ext uri="{FF2B5EF4-FFF2-40B4-BE49-F238E27FC236}">
                <a16:creationId xmlns:a16="http://schemas.microsoft.com/office/drawing/2014/main" id="{B4D61D32-D304-BC04-0027-75AD9A10E5DC}"/>
              </a:ext>
            </a:extLst>
          </p:cNvPr>
          <p:cNvSpPr txBox="1"/>
          <p:nvPr/>
        </p:nvSpPr>
        <p:spPr>
          <a:xfrm>
            <a:off x="749998" y="3669182"/>
            <a:ext cx="5166859" cy="1025409"/>
          </a:xfrm>
          <a:prstGeom prst="rect">
            <a:avLst/>
          </a:prstGeom>
          <a:noFill/>
        </p:spPr>
        <p:txBody>
          <a:bodyPr wrap="square">
            <a:spAutoFit/>
          </a:bodyPr>
          <a:lstStyle/>
          <a:p>
            <a:pPr marR="0">
              <a:lnSpc>
                <a:spcPct val="115000"/>
              </a:lnSpc>
              <a:spcAft>
                <a:spcPts val="800"/>
              </a:spcAft>
            </a:pPr>
            <a:r>
              <a:rPr lang="en-US" sz="1800" b="1" kern="100" dirty="0">
                <a:solidFill>
                  <a:srgbClr val="25274D"/>
                </a:solidFill>
                <a:effectLst/>
                <a:ea typeface="Aptos" panose="020B0004020202020204" pitchFamily="34" charset="0"/>
                <a:cs typeface="Arial" panose="020B0604020202020204" pitchFamily="34" charset="0"/>
              </a:rPr>
              <a:t>Counting and finding</a:t>
            </a:r>
            <a:r>
              <a:rPr lang="en-US" sz="1800" kern="100" dirty="0">
                <a:solidFill>
                  <a:srgbClr val="25274D"/>
                </a:solidFill>
                <a:effectLst/>
                <a:ea typeface="Aptos" panose="020B0004020202020204" pitchFamily="34" charset="0"/>
                <a:cs typeface="Arial" panose="020B0604020202020204" pitchFamily="34" charset="0"/>
              </a:rPr>
              <a:t>: Use </a:t>
            </a:r>
            <a:r>
              <a:rPr lang="en-US" sz="1800" kern="100" dirty="0">
                <a:solidFill>
                  <a:srgbClr val="25274D"/>
                </a:solidFill>
                <a:effectLst/>
                <a:latin typeface="Courier New" panose="02070309020205020404" pitchFamily="49" charset="0"/>
                <a:ea typeface="Aptos" panose="020B0004020202020204" pitchFamily="34" charset="0"/>
                <a:cs typeface="Courier New" panose="02070309020205020404" pitchFamily="49" charset="0"/>
              </a:rPr>
              <a:t>count()</a:t>
            </a:r>
            <a:r>
              <a:rPr lang="en-US" sz="1800" kern="100" dirty="0">
                <a:solidFill>
                  <a:srgbClr val="25274D"/>
                </a:solidFill>
                <a:effectLst/>
                <a:ea typeface="Aptos" panose="020B0004020202020204" pitchFamily="34" charset="0"/>
                <a:cs typeface="Arial" panose="020B0604020202020204" pitchFamily="34" charset="0"/>
              </a:rPr>
              <a:t>to count occurrences and </a:t>
            </a:r>
            <a:r>
              <a:rPr lang="en-US" sz="1800" kern="100" dirty="0">
                <a:solidFill>
                  <a:srgbClr val="25274D"/>
                </a:solidFill>
                <a:effectLst/>
                <a:latin typeface="Courier New" panose="02070309020205020404" pitchFamily="49" charset="0"/>
                <a:ea typeface="Aptos" panose="020B0004020202020204" pitchFamily="34" charset="0"/>
                <a:cs typeface="Courier New" panose="02070309020205020404" pitchFamily="49" charset="0"/>
              </a:rPr>
              <a:t>index()</a:t>
            </a:r>
            <a:r>
              <a:rPr lang="en-US" sz="1800" kern="100" dirty="0">
                <a:solidFill>
                  <a:srgbClr val="25274D"/>
                </a:solidFill>
                <a:effectLst/>
                <a:ea typeface="Aptos" panose="020B0004020202020204" pitchFamily="34" charset="0"/>
                <a:cs typeface="Arial" panose="020B0604020202020204" pitchFamily="34" charset="0"/>
              </a:rPr>
              <a:t>to find the index of an item.</a:t>
            </a:r>
          </a:p>
        </p:txBody>
      </p:sp>
      <p:sp>
        <p:nvSpPr>
          <p:cNvPr id="16" name="TextBox 15">
            <a:extLst>
              <a:ext uri="{FF2B5EF4-FFF2-40B4-BE49-F238E27FC236}">
                <a16:creationId xmlns:a16="http://schemas.microsoft.com/office/drawing/2014/main" id="{2E5B8388-4A9D-4648-FCA7-012032ECBB89}"/>
              </a:ext>
            </a:extLst>
          </p:cNvPr>
          <p:cNvSpPr txBox="1"/>
          <p:nvPr/>
        </p:nvSpPr>
        <p:spPr>
          <a:xfrm>
            <a:off x="749998" y="5130124"/>
            <a:ext cx="4371626" cy="1025409"/>
          </a:xfrm>
          <a:prstGeom prst="rect">
            <a:avLst/>
          </a:prstGeom>
          <a:noFill/>
        </p:spPr>
        <p:txBody>
          <a:bodyPr wrap="square">
            <a:spAutoFit/>
          </a:bodyPr>
          <a:lstStyle/>
          <a:p>
            <a:pPr marR="0">
              <a:lnSpc>
                <a:spcPct val="115000"/>
              </a:lnSpc>
              <a:spcAft>
                <a:spcPts val="800"/>
              </a:spcAft>
            </a:pPr>
            <a:r>
              <a:rPr lang="en-US" sz="1800" b="1" kern="100" dirty="0">
                <a:solidFill>
                  <a:srgbClr val="25274D"/>
                </a:solidFill>
                <a:effectLst/>
                <a:ea typeface="Aptos" panose="020B0004020202020204" pitchFamily="34" charset="0"/>
                <a:cs typeface="Arial" panose="020B0604020202020204" pitchFamily="34" charset="0"/>
              </a:rPr>
              <a:t>Adding and extending</a:t>
            </a:r>
            <a:r>
              <a:rPr lang="en-US" sz="1800" kern="100" dirty="0">
                <a:solidFill>
                  <a:srgbClr val="25274D"/>
                </a:solidFill>
                <a:effectLst/>
                <a:ea typeface="Aptos" panose="020B0004020202020204" pitchFamily="34" charset="0"/>
                <a:cs typeface="Arial" panose="020B0604020202020204" pitchFamily="34" charset="0"/>
              </a:rPr>
              <a:t>: Use extend() to add elements from another list.</a:t>
            </a:r>
          </a:p>
        </p:txBody>
      </p:sp>
      <p:sp>
        <p:nvSpPr>
          <p:cNvPr id="2" name="Rectangle: Rounded Corners 1">
            <a:extLst>
              <a:ext uri="{FF2B5EF4-FFF2-40B4-BE49-F238E27FC236}">
                <a16:creationId xmlns:a16="http://schemas.microsoft.com/office/drawing/2014/main" id="{5A16769C-0C0C-F0C3-C74A-754DB2EC6B29}"/>
              </a:ext>
            </a:extLst>
          </p:cNvPr>
          <p:cNvSpPr/>
          <p:nvPr/>
        </p:nvSpPr>
        <p:spPr>
          <a:xfrm>
            <a:off x="596900" y="1981201"/>
            <a:ext cx="10775181" cy="1447800"/>
          </a:xfrm>
          <a:prstGeom prst="roundRect">
            <a:avLst/>
          </a:prstGeom>
          <a:noFill/>
          <a:ln w="28575">
            <a:solidFill>
              <a:srgbClr val="29648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F76E0B67-52D4-8874-F749-8E09B876F27B}"/>
              </a:ext>
            </a:extLst>
          </p:cNvPr>
          <p:cNvSpPr/>
          <p:nvPr/>
        </p:nvSpPr>
        <p:spPr>
          <a:xfrm>
            <a:off x="596900" y="3520094"/>
            <a:ext cx="10775181" cy="1447800"/>
          </a:xfrm>
          <a:prstGeom prst="roundRect">
            <a:avLst/>
          </a:prstGeom>
          <a:noFill/>
          <a:ln w="28575">
            <a:solidFill>
              <a:srgbClr val="2E9CC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65CA0F8E-4C7F-F3EE-8168-0A1BAE7CA440}"/>
              </a:ext>
            </a:extLst>
          </p:cNvPr>
          <p:cNvSpPr/>
          <p:nvPr/>
        </p:nvSpPr>
        <p:spPr>
          <a:xfrm>
            <a:off x="596900" y="5061181"/>
            <a:ext cx="10775181" cy="1447800"/>
          </a:xfrm>
          <a:prstGeom prst="roundRect">
            <a:avLst/>
          </a:prstGeom>
          <a:noFill/>
          <a:ln w="28575">
            <a:solidFill>
              <a:srgbClr val="29648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E2782B80-8C19-7D24-C9DD-F75F9051376B}"/>
              </a:ext>
            </a:extLst>
          </p:cNvPr>
          <p:cNvGrpSpPr/>
          <p:nvPr/>
        </p:nvGrpSpPr>
        <p:grpSpPr>
          <a:xfrm>
            <a:off x="6729260" y="2062076"/>
            <a:ext cx="2817800" cy="1286050"/>
            <a:chOff x="6729260" y="2060138"/>
            <a:chExt cx="2817800" cy="1286050"/>
          </a:xfrm>
        </p:grpSpPr>
        <p:sp>
          <p:nvSpPr>
            <p:cNvPr id="5" name="Rectangle: Rounded Corners 4">
              <a:extLst>
                <a:ext uri="{FF2B5EF4-FFF2-40B4-BE49-F238E27FC236}">
                  <a16:creationId xmlns:a16="http://schemas.microsoft.com/office/drawing/2014/main" id="{5A366FC2-0C28-3F4D-4AD7-4980974C63CA}"/>
                </a:ext>
              </a:extLst>
            </p:cNvPr>
            <p:cNvSpPr/>
            <p:nvPr/>
          </p:nvSpPr>
          <p:spPr>
            <a:xfrm>
              <a:off x="6729260" y="2060138"/>
              <a:ext cx="2817800" cy="128605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 name="Picture 19">
              <a:extLst>
                <a:ext uri="{FF2B5EF4-FFF2-40B4-BE49-F238E27FC236}">
                  <a16:creationId xmlns:a16="http://schemas.microsoft.com/office/drawing/2014/main" id="{3315A3D4-0646-9ED2-F4D1-9A91C79B0EBD}"/>
                </a:ext>
              </a:extLst>
            </p:cNvPr>
            <p:cNvPicPr>
              <a:picLocks noChangeAspect="1"/>
            </p:cNvPicPr>
            <p:nvPr/>
          </p:nvPicPr>
          <p:blipFill>
            <a:blip r:embed="rId3"/>
            <a:stretch>
              <a:fillRect/>
            </a:stretch>
          </p:blipFill>
          <p:spPr>
            <a:xfrm>
              <a:off x="6851621" y="2124795"/>
              <a:ext cx="2613876" cy="1186032"/>
            </a:xfrm>
            <a:prstGeom prst="rect">
              <a:avLst/>
            </a:prstGeom>
          </p:spPr>
        </p:pic>
      </p:grpSp>
      <p:grpSp>
        <p:nvGrpSpPr>
          <p:cNvPr id="9" name="Group 8">
            <a:extLst>
              <a:ext uri="{FF2B5EF4-FFF2-40B4-BE49-F238E27FC236}">
                <a16:creationId xmlns:a16="http://schemas.microsoft.com/office/drawing/2014/main" id="{F46A51EF-9A4D-7FB6-A7F2-EB8E9EB5E850}"/>
              </a:ext>
            </a:extLst>
          </p:cNvPr>
          <p:cNvGrpSpPr/>
          <p:nvPr/>
        </p:nvGrpSpPr>
        <p:grpSpPr>
          <a:xfrm>
            <a:off x="6734023" y="3583858"/>
            <a:ext cx="2817800" cy="1286050"/>
            <a:chOff x="6734023" y="3583858"/>
            <a:chExt cx="2817800" cy="1286050"/>
          </a:xfrm>
        </p:grpSpPr>
        <p:sp>
          <p:nvSpPr>
            <p:cNvPr id="7" name="Rectangle: Rounded Corners 6">
              <a:extLst>
                <a:ext uri="{FF2B5EF4-FFF2-40B4-BE49-F238E27FC236}">
                  <a16:creationId xmlns:a16="http://schemas.microsoft.com/office/drawing/2014/main" id="{C109261F-CEC0-1DEB-22D8-4982C5AD5106}"/>
                </a:ext>
              </a:extLst>
            </p:cNvPr>
            <p:cNvSpPr/>
            <p:nvPr/>
          </p:nvSpPr>
          <p:spPr>
            <a:xfrm>
              <a:off x="6734023" y="3583858"/>
              <a:ext cx="2817800" cy="128605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2" name="Picture 21">
              <a:extLst>
                <a:ext uri="{FF2B5EF4-FFF2-40B4-BE49-F238E27FC236}">
                  <a16:creationId xmlns:a16="http://schemas.microsoft.com/office/drawing/2014/main" id="{66FA4063-24C0-5ECF-E272-1AA859F5181B}"/>
                </a:ext>
              </a:extLst>
            </p:cNvPr>
            <p:cNvPicPr>
              <a:picLocks noChangeAspect="1"/>
            </p:cNvPicPr>
            <p:nvPr/>
          </p:nvPicPr>
          <p:blipFill>
            <a:blip r:embed="rId4"/>
            <a:stretch>
              <a:fillRect/>
            </a:stretch>
          </p:blipFill>
          <p:spPr>
            <a:xfrm>
              <a:off x="6797239" y="3641446"/>
              <a:ext cx="2682547" cy="1173614"/>
            </a:xfrm>
            <a:prstGeom prst="rect">
              <a:avLst/>
            </a:prstGeom>
          </p:spPr>
        </p:pic>
      </p:grpSp>
      <p:grpSp>
        <p:nvGrpSpPr>
          <p:cNvPr id="11" name="Group 10">
            <a:extLst>
              <a:ext uri="{FF2B5EF4-FFF2-40B4-BE49-F238E27FC236}">
                <a16:creationId xmlns:a16="http://schemas.microsoft.com/office/drawing/2014/main" id="{AF0E53B6-D6B5-A068-7B1E-4E05D32D0522}"/>
              </a:ext>
            </a:extLst>
          </p:cNvPr>
          <p:cNvGrpSpPr/>
          <p:nvPr/>
        </p:nvGrpSpPr>
        <p:grpSpPr>
          <a:xfrm>
            <a:off x="6729260" y="5142056"/>
            <a:ext cx="2817800" cy="1286050"/>
            <a:chOff x="6729260" y="5142056"/>
            <a:chExt cx="2817800" cy="1286050"/>
          </a:xfrm>
        </p:grpSpPr>
        <p:sp>
          <p:nvSpPr>
            <p:cNvPr id="10" name="Rectangle: Rounded Corners 9">
              <a:extLst>
                <a:ext uri="{FF2B5EF4-FFF2-40B4-BE49-F238E27FC236}">
                  <a16:creationId xmlns:a16="http://schemas.microsoft.com/office/drawing/2014/main" id="{6A04F496-CBB9-E49A-23C7-1EE7417042DE}"/>
                </a:ext>
              </a:extLst>
            </p:cNvPr>
            <p:cNvSpPr/>
            <p:nvPr/>
          </p:nvSpPr>
          <p:spPr>
            <a:xfrm>
              <a:off x="6729260" y="5142056"/>
              <a:ext cx="2817800" cy="128605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7" name="Picture 26">
              <a:extLst>
                <a:ext uri="{FF2B5EF4-FFF2-40B4-BE49-F238E27FC236}">
                  <a16:creationId xmlns:a16="http://schemas.microsoft.com/office/drawing/2014/main" id="{659E836F-1929-0290-81ED-7B011AC6735C}"/>
                </a:ext>
              </a:extLst>
            </p:cNvPr>
            <p:cNvPicPr>
              <a:picLocks noChangeAspect="1"/>
            </p:cNvPicPr>
            <p:nvPr/>
          </p:nvPicPr>
          <p:blipFill>
            <a:blip r:embed="rId5"/>
            <a:stretch>
              <a:fillRect/>
            </a:stretch>
          </p:blipFill>
          <p:spPr>
            <a:xfrm>
              <a:off x="6958216" y="5238440"/>
              <a:ext cx="2359888" cy="1093282"/>
            </a:xfrm>
            <a:prstGeom prst="rect">
              <a:avLst/>
            </a:prstGeom>
          </p:spPr>
        </p:pic>
      </p:grpSp>
    </p:spTree>
    <p:extLst>
      <p:ext uri="{BB962C8B-B14F-4D97-AF65-F5344CB8AC3E}">
        <p14:creationId xmlns:p14="http://schemas.microsoft.com/office/powerpoint/2010/main" val="390024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1000"/>
                                        <p:tgtEl>
                                          <p:spTgt spid="1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1000"/>
                                        <p:tgtEl>
                                          <p:spTgt spid="6">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childTnLst>
                                </p:cTn>
                              </p:par>
                              <p:par>
                                <p:cTn id="29" presetID="10" presetClass="entr" presetSubtype="0" fill="hold" nodeType="withEffect">
                                  <p:stCondLst>
                                    <p:cond delay="5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childTnLst>
                                </p:cTn>
                              </p:par>
                              <p:par>
                                <p:cTn id="32" presetID="10" presetClass="entr" presetSubtype="0" fill="hold" nodeType="withEffect">
                                  <p:stCondLst>
                                    <p:cond delay="5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par>
                                <p:cTn id="35" presetID="10" presetClass="entr" presetSubtype="0" fill="hold" nodeType="withEffect">
                                  <p:stCondLst>
                                    <p:cond delay="5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build="p"/>
      <p:bldP spid="12" grpId="0"/>
      <p:bldP spid="14" grpId="0"/>
      <p:bldP spid="16" grpId="0"/>
      <p:bldP spid="2" grpId="0" animBg="1"/>
      <p:bldP spid="3"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02EC9-E5DB-43E7-C385-DC80509A4DD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60A090C-B730-0449-9FA9-6336B559FFEB}"/>
              </a:ext>
            </a:extLst>
          </p:cNvPr>
          <p:cNvSpPr>
            <a:spLocks noGrp="1"/>
          </p:cNvSpPr>
          <p:nvPr>
            <p:ph type="title"/>
          </p:nvPr>
        </p:nvSpPr>
        <p:spPr/>
        <p:txBody>
          <a:bodyPr/>
          <a:lstStyle/>
          <a:p>
            <a:pPr>
              <a:lnSpc>
                <a:spcPts val="2542"/>
              </a:lnSpc>
            </a:pPr>
            <a:r>
              <a:rPr lang="en-US" dirty="0">
                <a:latin typeface="Montserrat Bold" pitchFamily="34" charset="0"/>
                <a:ea typeface="Montserrat Bold" pitchFamily="34" charset="-122"/>
                <a:cs typeface="Montserrat Bold" pitchFamily="34" charset="-120"/>
              </a:rPr>
              <a:t>Slicing Lists in Python</a:t>
            </a:r>
            <a:endParaRPr lang="en-US" dirty="0"/>
          </a:p>
        </p:txBody>
      </p:sp>
      <p:sp>
        <p:nvSpPr>
          <p:cNvPr id="5" name="TextBox 4">
            <a:extLst>
              <a:ext uri="{FF2B5EF4-FFF2-40B4-BE49-F238E27FC236}">
                <a16:creationId xmlns:a16="http://schemas.microsoft.com/office/drawing/2014/main" id="{1B46B5FC-7754-1325-7BBB-EF8250A669C1}"/>
              </a:ext>
            </a:extLst>
          </p:cNvPr>
          <p:cNvSpPr txBox="1"/>
          <p:nvPr/>
        </p:nvSpPr>
        <p:spPr>
          <a:xfrm>
            <a:off x="870298" y="1263134"/>
            <a:ext cx="10674001" cy="369332"/>
          </a:xfrm>
          <a:prstGeom prst="rect">
            <a:avLst/>
          </a:prstGeom>
          <a:noFill/>
        </p:spPr>
        <p:txBody>
          <a:bodyPr wrap="square">
            <a:spAutoFit/>
          </a:bodyPr>
          <a:lstStyle/>
          <a:p>
            <a:r>
              <a:rPr lang="en-US" sz="18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Create a </a:t>
            </a:r>
            <a:r>
              <a:rPr lang="en-US" sz="1800" dirty="0" err="1">
                <a:solidFill>
                  <a:srgbClr val="25274D"/>
                </a:solidFill>
                <a:effectLst/>
                <a:latin typeface="Montserrat" panose="00000500000000000000" pitchFamily="2" charset="0"/>
                <a:ea typeface="Aptos" panose="020B0004020202020204" pitchFamily="34" charset="0"/>
                <a:cs typeface="Arial" panose="020B0604020202020204" pitchFamily="34" charset="0"/>
              </a:rPr>
              <a:t>Sublist</a:t>
            </a:r>
            <a:r>
              <a:rPr lang="en-US" sz="18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 Use </a:t>
            </a:r>
            <a:r>
              <a:rPr lang="en-US" sz="1800" dirty="0">
                <a:solidFill>
                  <a:srgbClr val="25274D"/>
                </a:solidFill>
                <a:effectLst/>
                <a:latin typeface="Consolas" panose="020B0609020204030204" pitchFamily="49" charset="0"/>
                <a:ea typeface="Aptos" panose="020B0004020202020204" pitchFamily="34" charset="0"/>
                <a:cs typeface="Courier New" panose="02070309020205020404" pitchFamily="49" charset="0"/>
              </a:rPr>
              <a:t>list[</a:t>
            </a:r>
            <a:r>
              <a:rPr lang="en-US" sz="1800" dirty="0" err="1">
                <a:solidFill>
                  <a:srgbClr val="25274D"/>
                </a:solidFill>
                <a:effectLst/>
                <a:latin typeface="Consolas" panose="020B0609020204030204" pitchFamily="49" charset="0"/>
                <a:ea typeface="Aptos" panose="020B0004020202020204" pitchFamily="34" charset="0"/>
                <a:cs typeface="Courier New" panose="02070309020205020404" pitchFamily="49" charset="0"/>
              </a:rPr>
              <a:t>start:stop:step</a:t>
            </a:r>
            <a:r>
              <a:rPr lang="en-US" sz="1800" dirty="0">
                <a:solidFill>
                  <a:srgbClr val="25274D"/>
                </a:solidFill>
                <a:effectLst/>
                <a:latin typeface="Consolas" panose="020B0609020204030204" pitchFamily="49" charset="0"/>
                <a:ea typeface="Aptos" panose="020B0004020202020204" pitchFamily="34" charset="0"/>
                <a:cs typeface="Courier New" panose="02070309020205020404" pitchFamily="49" charset="0"/>
              </a:rPr>
              <a:t>] </a:t>
            </a:r>
            <a:r>
              <a:rPr lang="en-US" sz="18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to create a new list from a subset of elements.</a:t>
            </a:r>
            <a:endParaRPr lang="en-US" dirty="0">
              <a:solidFill>
                <a:srgbClr val="25274D"/>
              </a:solidFill>
              <a:latin typeface="Montserrat" panose="00000500000000000000" pitchFamily="2" charset="0"/>
            </a:endParaRPr>
          </a:p>
        </p:txBody>
      </p:sp>
      <p:grpSp>
        <p:nvGrpSpPr>
          <p:cNvPr id="3" name="Group 2">
            <a:extLst>
              <a:ext uri="{FF2B5EF4-FFF2-40B4-BE49-F238E27FC236}">
                <a16:creationId xmlns:a16="http://schemas.microsoft.com/office/drawing/2014/main" id="{0F6CC865-F0B6-2892-CCC7-E736CAC08EF8}"/>
              </a:ext>
            </a:extLst>
          </p:cNvPr>
          <p:cNvGrpSpPr/>
          <p:nvPr/>
        </p:nvGrpSpPr>
        <p:grpSpPr>
          <a:xfrm>
            <a:off x="2627726" y="5843378"/>
            <a:ext cx="6866626" cy="713722"/>
            <a:chOff x="2627726" y="6010454"/>
            <a:chExt cx="6866626" cy="713722"/>
          </a:xfrm>
        </p:grpSpPr>
        <p:sp>
          <p:nvSpPr>
            <p:cNvPr id="2" name="Rectangle: Rounded Corners 1">
              <a:extLst>
                <a:ext uri="{FF2B5EF4-FFF2-40B4-BE49-F238E27FC236}">
                  <a16:creationId xmlns:a16="http://schemas.microsoft.com/office/drawing/2014/main" id="{58EAD475-A926-7DEF-B0F8-7E4977A7E602}"/>
                </a:ext>
              </a:extLst>
            </p:cNvPr>
            <p:cNvSpPr/>
            <p:nvPr/>
          </p:nvSpPr>
          <p:spPr>
            <a:xfrm>
              <a:off x="2627726" y="6010454"/>
              <a:ext cx="6866626" cy="713722"/>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F0CF6EE2-F597-E8A0-7E29-CFD78C22269E}"/>
                </a:ext>
              </a:extLst>
            </p:cNvPr>
            <p:cNvSpPr txBox="1"/>
            <p:nvPr/>
          </p:nvSpPr>
          <p:spPr>
            <a:xfrm>
              <a:off x="3048000" y="6010454"/>
              <a:ext cx="6026078" cy="713722"/>
            </a:xfrm>
            <a:prstGeom prst="rect">
              <a:avLst/>
            </a:prstGeom>
            <a:noFill/>
          </p:spPr>
          <p:txBody>
            <a:bodyPr wrap="square">
              <a:spAutoFit/>
            </a:bodyPr>
            <a:lstStyle/>
            <a:p>
              <a:pPr marR="0" algn="ctr">
                <a:lnSpc>
                  <a:spcPct val="115000"/>
                </a:lnSpc>
                <a:spcAft>
                  <a:spcPts val="800"/>
                </a:spcAft>
              </a:pPr>
              <a:r>
                <a:rPr lang="en-US" sz="1800" kern="100" dirty="0">
                  <a:solidFill>
                    <a:schemeClr val="bg1"/>
                  </a:solidFill>
                  <a:effectLst/>
                  <a:ea typeface="Aptos" panose="020B0004020202020204" pitchFamily="34" charset="0"/>
                  <a:cs typeface="Arial" panose="020B0604020202020204" pitchFamily="34" charset="0"/>
                </a:rPr>
                <a:t>Slicing creates a new list without modifying the original, preserving your data.</a:t>
              </a:r>
            </a:p>
          </p:txBody>
        </p:sp>
      </p:grpSp>
      <p:grpSp>
        <p:nvGrpSpPr>
          <p:cNvPr id="6" name="Group 5">
            <a:extLst>
              <a:ext uri="{FF2B5EF4-FFF2-40B4-BE49-F238E27FC236}">
                <a16:creationId xmlns:a16="http://schemas.microsoft.com/office/drawing/2014/main" id="{570C243F-E2E1-98F7-5AB6-B5EFE5B49D5B}"/>
              </a:ext>
            </a:extLst>
          </p:cNvPr>
          <p:cNvGrpSpPr/>
          <p:nvPr/>
        </p:nvGrpSpPr>
        <p:grpSpPr>
          <a:xfrm>
            <a:off x="3225800" y="1943101"/>
            <a:ext cx="5740400" cy="3589642"/>
            <a:chOff x="3225800" y="1943101"/>
            <a:chExt cx="5740400" cy="3589642"/>
          </a:xfrm>
        </p:grpSpPr>
        <p:sp>
          <p:nvSpPr>
            <p:cNvPr id="4" name="Rectangle: Rounded Corners 3">
              <a:extLst>
                <a:ext uri="{FF2B5EF4-FFF2-40B4-BE49-F238E27FC236}">
                  <a16:creationId xmlns:a16="http://schemas.microsoft.com/office/drawing/2014/main" id="{5A366FC2-0C28-3F4D-4AD7-4980974C63CA}"/>
                </a:ext>
              </a:extLst>
            </p:cNvPr>
            <p:cNvSpPr/>
            <p:nvPr/>
          </p:nvSpPr>
          <p:spPr>
            <a:xfrm>
              <a:off x="3225800" y="1943101"/>
              <a:ext cx="5740400" cy="358964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a:extLst>
                <a:ext uri="{FF2B5EF4-FFF2-40B4-BE49-F238E27FC236}">
                  <a16:creationId xmlns:a16="http://schemas.microsoft.com/office/drawing/2014/main" id="{9362CFBD-2EC9-8208-2CF4-2BDB56698219}"/>
                </a:ext>
              </a:extLst>
            </p:cNvPr>
            <p:cNvPicPr>
              <a:picLocks noChangeAspect="1"/>
            </p:cNvPicPr>
            <p:nvPr/>
          </p:nvPicPr>
          <p:blipFill>
            <a:blip r:embed="rId3"/>
            <a:stretch>
              <a:fillRect/>
            </a:stretch>
          </p:blipFill>
          <p:spPr>
            <a:xfrm>
              <a:off x="3394719" y="2061633"/>
              <a:ext cx="5402563" cy="3352578"/>
            </a:xfrm>
            <a:prstGeom prst="rect">
              <a:avLst/>
            </a:prstGeom>
          </p:spPr>
        </p:pic>
      </p:grpSp>
    </p:spTree>
    <p:extLst>
      <p:ext uri="{BB962C8B-B14F-4D97-AF65-F5344CB8AC3E}">
        <p14:creationId xmlns:p14="http://schemas.microsoft.com/office/powerpoint/2010/main" val="345134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43D8E-C4D2-C9C0-94B2-2146A4770D2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A1FB983-12F6-731F-460C-8F35C05860CD}"/>
              </a:ext>
            </a:extLst>
          </p:cNvPr>
          <p:cNvSpPr>
            <a:spLocks noGrp="1"/>
          </p:cNvSpPr>
          <p:nvPr>
            <p:ph type="body" sz="quarter" idx="12"/>
          </p:nvPr>
        </p:nvSpPr>
        <p:spPr>
          <a:xfrm>
            <a:off x="749999" y="2482074"/>
            <a:ext cx="5761160" cy="1893851"/>
          </a:xfrm>
        </p:spPr>
        <p:txBody>
          <a:bodyPr>
            <a:normAutofit/>
          </a:bodyPr>
          <a:lstStyle/>
          <a:p>
            <a:r>
              <a:rPr lang="en-IN" sz="3600" dirty="0"/>
              <a:t>Tuples</a:t>
            </a:r>
          </a:p>
        </p:txBody>
      </p:sp>
      <p:sp>
        <p:nvSpPr>
          <p:cNvPr id="2" name="Text 1">
            <a:extLst>
              <a:ext uri="{FF2B5EF4-FFF2-40B4-BE49-F238E27FC236}">
                <a16:creationId xmlns:a16="http://schemas.microsoft.com/office/drawing/2014/main" id="{C4CD077B-AB36-55C2-D45E-B88C0DC0262A}"/>
              </a:ext>
            </a:extLst>
          </p:cNvPr>
          <p:cNvSpPr/>
          <p:nvPr/>
        </p:nvSpPr>
        <p:spPr>
          <a:xfrm>
            <a:off x="203751" y="4554973"/>
            <a:ext cx="6297018" cy="302419"/>
          </a:xfrm>
          <a:prstGeom prst="rect">
            <a:avLst/>
          </a:prstGeom>
          <a:noFill/>
          <a:ln/>
        </p:spPr>
        <p:txBody>
          <a:bodyPr wrap="none" lIns="0" tIns="0" rIns="0" bIns="0" rtlCol="0" anchor="t"/>
          <a:lstStyle/>
          <a:p>
            <a:pPr algn="ctr">
              <a:lnSpc>
                <a:spcPts val="2375"/>
              </a:lnSpc>
            </a:pPr>
            <a:r>
              <a:rPr lang="en-US" sz="1458" dirty="0">
                <a:solidFill>
                  <a:srgbClr val="25274D"/>
                </a:solidFill>
                <a:latin typeface="Montserrat" pitchFamily="34" charset="0"/>
                <a:ea typeface="Montserrat" pitchFamily="34" charset="-122"/>
                <a:cs typeface="Montserrat" pitchFamily="34" charset="-120"/>
              </a:rPr>
              <a:t>Immutable collections for data that shouldn't change</a:t>
            </a:r>
          </a:p>
        </p:txBody>
      </p:sp>
      <p:sp>
        <p:nvSpPr>
          <p:cNvPr id="3" name="Text 1">
            <a:extLst>
              <a:ext uri="{FF2B5EF4-FFF2-40B4-BE49-F238E27FC236}">
                <a16:creationId xmlns:a16="http://schemas.microsoft.com/office/drawing/2014/main" id="{F0C0673C-0934-7415-2D32-EB9653E7545A}"/>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4 of 12)</a:t>
            </a:r>
            <a:endParaRPr lang="en-US" dirty="0">
              <a:solidFill>
                <a:srgbClr val="25274D"/>
              </a:solidFill>
            </a:endParaRPr>
          </a:p>
        </p:txBody>
      </p:sp>
    </p:spTree>
    <p:extLst>
      <p:ext uri="{BB962C8B-B14F-4D97-AF65-F5344CB8AC3E}">
        <p14:creationId xmlns:p14="http://schemas.microsoft.com/office/powerpoint/2010/main" val="320722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673C8-84D3-2A34-77ED-C2871E49D2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5E34DD3-5128-9131-FB6D-866E61F302A8}"/>
              </a:ext>
            </a:extLst>
          </p:cNvPr>
          <p:cNvSpPr>
            <a:spLocks noGrp="1"/>
          </p:cNvSpPr>
          <p:nvPr>
            <p:ph type="title"/>
          </p:nvPr>
        </p:nvSpPr>
        <p:spPr/>
        <p:txBody>
          <a:bodyPr/>
          <a:lstStyle/>
          <a:p>
            <a:pPr>
              <a:lnSpc>
                <a:spcPts val="3500"/>
              </a:lnSpc>
            </a:pPr>
            <a:r>
              <a:rPr lang="en-US" dirty="0"/>
              <a:t>Tuple in Python </a:t>
            </a:r>
          </a:p>
        </p:txBody>
      </p:sp>
      <p:sp>
        <p:nvSpPr>
          <p:cNvPr id="2" name="Text Placeholder 1">
            <a:extLst>
              <a:ext uri="{FF2B5EF4-FFF2-40B4-BE49-F238E27FC236}">
                <a16:creationId xmlns:a16="http://schemas.microsoft.com/office/drawing/2014/main" id="{20D5E99F-953A-6711-ED37-3558A5C62CA7}"/>
              </a:ext>
            </a:extLst>
          </p:cNvPr>
          <p:cNvSpPr>
            <a:spLocks noGrp="1"/>
          </p:cNvSpPr>
          <p:nvPr>
            <p:ph type="body" sz="quarter" idx="10"/>
          </p:nvPr>
        </p:nvSpPr>
        <p:spPr/>
        <p:txBody>
          <a:bodyPr/>
          <a:lstStyle/>
          <a:p>
            <a:r>
              <a:rPr lang="en-GB" dirty="0"/>
              <a:t>An Ordered, Immutable Collection</a:t>
            </a:r>
          </a:p>
        </p:txBody>
      </p:sp>
      <p:pic>
        <p:nvPicPr>
          <p:cNvPr id="6" name="Picture Placeholder 5">
            <a:extLst>
              <a:ext uri="{FF2B5EF4-FFF2-40B4-BE49-F238E27FC236}">
                <a16:creationId xmlns:a16="http://schemas.microsoft.com/office/drawing/2014/main" id="{D2CB7C39-0281-48FB-A1EF-F9B3D3A270AB}"/>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2956" b="2956"/>
          <a:stretch>
            <a:fillRect/>
          </a:stretch>
        </p:blipFill>
        <p:spPr>
          <a:xfrm>
            <a:off x="749998" y="2099147"/>
            <a:ext cx="5356325" cy="3359679"/>
          </a:xfrm>
        </p:spPr>
      </p:pic>
      <p:grpSp>
        <p:nvGrpSpPr>
          <p:cNvPr id="17" name="Group 16">
            <a:extLst>
              <a:ext uri="{FF2B5EF4-FFF2-40B4-BE49-F238E27FC236}">
                <a16:creationId xmlns:a16="http://schemas.microsoft.com/office/drawing/2014/main" id="{B866C120-6021-55CB-5E71-A3A632E44C3A}"/>
              </a:ext>
            </a:extLst>
          </p:cNvPr>
          <p:cNvGrpSpPr/>
          <p:nvPr/>
        </p:nvGrpSpPr>
        <p:grpSpPr>
          <a:xfrm>
            <a:off x="6324600" y="2054697"/>
            <a:ext cx="4876800" cy="977900"/>
            <a:chOff x="6324600" y="2054697"/>
            <a:chExt cx="4876800" cy="977900"/>
          </a:xfrm>
        </p:grpSpPr>
        <p:sp>
          <p:nvSpPr>
            <p:cNvPr id="7" name="Rectangle: Rounded Corners 6">
              <a:extLst>
                <a:ext uri="{FF2B5EF4-FFF2-40B4-BE49-F238E27FC236}">
                  <a16:creationId xmlns:a16="http://schemas.microsoft.com/office/drawing/2014/main" id="{FF86C0B5-CE10-8392-3116-45F4706747E5}"/>
                </a:ext>
              </a:extLst>
            </p:cNvPr>
            <p:cNvSpPr/>
            <p:nvPr/>
          </p:nvSpPr>
          <p:spPr>
            <a:xfrm>
              <a:off x="6324600" y="2054697"/>
              <a:ext cx="4876800" cy="977900"/>
            </a:xfrm>
            <a:prstGeom prst="roundRect">
              <a:avLst>
                <a:gd name="adj" fmla="val 50000"/>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7E8256-3180-33A1-E262-1FB6C83ADA11}"/>
                </a:ext>
              </a:extLst>
            </p:cNvPr>
            <p:cNvSpPr txBox="1"/>
            <p:nvPr/>
          </p:nvSpPr>
          <p:spPr>
            <a:xfrm>
              <a:off x="6467475" y="2114550"/>
              <a:ext cx="4467225" cy="861774"/>
            </a:xfrm>
            <a:prstGeom prst="rect">
              <a:avLst/>
            </a:prstGeom>
            <a:noFill/>
          </p:spPr>
          <p:txBody>
            <a:bodyPr wrap="square">
              <a:spAutoFit/>
            </a:bodyPr>
            <a:lstStyle/>
            <a:p>
              <a:pPr>
                <a:lnSpc>
                  <a:spcPts val="1958"/>
                </a:lnSpc>
              </a:pPr>
              <a:r>
                <a:rPr lang="en-US" sz="1800" b="1" dirty="0">
                  <a:solidFill>
                    <a:schemeClr val="bg1"/>
                  </a:solidFill>
                  <a:latin typeface="Montserrat" panose="00000500000000000000" pitchFamily="2" charset="0"/>
                  <a:ea typeface="Montserrat Bold" pitchFamily="34" charset="-122"/>
                  <a:cs typeface="Montserrat Bold" pitchFamily="34" charset="-120"/>
                </a:rPr>
                <a:t>Ordered</a:t>
              </a:r>
              <a:endParaRPr lang="en-US" b="1" dirty="0">
                <a:solidFill>
                  <a:schemeClr val="bg1"/>
                </a:solidFill>
                <a:latin typeface="Montserrat" panose="00000500000000000000" pitchFamily="2" charset="0"/>
              </a:endParaRPr>
            </a:p>
            <a:p>
              <a:pPr>
                <a:lnSpc>
                  <a:spcPts val="1958"/>
                </a:lnSpc>
              </a:pPr>
              <a:r>
                <a:rPr lang="en-US" dirty="0">
                  <a:solidFill>
                    <a:schemeClr val="bg1"/>
                  </a:solidFill>
                  <a:latin typeface="Montserrat" panose="00000500000000000000" pitchFamily="2" charset="0"/>
                  <a:ea typeface="Montserrat" pitchFamily="34" charset="-122"/>
                  <a:cs typeface="Montserrat" pitchFamily="34" charset="-120"/>
                </a:rPr>
                <a:t>Items have a specific order that does not change</a:t>
              </a:r>
            </a:p>
          </p:txBody>
        </p:sp>
      </p:grpSp>
      <p:grpSp>
        <p:nvGrpSpPr>
          <p:cNvPr id="19" name="Group 18">
            <a:extLst>
              <a:ext uri="{FF2B5EF4-FFF2-40B4-BE49-F238E27FC236}">
                <a16:creationId xmlns:a16="http://schemas.microsoft.com/office/drawing/2014/main" id="{752DAB7D-6226-C997-01E9-4A5DF3489AA4}"/>
              </a:ext>
            </a:extLst>
          </p:cNvPr>
          <p:cNvGrpSpPr/>
          <p:nvPr/>
        </p:nvGrpSpPr>
        <p:grpSpPr>
          <a:xfrm>
            <a:off x="6324600" y="3290036"/>
            <a:ext cx="4876800" cy="977900"/>
            <a:chOff x="6324600" y="3290036"/>
            <a:chExt cx="4876800" cy="977900"/>
          </a:xfrm>
        </p:grpSpPr>
        <p:sp>
          <p:nvSpPr>
            <p:cNvPr id="9" name="Rectangle: Rounded Corners 8">
              <a:extLst>
                <a:ext uri="{FF2B5EF4-FFF2-40B4-BE49-F238E27FC236}">
                  <a16:creationId xmlns:a16="http://schemas.microsoft.com/office/drawing/2014/main" id="{A1AAE826-8A70-E651-8F50-A8C0CB32E409}"/>
                </a:ext>
              </a:extLst>
            </p:cNvPr>
            <p:cNvSpPr/>
            <p:nvPr/>
          </p:nvSpPr>
          <p:spPr>
            <a:xfrm>
              <a:off x="6324600" y="3290036"/>
              <a:ext cx="4876800" cy="977900"/>
            </a:xfrm>
            <a:prstGeom prst="roundRect">
              <a:avLst>
                <a:gd name="adj" fmla="val 50000"/>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5C9123C-C3B0-FA76-A066-98AEAFE030D1}"/>
                </a:ext>
              </a:extLst>
            </p:cNvPr>
            <p:cNvSpPr txBox="1"/>
            <p:nvPr/>
          </p:nvSpPr>
          <p:spPr>
            <a:xfrm>
              <a:off x="6467475" y="3476339"/>
              <a:ext cx="4467225" cy="605294"/>
            </a:xfrm>
            <a:prstGeom prst="rect">
              <a:avLst/>
            </a:prstGeom>
            <a:noFill/>
          </p:spPr>
          <p:txBody>
            <a:bodyPr wrap="square">
              <a:spAutoFit/>
            </a:bodyPr>
            <a:lstStyle/>
            <a:p>
              <a:pPr>
                <a:lnSpc>
                  <a:spcPts val="1958"/>
                </a:lnSpc>
              </a:pPr>
              <a:r>
                <a:rPr lang="en-US" sz="1800" b="1" dirty="0">
                  <a:solidFill>
                    <a:schemeClr val="bg1"/>
                  </a:solidFill>
                  <a:latin typeface="Montserrat" panose="00000500000000000000" pitchFamily="2" charset="0"/>
                  <a:ea typeface="Montserrat Bold" pitchFamily="34" charset="-122"/>
                  <a:cs typeface="Montserrat Bold" pitchFamily="34" charset="-120"/>
                </a:rPr>
                <a:t>Immutable</a:t>
              </a:r>
              <a:endParaRPr lang="en-US" b="1" dirty="0">
                <a:solidFill>
                  <a:schemeClr val="bg1"/>
                </a:solidFill>
                <a:latin typeface="Montserrat" panose="00000500000000000000" pitchFamily="2" charset="0"/>
              </a:endParaRPr>
            </a:p>
            <a:p>
              <a:pPr>
                <a:lnSpc>
                  <a:spcPts val="1958"/>
                </a:lnSpc>
              </a:pPr>
              <a:r>
                <a:rPr lang="en-US" dirty="0">
                  <a:solidFill>
                    <a:schemeClr val="bg1"/>
                  </a:solidFill>
                  <a:latin typeface="Montserrat" panose="00000500000000000000" pitchFamily="2" charset="0"/>
                  <a:ea typeface="Montserrat" pitchFamily="34" charset="-122"/>
                  <a:cs typeface="Montserrat" pitchFamily="34" charset="-120"/>
                </a:rPr>
                <a:t>Cannot be modified after creation</a:t>
              </a:r>
            </a:p>
          </p:txBody>
        </p:sp>
      </p:grpSp>
      <p:grpSp>
        <p:nvGrpSpPr>
          <p:cNvPr id="20" name="Group 19">
            <a:extLst>
              <a:ext uri="{FF2B5EF4-FFF2-40B4-BE49-F238E27FC236}">
                <a16:creationId xmlns:a16="http://schemas.microsoft.com/office/drawing/2014/main" id="{90ABA672-EAC0-4DC2-2FD3-E480BC7F94C8}"/>
              </a:ext>
            </a:extLst>
          </p:cNvPr>
          <p:cNvGrpSpPr/>
          <p:nvPr/>
        </p:nvGrpSpPr>
        <p:grpSpPr>
          <a:xfrm>
            <a:off x="6324600" y="4525376"/>
            <a:ext cx="4876800" cy="977900"/>
            <a:chOff x="6324600" y="4525376"/>
            <a:chExt cx="4876800" cy="977900"/>
          </a:xfrm>
        </p:grpSpPr>
        <p:sp>
          <p:nvSpPr>
            <p:cNvPr id="10" name="Rectangle: Rounded Corners 9">
              <a:extLst>
                <a:ext uri="{FF2B5EF4-FFF2-40B4-BE49-F238E27FC236}">
                  <a16:creationId xmlns:a16="http://schemas.microsoft.com/office/drawing/2014/main" id="{72586434-65F1-54C0-A37B-AE0F088D8A19}"/>
                </a:ext>
              </a:extLst>
            </p:cNvPr>
            <p:cNvSpPr/>
            <p:nvPr/>
          </p:nvSpPr>
          <p:spPr>
            <a:xfrm>
              <a:off x="6324600" y="4525376"/>
              <a:ext cx="4876800" cy="977900"/>
            </a:xfrm>
            <a:prstGeom prst="roundRect">
              <a:avLst>
                <a:gd name="adj" fmla="val 50000"/>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201B78C-2FE1-ED00-2448-B6C82F0BDCF5}"/>
                </a:ext>
              </a:extLst>
            </p:cNvPr>
            <p:cNvSpPr txBox="1"/>
            <p:nvPr/>
          </p:nvSpPr>
          <p:spPr>
            <a:xfrm>
              <a:off x="6467475" y="4567476"/>
              <a:ext cx="4467225" cy="861774"/>
            </a:xfrm>
            <a:prstGeom prst="rect">
              <a:avLst/>
            </a:prstGeom>
            <a:noFill/>
          </p:spPr>
          <p:txBody>
            <a:bodyPr wrap="square">
              <a:spAutoFit/>
            </a:bodyPr>
            <a:lstStyle/>
            <a:p>
              <a:pPr>
                <a:lnSpc>
                  <a:spcPts val="1958"/>
                </a:lnSpc>
              </a:pPr>
              <a:r>
                <a:rPr lang="en-US" sz="1800" b="1" dirty="0">
                  <a:solidFill>
                    <a:schemeClr val="bg1"/>
                  </a:solidFill>
                  <a:latin typeface="Montserrat" panose="00000500000000000000" pitchFamily="2" charset="0"/>
                  <a:ea typeface="Montserrat Bold" pitchFamily="34" charset="-122"/>
                  <a:cs typeface="Montserrat Bold" pitchFamily="34" charset="-120"/>
                </a:rPr>
                <a:t>Versatile</a:t>
              </a:r>
              <a:endParaRPr lang="en-US" b="1" dirty="0">
                <a:solidFill>
                  <a:schemeClr val="bg1"/>
                </a:solidFill>
                <a:latin typeface="Montserrat" panose="00000500000000000000" pitchFamily="2" charset="0"/>
              </a:endParaRPr>
            </a:p>
            <a:p>
              <a:pPr>
                <a:lnSpc>
                  <a:spcPts val="1958"/>
                </a:lnSpc>
              </a:pPr>
              <a:r>
                <a:rPr lang="en-US" dirty="0">
                  <a:solidFill>
                    <a:schemeClr val="bg1"/>
                  </a:solidFill>
                  <a:latin typeface="Montserrat" panose="00000500000000000000" pitchFamily="2" charset="0"/>
                  <a:ea typeface="Montserrat" pitchFamily="34" charset="-122"/>
                  <a:cs typeface="Montserrat" pitchFamily="34" charset="-120"/>
                </a:rPr>
                <a:t>Can contain mixed data types (integers, strings, etc.)</a:t>
              </a:r>
            </a:p>
          </p:txBody>
        </p:sp>
      </p:grpSp>
      <p:sp>
        <p:nvSpPr>
          <p:cNvPr id="3" name="Text 1">
            <a:extLst>
              <a:ext uri="{FF2B5EF4-FFF2-40B4-BE49-F238E27FC236}">
                <a16:creationId xmlns:a16="http://schemas.microsoft.com/office/drawing/2014/main" id="{398CF4C0-CD00-DE6E-8618-43EDCFE9BEFE}"/>
              </a:ext>
            </a:extLst>
          </p:cNvPr>
          <p:cNvSpPr/>
          <p:nvPr/>
        </p:nvSpPr>
        <p:spPr>
          <a:xfrm>
            <a:off x="170456" y="1557451"/>
            <a:ext cx="9697443" cy="370796"/>
          </a:xfrm>
          <a:prstGeom prst="rect">
            <a:avLst/>
          </a:prstGeom>
          <a:noFill/>
          <a:ln/>
        </p:spPr>
        <p:txBody>
          <a:bodyPr wrap="none" lIns="0" tIns="0" rIns="0" bIns="0" rtlCol="0" anchor="t"/>
          <a:lstStyle/>
          <a:p>
            <a:pPr algn="ctr">
              <a:lnSpc>
                <a:spcPts val="2375"/>
              </a:lnSpc>
            </a:pPr>
            <a:r>
              <a:rPr lang="en-US" sz="1458" dirty="0">
                <a:solidFill>
                  <a:srgbClr val="25274D"/>
                </a:solidFill>
                <a:latin typeface="Montserrat" pitchFamily="34" charset="0"/>
                <a:ea typeface="Montserrat" pitchFamily="34" charset="-122"/>
                <a:cs typeface="Montserrat" pitchFamily="34" charset="-120"/>
              </a:rPr>
              <a:t>Think of a tuple like an ID card. Once it's created, the information on it cannot be changed.</a:t>
            </a:r>
          </a:p>
        </p:txBody>
      </p:sp>
    </p:spTree>
    <p:extLst>
      <p:ext uri="{BB962C8B-B14F-4D97-AF65-F5344CB8AC3E}">
        <p14:creationId xmlns:p14="http://schemas.microsoft.com/office/powerpoint/2010/main" val="6182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par>
                                <p:cTn id="14" presetID="10" presetClass="entr" presetSubtype="0" fill="hold" nodeType="withEffect">
                                  <p:stCondLst>
                                    <p:cond delay="5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1000"/>
                                        <p:tgtEl>
                                          <p:spTgt spid="19"/>
                                        </p:tgtEl>
                                      </p:cBhvr>
                                    </p:animEffect>
                                  </p:childTnLst>
                                </p:cTn>
                              </p:par>
                              <p:par>
                                <p:cTn id="17" presetID="10" presetClass="entr" presetSubtype="0" fill="hold" nodeType="withEffect">
                                  <p:stCondLst>
                                    <p:cond delay="5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childTnLst>
                                </p:cTn>
                              </p:par>
                              <p:par>
                                <p:cTn id="20" presetID="10" presetClass="entr" presetSubtype="0" fill="hold" nodeType="withEffect">
                                  <p:stCondLst>
                                    <p:cond delay="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16F44-AEDC-03CC-3CDA-C00D9802466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AAFD99-54E6-E1D1-3A2E-3694CD4ECA9E}"/>
              </a:ext>
            </a:extLst>
          </p:cNvPr>
          <p:cNvSpPr>
            <a:spLocks noGrp="1"/>
          </p:cNvSpPr>
          <p:nvPr>
            <p:ph type="title"/>
          </p:nvPr>
        </p:nvSpPr>
        <p:spPr/>
        <p:txBody>
          <a:bodyPr/>
          <a:lstStyle/>
          <a:p>
            <a:pPr>
              <a:lnSpc>
                <a:spcPts val="3000"/>
              </a:lnSpc>
            </a:pPr>
            <a:r>
              <a:rPr lang="en-US" dirty="0">
                <a:latin typeface="Montserrat Bold" pitchFamily="34" charset="0"/>
                <a:ea typeface="Montserrat Bold" pitchFamily="34" charset="-122"/>
                <a:cs typeface="Montserrat Bold" pitchFamily="34" charset="-120"/>
              </a:rPr>
              <a:t>Creating a Tuple</a:t>
            </a:r>
            <a:endParaRPr lang="en-US" dirty="0"/>
          </a:p>
        </p:txBody>
      </p:sp>
      <p:sp>
        <p:nvSpPr>
          <p:cNvPr id="4" name="TextBox 3">
            <a:extLst>
              <a:ext uri="{FF2B5EF4-FFF2-40B4-BE49-F238E27FC236}">
                <a16:creationId xmlns:a16="http://schemas.microsoft.com/office/drawing/2014/main" id="{16112495-AF67-9D1C-528C-6A9D5A477D0C}"/>
              </a:ext>
            </a:extLst>
          </p:cNvPr>
          <p:cNvSpPr txBox="1"/>
          <p:nvPr/>
        </p:nvSpPr>
        <p:spPr>
          <a:xfrm>
            <a:off x="997563" y="1143000"/>
            <a:ext cx="10622082" cy="369332"/>
          </a:xfrm>
          <a:prstGeom prst="rect">
            <a:avLst/>
          </a:prstGeom>
          <a:noFill/>
        </p:spPr>
        <p:txBody>
          <a:bodyPr wrap="square">
            <a:spAutoFit/>
          </a:bodyPr>
          <a:lstStyle/>
          <a:p>
            <a:r>
              <a:rPr lang="en-US" sz="1800" dirty="0">
                <a:solidFill>
                  <a:srgbClr val="25274D"/>
                </a:solidFill>
                <a:latin typeface="Montserrat" panose="00000500000000000000" pitchFamily="2" charset="0"/>
                <a:ea typeface="Montserrat" pitchFamily="34" charset="-122"/>
                <a:cs typeface="Montserrat" pitchFamily="34" charset="-120"/>
              </a:rPr>
              <a:t>Creating a tuple is like creating a list, but with parentheses </a:t>
            </a:r>
            <a:r>
              <a:rPr lang="en-US" sz="1800" dirty="0">
                <a:solidFill>
                  <a:srgbClr val="25274D"/>
                </a:solidFill>
                <a:latin typeface="Montserrat" panose="00000500000000000000" pitchFamily="2" charset="0"/>
                <a:ea typeface="Montserrat" pitchFamily="34" charset="-122"/>
                <a:cs typeface="Courier New" panose="02070309020205020404" pitchFamily="49" charset="0"/>
              </a:rPr>
              <a:t>()</a:t>
            </a:r>
            <a:r>
              <a:rPr lang="en-US" sz="1800" dirty="0">
                <a:solidFill>
                  <a:srgbClr val="25274D"/>
                </a:solidFill>
                <a:latin typeface="Montserrat" panose="00000500000000000000" pitchFamily="2" charset="0"/>
                <a:ea typeface="Montserrat" pitchFamily="34" charset="-122"/>
                <a:cs typeface="Montserrat" pitchFamily="34" charset="-120"/>
              </a:rPr>
              <a:t> instead of square brackets </a:t>
            </a:r>
            <a:r>
              <a:rPr lang="en-US" sz="1800" dirty="0">
                <a:solidFill>
                  <a:srgbClr val="25274D"/>
                </a:solidFill>
                <a:latin typeface="Montserrat" panose="00000500000000000000" pitchFamily="2" charset="0"/>
                <a:ea typeface="Montserrat" pitchFamily="34" charset="-122"/>
                <a:cs typeface="Courier New" panose="02070309020205020404" pitchFamily="49" charset="0"/>
              </a:rPr>
              <a:t>[]</a:t>
            </a:r>
            <a:r>
              <a:rPr lang="en-US" sz="1800" dirty="0">
                <a:solidFill>
                  <a:srgbClr val="25274D"/>
                </a:solidFill>
                <a:latin typeface="Montserrat" panose="00000500000000000000" pitchFamily="2" charset="0"/>
                <a:ea typeface="Montserrat" pitchFamily="34" charset="-122"/>
                <a:cs typeface="Montserrat" pitchFamily="34" charset="-120"/>
              </a:rPr>
              <a:t>.</a:t>
            </a:r>
            <a:endParaRPr lang="en-US" sz="1800" dirty="0">
              <a:solidFill>
                <a:srgbClr val="25274D"/>
              </a:solidFill>
              <a:latin typeface="Montserrat" panose="00000500000000000000" pitchFamily="2" charset="0"/>
            </a:endParaRPr>
          </a:p>
        </p:txBody>
      </p:sp>
      <p:grpSp>
        <p:nvGrpSpPr>
          <p:cNvPr id="5" name="Group 4">
            <a:extLst>
              <a:ext uri="{FF2B5EF4-FFF2-40B4-BE49-F238E27FC236}">
                <a16:creationId xmlns:a16="http://schemas.microsoft.com/office/drawing/2014/main" id="{3E1FC7D0-C2D1-A32B-578D-B6B5CE16C2EA}"/>
              </a:ext>
            </a:extLst>
          </p:cNvPr>
          <p:cNvGrpSpPr/>
          <p:nvPr/>
        </p:nvGrpSpPr>
        <p:grpSpPr>
          <a:xfrm>
            <a:off x="2743201" y="1710806"/>
            <a:ext cx="6705600" cy="4071390"/>
            <a:chOff x="2743201" y="1710806"/>
            <a:chExt cx="6705600" cy="4071390"/>
          </a:xfrm>
        </p:grpSpPr>
        <p:sp>
          <p:nvSpPr>
            <p:cNvPr id="3" name="Rectangle: Rounded Corners 2">
              <a:extLst>
                <a:ext uri="{FF2B5EF4-FFF2-40B4-BE49-F238E27FC236}">
                  <a16:creationId xmlns:a16="http://schemas.microsoft.com/office/drawing/2014/main" id="{5A366FC2-0C28-3F4D-4AD7-4980974C63CA}"/>
                </a:ext>
              </a:extLst>
            </p:cNvPr>
            <p:cNvSpPr/>
            <p:nvPr/>
          </p:nvSpPr>
          <p:spPr>
            <a:xfrm>
              <a:off x="2743201" y="1710806"/>
              <a:ext cx="6705600" cy="407139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28E00F79-3606-7207-538E-73A0CF215D1A}"/>
                </a:ext>
              </a:extLst>
            </p:cNvPr>
            <p:cNvPicPr>
              <a:picLocks noChangeAspect="1"/>
            </p:cNvPicPr>
            <p:nvPr/>
          </p:nvPicPr>
          <p:blipFill>
            <a:blip r:embed="rId3"/>
            <a:stretch>
              <a:fillRect/>
            </a:stretch>
          </p:blipFill>
          <p:spPr>
            <a:xfrm>
              <a:off x="2972423" y="1987120"/>
              <a:ext cx="6247156" cy="3518762"/>
            </a:xfrm>
            <a:prstGeom prst="rect">
              <a:avLst/>
            </a:prstGeom>
          </p:spPr>
        </p:pic>
      </p:grpSp>
      <p:sp>
        <p:nvSpPr>
          <p:cNvPr id="2" name="Speech Bubble: Rectangle with Corners Rounded 1">
            <a:extLst>
              <a:ext uri="{FF2B5EF4-FFF2-40B4-BE49-F238E27FC236}">
                <a16:creationId xmlns:a16="http://schemas.microsoft.com/office/drawing/2014/main" id="{03F150F1-94A6-A395-EF15-79B242606733}"/>
              </a:ext>
            </a:extLst>
          </p:cNvPr>
          <p:cNvSpPr/>
          <p:nvPr/>
        </p:nvSpPr>
        <p:spPr>
          <a:xfrm>
            <a:off x="7600846" y="5460622"/>
            <a:ext cx="3350454" cy="1119259"/>
          </a:xfrm>
          <a:prstGeom prst="wedgeRoundRectCallout">
            <a:avLst>
              <a:gd name="adj1" fmla="val -58050"/>
              <a:gd name="adj2" fmla="val -123950"/>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For a single-item tuple, include a trailing comma after the value.</a:t>
            </a:r>
          </a:p>
        </p:txBody>
      </p:sp>
    </p:spTree>
    <p:extLst>
      <p:ext uri="{BB962C8B-B14F-4D97-AF65-F5344CB8AC3E}">
        <p14:creationId xmlns:p14="http://schemas.microsoft.com/office/powerpoint/2010/main" val="53613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10" presetClass="entr" presetSubtype="0" fill="hold" nodeType="withEffect">
                                  <p:stCondLst>
                                    <p:cond delay="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224F8-1354-29CC-14F1-C492379D52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125AEB3-67D0-8D52-6B73-2DA4F9B06275}"/>
              </a:ext>
            </a:extLst>
          </p:cNvPr>
          <p:cNvSpPr>
            <a:spLocks noGrp="1"/>
          </p:cNvSpPr>
          <p:nvPr>
            <p:ph type="title"/>
          </p:nvPr>
        </p:nvSpPr>
        <p:spPr/>
        <p:txBody>
          <a:bodyPr/>
          <a:lstStyle/>
          <a:p>
            <a:pPr>
              <a:lnSpc>
                <a:spcPts val="4416"/>
              </a:lnSpc>
            </a:pPr>
            <a:r>
              <a:rPr lang="en-US" dirty="0">
                <a:latin typeface="Montserrat Bold" pitchFamily="34" charset="0"/>
                <a:ea typeface="Montserrat Bold" pitchFamily="34" charset="-122"/>
                <a:cs typeface="Montserrat Bold" pitchFamily="34" charset="-120"/>
              </a:rPr>
              <a:t>Key Characteristics of Tuples</a:t>
            </a:r>
            <a:endParaRPr lang="en-US" dirty="0"/>
          </a:p>
        </p:txBody>
      </p:sp>
      <p:grpSp>
        <p:nvGrpSpPr>
          <p:cNvPr id="55" name="Group 54">
            <a:extLst>
              <a:ext uri="{FF2B5EF4-FFF2-40B4-BE49-F238E27FC236}">
                <a16:creationId xmlns:a16="http://schemas.microsoft.com/office/drawing/2014/main" id="{40C8E6AA-7330-D097-295F-DB544585883A}"/>
              </a:ext>
            </a:extLst>
          </p:cNvPr>
          <p:cNvGrpSpPr/>
          <p:nvPr/>
        </p:nvGrpSpPr>
        <p:grpSpPr>
          <a:xfrm>
            <a:off x="3199630" y="1306286"/>
            <a:ext cx="5792741" cy="5224826"/>
            <a:chOff x="3199630" y="1306286"/>
            <a:chExt cx="5792741" cy="5224826"/>
          </a:xfrm>
        </p:grpSpPr>
        <p:grpSp>
          <p:nvGrpSpPr>
            <p:cNvPr id="52" name="Group 51">
              <a:extLst>
                <a:ext uri="{FF2B5EF4-FFF2-40B4-BE49-F238E27FC236}">
                  <a16:creationId xmlns:a16="http://schemas.microsoft.com/office/drawing/2014/main" id="{3259E459-DA96-FD63-5724-EDCE659123D1}"/>
                </a:ext>
              </a:extLst>
            </p:cNvPr>
            <p:cNvGrpSpPr/>
            <p:nvPr/>
          </p:nvGrpSpPr>
          <p:grpSpPr>
            <a:xfrm>
              <a:off x="3199630" y="1306286"/>
              <a:ext cx="5792741" cy="5224826"/>
              <a:chOff x="3199630" y="1306286"/>
              <a:chExt cx="5792741" cy="5224826"/>
            </a:xfrm>
          </p:grpSpPr>
          <p:grpSp>
            <p:nvGrpSpPr>
              <p:cNvPr id="49" name="Group 48">
                <a:extLst>
                  <a:ext uri="{FF2B5EF4-FFF2-40B4-BE49-F238E27FC236}">
                    <a16:creationId xmlns:a16="http://schemas.microsoft.com/office/drawing/2014/main" id="{648C06EF-406F-534D-396A-9A9CC1812F57}"/>
                  </a:ext>
                </a:extLst>
              </p:cNvPr>
              <p:cNvGrpSpPr/>
              <p:nvPr/>
            </p:nvGrpSpPr>
            <p:grpSpPr>
              <a:xfrm>
                <a:off x="3199630" y="1306286"/>
                <a:ext cx="5792741" cy="5224826"/>
                <a:chOff x="3199630" y="1306286"/>
                <a:chExt cx="5792741" cy="5224826"/>
              </a:xfrm>
            </p:grpSpPr>
            <p:grpSp>
              <p:nvGrpSpPr>
                <p:cNvPr id="46" name="Group 45">
                  <a:extLst>
                    <a:ext uri="{FF2B5EF4-FFF2-40B4-BE49-F238E27FC236}">
                      <a16:creationId xmlns:a16="http://schemas.microsoft.com/office/drawing/2014/main" id="{1D61020A-D1B2-9638-FFD7-DC168DC97870}"/>
                    </a:ext>
                  </a:extLst>
                </p:cNvPr>
                <p:cNvGrpSpPr/>
                <p:nvPr/>
              </p:nvGrpSpPr>
              <p:grpSpPr>
                <a:xfrm>
                  <a:off x="3199630" y="1306286"/>
                  <a:ext cx="5792741" cy="5224826"/>
                  <a:chOff x="3199630" y="1306286"/>
                  <a:chExt cx="5792741" cy="5224826"/>
                </a:xfrm>
              </p:grpSpPr>
              <p:grpSp>
                <p:nvGrpSpPr>
                  <p:cNvPr id="27" name="Group 26">
                    <a:extLst>
                      <a:ext uri="{FF2B5EF4-FFF2-40B4-BE49-F238E27FC236}">
                        <a16:creationId xmlns:a16="http://schemas.microsoft.com/office/drawing/2014/main" id="{0E8A36BC-6DEE-94CF-2B4C-3F8CBAFDD5C2}"/>
                      </a:ext>
                    </a:extLst>
                  </p:cNvPr>
                  <p:cNvGrpSpPr/>
                  <p:nvPr/>
                </p:nvGrpSpPr>
                <p:grpSpPr>
                  <a:xfrm>
                    <a:off x="3199630" y="1306286"/>
                    <a:ext cx="5792741" cy="5224826"/>
                    <a:chOff x="3313957" y="1306286"/>
                    <a:chExt cx="5792741" cy="5224826"/>
                  </a:xfrm>
                </p:grpSpPr>
                <p:sp>
                  <p:nvSpPr>
                    <p:cNvPr id="28" name="Rectangle: Rounded Corners 27">
                      <a:extLst>
                        <a:ext uri="{FF2B5EF4-FFF2-40B4-BE49-F238E27FC236}">
                          <a16:creationId xmlns:a16="http://schemas.microsoft.com/office/drawing/2014/main" id="{9AE9B1E6-AF3C-E52B-920D-D9B9AD0F407C}"/>
                        </a:ext>
                      </a:extLst>
                    </p:cNvPr>
                    <p:cNvSpPr/>
                    <p:nvPr/>
                  </p:nvSpPr>
                  <p:spPr>
                    <a:xfrm>
                      <a:off x="3313957" y="1306286"/>
                      <a:ext cx="2836469" cy="257860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64D9649-0961-53DA-DA5C-EA42BE05C5B3}"/>
                        </a:ext>
                      </a:extLst>
                    </p:cNvPr>
                    <p:cNvSpPr txBox="1"/>
                    <p:nvPr/>
                  </p:nvSpPr>
                  <p:spPr>
                    <a:xfrm>
                      <a:off x="3368382" y="2352675"/>
                      <a:ext cx="2727618" cy="1477328"/>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Prevents modification, addition, or removal of elements, ensuring data integrity</a:t>
                      </a:r>
                    </a:p>
                  </p:txBody>
                </p:sp>
                <p:sp>
                  <p:nvSpPr>
                    <p:cNvPr id="30" name="TextBox 29">
                      <a:extLst>
                        <a:ext uri="{FF2B5EF4-FFF2-40B4-BE49-F238E27FC236}">
                          <a16:creationId xmlns:a16="http://schemas.microsoft.com/office/drawing/2014/main" id="{05B4C3E8-56EE-2C5D-5A97-9A914C11CEC6}"/>
                        </a:ext>
                      </a:extLst>
                    </p:cNvPr>
                    <p:cNvSpPr txBox="1"/>
                    <p:nvPr/>
                  </p:nvSpPr>
                  <p:spPr>
                    <a:xfrm>
                      <a:off x="3781105" y="2015938"/>
                      <a:ext cx="1902172" cy="369332"/>
                    </a:xfrm>
                    <a:prstGeom prst="rect">
                      <a:avLst/>
                    </a:prstGeom>
                    <a:noFill/>
                  </p:spPr>
                  <p:txBody>
                    <a:bodyPr wrap="square">
                      <a:spAutoFit/>
                    </a:bodyPr>
                    <a:lstStyle/>
                    <a:p>
                      <a:pPr marL="0" indent="0" algn="ctr">
                        <a:buNone/>
                      </a:pPr>
                      <a:r>
                        <a:rPr lang="en-US" sz="1800" b="1" dirty="0">
                          <a:solidFill>
                            <a:schemeClr val="bg1"/>
                          </a:solidFill>
                          <a:latin typeface="Montserrat" panose="00000500000000000000" pitchFamily="2" charset="0"/>
                        </a:rPr>
                        <a:t>Immutability</a:t>
                      </a:r>
                    </a:p>
                  </p:txBody>
                </p:sp>
                <p:sp>
                  <p:nvSpPr>
                    <p:cNvPr id="31" name="Rectangle: Rounded Corners 30">
                      <a:extLst>
                        <a:ext uri="{FF2B5EF4-FFF2-40B4-BE49-F238E27FC236}">
                          <a16:creationId xmlns:a16="http://schemas.microsoft.com/office/drawing/2014/main" id="{8BF18C91-4D7F-87A8-1A94-B4ED963A2F86}"/>
                        </a:ext>
                      </a:extLst>
                    </p:cNvPr>
                    <p:cNvSpPr/>
                    <p:nvPr/>
                  </p:nvSpPr>
                  <p:spPr>
                    <a:xfrm>
                      <a:off x="6270229" y="1306287"/>
                      <a:ext cx="2836469" cy="2579913"/>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D75174B-BBA2-3E4B-2883-89FCAB392FD8}"/>
                        </a:ext>
                      </a:extLst>
                    </p:cNvPr>
                    <p:cNvSpPr txBox="1"/>
                    <p:nvPr/>
                  </p:nvSpPr>
                  <p:spPr>
                    <a:xfrm>
                      <a:off x="6482417" y="2372864"/>
                      <a:ext cx="2412092" cy="1477328"/>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Can serve as dictionary keys if containing only immutable elements</a:t>
                      </a:r>
                    </a:p>
                  </p:txBody>
                </p:sp>
                <p:sp>
                  <p:nvSpPr>
                    <p:cNvPr id="33" name="TextBox 32">
                      <a:extLst>
                        <a:ext uri="{FF2B5EF4-FFF2-40B4-BE49-F238E27FC236}">
                          <a16:creationId xmlns:a16="http://schemas.microsoft.com/office/drawing/2014/main" id="{A4CD5EEA-8FE8-71DD-3134-554AB7267CB8}"/>
                        </a:ext>
                      </a:extLst>
                    </p:cNvPr>
                    <p:cNvSpPr txBox="1"/>
                    <p:nvPr/>
                  </p:nvSpPr>
                  <p:spPr>
                    <a:xfrm>
                      <a:off x="6425267" y="2011474"/>
                      <a:ext cx="2526392" cy="369332"/>
                    </a:xfrm>
                    <a:prstGeom prst="rect">
                      <a:avLst/>
                    </a:prstGeom>
                    <a:noFill/>
                  </p:spPr>
                  <p:txBody>
                    <a:bodyPr wrap="square">
                      <a:spAutoFit/>
                    </a:bodyPr>
                    <a:lstStyle/>
                    <a:p>
                      <a:pPr marL="0" indent="0" algn="ctr">
                        <a:buNone/>
                      </a:pPr>
                      <a:r>
                        <a:rPr lang="en-US" sz="1800" b="1" dirty="0">
                          <a:solidFill>
                            <a:schemeClr val="bg1"/>
                          </a:solidFill>
                          <a:latin typeface="Montserrat" panose="00000500000000000000" pitchFamily="2" charset="0"/>
                        </a:rPr>
                        <a:t>Dictionary keys</a:t>
                      </a:r>
                    </a:p>
                  </p:txBody>
                </p:sp>
                <p:sp>
                  <p:nvSpPr>
                    <p:cNvPr id="34" name="Rectangle: Rounded Corners 33">
                      <a:extLst>
                        <a:ext uri="{FF2B5EF4-FFF2-40B4-BE49-F238E27FC236}">
                          <a16:creationId xmlns:a16="http://schemas.microsoft.com/office/drawing/2014/main" id="{05651DE3-59AF-2329-7DA2-336AD05183A5}"/>
                        </a:ext>
                      </a:extLst>
                    </p:cNvPr>
                    <p:cNvSpPr/>
                    <p:nvPr/>
                  </p:nvSpPr>
                  <p:spPr>
                    <a:xfrm>
                      <a:off x="3313957" y="3952504"/>
                      <a:ext cx="2836469" cy="2578608"/>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CD3B5CD-D8CA-4CF4-C82F-D4C0017EAAC1}"/>
                        </a:ext>
                      </a:extLst>
                    </p:cNvPr>
                    <p:cNvSpPr txBox="1"/>
                    <p:nvPr/>
                  </p:nvSpPr>
                  <p:spPr>
                    <a:xfrm>
                      <a:off x="3463605" y="5067570"/>
                      <a:ext cx="2537172" cy="1200329"/>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Provides faster iteration and access due to fixed size in memory</a:t>
                      </a:r>
                    </a:p>
                  </p:txBody>
                </p:sp>
                <p:sp>
                  <p:nvSpPr>
                    <p:cNvPr id="36" name="TextBox 35">
                      <a:extLst>
                        <a:ext uri="{FF2B5EF4-FFF2-40B4-BE49-F238E27FC236}">
                          <a16:creationId xmlns:a16="http://schemas.microsoft.com/office/drawing/2014/main" id="{ECA84250-669F-CD65-1FB3-8B40A3F1641A}"/>
                        </a:ext>
                      </a:extLst>
                    </p:cNvPr>
                    <p:cNvSpPr txBox="1"/>
                    <p:nvPr/>
                  </p:nvSpPr>
                  <p:spPr>
                    <a:xfrm>
                      <a:off x="3723955" y="4715892"/>
                      <a:ext cx="2016472" cy="369332"/>
                    </a:xfrm>
                    <a:prstGeom prst="rect">
                      <a:avLst/>
                    </a:prstGeom>
                    <a:noFill/>
                  </p:spPr>
                  <p:txBody>
                    <a:bodyPr wrap="square">
                      <a:spAutoFit/>
                    </a:bodyPr>
                    <a:lstStyle/>
                    <a:p>
                      <a:pPr marL="0" indent="0" algn="ctr">
                        <a:buNone/>
                      </a:pPr>
                      <a:r>
                        <a:rPr lang="en-US" sz="1800" b="1" dirty="0">
                          <a:solidFill>
                            <a:schemeClr val="bg1"/>
                          </a:solidFill>
                          <a:latin typeface="Montserrat" panose="00000500000000000000" pitchFamily="2" charset="0"/>
                        </a:rPr>
                        <a:t>Performance</a:t>
                      </a:r>
                    </a:p>
                  </p:txBody>
                </p:sp>
                <p:sp>
                  <p:nvSpPr>
                    <p:cNvPr id="37" name="Rectangle: Rounded Corners 36">
                      <a:extLst>
                        <a:ext uri="{FF2B5EF4-FFF2-40B4-BE49-F238E27FC236}">
                          <a16:creationId xmlns:a16="http://schemas.microsoft.com/office/drawing/2014/main" id="{1DB2AFF4-B24D-C2F6-F2BA-C410453AB871}"/>
                        </a:ext>
                      </a:extLst>
                    </p:cNvPr>
                    <p:cNvSpPr/>
                    <p:nvPr/>
                  </p:nvSpPr>
                  <p:spPr>
                    <a:xfrm>
                      <a:off x="6270229" y="3952504"/>
                      <a:ext cx="2836469" cy="257860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DD4A6B71-A557-6D6C-5E78-6B9DED4C4B0D}"/>
                        </a:ext>
                      </a:extLst>
                    </p:cNvPr>
                    <p:cNvSpPr txBox="1"/>
                    <p:nvPr/>
                  </p:nvSpPr>
                  <p:spPr>
                    <a:xfrm>
                      <a:off x="6569449" y="5336510"/>
                      <a:ext cx="2238028" cy="923330"/>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Allows returning multiple values from functions</a:t>
                      </a:r>
                    </a:p>
                  </p:txBody>
                </p:sp>
                <p:sp>
                  <p:nvSpPr>
                    <p:cNvPr id="39" name="TextBox 38">
                      <a:extLst>
                        <a:ext uri="{FF2B5EF4-FFF2-40B4-BE49-F238E27FC236}">
                          <a16:creationId xmlns:a16="http://schemas.microsoft.com/office/drawing/2014/main" id="{236F2C57-0858-66AB-E065-956F72BBA885}"/>
                        </a:ext>
                      </a:extLst>
                    </p:cNvPr>
                    <p:cNvSpPr txBox="1"/>
                    <p:nvPr/>
                  </p:nvSpPr>
                  <p:spPr>
                    <a:xfrm>
                      <a:off x="6344584" y="4715892"/>
                      <a:ext cx="2687758" cy="646331"/>
                    </a:xfrm>
                    <a:prstGeom prst="rect">
                      <a:avLst/>
                    </a:prstGeom>
                    <a:noFill/>
                  </p:spPr>
                  <p:txBody>
                    <a:bodyPr wrap="square">
                      <a:spAutoFit/>
                    </a:bodyPr>
                    <a:lstStyle/>
                    <a:p>
                      <a:pPr marL="0" indent="0" algn="ctr">
                        <a:buNone/>
                      </a:pPr>
                      <a:r>
                        <a:rPr lang="en-US" sz="1800" b="1" dirty="0">
                          <a:solidFill>
                            <a:schemeClr val="bg1"/>
                          </a:solidFill>
                          <a:latin typeface="Montserrat" panose="00000500000000000000" pitchFamily="2" charset="0"/>
                        </a:rPr>
                        <a:t>Multiple return values</a:t>
                      </a:r>
                    </a:p>
                  </p:txBody>
                </p:sp>
              </p:grpSp>
              <p:pic>
                <p:nvPicPr>
                  <p:cNvPr id="45" name="Graphic 44">
                    <a:extLst>
                      <a:ext uri="{FF2B5EF4-FFF2-40B4-BE49-F238E27FC236}">
                        <a16:creationId xmlns:a16="http://schemas.microsoft.com/office/drawing/2014/main" id="{2408C810-5BEC-A82E-D647-1E7D27F84C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0959" y="1447800"/>
                    <a:ext cx="593811" cy="553416"/>
                  </a:xfrm>
                  <a:prstGeom prst="rect">
                    <a:avLst/>
                  </a:prstGeom>
                </p:spPr>
              </p:pic>
            </p:grpSp>
            <p:pic>
              <p:nvPicPr>
                <p:cNvPr id="48" name="Graphic 47">
                  <a:extLst>
                    <a:ext uri="{FF2B5EF4-FFF2-40B4-BE49-F238E27FC236}">
                      <a16:creationId xmlns:a16="http://schemas.microsoft.com/office/drawing/2014/main" id="{619F6EE0-E5E3-4CB0-040D-444307DB8E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00643" y="4054534"/>
                  <a:ext cx="634442" cy="672077"/>
                </a:xfrm>
                <a:prstGeom prst="rect">
                  <a:avLst/>
                </a:prstGeom>
              </p:spPr>
            </p:pic>
          </p:grpSp>
          <p:pic>
            <p:nvPicPr>
              <p:cNvPr id="51" name="Graphic 50">
                <a:extLst>
                  <a:ext uri="{FF2B5EF4-FFF2-40B4-BE49-F238E27FC236}">
                    <a16:creationId xmlns:a16="http://schemas.microsoft.com/office/drawing/2014/main" id="{5D3814E5-EC34-C68D-83F8-A66B00B712A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90642" y="1512345"/>
                <a:ext cx="566988" cy="537661"/>
              </a:xfrm>
              <a:prstGeom prst="rect">
                <a:avLst/>
              </a:prstGeom>
            </p:spPr>
          </p:pic>
        </p:grpSp>
        <p:pic>
          <p:nvPicPr>
            <p:cNvPr id="54" name="Graphic 53">
              <a:extLst>
                <a:ext uri="{FF2B5EF4-FFF2-40B4-BE49-F238E27FC236}">
                  <a16:creationId xmlns:a16="http://schemas.microsoft.com/office/drawing/2014/main" id="{E0C3D694-4ECD-8FEB-6128-6C9C199916D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70357" y="4094636"/>
              <a:ext cx="607558" cy="629065"/>
            </a:xfrm>
            <a:prstGeom prst="rect">
              <a:avLst/>
            </a:prstGeom>
          </p:spPr>
        </p:pic>
      </p:grpSp>
    </p:spTree>
    <p:extLst>
      <p:ext uri="{BB962C8B-B14F-4D97-AF65-F5344CB8AC3E}">
        <p14:creationId xmlns:p14="http://schemas.microsoft.com/office/powerpoint/2010/main" val="1640901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F63DA-4079-CC17-23F3-E80E18ACD47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29D4CC1-7087-EFE9-655B-ACD70B85C0EF}"/>
              </a:ext>
            </a:extLst>
          </p:cNvPr>
          <p:cNvSpPr/>
          <p:nvPr/>
        </p:nvSpPr>
        <p:spPr>
          <a:xfrm>
            <a:off x="2003998" y="5701175"/>
            <a:ext cx="8184003" cy="494079"/>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11E073FF-8822-3110-A32A-6D8D964C67FD}"/>
              </a:ext>
            </a:extLst>
          </p:cNvPr>
          <p:cNvSpPr>
            <a:spLocks noGrp="1"/>
          </p:cNvSpPr>
          <p:nvPr>
            <p:ph type="title"/>
          </p:nvPr>
        </p:nvSpPr>
        <p:spPr/>
        <p:txBody>
          <a:bodyPr/>
          <a:lstStyle/>
          <a:p>
            <a:pPr>
              <a:lnSpc>
                <a:spcPts val="4416"/>
              </a:lnSpc>
            </a:pPr>
            <a:r>
              <a:rPr lang="en-US" dirty="0">
                <a:latin typeface="Montserrat Bold" pitchFamily="34" charset="0"/>
                <a:ea typeface="Montserrat Bold" pitchFamily="34" charset="-122"/>
                <a:cs typeface="Montserrat Bold" pitchFamily="34" charset="-120"/>
              </a:rPr>
              <a:t>Accessing Tuple Elements</a:t>
            </a:r>
            <a:br>
              <a:rPr lang="en-US" dirty="0"/>
            </a:br>
            <a:endParaRPr lang="en-US" dirty="0"/>
          </a:p>
        </p:txBody>
      </p:sp>
      <p:sp>
        <p:nvSpPr>
          <p:cNvPr id="4" name="TextBox 3">
            <a:extLst>
              <a:ext uri="{FF2B5EF4-FFF2-40B4-BE49-F238E27FC236}">
                <a16:creationId xmlns:a16="http://schemas.microsoft.com/office/drawing/2014/main" id="{C4B5F3B4-A867-6C70-845F-7E7B2E252F79}"/>
              </a:ext>
            </a:extLst>
          </p:cNvPr>
          <p:cNvSpPr txBox="1"/>
          <p:nvPr/>
        </p:nvSpPr>
        <p:spPr>
          <a:xfrm>
            <a:off x="876300" y="1403256"/>
            <a:ext cx="10787744" cy="369332"/>
          </a:xfrm>
          <a:prstGeom prst="rect">
            <a:avLst/>
          </a:prstGeom>
          <a:noFill/>
        </p:spPr>
        <p:txBody>
          <a:bodyPr wrap="square">
            <a:spAutoFit/>
          </a:bodyPr>
          <a:lstStyle/>
          <a:p>
            <a:r>
              <a:rPr lang="en-US" sz="1800" dirty="0">
                <a:solidFill>
                  <a:srgbClr val="25274D"/>
                </a:solidFill>
                <a:latin typeface="Montserrat" pitchFamily="34" charset="0"/>
                <a:ea typeface="Montserrat" pitchFamily="34" charset="-122"/>
                <a:cs typeface="Montserrat" pitchFamily="34" charset="-120"/>
              </a:rPr>
              <a:t>Tuples are ordered like lists, allowing element access via indexing, with identical syntax.</a:t>
            </a:r>
            <a:endParaRPr lang="en-US" dirty="0">
              <a:solidFill>
                <a:srgbClr val="25274D"/>
              </a:solidFill>
            </a:endParaRPr>
          </a:p>
        </p:txBody>
      </p:sp>
      <p:sp>
        <p:nvSpPr>
          <p:cNvPr id="10" name="TextBox 9">
            <a:extLst>
              <a:ext uri="{FF2B5EF4-FFF2-40B4-BE49-F238E27FC236}">
                <a16:creationId xmlns:a16="http://schemas.microsoft.com/office/drawing/2014/main" id="{F20FDDB2-93FA-8803-234E-48394792C432}"/>
              </a:ext>
            </a:extLst>
          </p:cNvPr>
          <p:cNvSpPr txBox="1"/>
          <p:nvPr/>
        </p:nvSpPr>
        <p:spPr>
          <a:xfrm>
            <a:off x="2048438" y="5763548"/>
            <a:ext cx="8025202" cy="369332"/>
          </a:xfrm>
          <a:prstGeom prst="rect">
            <a:avLst/>
          </a:prstGeom>
          <a:noFill/>
        </p:spPr>
        <p:txBody>
          <a:bodyPr wrap="square">
            <a:spAutoFit/>
          </a:bodyPr>
          <a:lstStyle/>
          <a:p>
            <a:pPr algn="ctr"/>
            <a:r>
              <a:rPr lang="en-US" sz="1800" dirty="0">
                <a:solidFill>
                  <a:schemeClr val="bg1"/>
                </a:solidFill>
                <a:latin typeface="Montserrat" pitchFamily="34" charset="0"/>
                <a:ea typeface="Montserrat" pitchFamily="34" charset="-122"/>
                <a:cs typeface="Montserrat" pitchFamily="34" charset="-120"/>
              </a:rPr>
              <a:t>Tuple unpacking allows assigning multiple variables simultaneously.</a:t>
            </a:r>
            <a:endParaRPr lang="en-US" sz="1800" dirty="0">
              <a:solidFill>
                <a:schemeClr val="bg1"/>
              </a:solidFill>
            </a:endParaRPr>
          </a:p>
        </p:txBody>
      </p:sp>
      <p:grpSp>
        <p:nvGrpSpPr>
          <p:cNvPr id="5" name="Group 4">
            <a:extLst>
              <a:ext uri="{FF2B5EF4-FFF2-40B4-BE49-F238E27FC236}">
                <a16:creationId xmlns:a16="http://schemas.microsoft.com/office/drawing/2014/main" id="{ACEE2977-6B23-FDBD-9A2F-CF1C4BA473C5}"/>
              </a:ext>
            </a:extLst>
          </p:cNvPr>
          <p:cNvGrpSpPr/>
          <p:nvPr/>
        </p:nvGrpSpPr>
        <p:grpSpPr>
          <a:xfrm>
            <a:off x="3916345" y="1977686"/>
            <a:ext cx="4359310" cy="3518390"/>
            <a:chOff x="3717890" y="1903029"/>
            <a:chExt cx="4359310" cy="3518390"/>
          </a:xfrm>
        </p:grpSpPr>
        <p:sp>
          <p:nvSpPr>
            <p:cNvPr id="3" name="Rectangle: Rounded Corners 2">
              <a:extLst>
                <a:ext uri="{FF2B5EF4-FFF2-40B4-BE49-F238E27FC236}">
                  <a16:creationId xmlns:a16="http://schemas.microsoft.com/office/drawing/2014/main" id="{5A366FC2-0C28-3F4D-4AD7-4980974C63CA}"/>
                </a:ext>
              </a:extLst>
            </p:cNvPr>
            <p:cNvSpPr/>
            <p:nvPr/>
          </p:nvSpPr>
          <p:spPr>
            <a:xfrm>
              <a:off x="3717890" y="1903029"/>
              <a:ext cx="4359310" cy="351839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a:extLst>
                <a:ext uri="{FF2B5EF4-FFF2-40B4-BE49-F238E27FC236}">
                  <a16:creationId xmlns:a16="http://schemas.microsoft.com/office/drawing/2014/main" id="{66D00626-1F5F-6568-297D-FDD8E68058BA}"/>
                </a:ext>
              </a:extLst>
            </p:cNvPr>
            <p:cNvPicPr>
              <a:picLocks noChangeAspect="1"/>
            </p:cNvPicPr>
            <p:nvPr/>
          </p:nvPicPr>
          <p:blipFill>
            <a:blip r:embed="rId3"/>
            <a:stretch>
              <a:fillRect/>
            </a:stretch>
          </p:blipFill>
          <p:spPr>
            <a:xfrm>
              <a:off x="3904931" y="2111775"/>
              <a:ext cx="3985229" cy="3100899"/>
            </a:xfrm>
            <a:prstGeom prst="rect">
              <a:avLst/>
            </a:prstGeom>
          </p:spPr>
        </p:pic>
      </p:grpSp>
    </p:spTree>
    <p:extLst>
      <p:ext uri="{BB962C8B-B14F-4D97-AF65-F5344CB8AC3E}">
        <p14:creationId xmlns:p14="http://schemas.microsoft.com/office/powerpoint/2010/main" val="187938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par>
                                <p:cTn id="17" presetID="10" presetClass="entr" presetSubtype="0" fill="hold" nodeType="withEffect">
                                  <p:stCondLst>
                                    <p:cond delay="5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4"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4C08F-D3CE-21C5-F335-AC4D1209A0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0CC6D6B-BFC7-D344-FC06-CBEFDE5B63A0}"/>
              </a:ext>
            </a:extLst>
          </p:cNvPr>
          <p:cNvSpPr>
            <a:spLocks noGrp="1"/>
          </p:cNvSpPr>
          <p:nvPr>
            <p:ph type="title"/>
          </p:nvPr>
        </p:nvSpPr>
        <p:spPr/>
        <p:txBody>
          <a:bodyPr/>
          <a:lstStyle/>
          <a:p>
            <a:pPr>
              <a:lnSpc>
                <a:spcPts val="2583"/>
              </a:lnSpc>
            </a:pPr>
            <a:r>
              <a:rPr lang="en-US" dirty="0">
                <a:latin typeface="Montserrat Bold" pitchFamily="34" charset="0"/>
                <a:ea typeface="Montserrat Bold" pitchFamily="34" charset="-122"/>
                <a:cs typeface="Montserrat Bold" pitchFamily="34" charset="-120"/>
              </a:rPr>
              <a:t>Tuple Operations</a:t>
            </a:r>
            <a:endParaRPr lang="en-US" dirty="0"/>
          </a:p>
        </p:txBody>
      </p:sp>
      <p:sp>
        <p:nvSpPr>
          <p:cNvPr id="12" name="TextBox 11">
            <a:extLst>
              <a:ext uri="{FF2B5EF4-FFF2-40B4-BE49-F238E27FC236}">
                <a16:creationId xmlns:a16="http://schemas.microsoft.com/office/drawing/2014/main" id="{BED02D31-0ED7-7875-9B8B-10F3516B86F7}"/>
              </a:ext>
            </a:extLst>
          </p:cNvPr>
          <p:cNvSpPr txBox="1"/>
          <p:nvPr/>
        </p:nvSpPr>
        <p:spPr>
          <a:xfrm>
            <a:off x="876300" y="1166482"/>
            <a:ext cx="9173166" cy="388311"/>
          </a:xfrm>
          <a:prstGeom prst="rect">
            <a:avLst/>
          </a:prstGeom>
          <a:noFill/>
        </p:spPr>
        <p:txBody>
          <a:bodyPr wrap="square">
            <a:spAutoFit/>
          </a:bodyPr>
          <a:lstStyle/>
          <a:p>
            <a:pPr marR="0">
              <a:lnSpc>
                <a:spcPct val="115000"/>
              </a:lnSpc>
              <a:spcAft>
                <a:spcPts val="800"/>
              </a:spcAft>
            </a:pP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Tuples are immutable but support slicing, concatenation and repetition.</a:t>
            </a:r>
          </a:p>
        </p:txBody>
      </p:sp>
      <p:grpSp>
        <p:nvGrpSpPr>
          <p:cNvPr id="5" name="Group 4">
            <a:extLst>
              <a:ext uri="{FF2B5EF4-FFF2-40B4-BE49-F238E27FC236}">
                <a16:creationId xmlns:a16="http://schemas.microsoft.com/office/drawing/2014/main" id="{F3D88B98-F9A6-A10A-701C-64D6170DC9DF}"/>
              </a:ext>
            </a:extLst>
          </p:cNvPr>
          <p:cNvGrpSpPr/>
          <p:nvPr/>
        </p:nvGrpSpPr>
        <p:grpSpPr>
          <a:xfrm>
            <a:off x="3050722" y="1689917"/>
            <a:ext cx="6090557" cy="4420836"/>
            <a:chOff x="3091542" y="1689917"/>
            <a:chExt cx="6090557" cy="4420836"/>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3091542" y="1689917"/>
              <a:ext cx="6090557" cy="442083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 name="Picture 13">
              <a:extLst>
                <a:ext uri="{FF2B5EF4-FFF2-40B4-BE49-F238E27FC236}">
                  <a16:creationId xmlns:a16="http://schemas.microsoft.com/office/drawing/2014/main" id="{112036EC-5651-C11A-57B1-A0936ABEDD29}"/>
                </a:ext>
              </a:extLst>
            </p:cNvPr>
            <p:cNvPicPr>
              <a:picLocks noChangeAspect="1"/>
            </p:cNvPicPr>
            <p:nvPr/>
          </p:nvPicPr>
          <p:blipFill>
            <a:blip r:embed="rId3"/>
            <a:stretch>
              <a:fillRect/>
            </a:stretch>
          </p:blipFill>
          <p:spPr>
            <a:xfrm>
              <a:off x="3254081" y="1904593"/>
              <a:ext cx="5765478" cy="3991485"/>
            </a:xfrm>
            <a:prstGeom prst="rect">
              <a:avLst/>
            </a:prstGeom>
          </p:spPr>
        </p:pic>
      </p:grpSp>
      <p:sp>
        <p:nvSpPr>
          <p:cNvPr id="4" name="Speech Bubble: Rectangle with Corners Rounded 3">
            <a:extLst>
              <a:ext uri="{FF2B5EF4-FFF2-40B4-BE49-F238E27FC236}">
                <a16:creationId xmlns:a16="http://schemas.microsoft.com/office/drawing/2014/main" id="{14776210-EAB2-A637-CCDD-5B53B03E7D91}"/>
              </a:ext>
            </a:extLst>
          </p:cNvPr>
          <p:cNvSpPr/>
          <p:nvPr/>
        </p:nvSpPr>
        <p:spPr>
          <a:xfrm>
            <a:off x="7037295" y="5587318"/>
            <a:ext cx="3952758" cy="1119259"/>
          </a:xfrm>
          <a:prstGeom prst="wedgeRoundRectCallout">
            <a:avLst>
              <a:gd name="adj1" fmla="val -53122"/>
              <a:gd name="adj2" fmla="val -140971"/>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anose="00000500000000000000" pitchFamily="2" charset="0"/>
              </a:rPr>
              <a:t>Tuples can't be modified directly but can be recreated from existing ones.</a:t>
            </a:r>
          </a:p>
        </p:txBody>
      </p:sp>
    </p:spTree>
    <p:extLst>
      <p:ext uri="{BB962C8B-B14F-4D97-AF65-F5344CB8AC3E}">
        <p14:creationId xmlns:p14="http://schemas.microsoft.com/office/powerpoint/2010/main" val="50468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542D3-709A-C84F-F1E8-A35EBA99DC4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81CFD9B-C5A9-48B1-AB5A-8CC5F398A585}"/>
              </a:ext>
            </a:extLst>
          </p:cNvPr>
          <p:cNvSpPr>
            <a:spLocks noGrp="1"/>
          </p:cNvSpPr>
          <p:nvPr>
            <p:ph type="title"/>
          </p:nvPr>
        </p:nvSpPr>
        <p:spPr/>
        <p:txBody>
          <a:bodyPr/>
          <a:lstStyle/>
          <a:p>
            <a:pPr>
              <a:lnSpc>
                <a:spcPts val="3458"/>
              </a:lnSpc>
            </a:pPr>
            <a:r>
              <a:rPr lang="en-US" dirty="0">
                <a:latin typeface="Montserrat Bold" pitchFamily="34" charset="0"/>
                <a:ea typeface="Montserrat Bold" pitchFamily="34" charset="-122"/>
                <a:cs typeface="Montserrat Bold" pitchFamily="34" charset="-120"/>
              </a:rPr>
              <a:t>When to Use Tuples v. Lists</a:t>
            </a:r>
            <a:endParaRPr lang="en-US" dirty="0"/>
          </a:p>
        </p:txBody>
      </p:sp>
      <p:graphicFrame>
        <p:nvGraphicFramePr>
          <p:cNvPr id="2" name="Table 1">
            <a:extLst>
              <a:ext uri="{FF2B5EF4-FFF2-40B4-BE49-F238E27FC236}">
                <a16:creationId xmlns:a16="http://schemas.microsoft.com/office/drawing/2014/main" id="{4281D40E-9C7E-17A3-35C0-C415668FB9ED}"/>
              </a:ext>
            </a:extLst>
          </p:cNvPr>
          <p:cNvGraphicFramePr>
            <a:graphicFrameLocks noGrp="1"/>
          </p:cNvGraphicFramePr>
          <p:nvPr>
            <p:extLst>
              <p:ext uri="{D42A27DB-BD31-4B8C-83A1-F6EECF244321}">
                <p14:modId xmlns:p14="http://schemas.microsoft.com/office/powerpoint/2010/main" val="2941537361"/>
              </p:ext>
            </p:extLst>
          </p:nvPr>
        </p:nvGraphicFramePr>
        <p:xfrm>
          <a:off x="947746" y="1738648"/>
          <a:ext cx="9813430" cy="3896656"/>
        </p:xfrm>
        <a:graphic>
          <a:graphicData uri="http://schemas.openxmlformats.org/drawingml/2006/table">
            <a:tbl>
              <a:tblPr firstRow="1" bandRow="1">
                <a:tableStyleId>{21E4AEA4-8DFA-4A89-87EB-49C32662AFE0}</a:tableStyleId>
              </a:tblPr>
              <a:tblGrid>
                <a:gridCol w="4899771">
                  <a:extLst>
                    <a:ext uri="{9D8B030D-6E8A-4147-A177-3AD203B41FA5}">
                      <a16:colId xmlns:a16="http://schemas.microsoft.com/office/drawing/2014/main" val="3381634524"/>
                    </a:ext>
                  </a:extLst>
                </a:gridCol>
                <a:gridCol w="4913659">
                  <a:extLst>
                    <a:ext uri="{9D8B030D-6E8A-4147-A177-3AD203B41FA5}">
                      <a16:colId xmlns:a16="http://schemas.microsoft.com/office/drawing/2014/main" val="1997698634"/>
                    </a:ext>
                  </a:extLst>
                </a:gridCol>
              </a:tblGrid>
              <a:tr h="772808">
                <a:tc>
                  <a:txBody>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lang="en-US" sz="2200" b="1" dirty="0">
                        <a:solidFill>
                          <a:srgbClr val="25274D"/>
                        </a:solidFill>
                        <a:latin typeface="Montserrat Bold" pitchFamily="34" charset="0"/>
                        <a:ea typeface="Montserrat Bold" pitchFamily="34" charset="-122"/>
                        <a:cs typeface="Montserrat Bold" pitchFamily="34" charset="-120"/>
                      </a:endParaRPr>
                    </a:p>
                  </a:txBody>
                  <a:tcPr marL="110401" marR="110401" marT="55201" marB="55201">
                    <a:solidFill>
                      <a:srgbClr val="25274D"/>
                    </a:solidFill>
                  </a:tcPr>
                </a:tc>
                <a:tc>
                  <a:txBody>
                    <a:bodyPr/>
                    <a:lstStyle/>
                    <a:p>
                      <a:endParaRPr lang="en-GB" sz="2200" dirty="0">
                        <a:solidFill>
                          <a:srgbClr val="25274D"/>
                        </a:solidFill>
                      </a:endParaRPr>
                    </a:p>
                  </a:txBody>
                  <a:tcPr marL="110401" marR="110401" marT="55201" marB="55201">
                    <a:solidFill>
                      <a:srgbClr val="25274D"/>
                    </a:solidFill>
                  </a:tcPr>
                </a:tc>
                <a:extLst>
                  <a:ext uri="{0D108BD9-81ED-4DB2-BD59-A6C34878D82A}">
                    <a16:rowId xmlns:a16="http://schemas.microsoft.com/office/drawing/2014/main" val="1900871840"/>
                  </a:ext>
                </a:extLst>
              </a:tr>
              <a:tr h="772808">
                <a:tc>
                  <a:txBody>
                    <a:bodyPr/>
                    <a:lstStyle/>
                    <a:p>
                      <a:pPr>
                        <a:buNone/>
                      </a:pPr>
                      <a:r>
                        <a:rPr lang="en-US" sz="2200" dirty="0">
                          <a:solidFill>
                            <a:srgbClr val="25274D"/>
                          </a:solidFill>
                        </a:rPr>
                        <a:t>You need to modify the collection after creation</a:t>
                      </a:r>
                    </a:p>
                  </a:txBody>
                  <a:tcPr marL="110401" marR="110401" marT="55201" marB="55201" anchor="ctr">
                    <a:solidFill>
                      <a:schemeClr val="bg1">
                        <a:lumMod val="95000"/>
                      </a:schemeClr>
                    </a:solidFill>
                  </a:tcPr>
                </a:tc>
                <a:tc>
                  <a:txBody>
                    <a:bodyPr/>
                    <a:lstStyle/>
                    <a:p>
                      <a:pPr>
                        <a:buNone/>
                      </a:pPr>
                      <a:r>
                        <a:rPr lang="en-US" sz="2200" dirty="0">
                          <a:solidFill>
                            <a:srgbClr val="25274D"/>
                          </a:solidFill>
                        </a:rPr>
                        <a:t>Your data should not change (constants)</a:t>
                      </a:r>
                    </a:p>
                  </a:txBody>
                  <a:tcPr marL="110401" marR="110401" marT="55201" marB="55201" anchor="ctr">
                    <a:solidFill>
                      <a:schemeClr val="bg1">
                        <a:lumMod val="95000"/>
                      </a:schemeClr>
                    </a:solidFill>
                  </a:tcPr>
                </a:tc>
                <a:extLst>
                  <a:ext uri="{0D108BD9-81ED-4DB2-BD59-A6C34878D82A}">
                    <a16:rowId xmlns:a16="http://schemas.microsoft.com/office/drawing/2014/main" val="2978793993"/>
                  </a:ext>
                </a:extLst>
              </a:tr>
              <a:tr h="441604">
                <a:tc>
                  <a:txBody>
                    <a:bodyPr/>
                    <a:lstStyle/>
                    <a:p>
                      <a:pPr>
                        <a:buNone/>
                      </a:pPr>
                      <a:r>
                        <a:rPr lang="en-US" sz="2200" dirty="0">
                          <a:solidFill>
                            <a:srgbClr val="25274D"/>
                          </a:solidFill>
                        </a:rPr>
                        <a:t>You want to add or remove items</a:t>
                      </a:r>
                    </a:p>
                  </a:txBody>
                  <a:tcPr marL="110401" marR="110401" marT="55201" marB="55201" anchor="ctr">
                    <a:solidFill>
                      <a:schemeClr val="bg1"/>
                    </a:solidFill>
                  </a:tcPr>
                </a:tc>
                <a:tc>
                  <a:txBody>
                    <a:bodyPr/>
                    <a:lstStyle/>
                    <a:p>
                      <a:pPr>
                        <a:buNone/>
                      </a:pPr>
                      <a:r>
                        <a:rPr lang="en-IN" sz="2200" dirty="0">
                          <a:solidFill>
                            <a:srgbClr val="25274D"/>
                          </a:solidFill>
                        </a:rPr>
                        <a:t>You need dictionary keys</a:t>
                      </a:r>
                    </a:p>
                  </a:txBody>
                  <a:tcPr marL="110401" marR="110401" marT="55201" marB="55201" anchor="ctr">
                    <a:solidFill>
                      <a:schemeClr val="bg1"/>
                    </a:solidFill>
                  </a:tcPr>
                </a:tc>
                <a:extLst>
                  <a:ext uri="{0D108BD9-81ED-4DB2-BD59-A6C34878D82A}">
                    <a16:rowId xmlns:a16="http://schemas.microsoft.com/office/drawing/2014/main" val="2286572336"/>
                  </a:ext>
                </a:extLst>
              </a:tr>
              <a:tr h="772808">
                <a:tc>
                  <a:txBody>
                    <a:bodyPr/>
                    <a:lstStyle/>
                    <a:p>
                      <a:pPr>
                        <a:buNone/>
                      </a:pPr>
                      <a:r>
                        <a:rPr lang="en-US" sz="2200" dirty="0">
                          <a:solidFill>
                            <a:srgbClr val="25274D"/>
                          </a:solidFill>
                        </a:rPr>
                        <a:t>Your data needs to be sorted or rearranged</a:t>
                      </a:r>
                    </a:p>
                  </a:txBody>
                  <a:tcPr marL="110401" marR="110401" marT="55201" marB="55201" anchor="ctr">
                    <a:solidFill>
                      <a:schemeClr val="bg1">
                        <a:lumMod val="95000"/>
                      </a:schemeClr>
                    </a:solidFill>
                  </a:tcPr>
                </a:tc>
                <a:tc>
                  <a:txBody>
                    <a:bodyPr/>
                    <a:lstStyle/>
                    <a:p>
                      <a:pPr>
                        <a:buNone/>
                      </a:pPr>
                      <a:r>
                        <a:rPr lang="en-US" sz="2200" dirty="0">
                          <a:solidFill>
                            <a:srgbClr val="25274D"/>
                          </a:solidFill>
                        </a:rPr>
                        <a:t>You want slightly better performance</a:t>
                      </a:r>
                    </a:p>
                  </a:txBody>
                  <a:tcPr marL="110401" marR="110401" marT="55201" marB="55201" anchor="ctr">
                    <a:solidFill>
                      <a:schemeClr val="bg1">
                        <a:lumMod val="95000"/>
                      </a:schemeClr>
                    </a:solidFill>
                  </a:tcPr>
                </a:tc>
                <a:extLst>
                  <a:ext uri="{0D108BD9-81ED-4DB2-BD59-A6C34878D82A}">
                    <a16:rowId xmlns:a16="http://schemas.microsoft.com/office/drawing/2014/main" val="3043788039"/>
                  </a:ext>
                </a:extLst>
              </a:tr>
              <a:tr h="1104011">
                <a:tc>
                  <a:txBody>
                    <a:bodyPr/>
                    <a:lstStyle/>
                    <a:p>
                      <a:pPr>
                        <a:buNone/>
                      </a:pPr>
                      <a:r>
                        <a:rPr lang="en-US" sz="2200" dirty="0">
                          <a:solidFill>
                            <a:srgbClr val="25274D"/>
                          </a:solidFill>
                        </a:rPr>
                        <a:t>You're collecting user input or growing a collection</a:t>
                      </a:r>
                    </a:p>
                  </a:txBody>
                  <a:tcPr marL="110401" marR="110401" marT="55201" marB="55201" anchor="ctr">
                    <a:solidFill>
                      <a:schemeClr val="bg1"/>
                    </a:solidFill>
                  </a:tcPr>
                </a:tc>
                <a:tc>
                  <a:txBody>
                    <a:bodyPr/>
                    <a:lstStyle/>
                    <a:p>
                      <a:pPr>
                        <a:buNone/>
                      </a:pPr>
                      <a:r>
                        <a:rPr lang="en-US" sz="2200" dirty="0">
                          <a:solidFill>
                            <a:srgbClr val="25274D"/>
                          </a:solidFill>
                        </a:rPr>
                        <a:t>You're returning multiple values from a function and ensuring data integrity</a:t>
                      </a:r>
                    </a:p>
                  </a:txBody>
                  <a:tcPr marL="110401" marR="110401" marT="55201" marB="55201" anchor="ctr">
                    <a:solidFill>
                      <a:schemeClr val="bg1"/>
                    </a:solidFill>
                  </a:tcPr>
                </a:tc>
                <a:extLst>
                  <a:ext uri="{0D108BD9-81ED-4DB2-BD59-A6C34878D82A}">
                    <a16:rowId xmlns:a16="http://schemas.microsoft.com/office/drawing/2014/main" val="3409019018"/>
                  </a:ext>
                </a:extLst>
              </a:tr>
            </a:tbl>
          </a:graphicData>
        </a:graphic>
      </p:graphicFrame>
      <p:sp>
        <p:nvSpPr>
          <p:cNvPr id="4" name="TextBox 3">
            <a:extLst>
              <a:ext uri="{FF2B5EF4-FFF2-40B4-BE49-F238E27FC236}">
                <a16:creationId xmlns:a16="http://schemas.microsoft.com/office/drawing/2014/main" id="{36EF2FB6-BF16-ADF9-D9C7-9A50EAAAB447}"/>
              </a:ext>
            </a:extLst>
          </p:cNvPr>
          <p:cNvSpPr txBox="1"/>
          <p:nvPr/>
        </p:nvSpPr>
        <p:spPr>
          <a:xfrm>
            <a:off x="2438400" y="1952625"/>
            <a:ext cx="2057400" cy="369332"/>
          </a:xfrm>
          <a:prstGeom prst="rect">
            <a:avLst/>
          </a:prstGeom>
          <a:noFill/>
        </p:spPr>
        <p:txBody>
          <a:bodyPr wrap="square">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Montserrat Bold" pitchFamily="34" charset="0"/>
                <a:ea typeface="Montserrat Bold" pitchFamily="34" charset="-122"/>
                <a:cs typeface="Montserrat Bold" pitchFamily="34" charset="-120"/>
              </a:rPr>
              <a:t>Use lists when</a:t>
            </a:r>
          </a:p>
        </p:txBody>
      </p:sp>
      <p:sp>
        <p:nvSpPr>
          <p:cNvPr id="5" name="TextBox 4">
            <a:extLst>
              <a:ext uri="{FF2B5EF4-FFF2-40B4-BE49-F238E27FC236}">
                <a16:creationId xmlns:a16="http://schemas.microsoft.com/office/drawing/2014/main" id="{B6691E39-F25A-368A-6CCE-2C8F99A73E77}"/>
              </a:ext>
            </a:extLst>
          </p:cNvPr>
          <p:cNvSpPr txBox="1"/>
          <p:nvPr/>
        </p:nvSpPr>
        <p:spPr>
          <a:xfrm>
            <a:off x="6858000" y="1952625"/>
            <a:ext cx="2800350" cy="369332"/>
          </a:xfrm>
          <a:prstGeom prst="rect">
            <a:avLst/>
          </a:prstGeom>
          <a:noFill/>
        </p:spPr>
        <p:txBody>
          <a:bodyPr wrap="square">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Montserrat Bold" pitchFamily="34" charset="0"/>
                <a:ea typeface="Montserrat Bold" pitchFamily="34" charset="-122"/>
                <a:cs typeface="Montserrat Bold" pitchFamily="34" charset="-120"/>
              </a:rPr>
              <a:t>Use tuples when</a:t>
            </a:r>
          </a:p>
        </p:txBody>
      </p:sp>
    </p:spTree>
    <p:extLst>
      <p:ext uri="{BB962C8B-B14F-4D97-AF65-F5344CB8AC3E}">
        <p14:creationId xmlns:p14="http://schemas.microsoft.com/office/powerpoint/2010/main" val="34145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529D9-3C89-F758-DDDD-43E6F3E4132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948DEEB-F81E-F334-499A-9E731BA709A0}"/>
              </a:ext>
            </a:extLst>
          </p:cNvPr>
          <p:cNvSpPr>
            <a:spLocks noGrp="1"/>
          </p:cNvSpPr>
          <p:nvPr>
            <p:ph type="body" sz="quarter" idx="12"/>
          </p:nvPr>
        </p:nvSpPr>
        <p:spPr>
          <a:xfrm>
            <a:off x="749999" y="2482074"/>
            <a:ext cx="5761160" cy="1893851"/>
          </a:xfrm>
        </p:spPr>
        <p:txBody>
          <a:bodyPr>
            <a:normAutofit/>
          </a:bodyPr>
          <a:lstStyle/>
          <a:p>
            <a:pPr>
              <a:lnSpc>
                <a:spcPts val="4042"/>
              </a:lnSpc>
            </a:pPr>
            <a:r>
              <a:rPr lang="en-US" sz="3600" dirty="0">
                <a:latin typeface="Montserrat Bold" pitchFamily="34" charset="0"/>
                <a:ea typeface="Montserrat Bold" pitchFamily="34" charset="-122"/>
                <a:cs typeface="Montserrat Bold" pitchFamily="34" charset="-120"/>
              </a:rPr>
              <a:t>Sets</a:t>
            </a:r>
            <a:endParaRPr lang="en-US" sz="3600" dirty="0"/>
          </a:p>
        </p:txBody>
      </p:sp>
      <p:sp>
        <p:nvSpPr>
          <p:cNvPr id="2" name="Text 1">
            <a:extLst>
              <a:ext uri="{FF2B5EF4-FFF2-40B4-BE49-F238E27FC236}">
                <a16:creationId xmlns:a16="http://schemas.microsoft.com/office/drawing/2014/main" id="{A5F44473-BC03-1D40-E1C3-69FC098F051B}"/>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5 of 12)</a:t>
            </a:r>
            <a:endParaRPr lang="en-US" dirty="0">
              <a:solidFill>
                <a:srgbClr val="25274D"/>
              </a:solidFill>
            </a:endParaRPr>
          </a:p>
        </p:txBody>
      </p:sp>
    </p:spTree>
    <p:extLst>
      <p:ext uri="{BB962C8B-B14F-4D97-AF65-F5344CB8AC3E}">
        <p14:creationId xmlns:p14="http://schemas.microsoft.com/office/powerpoint/2010/main" val="102457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A0A9D-0289-0876-0BB8-A0E3E9DD9937}"/>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47890E60-0593-5766-52E6-AD954A74E5F2}"/>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Set in Python </a:t>
            </a:r>
            <a:endParaRPr lang="en-US" dirty="0"/>
          </a:p>
        </p:txBody>
      </p:sp>
      <p:sp>
        <p:nvSpPr>
          <p:cNvPr id="4" name="Text Placeholder 3">
            <a:extLst>
              <a:ext uri="{FF2B5EF4-FFF2-40B4-BE49-F238E27FC236}">
                <a16:creationId xmlns:a16="http://schemas.microsoft.com/office/drawing/2014/main" id="{5B28B26F-5A8B-77BC-0251-A0647DE5D6E2}"/>
              </a:ext>
            </a:extLst>
          </p:cNvPr>
          <p:cNvSpPr>
            <a:spLocks noGrp="1"/>
          </p:cNvSpPr>
          <p:nvPr>
            <p:ph type="body" sz="quarter" idx="10"/>
          </p:nvPr>
        </p:nvSpPr>
        <p:spPr/>
        <p:txBody>
          <a:bodyPr/>
          <a:lstStyle/>
          <a:p>
            <a:r>
              <a:rPr lang="en-US" dirty="0"/>
              <a:t>A Collection of Unique, Unordered Items</a:t>
            </a:r>
            <a:endParaRPr lang="en-GB" dirty="0"/>
          </a:p>
        </p:txBody>
      </p:sp>
      <p:pic>
        <p:nvPicPr>
          <p:cNvPr id="6" name="Picture Placeholder 5" descr="A person touching a screen with his finger&#10;&#10;AI-generated content may be incorrect.">
            <a:extLst>
              <a:ext uri="{FF2B5EF4-FFF2-40B4-BE49-F238E27FC236}">
                <a16:creationId xmlns:a16="http://schemas.microsoft.com/office/drawing/2014/main" id="{C1775778-6527-20AB-C4E7-27A17937B07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2956" b="2956"/>
          <a:stretch>
            <a:fillRect/>
          </a:stretch>
        </p:blipFill>
        <p:spPr/>
      </p:pic>
      <p:grpSp>
        <p:nvGrpSpPr>
          <p:cNvPr id="7" name="Group 6">
            <a:extLst>
              <a:ext uri="{FF2B5EF4-FFF2-40B4-BE49-F238E27FC236}">
                <a16:creationId xmlns:a16="http://schemas.microsoft.com/office/drawing/2014/main" id="{0FBE2E4C-4294-DA26-3115-C6077FD8152E}"/>
              </a:ext>
            </a:extLst>
          </p:cNvPr>
          <p:cNvGrpSpPr/>
          <p:nvPr/>
        </p:nvGrpSpPr>
        <p:grpSpPr>
          <a:xfrm>
            <a:off x="6324600" y="2043984"/>
            <a:ext cx="4876800" cy="1057964"/>
            <a:chOff x="1901372" y="1330886"/>
            <a:chExt cx="4497185" cy="1057964"/>
          </a:xfrm>
        </p:grpSpPr>
        <p:grpSp>
          <p:nvGrpSpPr>
            <p:cNvPr id="8" name="Group 7">
              <a:extLst>
                <a:ext uri="{FF2B5EF4-FFF2-40B4-BE49-F238E27FC236}">
                  <a16:creationId xmlns:a16="http://schemas.microsoft.com/office/drawing/2014/main" id="{E3BA3A80-97AD-3D64-2A7B-0476DB37B1C9}"/>
                </a:ext>
              </a:extLst>
            </p:cNvPr>
            <p:cNvGrpSpPr/>
            <p:nvPr/>
          </p:nvGrpSpPr>
          <p:grpSpPr>
            <a:xfrm>
              <a:off x="1901372" y="1330886"/>
              <a:ext cx="4497185" cy="1057964"/>
              <a:chOff x="1234865" y="1792106"/>
              <a:chExt cx="4497185" cy="1057964"/>
            </a:xfrm>
          </p:grpSpPr>
          <p:sp>
            <p:nvSpPr>
              <p:cNvPr id="10" name="Rectangle: Rounded Corners 9">
                <a:extLst>
                  <a:ext uri="{FF2B5EF4-FFF2-40B4-BE49-F238E27FC236}">
                    <a16:creationId xmlns:a16="http://schemas.microsoft.com/office/drawing/2014/main" id="{0896B6A9-9995-6631-6985-9D71C61E275F}"/>
                  </a:ext>
                </a:extLst>
              </p:cNvPr>
              <p:cNvSpPr/>
              <p:nvPr/>
            </p:nvSpPr>
            <p:spPr>
              <a:xfrm>
                <a:off x="1234865" y="1792106"/>
                <a:ext cx="4497185" cy="1057964"/>
              </a:xfrm>
              <a:prstGeom prst="roundRect">
                <a:avLst>
                  <a:gd name="adj" fmla="val 9369"/>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E072079F-7BFB-353B-0F10-9092FFC49FEF}"/>
                  </a:ext>
                </a:extLst>
              </p:cNvPr>
              <p:cNvSpPr txBox="1"/>
              <p:nvPr/>
            </p:nvSpPr>
            <p:spPr>
              <a:xfrm>
                <a:off x="1839024" y="1835998"/>
                <a:ext cx="2530212"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Unordered collection</a:t>
                </a:r>
              </a:p>
            </p:txBody>
          </p:sp>
          <p:sp>
            <p:nvSpPr>
              <p:cNvPr id="12" name="TextBox 11">
                <a:extLst>
                  <a:ext uri="{FF2B5EF4-FFF2-40B4-BE49-F238E27FC236}">
                    <a16:creationId xmlns:a16="http://schemas.microsoft.com/office/drawing/2014/main" id="{ACDA5552-9878-86BB-02B0-B8DDA15EED06}"/>
                  </a:ext>
                </a:extLst>
              </p:cNvPr>
              <p:cNvSpPr txBox="1"/>
              <p:nvPr/>
            </p:nvSpPr>
            <p:spPr>
              <a:xfrm>
                <a:off x="1839024" y="2137334"/>
                <a:ext cx="3717850"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Elements have no specific order and cannot be accessed by index</a:t>
                </a:r>
              </a:p>
            </p:txBody>
          </p:sp>
        </p:grpSp>
        <p:sp>
          <p:nvSpPr>
            <p:cNvPr id="9" name="Freeform 45">
              <a:extLst>
                <a:ext uri="{FF2B5EF4-FFF2-40B4-BE49-F238E27FC236}">
                  <a16:creationId xmlns:a16="http://schemas.microsoft.com/office/drawing/2014/main" id="{189C7151-1C88-FCAF-B40B-7FA00DBBFE91}"/>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3" name="Group 12">
            <a:extLst>
              <a:ext uri="{FF2B5EF4-FFF2-40B4-BE49-F238E27FC236}">
                <a16:creationId xmlns:a16="http://schemas.microsoft.com/office/drawing/2014/main" id="{6AADBED4-78A4-0606-0169-80E2A94F4E83}"/>
              </a:ext>
            </a:extLst>
          </p:cNvPr>
          <p:cNvGrpSpPr/>
          <p:nvPr/>
        </p:nvGrpSpPr>
        <p:grpSpPr>
          <a:xfrm>
            <a:off x="6324600" y="3280356"/>
            <a:ext cx="4876800" cy="1057964"/>
            <a:chOff x="1901372" y="1330886"/>
            <a:chExt cx="4497185" cy="1057964"/>
          </a:xfrm>
        </p:grpSpPr>
        <p:grpSp>
          <p:nvGrpSpPr>
            <p:cNvPr id="14" name="Group 13">
              <a:extLst>
                <a:ext uri="{FF2B5EF4-FFF2-40B4-BE49-F238E27FC236}">
                  <a16:creationId xmlns:a16="http://schemas.microsoft.com/office/drawing/2014/main" id="{D864E6A3-A21B-C247-6B1E-DB3E6447E089}"/>
                </a:ext>
              </a:extLst>
            </p:cNvPr>
            <p:cNvGrpSpPr/>
            <p:nvPr/>
          </p:nvGrpSpPr>
          <p:grpSpPr>
            <a:xfrm>
              <a:off x="1901372" y="1330886"/>
              <a:ext cx="4497185" cy="1057964"/>
              <a:chOff x="1234865" y="1792106"/>
              <a:chExt cx="4497185" cy="1057964"/>
            </a:xfrm>
          </p:grpSpPr>
          <p:sp>
            <p:nvSpPr>
              <p:cNvPr id="16" name="Rectangle: Rounded Corners 15">
                <a:extLst>
                  <a:ext uri="{FF2B5EF4-FFF2-40B4-BE49-F238E27FC236}">
                    <a16:creationId xmlns:a16="http://schemas.microsoft.com/office/drawing/2014/main" id="{BCC8927B-089B-53B2-03B6-48C94D9AFF68}"/>
                  </a:ext>
                </a:extLst>
              </p:cNvPr>
              <p:cNvSpPr/>
              <p:nvPr/>
            </p:nvSpPr>
            <p:spPr>
              <a:xfrm>
                <a:off x="1234865" y="1792106"/>
                <a:ext cx="4497185" cy="1057964"/>
              </a:xfrm>
              <a:prstGeom prst="roundRect">
                <a:avLst>
                  <a:gd name="adj" fmla="val 9369"/>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2DB0845-0785-CE4D-6362-D06BC9CB5132}"/>
                  </a:ext>
                </a:extLst>
              </p:cNvPr>
              <p:cNvSpPr txBox="1"/>
              <p:nvPr/>
            </p:nvSpPr>
            <p:spPr>
              <a:xfrm>
                <a:off x="1839024" y="1835998"/>
                <a:ext cx="2838998"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No duplicate elements</a:t>
                </a:r>
              </a:p>
            </p:txBody>
          </p:sp>
          <p:sp>
            <p:nvSpPr>
              <p:cNvPr id="19" name="TextBox 18">
                <a:extLst>
                  <a:ext uri="{FF2B5EF4-FFF2-40B4-BE49-F238E27FC236}">
                    <a16:creationId xmlns:a16="http://schemas.microsoft.com/office/drawing/2014/main" id="{0A9D6183-1358-66F8-E974-C18FA891D66E}"/>
                  </a:ext>
                </a:extLst>
              </p:cNvPr>
              <p:cNvSpPr txBox="1"/>
              <p:nvPr/>
            </p:nvSpPr>
            <p:spPr>
              <a:xfrm>
                <a:off x="1839024" y="2137334"/>
                <a:ext cx="3717850"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Duplicates are removed, and each element appears only once</a:t>
                </a:r>
              </a:p>
            </p:txBody>
          </p:sp>
        </p:grpSp>
        <p:sp>
          <p:nvSpPr>
            <p:cNvPr id="15" name="Freeform 45">
              <a:extLst>
                <a:ext uri="{FF2B5EF4-FFF2-40B4-BE49-F238E27FC236}">
                  <a16:creationId xmlns:a16="http://schemas.microsoft.com/office/drawing/2014/main" id="{CD1897AC-A8E4-AB47-2359-5BB08444F826}"/>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24" name="Group 23">
            <a:extLst>
              <a:ext uri="{FF2B5EF4-FFF2-40B4-BE49-F238E27FC236}">
                <a16:creationId xmlns:a16="http://schemas.microsoft.com/office/drawing/2014/main" id="{C2E5FCF4-B0DE-543E-9D9F-EC8047B925FF}"/>
              </a:ext>
            </a:extLst>
          </p:cNvPr>
          <p:cNvGrpSpPr/>
          <p:nvPr/>
        </p:nvGrpSpPr>
        <p:grpSpPr>
          <a:xfrm>
            <a:off x="6324600" y="4478091"/>
            <a:ext cx="4876800" cy="1057964"/>
            <a:chOff x="1901372" y="1330886"/>
            <a:chExt cx="4497185" cy="1057964"/>
          </a:xfrm>
        </p:grpSpPr>
        <p:grpSp>
          <p:nvGrpSpPr>
            <p:cNvPr id="26" name="Group 25">
              <a:extLst>
                <a:ext uri="{FF2B5EF4-FFF2-40B4-BE49-F238E27FC236}">
                  <a16:creationId xmlns:a16="http://schemas.microsoft.com/office/drawing/2014/main" id="{7BDBF326-A35C-BE7B-9005-D8DB3058F9AB}"/>
                </a:ext>
              </a:extLst>
            </p:cNvPr>
            <p:cNvGrpSpPr/>
            <p:nvPr/>
          </p:nvGrpSpPr>
          <p:grpSpPr>
            <a:xfrm>
              <a:off x="1901372" y="1330886"/>
              <a:ext cx="4497185" cy="1057964"/>
              <a:chOff x="1234865" y="1792106"/>
              <a:chExt cx="4497185" cy="1057964"/>
            </a:xfrm>
          </p:grpSpPr>
          <p:sp>
            <p:nvSpPr>
              <p:cNvPr id="28" name="Rectangle: Rounded Corners 27">
                <a:extLst>
                  <a:ext uri="{FF2B5EF4-FFF2-40B4-BE49-F238E27FC236}">
                    <a16:creationId xmlns:a16="http://schemas.microsoft.com/office/drawing/2014/main" id="{F74E3EA3-2088-916C-B9E9-A5019D7B2078}"/>
                  </a:ext>
                </a:extLst>
              </p:cNvPr>
              <p:cNvSpPr/>
              <p:nvPr/>
            </p:nvSpPr>
            <p:spPr>
              <a:xfrm>
                <a:off x="1234865" y="1792106"/>
                <a:ext cx="4497185" cy="1057964"/>
              </a:xfrm>
              <a:prstGeom prst="roundRect">
                <a:avLst>
                  <a:gd name="adj" fmla="val 9369"/>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F7B38C0F-6815-0015-30A7-15F8E37DE531}"/>
                  </a:ext>
                </a:extLst>
              </p:cNvPr>
              <p:cNvSpPr txBox="1"/>
              <p:nvPr/>
            </p:nvSpPr>
            <p:spPr>
              <a:xfrm>
                <a:off x="1839024" y="1835998"/>
                <a:ext cx="2838998"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Mutable</a:t>
                </a:r>
              </a:p>
            </p:txBody>
          </p:sp>
          <p:sp>
            <p:nvSpPr>
              <p:cNvPr id="30" name="TextBox 29">
                <a:extLst>
                  <a:ext uri="{FF2B5EF4-FFF2-40B4-BE49-F238E27FC236}">
                    <a16:creationId xmlns:a16="http://schemas.microsoft.com/office/drawing/2014/main" id="{63F06D04-6057-9F5E-B82A-53296C8438C9}"/>
                  </a:ext>
                </a:extLst>
              </p:cNvPr>
              <p:cNvSpPr txBox="1"/>
              <p:nvPr/>
            </p:nvSpPr>
            <p:spPr>
              <a:xfrm>
                <a:off x="1839024" y="2137334"/>
                <a:ext cx="3717850"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Elements can be added or removed after the set is created</a:t>
                </a:r>
              </a:p>
            </p:txBody>
          </p:sp>
        </p:grpSp>
        <p:sp>
          <p:nvSpPr>
            <p:cNvPr id="27" name="Freeform 45">
              <a:extLst>
                <a:ext uri="{FF2B5EF4-FFF2-40B4-BE49-F238E27FC236}">
                  <a16:creationId xmlns:a16="http://schemas.microsoft.com/office/drawing/2014/main" id="{8485298C-22C6-6D88-D912-F128FF517E4B}"/>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76758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nodeType="withEffect">
                                  <p:stCondLst>
                                    <p:cond delay="5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childTnLst>
                                </p:cTn>
                              </p:par>
                              <p:par>
                                <p:cTn id="17" presetID="10" presetClass="entr" presetSubtype="0" fill="hold" nodeType="withEffect">
                                  <p:stCondLst>
                                    <p:cond delay="5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childTnLst>
                                </p:cTn>
                              </p:par>
                              <p:par>
                                <p:cTn id="20" presetID="10" presetClass="entr" presetSubtype="0" fill="hold" nodeType="withEffect">
                                  <p:stCondLst>
                                    <p:cond delay="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D9B35-1890-D590-779A-17AD56BE93A5}"/>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14A24C58-55C9-AB67-A742-9CD74D8C047E}"/>
              </a:ext>
            </a:extLst>
          </p:cNvPr>
          <p:cNvSpPr>
            <a:spLocks noGrp="1"/>
          </p:cNvSpPr>
          <p:nvPr>
            <p:ph type="title"/>
          </p:nvPr>
        </p:nvSpPr>
        <p:spPr/>
        <p:txBody>
          <a:bodyPr/>
          <a:lstStyle/>
          <a:p>
            <a:pPr>
              <a:lnSpc>
                <a:spcPts val="2625"/>
              </a:lnSpc>
            </a:pPr>
            <a:r>
              <a:rPr lang="en-US" dirty="0">
                <a:latin typeface="Montserrat Bold" pitchFamily="34" charset="0"/>
                <a:ea typeface="Montserrat Bold" pitchFamily="34" charset="-122"/>
                <a:cs typeface="Montserrat Bold" pitchFamily="34" charset="-120"/>
              </a:rPr>
              <a:t>Creating a Set in Python</a:t>
            </a:r>
            <a:endParaRPr lang="en-US" dirty="0"/>
          </a:p>
        </p:txBody>
      </p:sp>
      <p:sp>
        <p:nvSpPr>
          <p:cNvPr id="5" name="TextBox 4">
            <a:extLst>
              <a:ext uri="{FF2B5EF4-FFF2-40B4-BE49-F238E27FC236}">
                <a16:creationId xmlns:a16="http://schemas.microsoft.com/office/drawing/2014/main" id="{F361E963-CB27-AEF7-CD5F-B606400A6BAB}"/>
              </a:ext>
            </a:extLst>
          </p:cNvPr>
          <p:cNvSpPr txBox="1"/>
          <p:nvPr/>
        </p:nvSpPr>
        <p:spPr>
          <a:xfrm>
            <a:off x="2461154" y="1117600"/>
            <a:ext cx="5098745" cy="400494"/>
          </a:xfrm>
          <a:prstGeom prst="rect">
            <a:avLst/>
          </a:prstGeom>
          <a:noFill/>
        </p:spPr>
        <p:txBody>
          <a:bodyPr wrap="square">
            <a:spAutoFit/>
          </a:bodyPr>
          <a:lstStyle/>
          <a:p>
            <a:pPr marR="0">
              <a:lnSpc>
                <a:spcPct val="115000"/>
              </a:lnSpc>
              <a:spcAft>
                <a:spcPts val="800"/>
              </a:spcAft>
            </a:pP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Use curly braces </a:t>
            </a:r>
            <a:r>
              <a:rPr lang="en-US" sz="1800" kern="100" dirty="0">
                <a:solidFill>
                  <a:srgbClr val="25274D"/>
                </a:solidFill>
                <a:effectLst/>
                <a:latin typeface="Montserrat" panose="00000500000000000000" pitchFamily="2" charset="0"/>
                <a:ea typeface="Aptos" panose="020B0004020202020204" pitchFamily="34" charset="0"/>
                <a:cs typeface="Courier New" panose="02070309020205020404" pitchFamily="49" charset="0"/>
              </a:rPr>
              <a:t>{ }</a:t>
            </a: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 or the </a:t>
            </a:r>
            <a:r>
              <a:rPr lang="en-US" sz="1800" kern="100" dirty="0">
                <a:solidFill>
                  <a:srgbClr val="25274D"/>
                </a:solidFill>
                <a:effectLst/>
                <a:latin typeface="Consolas" panose="020B0609020204030204" pitchFamily="49" charset="0"/>
                <a:ea typeface="Aptos" panose="020B0004020202020204" pitchFamily="34" charset="0"/>
                <a:cs typeface="Arial" panose="020B0604020202020204" pitchFamily="34" charset="0"/>
              </a:rPr>
              <a:t>set</a:t>
            </a:r>
            <a:r>
              <a:rPr lang="en-US" sz="1800" kern="100" dirty="0">
                <a:solidFill>
                  <a:srgbClr val="25274D"/>
                </a:solidFill>
                <a:effectLst/>
                <a:latin typeface="Consolas" panose="020B0609020204030204" pitchFamily="49" charset="0"/>
                <a:ea typeface="Aptos" panose="020B0004020202020204" pitchFamily="34" charset="0"/>
                <a:cs typeface="Courier New" panose="02070309020205020404" pitchFamily="49" charset="0"/>
              </a:rPr>
              <a:t>( )</a:t>
            </a:r>
            <a:r>
              <a:rPr lang="en-US" sz="1800" kern="100" dirty="0">
                <a:solidFill>
                  <a:srgbClr val="25274D"/>
                </a:solidFill>
                <a:effectLst/>
                <a:latin typeface="Consolas" panose="020B0609020204030204" pitchFamily="49" charset="0"/>
                <a:ea typeface="Aptos" panose="020B0004020202020204" pitchFamily="34" charset="0"/>
                <a:cs typeface="Arial" panose="020B0604020202020204" pitchFamily="34" charset="0"/>
              </a:rPr>
              <a:t> </a:t>
            </a: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function.</a:t>
            </a:r>
          </a:p>
        </p:txBody>
      </p:sp>
      <p:grpSp>
        <p:nvGrpSpPr>
          <p:cNvPr id="4" name="Group 3">
            <a:extLst>
              <a:ext uri="{FF2B5EF4-FFF2-40B4-BE49-F238E27FC236}">
                <a16:creationId xmlns:a16="http://schemas.microsoft.com/office/drawing/2014/main" id="{079391B5-6274-D22C-CE62-85D16CDFC958}"/>
              </a:ext>
            </a:extLst>
          </p:cNvPr>
          <p:cNvGrpSpPr/>
          <p:nvPr/>
        </p:nvGrpSpPr>
        <p:grpSpPr>
          <a:xfrm>
            <a:off x="2705100" y="1604474"/>
            <a:ext cx="6781800" cy="3982843"/>
            <a:chOff x="2235200" y="1604474"/>
            <a:chExt cx="6781800" cy="3982843"/>
          </a:xfrm>
        </p:grpSpPr>
        <p:sp>
          <p:nvSpPr>
            <p:cNvPr id="3" name="Rectangle: Rounded Corners 2">
              <a:extLst>
                <a:ext uri="{FF2B5EF4-FFF2-40B4-BE49-F238E27FC236}">
                  <a16:creationId xmlns:a16="http://schemas.microsoft.com/office/drawing/2014/main" id="{5A366FC2-0C28-3F4D-4AD7-4980974C63CA}"/>
                </a:ext>
              </a:extLst>
            </p:cNvPr>
            <p:cNvSpPr/>
            <p:nvPr/>
          </p:nvSpPr>
          <p:spPr>
            <a:xfrm>
              <a:off x="2235200" y="1604474"/>
              <a:ext cx="6781800" cy="398284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386BF48E-C4ED-C7D5-209D-B8A1AE18B023}"/>
                </a:ext>
              </a:extLst>
            </p:cNvPr>
            <p:cNvPicPr>
              <a:picLocks noChangeAspect="1"/>
            </p:cNvPicPr>
            <p:nvPr/>
          </p:nvPicPr>
          <p:blipFill>
            <a:blip r:embed="rId3"/>
            <a:stretch>
              <a:fillRect/>
            </a:stretch>
          </p:blipFill>
          <p:spPr>
            <a:xfrm>
              <a:off x="2513277" y="1871964"/>
              <a:ext cx="6225646" cy="3447863"/>
            </a:xfrm>
            <a:prstGeom prst="rect">
              <a:avLst/>
            </a:prstGeom>
          </p:spPr>
        </p:pic>
      </p:grpSp>
      <p:sp>
        <p:nvSpPr>
          <p:cNvPr id="2" name="Speech Bubble: Rectangle with Corners Rounded 1">
            <a:extLst>
              <a:ext uri="{FF2B5EF4-FFF2-40B4-BE49-F238E27FC236}">
                <a16:creationId xmlns:a16="http://schemas.microsoft.com/office/drawing/2014/main" id="{D3FDEDEB-8B2B-257B-446D-87A6FC1DF896}"/>
              </a:ext>
            </a:extLst>
          </p:cNvPr>
          <p:cNvSpPr/>
          <p:nvPr/>
        </p:nvSpPr>
        <p:spPr>
          <a:xfrm>
            <a:off x="7037295" y="5587318"/>
            <a:ext cx="3536260" cy="1119259"/>
          </a:xfrm>
          <a:prstGeom prst="wedgeRoundRectCallout">
            <a:avLst>
              <a:gd name="adj1" fmla="val -41337"/>
              <a:gd name="adj2" fmla="val -108601"/>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latin typeface="Montserrat" panose="00000500000000000000" pitchFamily="2" charset="0"/>
              </a:rPr>
              <a:t>Use set( ) to create an empty set, not { }, which creates an empty dictionary.</a:t>
            </a:r>
          </a:p>
        </p:txBody>
      </p:sp>
    </p:spTree>
    <p:extLst>
      <p:ext uri="{BB962C8B-B14F-4D97-AF65-F5344CB8AC3E}">
        <p14:creationId xmlns:p14="http://schemas.microsoft.com/office/powerpoint/2010/main" val="280229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par>
                                <p:cTn id="14" presetID="10" presetClass="entr" presetSubtype="0" fill="hold" nodeType="withEffect">
                                  <p:stCondLst>
                                    <p:cond delay="5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 grpId="0"/>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7A254-C546-E531-AF0E-F28EBD168F96}"/>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CE529D79-0F65-1748-F28B-CCD556FFCB3A}"/>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Key Properties of Sets</a:t>
            </a:r>
            <a:endParaRPr lang="en-US" dirty="0"/>
          </a:p>
        </p:txBody>
      </p:sp>
      <p:sp>
        <p:nvSpPr>
          <p:cNvPr id="2" name="Text Placeholder 1">
            <a:extLst>
              <a:ext uri="{FF2B5EF4-FFF2-40B4-BE49-F238E27FC236}">
                <a16:creationId xmlns:a16="http://schemas.microsoft.com/office/drawing/2014/main" id="{33EF8BDE-A8FA-260A-43B3-8A4DDCBD6609}"/>
              </a:ext>
            </a:extLst>
          </p:cNvPr>
          <p:cNvSpPr>
            <a:spLocks noGrp="1"/>
          </p:cNvSpPr>
          <p:nvPr>
            <p:ph type="body" sz="quarter" idx="10"/>
          </p:nvPr>
        </p:nvSpPr>
        <p:spPr/>
        <p:txBody>
          <a:bodyPr/>
          <a:lstStyle/>
          <a:p>
            <a:r>
              <a:rPr lang="en-US" dirty="0"/>
              <a:t>Unique Characteristics Compared to Lists and Tuples</a:t>
            </a:r>
            <a:endParaRPr lang="en-GB" dirty="0"/>
          </a:p>
        </p:txBody>
      </p:sp>
      <p:grpSp>
        <p:nvGrpSpPr>
          <p:cNvPr id="9" name="Group 8">
            <a:extLst>
              <a:ext uri="{FF2B5EF4-FFF2-40B4-BE49-F238E27FC236}">
                <a16:creationId xmlns:a16="http://schemas.microsoft.com/office/drawing/2014/main" id="{B28E49CD-287D-CF60-C5AE-6E5C6C0F702A}"/>
              </a:ext>
            </a:extLst>
          </p:cNvPr>
          <p:cNvGrpSpPr/>
          <p:nvPr/>
        </p:nvGrpSpPr>
        <p:grpSpPr>
          <a:xfrm>
            <a:off x="840358" y="2281810"/>
            <a:ext cx="5132745" cy="948911"/>
            <a:chOff x="840358" y="2281810"/>
            <a:chExt cx="5132745" cy="948911"/>
          </a:xfrm>
        </p:grpSpPr>
        <p:sp>
          <p:nvSpPr>
            <p:cNvPr id="5" name="TextBox 4">
              <a:extLst>
                <a:ext uri="{FF2B5EF4-FFF2-40B4-BE49-F238E27FC236}">
                  <a16:creationId xmlns:a16="http://schemas.microsoft.com/office/drawing/2014/main" id="{2EFBE748-47A2-592D-587B-4F7367F781BE}"/>
                </a:ext>
              </a:extLst>
            </p:cNvPr>
            <p:cNvSpPr txBox="1"/>
            <p:nvPr/>
          </p:nvSpPr>
          <p:spPr>
            <a:xfrm>
              <a:off x="840358" y="2281810"/>
              <a:ext cx="5096803"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Unordered</a:t>
              </a:r>
              <a:endParaRPr lang="en-US" sz="1800" b="1" dirty="0">
                <a:solidFill>
                  <a:srgbClr val="25274D"/>
                </a:solidFill>
                <a:latin typeface="Montserrat" panose="00000500000000000000" pitchFamily="2" charset="0"/>
              </a:endParaRPr>
            </a:p>
          </p:txBody>
        </p:sp>
        <p:sp>
          <p:nvSpPr>
            <p:cNvPr id="7" name="TextBox 6">
              <a:extLst>
                <a:ext uri="{FF2B5EF4-FFF2-40B4-BE49-F238E27FC236}">
                  <a16:creationId xmlns:a16="http://schemas.microsoft.com/office/drawing/2014/main" id="{3C25C631-9470-639E-8398-040B04943A36}"/>
                </a:ext>
              </a:extLst>
            </p:cNvPr>
            <p:cNvSpPr txBox="1"/>
            <p:nvPr/>
          </p:nvSpPr>
          <p:spPr>
            <a:xfrm>
              <a:off x="876300" y="2599779"/>
              <a:ext cx="5096803" cy="630942"/>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Elements have no specific order, making indexing or slicing impossible.</a:t>
              </a:r>
            </a:p>
          </p:txBody>
        </p:sp>
      </p:grpSp>
      <p:grpSp>
        <p:nvGrpSpPr>
          <p:cNvPr id="3" name="Group 2">
            <a:extLst>
              <a:ext uri="{FF2B5EF4-FFF2-40B4-BE49-F238E27FC236}">
                <a16:creationId xmlns:a16="http://schemas.microsoft.com/office/drawing/2014/main" id="{BEA89C2A-ECF4-2C37-9C87-0336A22692A9}"/>
              </a:ext>
            </a:extLst>
          </p:cNvPr>
          <p:cNvGrpSpPr/>
          <p:nvPr/>
        </p:nvGrpSpPr>
        <p:grpSpPr>
          <a:xfrm>
            <a:off x="840358" y="3719661"/>
            <a:ext cx="5096803" cy="941415"/>
            <a:chOff x="840358" y="3804087"/>
            <a:chExt cx="5096803" cy="941415"/>
          </a:xfrm>
        </p:grpSpPr>
        <p:sp>
          <p:nvSpPr>
            <p:cNvPr id="4" name="TextBox 3">
              <a:extLst>
                <a:ext uri="{FF2B5EF4-FFF2-40B4-BE49-F238E27FC236}">
                  <a16:creationId xmlns:a16="http://schemas.microsoft.com/office/drawing/2014/main" id="{F390BCB6-2A50-70E9-2E81-9F283E4522D0}"/>
                </a:ext>
              </a:extLst>
            </p:cNvPr>
            <p:cNvSpPr txBox="1"/>
            <p:nvPr/>
          </p:nvSpPr>
          <p:spPr>
            <a:xfrm>
              <a:off x="840358" y="4114560"/>
              <a:ext cx="4942255" cy="630942"/>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Duplicates are automatically removed when creating a set.</a:t>
              </a:r>
            </a:p>
          </p:txBody>
        </p:sp>
        <p:sp>
          <p:nvSpPr>
            <p:cNvPr id="6" name="TextBox 5">
              <a:extLst>
                <a:ext uri="{FF2B5EF4-FFF2-40B4-BE49-F238E27FC236}">
                  <a16:creationId xmlns:a16="http://schemas.microsoft.com/office/drawing/2014/main" id="{CBA916AA-5181-6283-B3D6-ED447FB093A0}"/>
                </a:ext>
              </a:extLst>
            </p:cNvPr>
            <p:cNvSpPr txBox="1"/>
            <p:nvPr/>
          </p:nvSpPr>
          <p:spPr>
            <a:xfrm>
              <a:off x="840358" y="3804087"/>
              <a:ext cx="5096803"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Unique elements</a:t>
              </a:r>
              <a:endParaRPr lang="en-US" sz="1800" b="1" dirty="0">
                <a:solidFill>
                  <a:srgbClr val="25274D"/>
                </a:solidFill>
                <a:latin typeface="Montserrat" panose="00000500000000000000" pitchFamily="2" charset="0"/>
              </a:endParaRPr>
            </a:p>
          </p:txBody>
        </p:sp>
      </p:grpSp>
      <p:grpSp>
        <p:nvGrpSpPr>
          <p:cNvPr id="11" name="Group 10">
            <a:extLst>
              <a:ext uri="{FF2B5EF4-FFF2-40B4-BE49-F238E27FC236}">
                <a16:creationId xmlns:a16="http://schemas.microsoft.com/office/drawing/2014/main" id="{5AACE594-9999-A998-BB13-BB5F8DB69D2A}"/>
              </a:ext>
            </a:extLst>
          </p:cNvPr>
          <p:cNvGrpSpPr/>
          <p:nvPr/>
        </p:nvGrpSpPr>
        <p:grpSpPr>
          <a:xfrm>
            <a:off x="840357" y="5275723"/>
            <a:ext cx="5096804" cy="945333"/>
            <a:chOff x="840357" y="5155219"/>
            <a:chExt cx="5096804" cy="945333"/>
          </a:xfrm>
        </p:grpSpPr>
        <p:sp>
          <p:nvSpPr>
            <p:cNvPr id="8" name="TextBox 7">
              <a:extLst>
                <a:ext uri="{FF2B5EF4-FFF2-40B4-BE49-F238E27FC236}">
                  <a16:creationId xmlns:a16="http://schemas.microsoft.com/office/drawing/2014/main" id="{A1811A5A-007C-484F-0508-4F5B20BF672B}"/>
                </a:ext>
              </a:extLst>
            </p:cNvPr>
            <p:cNvSpPr txBox="1"/>
            <p:nvPr/>
          </p:nvSpPr>
          <p:spPr>
            <a:xfrm>
              <a:off x="840357" y="5469610"/>
              <a:ext cx="5096803" cy="630942"/>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Sets are mutable, but can only contain immutable elements.</a:t>
              </a:r>
            </a:p>
          </p:txBody>
        </p:sp>
        <p:sp>
          <p:nvSpPr>
            <p:cNvPr id="10" name="TextBox 9">
              <a:extLst>
                <a:ext uri="{FF2B5EF4-FFF2-40B4-BE49-F238E27FC236}">
                  <a16:creationId xmlns:a16="http://schemas.microsoft.com/office/drawing/2014/main" id="{9B896C5B-1201-AEB7-2664-28487701F655}"/>
                </a:ext>
              </a:extLst>
            </p:cNvPr>
            <p:cNvSpPr txBox="1"/>
            <p:nvPr/>
          </p:nvSpPr>
          <p:spPr>
            <a:xfrm>
              <a:off x="840358" y="5155219"/>
              <a:ext cx="5096803"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Mutable with restrictions</a:t>
              </a:r>
              <a:endParaRPr lang="en-US" sz="1800" b="1" dirty="0">
                <a:solidFill>
                  <a:srgbClr val="25274D"/>
                </a:solidFill>
                <a:latin typeface="Montserrat" panose="00000500000000000000" pitchFamily="2" charset="0"/>
              </a:endParaRPr>
            </a:p>
          </p:txBody>
        </p:sp>
      </p:grpSp>
      <p:sp>
        <p:nvSpPr>
          <p:cNvPr id="13" name="Rectangle: Rounded Corners 12">
            <a:extLst>
              <a:ext uri="{FF2B5EF4-FFF2-40B4-BE49-F238E27FC236}">
                <a16:creationId xmlns:a16="http://schemas.microsoft.com/office/drawing/2014/main" id="{5CE3AF3B-92AE-AD92-0166-FD1FC71C3927}"/>
              </a:ext>
            </a:extLst>
          </p:cNvPr>
          <p:cNvSpPr/>
          <p:nvPr/>
        </p:nvSpPr>
        <p:spPr>
          <a:xfrm>
            <a:off x="596900" y="1981201"/>
            <a:ext cx="10775181" cy="1447800"/>
          </a:xfrm>
          <a:prstGeom prst="roundRect">
            <a:avLst/>
          </a:prstGeom>
          <a:noFill/>
          <a:ln w="28575">
            <a:solidFill>
              <a:srgbClr val="29648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47688B1F-1017-09D3-324A-8EFB319623DE}"/>
              </a:ext>
            </a:extLst>
          </p:cNvPr>
          <p:cNvSpPr/>
          <p:nvPr/>
        </p:nvSpPr>
        <p:spPr>
          <a:xfrm>
            <a:off x="596900" y="3520094"/>
            <a:ext cx="10775181" cy="1447800"/>
          </a:xfrm>
          <a:prstGeom prst="roundRect">
            <a:avLst/>
          </a:prstGeom>
          <a:noFill/>
          <a:ln w="28575">
            <a:solidFill>
              <a:srgbClr val="2E9CC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092569B1-1EEB-1719-948C-0EA8036B3D0D}"/>
              </a:ext>
            </a:extLst>
          </p:cNvPr>
          <p:cNvSpPr/>
          <p:nvPr/>
        </p:nvSpPr>
        <p:spPr>
          <a:xfrm>
            <a:off x="596900" y="5061181"/>
            <a:ext cx="10775181" cy="1447800"/>
          </a:xfrm>
          <a:prstGeom prst="roundRect">
            <a:avLst/>
          </a:prstGeom>
          <a:noFill/>
          <a:ln w="28575">
            <a:solidFill>
              <a:srgbClr val="29648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 name="Group 19">
            <a:extLst>
              <a:ext uri="{FF2B5EF4-FFF2-40B4-BE49-F238E27FC236}">
                <a16:creationId xmlns:a16="http://schemas.microsoft.com/office/drawing/2014/main" id="{441C5997-310C-3529-575F-11F6E156B7F2}"/>
              </a:ext>
            </a:extLst>
          </p:cNvPr>
          <p:cNvGrpSpPr/>
          <p:nvPr/>
        </p:nvGrpSpPr>
        <p:grpSpPr>
          <a:xfrm>
            <a:off x="6896100" y="2074215"/>
            <a:ext cx="2828926" cy="1288684"/>
            <a:chOff x="6896100" y="2074215"/>
            <a:chExt cx="2828926" cy="1288684"/>
          </a:xfrm>
        </p:grpSpPr>
        <p:sp>
          <p:nvSpPr>
            <p:cNvPr id="12" name="Rectangle: Rounded Corners 11">
              <a:extLst>
                <a:ext uri="{FF2B5EF4-FFF2-40B4-BE49-F238E27FC236}">
                  <a16:creationId xmlns:a16="http://schemas.microsoft.com/office/drawing/2014/main" id="{5A366FC2-0C28-3F4D-4AD7-4980974C63CA}"/>
                </a:ext>
              </a:extLst>
            </p:cNvPr>
            <p:cNvSpPr/>
            <p:nvPr/>
          </p:nvSpPr>
          <p:spPr>
            <a:xfrm>
              <a:off x="6896100" y="2074215"/>
              <a:ext cx="2828926" cy="128868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 name="Picture 13">
              <a:extLst>
                <a:ext uri="{FF2B5EF4-FFF2-40B4-BE49-F238E27FC236}">
                  <a16:creationId xmlns:a16="http://schemas.microsoft.com/office/drawing/2014/main" id="{9AA5A83D-CF0C-D497-3D2F-D38615597B5D}"/>
                </a:ext>
              </a:extLst>
            </p:cNvPr>
            <p:cNvPicPr>
              <a:picLocks noChangeAspect="1"/>
            </p:cNvPicPr>
            <p:nvPr/>
          </p:nvPicPr>
          <p:blipFill>
            <a:blip r:embed="rId3"/>
            <a:stretch>
              <a:fillRect/>
            </a:stretch>
          </p:blipFill>
          <p:spPr>
            <a:xfrm>
              <a:off x="7080650" y="2226822"/>
              <a:ext cx="2457161" cy="1003899"/>
            </a:xfrm>
            <a:prstGeom prst="rect">
              <a:avLst/>
            </a:prstGeom>
          </p:spPr>
        </p:pic>
      </p:grpSp>
      <p:grpSp>
        <p:nvGrpSpPr>
          <p:cNvPr id="24" name="Group 23">
            <a:extLst>
              <a:ext uri="{FF2B5EF4-FFF2-40B4-BE49-F238E27FC236}">
                <a16:creationId xmlns:a16="http://schemas.microsoft.com/office/drawing/2014/main" id="{75BA162D-F7F0-E8E3-116A-FA96285519B3}"/>
              </a:ext>
            </a:extLst>
          </p:cNvPr>
          <p:cNvGrpSpPr/>
          <p:nvPr/>
        </p:nvGrpSpPr>
        <p:grpSpPr>
          <a:xfrm>
            <a:off x="6896099" y="3719661"/>
            <a:ext cx="3743325" cy="1103772"/>
            <a:chOff x="6896099" y="3719661"/>
            <a:chExt cx="3743325" cy="1103772"/>
          </a:xfrm>
        </p:grpSpPr>
        <p:sp>
          <p:nvSpPr>
            <p:cNvPr id="19" name="Rectangle: Rounded Corners 18">
              <a:extLst>
                <a:ext uri="{FF2B5EF4-FFF2-40B4-BE49-F238E27FC236}">
                  <a16:creationId xmlns:a16="http://schemas.microsoft.com/office/drawing/2014/main" id="{21E80512-DBD7-C8F9-FC82-B09B6F511B61}"/>
                </a:ext>
              </a:extLst>
            </p:cNvPr>
            <p:cNvSpPr/>
            <p:nvPr/>
          </p:nvSpPr>
          <p:spPr>
            <a:xfrm>
              <a:off x="6896099" y="3719661"/>
              <a:ext cx="3743325" cy="110377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7" name="Picture 16">
              <a:extLst>
                <a:ext uri="{FF2B5EF4-FFF2-40B4-BE49-F238E27FC236}">
                  <a16:creationId xmlns:a16="http://schemas.microsoft.com/office/drawing/2014/main" id="{D2EC511A-E28D-513F-82E7-8867EBFB64C6}"/>
                </a:ext>
              </a:extLst>
            </p:cNvPr>
            <p:cNvPicPr>
              <a:picLocks noChangeAspect="1"/>
            </p:cNvPicPr>
            <p:nvPr/>
          </p:nvPicPr>
          <p:blipFill>
            <a:blip r:embed="rId4"/>
            <a:stretch>
              <a:fillRect/>
            </a:stretch>
          </p:blipFill>
          <p:spPr>
            <a:xfrm>
              <a:off x="7057366" y="3911905"/>
              <a:ext cx="3402326" cy="719284"/>
            </a:xfrm>
            <a:prstGeom prst="rect">
              <a:avLst/>
            </a:prstGeom>
          </p:spPr>
        </p:pic>
      </p:grpSp>
      <p:grpSp>
        <p:nvGrpSpPr>
          <p:cNvPr id="23" name="Group 22">
            <a:extLst>
              <a:ext uri="{FF2B5EF4-FFF2-40B4-BE49-F238E27FC236}">
                <a16:creationId xmlns:a16="http://schemas.microsoft.com/office/drawing/2014/main" id="{F025CB57-C6F4-AE82-4E64-9E39F9526D1B}"/>
              </a:ext>
            </a:extLst>
          </p:cNvPr>
          <p:cNvGrpSpPr/>
          <p:nvPr/>
        </p:nvGrpSpPr>
        <p:grpSpPr>
          <a:xfrm>
            <a:off x="6896099" y="5145193"/>
            <a:ext cx="2828927" cy="1279776"/>
            <a:chOff x="6896099" y="5121929"/>
            <a:chExt cx="2828927" cy="1279776"/>
          </a:xfrm>
        </p:grpSpPr>
        <p:sp>
          <p:nvSpPr>
            <p:cNvPr id="22" name="Rectangle: Rounded Corners 21">
              <a:extLst>
                <a:ext uri="{FF2B5EF4-FFF2-40B4-BE49-F238E27FC236}">
                  <a16:creationId xmlns:a16="http://schemas.microsoft.com/office/drawing/2014/main" id="{62F7FA44-F1B8-19F0-D13D-6EDB30ED93B7}"/>
                </a:ext>
              </a:extLst>
            </p:cNvPr>
            <p:cNvSpPr/>
            <p:nvPr/>
          </p:nvSpPr>
          <p:spPr>
            <a:xfrm>
              <a:off x="6896099" y="5121929"/>
              <a:ext cx="2828927" cy="127977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1" name="Picture 20">
              <a:extLst>
                <a:ext uri="{FF2B5EF4-FFF2-40B4-BE49-F238E27FC236}">
                  <a16:creationId xmlns:a16="http://schemas.microsoft.com/office/drawing/2014/main" id="{D0BDF82A-7E4F-DEB9-C01C-9C115B83020B}"/>
                </a:ext>
              </a:extLst>
            </p:cNvPr>
            <p:cNvPicPr>
              <a:picLocks noChangeAspect="1"/>
            </p:cNvPicPr>
            <p:nvPr/>
          </p:nvPicPr>
          <p:blipFill>
            <a:blip r:embed="rId5"/>
            <a:stretch>
              <a:fillRect/>
            </a:stretch>
          </p:blipFill>
          <p:spPr>
            <a:xfrm>
              <a:off x="7073224" y="5168573"/>
              <a:ext cx="2474676" cy="1186489"/>
            </a:xfrm>
            <a:prstGeom prst="rect">
              <a:avLst/>
            </a:prstGeom>
          </p:spPr>
        </p:pic>
      </p:grpSp>
    </p:spTree>
    <p:extLst>
      <p:ext uri="{BB962C8B-B14F-4D97-AF65-F5344CB8AC3E}">
        <p14:creationId xmlns:p14="http://schemas.microsoft.com/office/powerpoint/2010/main" val="422097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50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1000"/>
                                        <p:tgtEl>
                                          <p:spTgt spid="23"/>
                                        </p:tgtEl>
                                      </p:cBhvr>
                                    </p:animEffect>
                                  </p:childTnLst>
                                </p:cTn>
                              </p:par>
                              <p:par>
                                <p:cTn id="32" presetID="10" presetClass="entr" presetSubtype="0" fill="hold" nodeType="withEffect">
                                  <p:stCondLst>
                                    <p:cond delay="50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1000"/>
                                        <p:tgtEl>
                                          <p:spTgt spid="24"/>
                                        </p:tgtEl>
                                      </p:cBhvr>
                                    </p:animEffect>
                                  </p:childTnLst>
                                </p:cTn>
                              </p:par>
                              <p:par>
                                <p:cTn id="35" presetID="10" presetClass="entr" presetSubtype="0" fill="hold" nodeType="withEffect">
                                  <p:stCondLst>
                                    <p:cond delay="50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build="p"/>
      <p:bldP spid="13" grpId="0" animBg="1"/>
      <p:bldP spid="15" grpId="0" animBg="1"/>
      <p:bldP spid="1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29594-540C-E599-22A0-CFEA3DCC38F7}"/>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CB3ECC99-4E49-C66E-A29A-8EBD65D8DA64}"/>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Common Operations on Sets</a:t>
            </a:r>
            <a:br>
              <a:rPr lang="en-US" dirty="0"/>
            </a:br>
            <a:endParaRPr lang="en-US" dirty="0"/>
          </a:p>
        </p:txBody>
      </p:sp>
      <p:sp>
        <p:nvSpPr>
          <p:cNvPr id="2" name="Text Placeholder 1">
            <a:extLst>
              <a:ext uri="{FF2B5EF4-FFF2-40B4-BE49-F238E27FC236}">
                <a16:creationId xmlns:a16="http://schemas.microsoft.com/office/drawing/2014/main" id="{EE58AB27-682A-15DB-3E64-330BE108D3C4}"/>
              </a:ext>
            </a:extLst>
          </p:cNvPr>
          <p:cNvSpPr>
            <a:spLocks noGrp="1"/>
          </p:cNvSpPr>
          <p:nvPr>
            <p:ph type="body" sz="quarter" idx="10"/>
          </p:nvPr>
        </p:nvSpPr>
        <p:spPr/>
        <p:txBody>
          <a:bodyPr/>
          <a:lstStyle/>
          <a:p>
            <a:r>
              <a:rPr lang="en-US" dirty="0"/>
              <a:t>Operations for Adding, Removing and Checking Membership</a:t>
            </a:r>
            <a:endParaRPr lang="en-GB" dirty="0"/>
          </a:p>
        </p:txBody>
      </p:sp>
      <p:sp>
        <p:nvSpPr>
          <p:cNvPr id="3" name="TextBox 2">
            <a:extLst>
              <a:ext uri="{FF2B5EF4-FFF2-40B4-BE49-F238E27FC236}">
                <a16:creationId xmlns:a16="http://schemas.microsoft.com/office/drawing/2014/main" id="{1823E621-D1D4-5637-4D03-8DC93611B0DD}"/>
              </a:ext>
            </a:extLst>
          </p:cNvPr>
          <p:cNvSpPr txBox="1"/>
          <p:nvPr/>
        </p:nvSpPr>
        <p:spPr>
          <a:xfrm>
            <a:off x="7932259" y="3445463"/>
            <a:ext cx="3761873" cy="1171475"/>
          </a:xfrm>
          <a:prstGeom prst="rect">
            <a:avLst/>
          </a:prstGeom>
          <a:noFill/>
        </p:spPr>
        <p:txBody>
          <a:bodyPr wrap="square">
            <a:spAutoFit/>
          </a:bodyPr>
          <a:lstStyle/>
          <a:p>
            <a:pPr>
              <a:lnSpc>
                <a:spcPts val="2083"/>
              </a:lnSpc>
            </a:pPr>
            <a:r>
              <a:rPr lang="en-US" sz="1800" b="1" dirty="0">
                <a:solidFill>
                  <a:srgbClr val="25274D"/>
                </a:solidFill>
                <a:latin typeface="Montserrat" pitchFamily="34" charset="0"/>
                <a:ea typeface="Montserrat" pitchFamily="34" charset="-122"/>
                <a:cs typeface="Montserrat" pitchFamily="34" charset="-120"/>
              </a:rPr>
              <a:t>Key difference</a:t>
            </a:r>
            <a:r>
              <a:rPr lang="en-US" sz="1800" dirty="0">
                <a:solidFill>
                  <a:srgbClr val="25274D"/>
                </a:solidFill>
                <a:latin typeface="Montserrat" pitchFamily="34" charset="0"/>
                <a:ea typeface="Montserrat" pitchFamily="34" charset="-122"/>
                <a:cs typeface="Montserrat" pitchFamily="34" charset="-120"/>
              </a:rPr>
              <a:t>: </a:t>
            </a:r>
            <a:r>
              <a:rPr lang="en-US" sz="1800" dirty="0">
                <a:solidFill>
                  <a:srgbClr val="25274D"/>
                </a:solidFill>
                <a:latin typeface="Courier New" panose="02070309020205020404" pitchFamily="49" charset="0"/>
                <a:ea typeface="Montserrat" pitchFamily="34" charset="-122"/>
                <a:cs typeface="Courier New" panose="02070309020205020404" pitchFamily="49" charset="0"/>
              </a:rPr>
              <a:t>remove() </a:t>
            </a:r>
            <a:r>
              <a:rPr lang="en-US" sz="1800" dirty="0">
                <a:solidFill>
                  <a:srgbClr val="25274D"/>
                </a:solidFill>
                <a:latin typeface="Montserrat" pitchFamily="34" charset="0"/>
                <a:ea typeface="Montserrat" pitchFamily="34" charset="-122"/>
                <a:cs typeface="Montserrat" pitchFamily="34" charset="-120"/>
              </a:rPr>
              <a:t>raises a </a:t>
            </a:r>
            <a:r>
              <a:rPr lang="en-US" sz="1800" dirty="0" err="1">
                <a:solidFill>
                  <a:srgbClr val="25274D"/>
                </a:solidFill>
                <a:latin typeface="Courier New" panose="02070309020205020404" pitchFamily="49" charset="0"/>
                <a:ea typeface="Montserrat" pitchFamily="34" charset="-122"/>
                <a:cs typeface="Courier New" panose="02070309020205020404" pitchFamily="49" charset="0"/>
              </a:rPr>
              <a:t>KeyError</a:t>
            </a:r>
            <a:r>
              <a:rPr lang="en-US" sz="1800" dirty="0">
                <a:solidFill>
                  <a:srgbClr val="25274D"/>
                </a:solidFill>
                <a:latin typeface="Montserrat" pitchFamily="34" charset="0"/>
                <a:ea typeface="Montserrat" pitchFamily="34" charset="-122"/>
                <a:cs typeface="Montserrat" pitchFamily="34" charset="-120"/>
              </a:rPr>
              <a:t> if the element is not found, while </a:t>
            </a:r>
            <a:r>
              <a:rPr lang="en-US" sz="1800" dirty="0">
                <a:solidFill>
                  <a:srgbClr val="25274D"/>
                </a:solidFill>
                <a:latin typeface="Courier New" panose="02070309020205020404" pitchFamily="49" charset="0"/>
                <a:ea typeface="Montserrat" pitchFamily="34" charset="-122"/>
                <a:cs typeface="Courier New" panose="02070309020205020404" pitchFamily="49" charset="0"/>
              </a:rPr>
              <a:t>discard()</a:t>
            </a:r>
            <a:r>
              <a:rPr lang="en-US" sz="1800" dirty="0">
                <a:solidFill>
                  <a:srgbClr val="25274D"/>
                </a:solidFill>
                <a:latin typeface="Montserrat" pitchFamily="34" charset="0"/>
                <a:ea typeface="Montserrat" pitchFamily="34" charset="-122"/>
                <a:cs typeface="Montserrat" pitchFamily="34" charset="-120"/>
              </a:rPr>
              <a:t>does nothing.</a:t>
            </a:r>
          </a:p>
        </p:txBody>
      </p:sp>
      <p:grpSp>
        <p:nvGrpSpPr>
          <p:cNvPr id="5" name="Group 4">
            <a:extLst>
              <a:ext uri="{FF2B5EF4-FFF2-40B4-BE49-F238E27FC236}">
                <a16:creationId xmlns:a16="http://schemas.microsoft.com/office/drawing/2014/main" id="{260CA8F2-70B5-38C2-5475-F5D6254C30AA}"/>
              </a:ext>
            </a:extLst>
          </p:cNvPr>
          <p:cNvGrpSpPr/>
          <p:nvPr/>
        </p:nvGrpSpPr>
        <p:grpSpPr>
          <a:xfrm>
            <a:off x="876300" y="1778001"/>
            <a:ext cx="6527800" cy="4569984"/>
            <a:chOff x="876300" y="1778001"/>
            <a:chExt cx="6527800" cy="4569984"/>
          </a:xfrm>
        </p:grpSpPr>
        <p:sp>
          <p:nvSpPr>
            <p:cNvPr id="4" name="Rectangle: Rounded Corners 3">
              <a:extLst>
                <a:ext uri="{FF2B5EF4-FFF2-40B4-BE49-F238E27FC236}">
                  <a16:creationId xmlns:a16="http://schemas.microsoft.com/office/drawing/2014/main" id="{5A366FC2-0C28-3F4D-4AD7-4980974C63CA}"/>
                </a:ext>
              </a:extLst>
            </p:cNvPr>
            <p:cNvSpPr/>
            <p:nvPr/>
          </p:nvSpPr>
          <p:spPr>
            <a:xfrm>
              <a:off x="876300" y="1778001"/>
              <a:ext cx="6527800" cy="4569984"/>
            </a:xfrm>
            <a:prstGeom prst="roundRect">
              <a:avLst>
                <a:gd name="adj" fmla="val 5645"/>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4" name="Group 13">
              <a:extLst>
                <a:ext uri="{FF2B5EF4-FFF2-40B4-BE49-F238E27FC236}">
                  <a16:creationId xmlns:a16="http://schemas.microsoft.com/office/drawing/2014/main" id="{65F55812-360F-CA59-792A-9AFE925EDD03}"/>
                </a:ext>
              </a:extLst>
            </p:cNvPr>
            <p:cNvGrpSpPr/>
            <p:nvPr/>
          </p:nvGrpSpPr>
          <p:grpSpPr>
            <a:xfrm>
              <a:off x="1001372" y="1991367"/>
              <a:ext cx="6277656" cy="4143253"/>
              <a:chOff x="1727355" y="2119129"/>
              <a:chExt cx="5715798" cy="3772427"/>
            </a:xfrm>
          </p:grpSpPr>
          <p:pic>
            <p:nvPicPr>
              <p:cNvPr id="8" name="Picture 7">
                <a:extLst>
                  <a:ext uri="{FF2B5EF4-FFF2-40B4-BE49-F238E27FC236}">
                    <a16:creationId xmlns:a16="http://schemas.microsoft.com/office/drawing/2014/main" id="{6288E235-E9C0-A179-B787-0D35D311A62A}"/>
                  </a:ext>
                </a:extLst>
              </p:cNvPr>
              <p:cNvPicPr>
                <a:picLocks noChangeAspect="1"/>
              </p:cNvPicPr>
              <p:nvPr/>
            </p:nvPicPr>
            <p:blipFill>
              <a:blip r:embed="rId3"/>
              <a:stretch>
                <a:fillRect/>
              </a:stretch>
            </p:blipFill>
            <p:spPr>
              <a:xfrm>
                <a:off x="1727355" y="2119129"/>
                <a:ext cx="5715798" cy="2619741"/>
              </a:xfrm>
              <a:prstGeom prst="rect">
                <a:avLst/>
              </a:prstGeom>
            </p:spPr>
          </p:pic>
          <p:pic>
            <p:nvPicPr>
              <p:cNvPr id="10" name="Picture 9">
                <a:extLst>
                  <a:ext uri="{FF2B5EF4-FFF2-40B4-BE49-F238E27FC236}">
                    <a16:creationId xmlns:a16="http://schemas.microsoft.com/office/drawing/2014/main" id="{7D12805E-C7B9-555A-461D-2A91BE62D347}"/>
                  </a:ext>
                </a:extLst>
              </p:cNvPr>
              <p:cNvPicPr>
                <a:picLocks noChangeAspect="1"/>
              </p:cNvPicPr>
              <p:nvPr/>
            </p:nvPicPr>
            <p:blipFill>
              <a:blip r:embed="rId4"/>
              <a:stretch>
                <a:fillRect/>
              </a:stretch>
            </p:blipFill>
            <p:spPr>
              <a:xfrm>
                <a:off x="1727355" y="4738870"/>
                <a:ext cx="5715798" cy="1152686"/>
              </a:xfrm>
              <a:prstGeom prst="rect">
                <a:avLst/>
              </a:prstGeom>
            </p:spPr>
          </p:pic>
        </p:grpSp>
      </p:grpSp>
    </p:spTree>
    <p:extLst>
      <p:ext uri="{BB962C8B-B14F-4D97-AF65-F5344CB8AC3E}">
        <p14:creationId xmlns:p14="http://schemas.microsoft.com/office/powerpoint/2010/main" val="245567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10" presetClass="entr" presetSubtype="0" fill="hold" nodeType="withEffect">
                                  <p:stCondLst>
                                    <p:cond delay="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build="p"/>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E6F7-96F0-8134-3F2F-EFD3FB741EFA}"/>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D262384D-FA3B-AF53-66C4-2EED5EA0BC17}"/>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Other Useful Methods </a:t>
            </a:r>
          </a:p>
        </p:txBody>
      </p:sp>
      <p:grpSp>
        <p:nvGrpSpPr>
          <p:cNvPr id="2" name="Group 1">
            <a:extLst>
              <a:ext uri="{FF2B5EF4-FFF2-40B4-BE49-F238E27FC236}">
                <a16:creationId xmlns:a16="http://schemas.microsoft.com/office/drawing/2014/main" id="{2AE716E9-4B21-EAE3-7EDD-AC989ABCE6A2}"/>
              </a:ext>
            </a:extLst>
          </p:cNvPr>
          <p:cNvGrpSpPr/>
          <p:nvPr/>
        </p:nvGrpSpPr>
        <p:grpSpPr>
          <a:xfrm>
            <a:off x="2768797" y="1721213"/>
            <a:ext cx="6654406" cy="1057964"/>
            <a:chOff x="1901372" y="1330886"/>
            <a:chExt cx="6136420" cy="1057964"/>
          </a:xfrm>
        </p:grpSpPr>
        <p:grpSp>
          <p:nvGrpSpPr>
            <p:cNvPr id="5" name="Group 4">
              <a:extLst>
                <a:ext uri="{FF2B5EF4-FFF2-40B4-BE49-F238E27FC236}">
                  <a16:creationId xmlns:a16="http://schemas.microsoft.com/office/drawing/2014/main" id="{4DEE3136-17B3-29DD-0DB1-9EDF9DC2E9F1}"/>
                </a:ext>
              </a:extLst>
            </p:cNvPr>
            <p:cNvGrpSpPr/>
            <p:nvPr/>
          </p:nvGrpSpPr>
          <p:grpSpPr>
            <a:xfrm>
              <a:off x="1901372" y="1330886"/>
              <a:ext cx="6136420" cy="1057964"/>
              <a:chOff x="1234865" y="1792106"/>
              <a:chExt cx="6136420" cy="1057964"/>
            </a:xfrm>
          </p:grpSpPr>
          <p:sp>
            <p:nvSpPr>
              <p:cNvPr id="7" name="Rectangle: Rounded Corners 6">
                <a:extLst>
                  <a:ext uri="{FF2B5EF4-FFF2-40B4-BE49-F238E27FC236}">
                    <a16:creationId xmlns:a16="http://schemas.microsoft.com/office/drawing/2014/main" id="{268FB9EE-E9D7-DBB9-5055-4251469B2987}"/>
                  </a:ext>
                </a:extLst>
              </p:cNvPr>
              <p:cNvSpPr/>
              <p:nvPr/>
            </p:nvSpPr>
            <p:spPr>
              <a:xfrm>
                <a:off x="1234865" y="1792106"/>
                <a:ext cx="6136420" cy="1057964"/>
              </a:xfrm>
              <a:prstGeom prst="roundRect">
                <a:avLst>
                  <a:gd name="adj" fmla="val 9369"/>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346DC192-1C52-1760-AC9C-F5970CEA406F}"/>
                  </a:ext>
                </a:extLst>
              </p:cNvPr>
              <p:cNvSpPr txBox="1"/>
              <p:nvPr/>
            </p:nvSpPr>
            <p:spPr>
              <a:xfrm>
                <a:off x="1839024" y="2136422"/>
                <a:ext cx="5354116" cy="369332"/>
              </a:xfrm>
              <a:prstGeom prst="rect">
                <a:avLst/>
              </a:prstGeom>
              <a:noFill/>
            </p:spPr>
            <p:txBody>
              <a:bodyPr wrap="square">
                <a:spAutoFit/>
              </a:bodyPr>
              <a:lstStyle/>
              <a:p>
                <a:pPr lvl="0" eaLnBrk="0" fontAlgn="base" hangingPunct="0">
                  <a:spcBef>
                    <a:spcPct val="0"/>
                  </a:spcBef>
                  <a:spcAft>
                    <a:spcPct val="0"/>
                  </a:spcAft>
                </a:pPr>
                <a:r>
                  <a:rPr lang="en-US" dirty="0">
                    <a:solidFill>
                      <a:schemeClr val="bg1"/>
                    </a:solidFill>
                    <a:latin typeface="Courier New" panose="02070309020205020404" pitchFamily="49" charset="0"/>
                    <a:ea typeface="Consolas" pitchFamily="34" charset="-122"/>
                    <a:cs typeface="Courier New" panose="02070309020205020404" pitchFamily="49" charset="0"/>
                  </a:rPr>
                  <a:t>pop()</a:t>
                </a: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Removes and returns an arbitrary element</a:t>
                </a:r>
              </a:p>
            </p:txBody>
          </p:sp>
        </p:grpSp>
        <p:sp>
          <p:nvSpPr>
            <p:cNvPr id="6" name="Freeform 45">
              <a:extLst>
                <a:ext uri="{FF2B5EF4-FFF2-40B4-BE49-F238E27FC236}">
                  <a16:creationId xmlns:a16="http://schemas.microsoft.com/office/drawing/2014/main" id="{D3836C4F-2FA7-1621-45E8-2CC32F40C548}"/>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0" name="Group 9">
            <a:extLst>
              <a:ext uri="{FF2B5EF4-FFF2-40B4-BE49-F238E27FC236}">
                <a16:creationId xmlns:a16="http://schemas.microsoft.com/office/drawing/2014/main" id="{0E3E7F88-B8A8-67F3-7E99-4EA61B0F10F2}"/>
              </a:ext>
            </a:extLst>
          </p:cNvPr>
          <p:cNvGrpSpPr/>
          <p:nvPr/>
        </p:nvGrpSpPr>
        <p:grpSpPr>
          <a:xfrm>
            <a:off x="2742368" y="2956107"/>
            <a:ext cx="6680835" cy="1057964"/>
            <a:chOff x="1901372" y="1330886"/>
            <a:chExt cx="6160792" cy="1057964"/>
          </a:xfrm>
        </p:grpSpPr>
        <p:grpSp>
          <p:nvGrpSpPr>
            <p:cNvPr id="11" name="Group 10">
              <a:extLst>
                <a:ext uri="{FF2B5EF4-FFF2-40B4-BE49-F238E27FC236}">
                  <a16:creationId xmlns:a16="http://schemas.microsoft.com/office/drawing/2014/main" id="{5109A081-AC93-38F5-EF7F-FE26E9585484}"/>
                </a:ext>
              </a:extLst>
            </p:cNvPr>
            <p:cNvGrpSpPr/>
            <p:nvPr/>
          </p:nvGrpSpPr>
          <p:grpSpPr>
            <a:xfrm>
              <a:off x="1901372" y="1330886"/>
              <a:ext cx="6160792" cy="1057964"/>
              <a:chOff x="1234865" y="1792106"/>
              <a:chExt cx="6160792" cy="1057964"/>
            </a:xfrm>
          </p:grpSpPr>
          <p:sp>
            <p:nvSpPr>
              <p:cNvPr id="13" name="Rectangle: Rounded Corners 12">
                <a:extLst>
                  <a:ext uri="{FF2B5EF4-FFF2-40B4-BE49-F238E27FC236}">
                    <a16:creationId xmlns:a16="http://schemas.microsoft.com/office/drawing/2014/main" id="{C2227633-3F9A-502B-CFF2-1125E7F46D0B}"/>
                  </a:ext>
                </a:extLst>
              </p:cNvPr>
              <p:cNvSpPr/>
              <p:nvPr/>
            </p:nvSpPr>
            <p:spPr>
              <a:xfrm>
                <a:off x="1234865" y="1792106"/>
                <a:ext cx="6148296" cy="1057964"/>
              </a:xfrm>
              <a:prstGeom prst="roundRect">
                <a:avLst>
                  <a:gd name="adj" fmla="val 9369"/>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4486A3B-AC36-4268-FA27-2193762C835C}"/>
                  </a:ext>
                </a:extLst>
              </p:cNvPr>
              <p:cNvSpPr txBox="1"/>
              <p:nvPr/>
            </p:nvSpPr>
            <p:spPr>
              <a:xfrm>
                <a:off x="1839024" y="2136422"/>
                <a:ext cx="5556633"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clear() </a:t>
                </a: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 Deletes all elements</a:t>
                </a:r>
              </a:p>
            </p:txBody>
          </p:sp>
        </p:grpSp>
        <p:sp>
          <p:nvSpPr>
            <p:cNvPr id="12" name="Freeform 45">
              <a:extLst>
                <a:ext uri="{FF2B5EF4-FFF2-40B4-BE49-F238E27FC236}">
                  <a16:creationId xmlns:a16="http://schemas.microsoft.com/office/drawing/2014/main" id="{77761A86-7901-901C-3C88-296B9D624AEF}"/>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5BACF74E-8937-95FE-303D-725A391A5DC8}"/>
              </a:ext>
            </a:extLst>
          </p:cNvPr>
          <p:cNvGrpSpPr/>
          <p:nvPr/>
        </p:nvGrpSpPr>
        <p:grpSpPr>
          <a:xfrm>
            <a:off x="2742368" y="4191000"/>
            <a:ext cx="6680835" cy="1057964"/>
            <a:chOff x="1901373" y="1330886"/>
            <a:chExt cx="6160791" cy="1057964"/>
          </a:xfrm>
        </p:grpSpPr>
        <p:grpSp>
          <p:nvGrpSpPr>
            <p:cNvPr id="17" name="Group 16">
              <a:extLst>
                <a:ext uri="{FF2B5EF4-FFF2-40B4-BE49-F238E27FC236}">
                  <a16:creationId xmlns:a16="http://schemas.microsoft.com/office/drawing/2014/main" id="{41F360CB-F38F-E15A-002D-4904A6F67D90}"/>
                </a:ext>
              </a:extLst>
            </p:cNvPr>
            <p:cNvGrpSpPr/>
            <p:nvPr/>
          </p:nvGrpSpPr>
          <p:grpSpPr>
            <a:xfrm>
              <a:off x="1901373" y="1330886"/>
              <a:ext cx="6160791" cy="1057964"/>
              <a:chOff x="1234866" y="1792106"/>
              <a:chExt cx="6160791" cy="1057964"/>
            </a:xfrm>
          </p:grpSpPr>
          <p:sp>
            <p:nvSpPr>
              <p:cNvPr id="20" name="Rectangle: Rounded Corners 19">
                <a:extLst>
                  <a:ext uri="{FF2B5EF4-FFF2-40B4-BE49-F238E27FC236}">
                    <a16:creationId xmlns:a16="http://schemas.microsoft.com/office/drawing/2014/main" id="{85C4C61C-335D-E91E-CBE3-A90222EC156D}"/>
                  </a:ext>
                </a:extLst>
              </p:cNvPr>
              <p:cNvSpPr/>
              <p:nvPr/>
            </p:nvSpPr>
            <p:spPr>
              <a:xfrm>
                <a:off x="1234866" y="1792106"/>
                <a:ext cx="6134441" cy="1057964"/>
              </a:xfrm>
              <a:prstGeom prst="roundRect">
                <a:avLst>
                  <a:gd name="adj" fmla="val 9369"/>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423BE102-80CF-4A24-5BD9-6EF9A1EA8BBC}"/>
                  </a:ext>
                </a:extLst>
              </p:cNvPr>
              <p:cNvSpPr txBox="1"/>
              <p:nvPr/>
            </p:nvSpPr>
            <p:spPr>
              <a:xfrm>
                <a:off x="1839024" y="2136422"/>
                <a:ext cx="5556633"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copy() </a:t>
                </a: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 Returns a shallow copy</a:t>
                </a:r>
              </a:p>
            </p:txBody>
          </p:sp>
        </p:grpSp>
        <p:sp>
          <p:nvSpPr>
            <p:cNvPr id="19" name="Freeform 45">
              <a:extLst>
                <a:ext uri="{FF2B5EF4-FFF2-40B4-BE49-F238E27FC236}">
                  <a16:creationId xmlns:a16="http://schemas.microsoft.com/office/drawing/2014/main" id="{3767DA98-8F73-8574-F563-C23B1D4871D5}"/>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2556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10" presetClass="entr" presetSubtype="0" fill="hold"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childTnLst>
                                </p:cTn>
                              </p:par>
                              <p:par>
                                <p:cTn id="14" presetID="10" presetClass="entr" presetSubtype="0" fill="hold" nodeType="withEffect">
                                  <p:stCondLst>
                                    <p:cond delay="5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F2089-410B-4517-DA45-CD4A65BA8775}"/>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C8643EA2-8DD9-0BA0-D44B-C05849D20908}"/>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Mathematical Operations on Sets</a:t>
            </a:r>
          </a:p>
        </p:txBody>
      </p:sp>
      <p:sp>
        <p:nvSpPr>
          <p:cNvPr id="4" name="Text Placeholder 3">
            <a:extLst>
              <a:ext uri="{FF2B5EF4-FFF2-40B4-BE49-F238E27FC236}">
                <a16:creationId xmlns:a16="http://schemas.microsoft.com/office/drawing/2014/main" id="{E86B8E3E-9543-7F79-5980-B1D508AE59B8}"/>
              </a:ext>
            </a:extLst>
          </p:cNvPr>
          <p:cNvSpPr>
            <a:spLocks noGrp="1"/>
          </p:cNvSpPr>
          <p:nvPr>
            <p:ph type="body" sz="quarter" idx="10"/>
          </p:nvPr>
        </p:nvSpPr>
        <p:spPr/>
        <p:txBody>
          <a:bodyPr/>
          <a:lstStyle/>
          <a:p>
            <a:r>
              <a:rPr lang="en-US" dirty="0"/>
              <a:t>Operations for Comparing and Combining Collections</a:t>
            </a:r>
            <a:endParaRPr lang="en-GB" dirty="0"/>
          </a:p>
        </p:txBody>
      </p:sp>
      <p:grpSp>
        <p:nvGrpSpPr>
          <p:cNvPr id="5" name="Group 4">
            <a:extLst>
              <a:ext uri="{FF2B5EF4-FFF2-40B4-BE49-F238E27FC236}">
                <a16:creationId xmlns:a16="http://schemas.microsoft.com/office/drawing/2014/main" id="{25004006-47EF-39BC-297E-9FC94AD635D9}"/>
              </a:ext>
            </a:extLst>
          </p:cNvPr>
          <p:cNvGrpSpPr/>
          <p:nvPr/>
        </p:nvGrpSpPr>
        <p:grpSpPr>
          <a:xfrm>
            <a:off x="819919" y="2622618"/>
            <a:ext cx="5117242" cy="684963"/>
            <a:chOff x="819919" y="2281810"/>
            <a:chExt cx="5117242" cy="684963"/>
          </a:xfrm>
        </p:grpSpPr>
        <p:sp>
          <p:nvSpPr>
            <p:cNvPr id="6" name="TextBox 5">
              <a:extLst>
                <a:ext uri="{FF2B5EF4-FFF2-40B4-BE49-F238E27FC236}">
                  <a16:creationId xmlns:a16="http://schemas.microsoft.com/office/drawing/2014/main" id="{79F07438-BD65-487C-18B9-A3738271D6AD}"/>
                </a:ext>
              </a:extLst>
            </p:cNvPr>
            <p:cNvSpPr txBox="1"/>
            <p:nvPr/>
          </p:nvSpPr>
          <p:spPr>
            <a:xfrm>
              <a:off x="840358" y="2281810"/>
              <a:ext cx="5096803"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Union</a:t>
              </a:r>
            </a:p>
          </p:txBody>
        </p:sp>
        <p:sp>
          <p:nvSpPr>
            <p:cNvPr id="7" name="TextBox 6">
              <a:extLst>
                <a:ext uri="{FF2B5EF4-FFF2-40B4-BE49-F238E27FC236}">
                  <a16:creationId xmlns:a16="http://schemas.microsoft.com/office/drawing/2014/main" id="{035CD52D-2145-E69B-0FA5-30D0BE740CA1}"/>
                </a:ext>
              </a:extLst>
            </p:cNvPr>
            <p:cNvSpPr txBox="1"/>
            <p:nvPr/>
          </p:nvSpPr>
          <p:spPr>
            <a:xfrm>
              <a:off x="819919" y="2605136"/>
              <a:ext cx="5096803" cy="361637"/>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 Combines elements from both sets:</a:t>
              </a:r>
            </a:p>
          </p:txBody>
        </p:sp>
      </p:grpSp>
      <p:grpSp>
        <p:nvGrpSpPr>
          <p:cNvPr id="8" name="Group 7">
            <a:extLst>
              <a:ext uri="{FF2B5EF4-FFF2-40B4-BE49-F238E27FC236}">
                <a16:creationId xmlns:a16="http://schemas.microsoft.com/office/drawing/2014/main" id="{068AA85E-C188-056E-088C-9AB1C613813E}"/>
              </a:ext>
            </a:extLst>
          </p:cNvPr>
          <p:cNvGrpSpPr/>
          <p:nvPr/>
        </p:nvGrpSpPr>
        <p:grpSpPr>
          <a:xfrm>
            <a:off x="840358" y="4898841"/>
            <a:ext cx="5117242" cy="695142"/>
            <a:chOff x="819919" y="3804087"/>
            <a:chExt cx="5117242" cy="695142"/>
          </a:xfrm>
        </p:grpSpPr>
        <p:sp>
          <p:nvSpPr>
            <p:cNvPr id="10" name="TextBox 9">
              <a:extLst>
                <a:ext uri="{FF2B5EF4-FFF2-40B4-BE49-F238E27FC236}">
                  <a16:creationId xmlns:a16="http://schemas.microsoft.com/office/drawing/2014/main" id="{48D38020-3C9B-9F95-F175-DE909D87B7FA}"/>
                </a:ext>
              </a:extLst>
            </p:cNvPr>
            <p:cNvSpPr txBox="1"/>
            <p:nvPr/>
          </p:nvSpPr>
          <p:spPr>
            <a:xfrm>
              <a:off x="819919" y="4137592"/>
              <a:ext cx="4942255" cy="361637"/>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 Contains elements common to both sets</a:t>
              </a:r>
            </a:p>
          </p:txBody>
        </p:sp>
        <p:sp>
          <p:nvSpPr>
            <p:cNvPr id="12" name="TextBox 11">
              <a:extLst>
                <a:ext uri="{FF2B5EF4-FFF2-40B4-BE49-F238E27FC236}">
                  <a16:creationId xmlns:a16="http://schemas.microsoft.com/office/drawing/2014/main" id="{AE7CBC52-189F-1375-3CD4-446D6223A70D}"/>
                </a:ext>
              </a:extLst>
            </p:cNvPr>
            <p:cNvSpPr txBox="1"/>
            <p:nvPr/>
          </p:nvSpPr>
          <p:spPr>
            <a:xfrm>
              <a:off x="840358" y="3804087"/>
              <a:ext cx="5096803"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Intersection</a:t>
              </a:r>
            </a:p>
          </p:txBody>
        </p:sp>
      </p:grpSp>
      <p:sp>
        <p:nvSpPr>
          <p:cNvPr id="2" name="Rectangle: Rounded Corners 1">
            <a:extLst>
              <a:ext uri="{FF2B5EF4-FFF2-40B4-BE49-F238E27FC236}">
                <a16:creationId xmlns:a16="http://schemas.microsoft.com/office/drawing/2014/main" id="{E202424A-6556-C0C6-1A6E-7B113B91C491}"/>
              </a:ext>
            </a:extLst>
          </p:cNvPr>
          <p:cNvSpPr/>
          <p:nvPr/>
        </p:nvSpPr>
        <p:spPr>
          <a:xfrm>
            <a:off x="596900" y="1981201"/>
            <a:ext cx="10775181" cy="1967798"/>
          </a:xfrm>
          <a:prstGeom prst="roundRect">
            <a:avLst/>
          </a:prstGeom>
          <a:noFill/>
          <a:ln w="28575">
            <a:solidFill>
              <a:srgbClr val="29648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A9678E8A-4707-EBA9-A2B2-495DD23F9536}"/>
              </a:ext>
            </a:extLst>
          </p:cNvPr>
          <p:cNvGrpSpPr/>
          <p:nvPr/>
        </p:nvGrpSpPr>
        <p:grpSpPr>
          <a:xfrm>
            <a:off x="6819899" y="2173427"/>
            <a:ext cx="3733801" cy="1583346"/>
            <a:chOff x="6819899" y="2194935"/>
            <a:chExt cx="3733801" cy="1583346"/>
          </a:xfrm>
        </p:grpSpPr>
        <p:sp>
          <p:nvSpPr>
            <p:cNvPr id="3" name="Rectangle: Rounded Corners 2">
              <a:extLst>
                <a:ext uri="{FF2B5EF4-FFF2-40B4-BE49-F238E27FC236}">
                  <a16:creationId xmlns:a16="http://schemas.microsoft.com/office/drawing/2014/main" id="{5A366FC2-0C28-3F4D-4AD7-4980974C63CA}"/>
                </a:ext>
              </a:extLst>
            </p:cNvPr>
            <p:cNvSpPr/>
            <p:nvPr/>
          </p:nvSpPr>
          <p:spPr>
            <a:xfrm>
              <a:off x="6819899" y="2194935"/>
              <a:ext cx="3733801" cy="158334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a:extLst>
                <a:ext uri="{FF2B5EF4-FFF2-40B4-BE49-F238E27FC236}">
                  <a16:creationId xmlns:a16="http://schemas.microsoft.com/office/drawing/2014/main" id="{E0CEB2B4-302E-1F1E-6EA4-A0F63AF43DD4}"/>
                </a:ext>
              </a:extLst>
            </p:cNvPr>
            <p:cNvPicPr>
              <a:picLocks noChangeAspect="1"/>
            </p:cNvPicPr>
            <p:nvPr/>
          </p:nvPicPr>
          <p:blipFill>
            <a:blip r:embed="rId3"/>
            <a:srcRect b="7119"/>
            <a:stretch>
              <a:fillRect/>
            </a:stretch>
          </p:blipFill>
          <p:spPr>
            <a:xfrm>
              <a:off x="7067323" y="2371664"/>
              <a:ext cx="3238952" cy="1229889"/>
            </a:xfrm>
            <a:prstGeom prst="rect">
              <a:avLst/>
            </a:prstGeom>
          </p:spPr>
        </p:pic>
      </p:grpSp>
      <p:grpSp>
        <p:nvGrpSpPr>
          <p:cNvPr id="15" name="Group 14">
            <a:extLst>
              <a:ext uri="{FF2B5EF4-FFF2-40B4-BE49-F238E27FC236}">
                <a16:creationId xmlns:a16="http://schemas.microsoft.com/office/drawing/2014/main" id="{AB1E439D-20FD-DBCA-A8CA-3A8EDD0F7131}"/>
              </a:ext>
            </a:extLst>
          </p:cNvPr>
          <p:cNvGrpSpPr/>
          <p:nvPr/>
        </p:nvGrpSpPr>
        <p:grpSpPr>
          <a:xfrm>
            <a:off x="596900" y="4263755"/>
            <a:ext cx="10775181" cy="1967798"/>
            <a:chOff x="596900" y="4263755"/>
            <a:chExt cx="10775181" cy="1967798"/>
          </a:xfrm>
        </p:grpSpPr>
        <p:sp>
          <p:nvSpPr>
            <p:cNvPr id="14" name="Rectangle: Rounded Corners 13">
              <a:extLst>
                <a:ext uri="{FF2B5EF4-FFF2-40B4-BE49-F238E27FC236}">
                  <a16:creationId xmlns:a16="http://schemas.microsoft.com/office/drawing/2014/main" id="{5A366FC2-0C28-3F4D-4AD7-4980974C63CA}"/>
                </a:ext>
              </a:extLst>
            </p:cNvPr>
            <p:cNvSpPr/>
            <p:nvPr/>
          </p:nvSpPr>
          <p:spPr>
            <a:xfrm>
              <a:off x="6972300" y="4657725"/>
              <a:ext cx="3248025" cy="1179858"/>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ectangle: Rounded Corners 8">
              <a:extLst>
                <a:ext uri="{FF2B5EF4-FFF2-40B4-BE49-F238E27FC236}">
                  <a16:creationId xmlns:a16="http://schemas.microsoft.com/office/drawing/2014/main" id="{E809CA77-7282-5C45-5F7E-DEFBB9C1BB4D}"/>
                </a:ext>
              </a:extLst>
            </p:cNvPr>
            <p:cNvSpPr/>
            <p:nvPr/>
          </p:nvSpPr>
          <p:spPr>
            <a:xfrm>
              <a:off x="596900" y="4263755"/>
              <a:ext cx="10775181" cy="1967798"/>
            </a:xfrm>
            <a:prstGeom prst="roundRect">
              <a:avLst/>
            </a:prstGeom>
            <a:noFill/>
            <a:ln w="28575">
              <a:solidFill>
                <a:srgbClr val="2E9CC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6">
              <a:extLst>
                <a:ext uri="{FF2B5EF4-FFF2-40B4-BE49-F238E27FC236}">
                  <a16:creationId xmlns:a16="http://schemas.microsoft.com/office/drawing/2014/main" id="{3D1E9A17-2A15-A2CF-BC15-959234C6F835}"/>
                </a:ext>
              </a:extLst>
            </p:cNvPr>
            <p:cNvPicPr>
              <a:picLocks noChangeAspect="1"/>
            </p:cNvPicPr>
            <p:nvPr/>
          </p:nvPicPr>
          <p:blipFill>
            <a:blip r:embed="rId4"/>
            <a:stretch>
              <a:fillRect/>
            </a:stretch>
          </p:blipFill>
          <p:spPr>
            <a:xfrm>
              <a:off x="7174031" y="4777488"/>
              <a:ext cx="2905522" cy="940332"/>
            </a:xfrm>
            <a:prstGeom prst="rect">
              <a:avLst/>
            </a:prstGeom>
          </p:spPr>
        </p:pic>
      </p:grpSp>
    </p:spTree>
    <p:extLst>
      <p:ext uri="{BB962C8B-B14F-4D97-AF65-F5344CB8AC3E}">
        <p14:creationId xmlns:p14="http://schemas.microsoft.com/office/powerpoint/2010/main" val="227962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nodeType="withEffect">
                                  <p:stCondLst>
                                    <p:cond delay="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childTnLst>
                                </p:cTn>
                              </p:par>
                              <p:par>
                                <p:cTn id="20" presetID="10" presetClass="entr" presetSubtype="0" fill="hold" nodeType="withEffect">
                                  <p:stCondLst>
                                    <p:cond delay="5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childTnLst>
                                </p:cTn>
                              </p:par>
                              <p:par>
                                <p:cTn id="23" presetID="10" presetClass="entr" presetSubtype="0" fill="hold" nodeType="withEffect">
                                  <p:stCondLst>
                                    <p:cond delay="50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build="p"/>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81EC9-C580-DA0A-4B1B-63BA9E31C99F}"/>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8F97820-9B14-7A7B-BC72-4ABACDF1B43A}"/>
              </a:ext>
            </a:extLst>
          </p:cNvPr>
          <p:cNvSpPr/>
          <p:nvPr/>
        </p:nvSpPr>
        <p:spPr>
          <a:xfrm>
            <a:off x="596900" y="4263755"/>
            <a:ext cx="10775181" cy="1967798"/>
          </a:xfrm>
          <a:prstGeom prst="roundRect">
            <a:avLst/>
          </a:prstGeom>
          <a:noFill/>
          <a:ln w="28575">
            <a:solidFill>
              <a:srgbClr val="2E9CC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7">
            <a:extLst>
              <a:ext uri="{FF2B5EF4-FFF2-40B4-BE49-F238E27FC236}">
                <a16:creationId xmlns:a16="http://schemas.microsoft.com/office/drawing/2014/main" id="{C331BEF1-7B9D-1FD0-E6AA-8940EFCC401C}"/>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Mathematical Operations on Sets</a:t>
            </a:r>
            <a:endParaRPr lang="en-US" dirty="0"/>
          </a:p>
        </p:txBody>
      </p:sp>
      <p:sp>
        <p:nvSpPr>
          <p:cNvPr id="2" name="Text Placeholder 3">
            <a:extLst>
              <a:ext uri="{FF2B5EF4-FFF2-40B4-BE49-F238E27FC236}">
                <a16:creationId xmlns:a16="http://schemas.microsoft.com/office/drawing/2014/main" id="{A186D4D2-77E0-5508-76D8-C73A32E2BB6F}"/>
              </a:ext>
            </a:extLst>
          </p:cNvPr>
          <p:cNvSpPr>
            <a:spLocks noGrp="1"/>
          </p:cNvSpPr>
          <p:nvPr>
            <p:ph type="body" sz="quarter" idx="10"/>
          </p:nvPr>
        </p:nvSpPr>
        <p:spPr>
          <a:xfrm>
            <a:off x="749999" y="1109610"/>
            <a:ext cx="10622082" cy="450239"/>
          </a:xfrm>
        </p:spPr>
        <p:txBody>
          <a:bodyPr/>
          <a:lstStyle/>
          <a:p>
            <a:r>
              <a:rPr lang="en-US" dirty="0"/>
              <a:t>Operations for Comparing and Combining Collections</a:t>
            </a:r>
            <a:endParaRPr lang="en-GB" dirty="0"/>
          </a:p>
        </p:txBody>
      </p:sp>
      <p:grpSp>
        <p:nvGrpSpPr>
          <p:cNvPr id="3" name="Group 2">
            <a:extLst>
              <a:ext uri="{FF2B5EF4-FFF2-40B4-BE49-F238E27FC236}">
                <a16:creationId xmlns:a16="http://schemas.microsoft.com/office/drawing/2014/main" id="{CF2C62A6-B696-BE8C-7405-5BC1BE821479}"/>
              </a:ext>
            </a:extLst>
          </p:cNvPr>
          <p:cNvGrpSpPr/>
          <p:nvPr/>
        </p:nvGrpSpPr>
        <p:grpSpPr>
          <a:xfrm>
            <a:off x="840358" y="2552700"/>
            <a:ext cx="5144132" cy="962576"/>
            <a:chOff x="840358" y="2281810"/>
            <a:chExt cx="5144132" cy="962576"/>
          </a:xfrm>
        </p:grpSpPr>
        <p:sp>
          <p:nvSpPr>
            <p:cNvPr id="4" name="TextBox 3">
              <a:extLst>
                <a:ext uri="{FF2B5EF4-FFF2-40B4-BE49-F238E27FC236}">
                  <a16:creationId xmlns:a16="http://schemas.microsoft.com/office/drawing/2014/main" id="{52569F78-8A03-ACBF-D41D-1E14D0C9B3F6}"/>
                </a:ext>
              </a:extLst>
            </p:cNvPr>
            <p:cNvSpPr txBox="1"/>
            <p:nvPr/>
          </p:nvSpPr>
          <p:spPr>
            <a:xfrm>
              <a:off x="840358" y="2281810"/>
              <a:ext cx="5096803"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Difference</a:t>
              </a:r>
            </a:p>
          </p:txBody>
        </p:sp>
        <p:sp>
          <p:nvSpPr>
            <p:cNvPr id="5" name="TextBox 4">
              <a:extLst>
                <a:ext uri="{FF2B5EF4-FFF2-40B4-BE49-F238E27FC236}">
                  <a16:creationId xmlns:a16="http://schemas.microsoft.com/office/drawing/2014/main" id="{2C0DDEB9-64E1-71EC-8946-9A3CF67A460B}"/>
                </a:ext>
              </a:extLst>
            </p:cNvPr>
            <p:cNvSpPr txBox="1"/>
            <p:nvPr/>
          </p:nvSpPr>
          <p:spPr>
            <a:xfrm>
              <a:off x="887687" y="2613444"/>
              <a:ext cx="5096803" cy="630942"/>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Includes elements in first set but not in second</a:t>
              </a:r>
            </a:p>
          </p:txBody>
        </p:sp>
      </p:grpSp>
      <p:grpSp>
        <p:nvGrpSpPr>
          <p:cNvPr id="7" name="Group 6">
            <a:extLst>
              <a:ext uri="{FF2B5EF4-FFF2-40B4-BE49-F238E27FC236}">
                <a16:creationId xmlns:a16="http://schemas.microsoft.com/office/drawing/2014/main" id="{60B25AC9-6332-AAF1-E6C7-9A56D4157996}"/>
              </a:ext>
            </a:extLst>
          </p:cNvPr>
          <p:cNvGrpSpPr/>
          <p:nvPr/>
        </p:nvGrpSpPr>
        <p:grpSpPr>
          <a:xfrm>
            <a:off x="840358" y="4861301"/>
            <a:ext cx="5096803" cy="946359"/>
            <a:chOff x="840358" y="3804087"/>
            <a:chExt cx="5096803" cy="946359"/>
          </a:xfrm>
        </p:grpSpPr>
        <p:sp>
          <p:nvSpPr>
            <p:cNvPr id="9" name="TextBox 8">
              <a:extLst>
                <a:ext uri="{FF2B5EF4-FFF2-40B4-BE49-F238E27FC236}">
                  <a16:creationId xmlns:a16="http://schemas.microsoft.com/office/drawing/2014/main" id="{A0A5DC8B-B493-769E-934D-32D2DE7369C2}"/>
                </a:ext>
              </a:extLst>
            </p:cNvPr>
            <p:cNvSpPr txBox="1"/>
            <p:nvPr/>
          </p:nvSpPr>
          <p:spPr>
            <a:xfrm>
              <a:off x="876300" y="4119504"/>
              <a:ext cx="4942255" cy="630942"/>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Encompasses elements in either set but not both</a:t>
              </a:r>
            </a:p>
          </p:txBody>
        </p:sp>
        <p:sp>
          <p:nvSpPr>
            <p:cNvPr id="10" name="TextBox 9">
              <a:extLst>
                <a:ext uri="{FF2B5EF4-FFF2-40B4-BE49-F238E27FC236}">
                  <a16:creationId xmlns:a16="http://schemas.microsoft.com/office/drawing/2014/main" id="{2EC0882C-EB89-698F-3E16-C4E3F22B7A38}"/>
                </a:ext>
              </a:extLst>
            </p:cNvPr>
            <p:cNvSpPr txBox="1"/>
            <p:nvPr/>
          </p:nvSpPr>
          <p:spPr>
            <a:xfrm>
              <a:off x="840358" y="3804087"/>
              <a:ext cx="5096803"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Symmetric difference</a:t>
              </a:r>
            </a:p>
          </p:txBody>
        </p:sp>
      </p:grpSp>
      <p:sp>
        <p:nvSpPr>
          <p:cNvPr id="6" name="Rectangle: Rounded Corners 5">
            <a:extLst>
              <a:ext uri="{FF2B5EF4-FFF2-40B4-BE49-F238E27FC236}">
                <a16:creationId xmlns:a16="http://schemas.microsoft.com/office/drawing/2014/main" id="{19881BF9-E199-F891-BC10-238806E3A0B9}"/>
              </a:ext>
            </a:extLst>
          </p:cNvPr>
          <p:cNvSpPr/>
          <p:nvPr/>
        </p:nvSpPr>
        <p:spPr>
          <a:xfrm>
            <a:off x="596900" y="1981201"/>
            <a:ext cx="10775181" cy="1967798"/>
          </a:xfrm>
          <a:prstGeom prst="roundRect">
            <a:avLst/>
          </a:prstGeom>
          <a:noFill/>
          <a:ln w="28575">
            <a:solidFill>
              <a:srgbClr val="29648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28AD3ECC-A616-BB02-DB49-4121E6292B05}"/>
              </a:ext>
            </a:extLst>
          </p:cNvPr>
          <p:cNvGrpSpPr/>
          <p:nvPr/>
        </p:nvGrpSpPr>
        <p:grpSpPr>
          <a:xfrm>
            <a:off x="6667500" y="2228220"/>
            <a:ext cx="3343274" cy="1346586"/>
            <a:chOff x="6667500" y="2228220"/>
            <a:chExt cx="3343274" cy="1346586"/>
          </a:xfrm>
        </p:grpSpPr>
        <p:sp>
          <p:nvSpPr>
            <p:cNvPr id="11" name="Rectangle: Rounded Corners 10">
              <a:extLst>
                <a:ext uri="{FF2B5EF4-FFF2-40B4-BE49-F238E27FC236}">
                  <a16:creationId xmlns:a16="http://schemas.microsoft.com/office/drawing/2014/main" id="{5A366FC2-0C28-3F4D-4AD7-4980974C63CA}"/>
                </a:ext>
              </a:extLst>
            </p:cNvPr>
            <p:cNvSpPr/>
            <p:nvPr/>
          </p:nvSpPr>
          <p:spPr>
            <a:xfrm>
              <a:off x="6667500" y="2228220"/>
              <a:ext cx="3343274" cy="134658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9" name="Picture 18">
              <a:extLst>
                <a:ext uri="{FF2B5EF4-FFF2-40B4-BE49-F238E27FC236}">
                  <a16:creationId xmlns:a16="http://schemas.microsoft.com/office/drawing/2014/main" id="{1FE68D29-47E5-42B7-284B-B24A4E2411ED}"/>
                </a:ext>
              </a:extLst>
            </p:cNvPr>
            <p:cNvPicPr>
              <a:picLocks noChangeAspect="1"/>
            </p:cNvPicPr>
            <p:nvPr/>
          </p:nvPicPr>
          <p:blipFill>
            <a:blip r:embed="rId3"/>
            <a:stretch>
              <a:fillRect/>
            </a:stretch>
          </p:blipFill>
          <p:spPr>
            <a:xfrm>
              <a:off x="6881346" y="2425037"/>
              <a:ext cx="2915582" cy="952953"/>
            </a:xfrm>
            <a:prstGeom prst="rect">
              <a:avLst/>
            </a:prstGeom>
          </p:spPr>
        </p:pic>
      </p:grpSp>
      <p:grpSp>
        <p:nvGrpSpPr>
          <p:cNvPr id="13" name="Group 12">
            <a:extLst>
              <a:ext uri="{FF2B5EF4-FFF2-40B4-BE49-F238E27FC236}">
                <a16:creationId xmlns:a16="http://schemas.microsoft.com/office/drawing/2014/main" id="{E1F98169-0B16-33F9-12AE-DB08767D838D}"/>
              </a:ext>
            </a:extLst>
          </p:cNvPr>
          <p:cNvGrpSpPr/>
          <p:nvPr/>
        </p:nvGrpSpPr>
        <p:grpSpPr>
          <a:xfrm>
            <a:off x="6667500" y="4574361"/>
            <a:ext cx="3943350" cy="1346586"/>
            <a:chOff x="6667500" y="4574361"/>
            <a:chExt cx="3943350" cy="1346586"/>
          </a:xfrm>
        </p:grpSpPr>
        <p:sp>
          <p:nvSpPr>
            <p:cNvPr id="12" name="Rectangle: Rounded Corners 11">
              <a:extLst>
                <a:ext uri="{FF2B5EF4-FFF2-40B4-BE49-F238E27FC236}">
                  <a16:creationId xmlns:a16="http://schemas.microsoft.com/office/drawing/2014/main" id="{91ED1A7E-D477-8C3F-004B-A8797AEA2BCC}"/>
                </a:ext>
              </a:extLst>
            </p:cNvPr>
            <p:cNvSpPr/>
            <p:nvPr/>
          </p:nvSpPr>
          <p:spPr>
            <a:xfrm>
              <a:off x="6667500" y="4574361"/>
              <a:ext cx="3943350" cy="134658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1" name="Picture 20">
              <a:extLst>
                <a:ext uri="{FF2B5EF4-FFF2-40B4-BE49-F238E27FC236}">
                  <a16:creationId xmlns:a16="http://schemas.microsoft.com/office/drawing/2014/main" id="{33B53E7F-E7E7-C130-EA1F-7B6320C79F06}"/>
                </a:ext>
              </a:extLst>
            </p:cNvPr>
            <p:cNvPicPr>
              <a:picLocks noChangeAspect="1"/>
            </p:cNvPicPr>
            <p:nvPr/>
          </p:nvPicPr>
          <p:blipFill>
            <a:blip r:embed="rId4"/>
            <a:stretch>
              <a:fillRect/>
            </a:stretch>
          </p:blipFill>
          <p:spPr>
            <a:xfrm>
              <a:off x="6882885" y="4824297"/>
              <a:ext cx="3528441" cy="845574"/>
            </a:xfrm>
            <a:prstGeom prst="rect">
              <a:avLst/>
            </a:prstGeom>
          </p:spPr>
        </p:pic>
      </p:grpSp>
    </p:spTree>
    <p:extLst>
      <p:ext uri="{BB962C8B-B14F-4D97-AF65-F5344CB8AC3E}">
        <p14:creationId xmlns:p14="http://schemas.microsoft.com/office/powerpoint/2010/main" val="598585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nodeType="withEffect">
                                  <p:stCondLst>
                                    <p:cond delay="5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childTnLst>
                                </p:cTn>
                              </p:par>
                              <p:par>
                                <p:cTn id="17" presetID="10" presetClass="entr" presetSubtype="0" fill="hold" nodeType="with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childTnLst>
                                </p:cTn>
                              </p:par>
                              <p:par>
                                <p:cTn id="20" presetID="10" presetClass="entr" presetSubtype="0" fill="hold" nodeType="withEffect">
                                  <p:stCondLst>
                                    <p:cond delay="5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F8B32-2842-57A4-3B39-02941F24DA09}"/>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DB3EB3DA-5A40-B064-4A20-AE36E3EC3606}"/>
              </a:ext>
            </a:extLst>
          </p:cNvPr>
          <p:cNvSpPr>
            <a:spLocks noGrp="1"/>
          </p:cNvSpPr>
          <p:nvPr>
            <p:ph type="title"/>
          </p:nvPr>
        </p:nvSpPr>
        <p:spPr/>
        <p:txBody>
          <a:bodyPr/>
          <a:lstStyle/>
          <a:p>
            <a:pPr>
              <a:lnSpc>
                <a:spcPts val="2583"/>
              </a:lnSpc>
            </a:pPr>
            <a:r>
              <a:rPr lang="en-US" dirty="0">
                <a:latin typeface="Montserrat Bold" pitchFamily="34" charset="0"/>
                <a:ea typeface="Montserrat Bold" pitchFamily="34" charset="-122"/>
                <a:cs typeface="Montserrat Bold" pitchFamily="34" charset="-120"/>
              </a:rPr>
              <a:t>Use Cases of Sets</a:t>
            </a:r>
            <a:endParaRPr lang="en-US" dirty="0"/>
          </a:p>
        </p:txBody>
      </p:sp>
      <p:sp>
        <p:nvSpPr>
          <p:cNvPr id="4" name="TextBox 3">
            <a:extLst>
              <a:ext uri="{FF2B5EF4-FFF2-40B4-BE49-F238E27FC236}">
                <a16:creationId xmlns:a16="http://schemas.microsoft.com/office/drawing/2014/main" id="{8AB27F35-7FEF-62A1-2967-1124ACE9D586}"/>
              </a:ext>
            </a:extLst>
          </p:cNvPr>
          <p:cNvSpPr txBox="1"/>
          <p:nvPr/>
        </p:nvSpPr>
        <p:spPr>
          <a:xfrm>
            <a:off x="477454" y="1538427"/>
            <a:ext cx="5562662" cy="274434"/>
          </a:xfrm>
          <a:prstGeom prst="rect">
            <a:avLst/>
          </a:prstGeom>
          <a:noFill/>
        </p:spPr>
        <p:txBody>
          <a:bodyPr wrap="square">
            <a:spAutoFit/>
          </a:bodyPr>
          <a:lstStyle/>
          <a:p>
            <a:pPr marL="285750" indent="-285750">
              <a:lnSpc>
                <a:spcPts val="1292"/>
              </a:lnSpc>
              <a:buFont typeface="Arial" panose="020B0604020202020204" pitchFamily="34" charset="0"/>
              <a:buChar char="•"/>
            </a:pPr>
            <a:r>
              <a:rPr lang="en-US" sz="1800" b="1" dirty="0">
                <a:solidFill>
                  <a:srgbClr val="25274D"/>
                </a:solidFill>
                <a:latin typeface="Montserrat" panose="00000500000000000000" pitchFamily="2" charset="0"/>
                <a:ea typeface="Montserrat Bold" pitchFamily="34" charset="-122"/>
                <a:cs typeface="Montserrat Bold" pitchFamily="34" charset="-120"/>
              </a:rPr>
              <a:t>Removing duplicates</a:t>
            </a:r>
          </a:p>
        </p:txBody>
      </p:sp>
      <p:sp>
        <p:nvSpPr>
          <p:cNvPr id="8" name="TextBox 7">
            <a:extLst>
              <a:ext uri="{FF2B5EF4-FFF2-40B4-BE49-F238E27FC236}">
                <a16:creationId xmlns:a16="http://schemas.microsoft.com/office/drawing/2014/main" id="{20A68029-71AC-A28C-E917-051B9E3EDA47}"/>
              </a:ext>
            </a:extLst>
          </p:cNvPr>
          <p:cNvSpPr txBox="1"/>
          <p:nvPr/>
        </p:nvSpPr>
        <p:spPr>
          <a:xfrm>
            <a:off x="6254620" y="1537942"/>
            <a:ext cx="5684338" cy="274434"/>
          </a:xfrm>
          <a:prstGeom prst="rect">
            <a:avLst/>
          </a:prstGeom>
          <a:noFill/>
        </p:spPr>
        <p:txBody>
          <a:bodyPr wrap="square">
            <a:spAutoFit/>
          </a:bodyPr>
          <a:lstStyle/>
          <a:p>
            <a:pPr marL="285750" indent="-285750">
              <a:lnSpc>
                <a:spcPts val="1292"/>
              </a:lnSpc>
              <a:buFont typeface="Arial" panose="020B0604020202020204" pitchFamily="34" charset="0"/>
              <a:buChar char="•"/>
            </a:pPr>
            <a:r>
              <a:rPr lang="en-US" sz="1800" b="1" dirty="0">
                <a:solidFill>
                  <a:srgbClr val="25274D"/>
                </a:solidFill>
                <a:latin typeface="Montserrat" panose="00000500000000000000" pitchFamily="2" charset="0"/>
                <a:ea typeface="Montserrat Bold" pitchFamily="34" charset="-122"/>
                <a:cs typeface="Montserrat Bold" pitchFamily="34" charset="-120"/>
              </a:rPr>
              <a:t>Membership testing</a:t>
            </a:r>
            <a:endParaRPr lang="en-US" sz="1800" dirty="0">
              <a:solidFill>
                <a:srgbClr val="25274D"/>
              </a:solidFill>
              <a:latin typeface="Montserrat" panose="00000500000000000000" pitchFamily="2" charset="0"/>
            </a:endParaRPr>
          </a:p>
        </p:txBody>
      </p:sp>
      <p:sp>
        <p:nvSpPr>
          <p:cNvPr id="12" name="TextBox 11">
            <a:extLst>
              <a:ext uri="{FF2B5EF4-FFF2-40B4-BE49-F238E27FC236}">
                <a16:creationId xmlns:a16="http://schemas.microsoft.com/office/drawing/2014/main" id="{110DB0C3-3A8A-AE7D-B253-783F16892D30}"/>
              </a:ext>
            </a:extLst>
          </p:cNvPr>
          <p:cNvSpPr txBox="1"/>
          <p:nvPr/>
        </p:nvSpPr>
        <p:spPr>
          <a:xfrm>
            <a:off x="3490203" y="3439230"/>
            <a:ext cx="5915881" cy="274434"/>
          </a:xfrm>
          <a:prstGeom prst="rect">
            <a:avLst/>
          </a:prstGeom>
          <a:noFill/>
        </p:spPr>
        <p:txBody>
          <a:bodyPr wrap="square">
            <a:spAutoFit/>
          </a:bodyPr>
          <a:lstStyle/>
          <a:p>
            <a:pPr marL="285750" indent="-285750">
              <a:lnSpc>
                <a:spcPts val="1292"/>
              </a:lnSpc>
              <a:buFont typeface="Arial" panose="020B0604020202020204" pitchFamily="34" charset="0"/>
              <a:buChar char="•"/>
            </a:pPr>
            <a:r>
              <a:rPr lang="en-US" sz="1800" b="1" dirty="0">
                <a:solidFill>
                  <a:srgbClr val="25274D"/>
                </a:solidFill>
                <a:latin typeface="Montserrat" panose="00000500000000000000" pitchFamily="2" charset="0"/>
                <a:ea typeface="Montserrat Bold" pitchFamily="34" charset="-122"/>
                <a:cs typeface="Montserrat Bold" pitchFamily="34" charset="-120"/>
              </a:rPr>
              <a:t>Finding unique or common elements</a:t>
            </a:r>
            <a:endParaRPr lang="en-US" sz="1800" dirty="0">
              <a:solidFill>
                <a:srgbClr val="25274D"/>
              </a:solidFill>
              <a:latin typeface="Montserrat" panose="00000500000000000000" pitchFamily="2" charset="0"/>
            </a:endParaRPr>
          </a:p>
        </p:txBody>
      </p:sp>
      <p:grpSp>
        <p:nvGrpSpPr>
          <p:cNvPr id="2" name="Group 1">
            <a:extLst>
              <a:ext uri="{FF2B5EF4-FFF2-40B4-BE49-F238E27FC236}">
                <a16:creationId xmlns:a16="http://schemas.microsoft.com/office/drawing/2014/main" id="{BBA3D959-6EDE-F962-26F8-D0FC351BDEEB}"/>
              </a:ext>
            </a:extLst>
          </p:cNvPr>
          <p:cNvGrpSpPr/>
          <p:nvPr/>
        </p:nvGrpSpPr>
        <p:grpSpPr>
          <a:xfrm>
            <a:off x="1487337" y="5198672"/>
            <a:ext cx="9217326" cy="894081"/>
            <a:chOff x="1869775" y="5748390"/>
            <a:chExt cx="9217326" cy="894081"/>
          </a:xfrm>
        </p:grpSpPr>
        <p:sp>
          <p:nvSpPr>
            <p:cNvPr id="3" name="Rectangle: Rounded Corners 2">
              <a:extLst>
                <a:ext uri="{FF2B5EF4-FFF2-40B4-BE49-F238E27FC236}">
                  <a16:creationId xmlns:a16="http://schemas.microsoft.com/office/drawing/2014/main" id="{D8943A3C-5F26-798B-5C3A-1DAC2C988B1B}"/>
                </a:ext>
              </a:extLst>
            </p:cNvPr>
            <p:cNvSpPr/>
            <p:nvPr/>
          </p:nvSpPr>
          <p:spPr>
            <a:xfrm>
              <a:off x="1869775" y="5748390"/>
              <a:ext cx="9217326" cy="894081"/>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105CD0D-3656-A630-DD90-F9215D7A74A9}"/>
                </a:ext>
              </a:extLst>
            </p:cNvPr>
            <p:cNvSpPr txBox="1"/>
            <p:nvPr/>
          </p:nvSpPr>
          <p:spPr>
            <a:xfrm>
              <a:off x="2167872" y="5872264"/>
              <a:ext cx="8621131" cy="646331"/>
            </a:xfrm>
            <a:prstGeom prst="rect">
              <a:avLst/>
            </a:prstGeom>
            <a:noFill/>
          </p:spPr>
          <p:txBody>
            <a:bodyPr wrap="square">
              <a:spAutoFit/>
            </a:bodyPr>
            <a:lstStyle/>
            <a:p>
              <a:pPr algn="ctr">
                <a:buNone/>
              </a:pPr>
              <a:r>
                <a:rPr lang="en-US" dirty="0">
                  <a:solidFill>
                    <a:schemeClr val="bg1"/>
                  </a:solidFill>
                </a:rPr>
                <a:t>Sets provide O(1) time complexity for add, remove and membership tests, making them faster than lists.</a:t>
              </a:r>
            </a:p>
          </p:txBody>
        </p:sp>
      </p:grpSp>
      <p:grpSp>
        <p:nvGrpSpPr>
          <p:cNvPr id="14" name="Group 13">
            <a:extLst>
              <a:ext uri="{FF2B5EF4-FFF2-40B4-BE49-F238E27FC236}">
                <a16:creationId xmlns:a16="http://schemas.microsoft.com/office/drawing/2014/main" id="{0E6305ED-E12B-5DCC-B199-2551D43E0EC5}"/>
              </a:ext>
            </a:extLst>
          </p:cNvPr>
          <p:cNvGrpSpPr/>
          <p:nvPr/>
        </p:nvGrpSpPr>
        <p:grpSpPr>
          <a:xfrm>
            <a:off x="723900" y="1981200"/>
            <a:ext cx="5067300" cy="894081"/>
            <a:chOff x="723900" y="2378518"/>
            <a:chExt cx="5067300" cy="894081"/>
          </a:xfrm>
        </p:grpSpPr>
        <p:sp>
          <p:nvSpPr>
            <p:cNvPr id="5" name="Rectangle: Rounded Corners 4">
              <a:extLst>
                <a:ext uri="{FF2B5EF4-FFF2-40B4-BE49-F238E27FC236}">
                  <a16:creationId xmlns:a16="http://schemas.microsoft.com/office/drawing/2014/main" id="{5A366FC2-0C28-3F4D-4AD7-4980974C63CA}"/>
                </a:ext>
              </a:extLst>
            </p:cNvPr>
            <p:cNvSpPr/>
            <p:nvPr/>
          </p:nvSpPr>
          <p:spPr>
            <a:xfrm>
              <a:off x="723900" y="2378518"/>
              <a:ext cx="5067300" cy="89408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96A7BEEA-5C11-4072-830B-F113406C3B15}"/>
                </a:ext>
              </a:extLst>
            </p:cNvPr>
            <p:cNvPicPr>
              <a:picLocks noChangeAspect="1"/>
            </p:cNvPicPr>
            <p:nvPr/>
          </p:nvPicPr>
          <p:blipFill>
            <a:blip r:embed="rId3"/>
            <a:stretch>
              <a:fillRect/>
            </a:stretch>
          </p:blipFill>
          <p:spPr>
            <a:xfrm>
              <a:off x="839940" y="2546771"/>
              <a:ext cx="4835220" cy="557575"/>
            </a:xfrm>
            <a:prstGeom prst="rect">
              <a:avLst/>
            </a:prstGeom>
          </p:spPr>
        </p:pic>
      </p:grpSp>
      <p:grpSp>
        <p:nvGrpSpPr>
          <p:cNvPr id="13" name="Group 12">
            <a:extLst>
              <a:ext uri="{FF2B5EF4-FFF2-40B4-BE49-F238E27FC236}">
                <a16:creationId xmlns:a16="http://schemas.microsoft.com/office/drawing/2014/main" id="{DF4D00C5-3024-4E42-5F2E-7DE136296D4F}"/>
              </a:ext>
            </a:extLst>
          </p:cNvPr>
          <p:cNvGrpSpPr/>
          <p:nvPr/>
        </p:nvGrpSpPr>
        <p:grpSpPr>
          <a:xfrm>
            <a:off x="6702187" y="1981200"/>
            <a:ext cx="3485753" cy="894081"/>
            <a:chOff x="6702187" y="2378518"/>
            <a:chExt cx="3485753" cy="894081"/>
          </a:xfrm>
        </p:grpSpPr>
        <p:sp>
          <p:nvSpPr>
            <p:cNvPr id="6" name="Rectangle: Rounded Corners 5">
              <a:extLst>
                <a:ext uri="{FF2B5EF4-FFF2-40B4-BE49-F238E27FC236}">
                  <a16:creationId xmlns:a16="http://schemas.microsoft.com/office/drawing/2014/main" id="{8E211697-8590-D9E1-556F-1692E1C5CF8C}"/>
                </a:ext>
              </a:extLst>
            </p:cNvPr>
            <p:cNvSpPr/>
            <p:nvPr/>
          </p:nvSpPr>
          <p:spPr>
            <a:xfrm>
              <a:off x="6702187" y="2378518"/>
              <a:ext cx="3485753" cy="89408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1" name="Picture 20">
              <a:extLst>
                <a:ext uri="{FF2B5EF4-FFF2-40B4-BE49-F238E27FC236}">
                  <a16:creationId xmlns:a16="http://schemas.microsoft.com/office/drawing/2014/main" id="{3B20ABD7-0EF8-E62B-4BD5-6840A41BAB6D}"/>
                </a:ext>
              </a:extLst>
            </p:cNvPr>
            <p:cNvPicPr>
              <a:picLocks noChangeAspect="1"/>
            </p:cNvPicPr>
            <p:nvPr/>
          </p:nvPicPr>
          <p:blipFill>
            <a:blip r:embed="rId4"/>
            <a:stretch>
              <a:fillRect/>
            </a:stretch>
          </p:blipFill>
          <p:spPr>
            <a:xfrm>
              <a:off x="6850358" y="2479458"/>
              <a:ext cx="3189410" cy="682311"/>
            </a:xfrm>
            <a:prstGeom prst="rect">
              <a:avLst/>
            </a:prstGeom>
          </p:spPr>
        </p:pic>
      </p:grpSp>
      <p:grpSp>
        <p:nvGrpSpPr>
          <p:cNvPr id="11" name="Group 10">
            <a:extLst>
              <a:ext uri="{FF2B5EF4-FFF2-40B4-BE49-F238E27FC236}">
                <a16:creationId xmlns:a16="http://schemas.microsoft.com/office/drawing/2014/main" id="{0FD5F80D-3859-399D-586D-C56632D898C9}"/>
              </a:ext>
            </a:extLst>
          </p:cNvPr>
          <p:cNvGrpSpPr/>
          <p:nvPr/>
        </p:nvGrpSpPr>
        <p:grpSpPr>
          <a:xfrm>
            <a:off x="4343597" y="3924729"/>
            <a:ext cx="3839408" cy="1131017"/>
            <a:chOff x="4343597" y="4322047"/>
            <a:chExt cx="3839408" cy="1131017"/>
          </a:xfrm>
        </p:grpSpPr>
        <p:sp>
          <p:nvSpPr>
            <p:cNvPr id="9" name="Rectangle: Rounded Corners 8">
              <a:extLst>
                <a:ext uri="{FF2B5EF4-FFF2-40B4-BE49-F238E27FC236}">
                  <a16:creationId xmlns:a16="http://schemas.microsoft.com/office/drawing/2014/main" id="{68D312F7-3164-9AE9-353C-F1D60F3485B4}"/>
                </a:ext>
              </a:extLst>
            </p:cNvPr>
            <p:cNvSpPr/>
            <p:nvPr/>
          </p:nvSpPr>
          <p:spPr>
            <a:xfrm>
              <a:off x="4343597" y="4322047"/>
              <a:ext cx="3839408" cy="1131017"/>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3" name="Picture 22">
              <a:extLst>
                <a:ext uri="{FF2B5EF4-FFF2-40B4-BE49-F238E27FC236}">
                  <a16:creationId xmlns:a16="http://schemas.microsoft.com/office/drawing/2014/main" id="{40D388EF-22D1-F990-9922-86368C882BBB}"/>
                </a:ext>
              </a:extLst>
            </p:cNvPr>
            <p:cNvPicPr>
              <a:picLocks noChangeAspect="1"/>
            </p:cNvPicPr>
            <p:nvPr/>
          </p:nvPicPr>
          <p:blipFill>
            <a:blip r:embed="rId5"/>
            <a:stretch>
              <a:fillRect/>
            </a:stretch>
          </p:blipFill>
          <p:spPr>
            <a:xfrm>
              <a:off x="4426184" y="4417655"/>
              <a:ext cx="3656872" cy="894081"/>
            </a:xfrm>
            <a:prstGeom prst="rect">
              <a:avLst/>
            </a:prstGeom>
          </p:spPr>
        </p:pic>
      </p:grpSp>
    </p:spTree>
    <p:extLst>
      <p:ext uri="{BB962C8B-B14F-4D97-AF65-F5344CB8AC3E}">
        <p14:creationId xmlns:p14="http://schemas.microsoft.com/office/powerpoint/2010/main" val="428303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childTnLst>
                                </p:cTn>
                              </p:par>
                              <p:par>
                                <p:cTn id="17" presetID="10" presetClass="entr" presetSubtype="0" fill="hold" nodeType="withEffect">
                                  <p:stCondLst>
                                    <p:cond delay="50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childTnLst>
                                </p:cTn>
                              </p:par>
                              <p:par>
                                <p:cTn id="20" presetID="10" presetClass="entr" presetSubtype="0" fill="hold" nodeType="withEffect">
                                  <p:stCondLst>
                                    <p:cond delay="5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childTnLst>
                                </p:cTn>
                              </p:par>
                              <p:par>
                                <p:cTn id="23" presetID="10" presetClass="entr" presetSubtype="0" fill="hold" nodeType="withEffect">
                                  <p:stCondLst>
                                    <p:cond delay="5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childTnLst>
                                </p:cTn>
                              </p:par>
                              <p:par>
                                <p:cTn id="26" presetID="10" presetClass="entr" presetSubtype="0" fill="hold" nodeType="withEffect">
                                  <p:stCondLst>
                                    <p:cond delay="5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8"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F712-F7D4-5ADD-4BEF-1420DEF35AFD}"/>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DB403CB6-F778-1C88-6E5E-BEBB2A58BB64}"/>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Limitations of Sets</a:t>
            </a:r>
            <a:br>
              <a:rPr lang="en-US" dirty="0">
                <a:latin typeface="Montserrat Bold" pitchFamily="34" charset="0"/>
                <a:ea typeface="Montserrat Bold" pitchFamily="34" charset="-122"/>
                <a:cs typeface="Montserrat Bold" pitchFamily="34" charset="-120"/>
              </a:rPr>
            </a:br>
            <a:br>
              <a:rPr lang="en-US" dirty="0"/>
            </a:br>
            <a:endParaRPr lang="en-US" dirty="0"/>
          </a:p>
        </p:txBody>
      </p:sp>
      <p:sp>
        <p:nvSpPr>
          <p:cNvPr id="2" name="Rectangle: Rounded Corners 1">
            <a:extLst>
              <a:ext uri="{FF2B5EF4-FFF2-40B4-BE49-F238E27FC236}">
                <a16:creationId xmlns:a16="http://schemas.microsoft.com/office/drawing/2014/main" id="{808A25E6-415E-F374-14C7-9599A097ACB3}"/>
              </a:ext>
            </a:extLst>
          </p:cNvPr>
          <p:cNvSpPr/>
          <p:nvPr/>
        </p:nvSpPr>
        <p:spPr>
          <a:xfrm>
            <a:off x="2129118" y="1347183"/>
            <a:ext cx="7933764" cy="1102841"/>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3CAF81E-8E53-E7ED-6686-D9B8A80491A4}"/>
              </a:ext>
            </a:extLst>
          </p:cNvPr>
          <p:cNvSpPr txBox="1"/>
          <p:nvPr/>
        </p:nvSpPr>
        <p:spPr>
          <a:xfrm>
            <a:off x="3043518" y="1407160"/>
            <a:ext cx="2874682" cy="363561"/>
          </a:xfrm>
          <a:prstGeom prst="rect">
            <a:avLst/>
          </a:prstGeom>
          <a:noFill/>
        </p:spPr>
        <p:txBody>
          <a:bodyPr wrap="square">
            <a:spAutoFit/>
          </a:bodyPr>
          <a:lstStyle/>
          <a:p>
            <a:pPr>
              <a:lnSpc>
                <a:spcPts val="2083"/>
              </a:lnSpc>
              <a:buSzPct val="100000"/>
            </a:pPr>
            <a:r>
              <a:rPr lang="en-US" b="1" dirty="0">
                <a:solidFill>
                  <a:schemeClr val="bg1"/>
                </a:solidFill>
                <a:latin typeface="Montserrat" panose="00000500000000000000" pitchFamily="2" charset="0"/>
                <a:ea typeface="Montserrat" pitchFamily="34" charset="-122"/>
                <a:cs typeface="Montserrat" pitchFamily="34" charset="-120"/>
              </a:rPr>
              <a:t>No indexing or slicing</a:t>
            </a:r>
          </a:p>
        </p:txBody>
      </p:sp>
      <p:sp>
        <p:nvSpPr>
          <p:cNvPr id="28" name="TextBox 27">
            <a:extLst>
              <a:ext uri="{FF2B5EF4-FFF2-40B4-BE49-F238E27FC236}">
                <a16:creationId xmlns:a16="http://schemas.microsoft.com/office/drawing/2014/main" id="{59C9AD93-AA5E-46BB-5466-AB25209CF118}"/>
              </a:ext>
            </a:extLst>
          </p:cNvPr>
          <p:cNvSpPr txBox="1"/>
          <p:nvPr/>
        </p:nvSpPr>
        <p:spPr>
          <a:xfrm>
            <a:off x="3043518" y="1758779"/>
            <a:ext cx="6969162" cy="630942"/>
          </a:xfrm>
          <a:prstGeom prst="rect">
            <a:avLst/>
          </a:prstGeom>
          <a:noFill/>
        </p:spPr>
        <p:txBody>
          <a:bodyPr wrap="square">
            <a:spAutoFit/>
          </a:bodyPr>
          <a:lstStyle/>
          <a:p>
            <a:pPr>
              <a:lnSpc>
                <a:spcPts val="2083"/>
              </a:lnSpc>
              <a:buSzPct val="100000"/>
            </a:pPr>
            <a:r>
              <a:rPr lang="en-US" dirty="0">
                <a:solidFill>
                  <a:schemeClr val="bg1"/>
                </a:solidFill>
                <a:latin typeface="Montserrat" panose="00000500000000000000" pitchFamily="2" charset="0"/>
                <a:ea typeface="Montserrat" pitchFamily="34" charset="-122"/>
                <a:cs typeface="Montserrat" pitchFamily="34" charset="-120"/>
              </a:rPr>
              <a:t>Elements cannot be accessed by position or sliced, making sets unsuitable for ordered data.</a:t>
            </a:r>
          </a:p>
        </p:txBody>
      </p:sp>
      <p:sp>
        <p:nvSpPr>
          <p:cNvPr id="29" name="Rectangle: Rounded Corners 28">
            <a:extLst>
              <a:ext uri="{FF2B5EF4-FFF2-40B4-BE49-F238E27FC236}">
                <a16:creationId xmlns:a16="http://schemas.microsoft.com/office/drawing/2014/main" id="{6C7C24DB-A8FA-5051-230E-45C92A117EBA}"/>
              </a:ext>
            </a:extLst>
          </p:cNvPr>
          <p:cNvSpPr/>
          <p:nvPr/>
        </p:nvSpPr>
        <p:spPr>
          <a:xfrm>
            <a:off x="2129118" y="2863926"/>
            <a:ext cx="7933764" cy="1102841"/>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D89817F-E24B-AC2E-8664-E9DD676F1CB6}"/>
              </a:ext>
            </a:extLst>
          </p:cNvPr>
          <p:cNvSpPr txBox="1"/>
          <p:nvPr/>
        </p:nvSpPr>
        <p:spPr>
          <a:xfrm>
            <a:off x="3043517" y="2916645"/>
            <a:ext cx="4126539" cy="361637"/>
          </a:xfrm>
          <a:prstGeom prst="rect">
            <a:avLst/>
          </a:prstGeom>
          <a:noFill/>
        </p:spPr>
        <p:txBody>
          <a:bodyPr wrap="square">
            <a:spAutoFit/>
          </a:bodyPr>
          <a:lstStyle/>
          <a:p>
            <a:pPr>
              <a:lnSpc>
                <a:spcPts val="2083"/>
              </a:lnSpc>
              <a:buSzPct val="100000"/>
            </a:pPr>
            <a:r>
              <a:rPr lang="en-US" b="1" dirty="0">
                <a:solidFill>
                  <a:schemeClr val="bg1"/>
                </a:solidFill>
                <a:latin typeface="Montserrat" panose="00000500000000000000" pitchFamily="2" charset="0"/>
                <a:ea typeface="Montserrat" pitchFamily="34" charset="-122"/>
                <a:cs typeface="Montserrat" pitchFamily="34" charset="-120"/>
              </a:rPr>
              <a:t>Cannot Store Mutable Elements</a:t>
            </a:r>
          </a:p>
        </p:txBody>
      </p:sp>
      <p:sp>
        <p:nvSpPr>
          <p:cNvPr id="31" name="TextBox 30">
            <a:extLst>
              <a:ext uri="{FF2B5EF4-FFF2-40B4-BE49-F238E27FC236}">
                <a16:creationId xmlns:a16="http://schemas.microsoft.com/office/drawing/2014/main" id="{B2C08A06-BE51-0882-F6BB-853991038159}"/>
              </a:ext>
            </a:extLst>
          </p:cNvPr>
          <p:cNvSpPr txBox="1"/>
          <p:nvPr/>
        </p:nvSpPr>
        <p:spPr>
          <a:xfrm>
            <a:off x="3043518" y="3268264"/>
            <a:ext cx="6969162" cy="630942"/>
          </a:xfrm>
          <a:prstGeom prst="rect">
            <a:avLst/>
          </a:prstGeom>
          <a:noFill/>
        </p:spPr>
        <p:txBody>
          <a:bodyPr wrap="square">
            <a:spAutoFit/>
          </a:bodyPr>
          <a:lstStyle/>
          <a:p>
            <a:pPr>
              <a:lnSpc>
                <a:spcPts val="2083"/>
              </a:lnSpc>
              <a:buSzPct val="100000"/>
            </a:pPr>
            <a:r>
              <a:rPr lang="en-US" dirty="0">
                <a:solidFill>
                  <a:schemeClr val="bg1"/>
                </a:solidFill>
                <a:latin typeface="Montserrat" panose="00000500000000000000" pitchFamily="2" charset="0"/>
                <a:ea typeface="Montserrat" pitchFamily="34" charset="-122"/>
                <a:cs typeface="Montserrat" pitchFamily="34" charset="-120"/>
              </a:rPr>
              <a:t>Only </a:t>
            </a:r>
            <a:r>
              <a:rPr lang="en-US" dirty="0" err="1">
                <a:solidFill>
                  <a:schemeClr val="bg1"/>
                </a:solidFill>
                <a:latin typeface="Montserrat" panose="00000500000000000000" pitchFamily="2" charset="0"/>
                <a:ea typeface="Montserrat" pitchFamily="34" charset="-122"/>
                <a:cs typeface="Montserrat" pitchFamily="34" charset="-120"/>
              </a:rPr>
              <a:t>hashable</a:t>
            </a:r>
            <a:r>
              <a:rPr lang="en-US" dirty="0">
                <a:solidFill>
                  <a:schemeClr val="bg1"/>
                </a:solidFill>
                <a:latin typeface="Montserrat" panose="00000500000000000000" pitchFamily="2" charset="0"/>
                <a:ea typeface="Montserrat" pitchFamily="34" charset="-122"/>
                <a:cs typeface="Montserrat" pitchFamily="34" charset="-120"/>
              </a:rPr>
              <a:t> (immutable) elements can be stored, excluding lists or other sets.</a:t>
            </a:r>
          </a:p>
        </p:txBody>
      </p:sp>
      <p:sp>
        <p:nvSpPr>
          <p:cNvPr id="32" name="Rectangle: Rounded Corners 31">
            <a:extLst>
              <a:ext uri="{FF2B5EF4-FFF2-40B4-BE49-F238E27FC236}">
                <a16:creationId xmlns:a16="http://schemas.microsoft.com/office/drawing/2014/main" id="{78CA13FC-67CF-FF07-D29F-E9F90D384A4C}"/>
              </a:ext>
            </a:extLst>
          </p:cNvPr>
          <p:cNvSpPr/>
          <p:nvPr/>
        </p:nvSpPr>
        <p:spPr>
          <a:xfrm>
            <a:off x="2129118" y="4380669"/>
            <a:ext cx="7933764" cy="1102841"/>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B258F718-71C8-B2B8-548F-FFC7B3B11671}"/>
              </a:ext>
            </a:extLst>
          </p:cNvPr>
          <p:cNvSpPr txBox="1"/>
          <p:nvPr/>
        </p:nvSpPr>
        <p:spPr>
          <a:xfrm>
            <a:off x="3043518" y="4440646"/>
            <a:ext cx="2399339" cy="363561"/>
          </a:xfrm>
          <a:prstGeom prst="rect">
            <a:avLst/>
          </a:prstGeom>
          <a:noFill/>
        </p:spPr>
        <p:txBody>
          <a:bodyPr wrap="square">
            <a:spAutoFit/>
          </a:bodyPr>
          <a:lstStyle/>
          <a:p>
            <a:pPr>
              <a:lnSpc>
                <a:spcPts val="2083"/>
              </a:lnSpc>
              <a:buSzPct val="100000"/>
            </a:pPr>
            <a:r>
              <a:rPr lang="en-US" b="1" dirty="0">
                <a:solidFill>
                  <a:schemeClr val="bg1"/>
                </a:solidFill>
                <a:latin typeface="Montserrat" panose="00000500000000000000" pitchFamily="2" charset="0"/>
                <a:ea typeface="Montserrat" pitchFamily="34" charset="-122"/>
                <a:cs typeface="Montserrat" pitchFamily="34" charset="-120"/>
              </a:rPr>
              <a:t>Silent Operations</a:t>
            </a:r>
          </a:p>
        </p:txBody>
      </p:sp>
      <p:sp>
        <p:nvSpPr>
          <p:cNvPr id="34" name="TextBox 33">
            <a:extLst>
              <a:ext uri="{FF2B5EF4-FFF2-40B4-BE49-F238E27FC236}">
                <a16:creationId xmlns:a16="http://schemas.microsoft.com/office/drawing/2014/main" id="{B32CF6EE-2CCC-6F6C-E06C-19FF8DB91C21}"/>
              </a:ext>
            </a:extLst>
          </p:cNvPr>
          <p:cNvSpPr txBox="1"/>
          <p:nvPr/>
        </p:nvSpPr>
        <p:spPr>
          <a:xfrm>
            <a:off x="3043518" y="4792265"/>
            <a:ext cx="6969162" cy="630942"/>
          </a:xfrm>
          <a:prstGeom prst="rect">
            <a:avLst/>
          </a:prstGeom>
          <a:noFill/>
        </p:spPr>
        <p:txBody>
          <a:bodyPr wrap="square">
            <a:spAutoFit/>
          </a:bodyPr>
          <a:lstStyle/>
          <a:p>
            <a:pPr>
              <a:lnSpc>
                <a:spcPts val="2083"/>
              </a:lnSpc>
              <a:buSzPct val="100000"/>
            </a:pPr>
            <a:r>
              <a:rPr lang="en-US" dirty="0">
                <a:solidFill>
                  <a:schemeClr val="bg1"/>
                </a:solidFill>
                <a:latin typeface="Montserrat" panose="00000500000000000000" pitchFamily="2" charset="0"/>
                <a:ea typeface="Montserrat" pitchFamily="34" charset="-122"/>
                <a:cs typeface="Montserrat" pitchFamily="34" charset="-120"/>
              </a:rPr>
              <a:t>Methods like discard() and update()do not raise errors for missing elements, which may hide logical issues.</a:t>
            </a:r>
          </a:p>
        </p:txBody>
      </p:sp>
      <p:pic>
        <p:nvPicPr>
          <p:cNvPr id="37" name="Graphic 36">
            <a:extLst>
              <a:ext uri="{FF2B5EF4-FFF2-40B4-BE49-F238E27FC236}">
                <a16:creationId xmlns:a16="http://schemas.microsoft.com/office/drawing/2014/main" id="{19B462A6-D7DF-7692-A8E5-D5AAE96CDD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88733" y="1641428"/>
            <a:ext cx="447675" cy="514350"/>
          </a:xfrm>
          <a:prstGeom prst="rect">
            <a:avLst/>
          </a:prstGeom>
        </p:spPr>
      </p:pic>
      <p:pic>
        <p:nvPicPr>
          <p:cNvPr id="39" name="Graphic 38">
            <a:extLst>
              <a:ext uri="{FF2B5EF4-FFF2-40B4-BE49-F238E27FC236}">
                <a16:creationId xmlns:a16="http://schemas.microsoft.com/office/drawing/2014/main" id="{29692E0B-0A7B-A134-9885-0890848D998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42898" y="3109927"/>
            <a:ext cx="426435" cy="610839"/>
          </a:xfrm>
          <a:prstGeom prst="rect">
            <a:avLst/>
          </a:prstGeom>
        </p:spPr>
      </p:pic>
      <p:pic>
        <p:nvPicPr>
          <p:cNvPr id="41" name="Graphic 40">
            <a:extLst>
              <a:ext uri="{FF2B5EF4-FFF2-40B4-BE49-F238E27FC236}">
                <a16:creationId xmlns:a16="http://schemas.microsoft.com/office/drawing/2014/main" id="{9946F862-EA6C-F806-4D2A-BC80F8493C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98833" y="4620907"/>
            <a:ext cx="714566" cy="622364"/>
          </a:xfrm>
          <a:prstGeom prst="rect">
            <a:avLst/>
          </a:prstGeom>
        </p:spPr>
      </p:pic>
    </p:spTree>
    <p:extLst>
      <p:ext uri="{BB962C8B-B14F-4D97-AF65-F5344CB8AC3E}">
        <p14:creationId xmlns:p14="http://schemas.microsoft.com/office/powerpoint/2010/main" val="2819613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1000"/>
                                        <p:tgtEl>
                                          <p:spTgt spid="28"/>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1000"/>
                                        <p:tgtEl>
                                          <p:spTgt spid="30"/>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1000"/>
                                        <p:tgtEl>
                                          <p:spTgt spid="31"/>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1000"/>
                                        <p:tgtEl>
                                          <p:spTgt spid="32"/>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1000"/>
                                        <p:tgtEl>
                                          <p:spTgt spid="34"/>
                                        </p:tgtEl>
                                      </p:cBhvr>
                                    </p:animEffect>
                                  </p:childTnLst>
                                </p:cTn>
                              </p:par>
                              <p:par>
                                <p:cTn id="35" presetID="10" presetClass="entr" presetSubtype="0" fill="hold" nodeType="withEffect">
                                  <p:stCondLst>
                                    <p:cond delay="50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1000"/>
                                        <p:tgtEl>
                                          <p:spTgt spid="37"/>
                                        </p:tgtEl>
                                      </p:cBhvr>
                                    </p:animEffect>
                                  </p:childTnLst>
                                </p:cTn>
                              </p:par>
                              <p:par>
                                <p:cTn id="38" presetID="10" presetClass="entr" presetSubtype="0" fill="hold" nodeType="withEffect">
                                  <p:stCondLst>
                                    <p:cond delay="50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1000"/>
                                        <p:tgtEl>
                                          <p:spTgt spid="39"/>
                                        </p:tgtEl>
                                      </p:cBhvr>
                                    </p:animEffect>
                                  </p:childTnLst>
                                </p:cTn>
                              </p:par>
                              <p:par>
                                <p:cTn id="41" presetID="10" presetClass="entr" presetSubtype="0" fill="hold" nodeType="withEffect">
                                  <p:stCondLst>
                                    <p:cond delay="50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animBg="1"/>
      <p:bldP spid="6" grpId="0"/>
      <p:bldP spid="28" grpId="0"/>
      <p:bldP spid="29" grpId="0" animBg="1"/>
      <p:bldP spid="30" grpId="0"/>
      <p:bldP spid="31" grpId="0"/>
      <p:bldP spid="32" grpId="0" animBg="1"/>
      <p:bldP spid="33" grpId="0"/>
      <p:bldP spid="3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D22A3-3621-FBDE-BE71-0A6DF815D06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C8A4254-32E0-C1AC-8973-6C933E864AAF}"/>
              </a:ext>
            </a:extLst>
          </p:cNvPr>
          <p:cNvSpPr>
            <a:spLocks noGrp="1"/>
          </p:cNvSpPr>
          <p:nvPr>
            <p:ph type="body" sz="quarter" idx="12"/>
          </p:nvPr>
        </p:nvSpPr>
        <p:spPr>
          <a:xfrm>
            <a:off x="749999" y="2482074"/>
            <a:ext cx="5761160" cy="1893851"/>
          </a:xfrm>
        </p:spPr>
        <p:txBody>
          <a:bodyPr>
            <a:normAutofit/>
          </a:bodyPr>
          <a:lstStyle/>
          <a:p>
            <a:pPr>
              <a:lnSpc>
                <a:spcPts val="4042"/>
              </a:lnSpc>
            </a:pPr>
            <a:r>
              <a:rPr lang="en-US" sz="3600" dirty="0">
                <a:latin typeface="Montserrat Bold" pitchFamily="34" charset="0"/>
                <a:ea typeface="Montserrat Bold" pitchFamily="34" charset="-122"/>
                <a:cs typeface="Montserrat Bold" pitchFamily="34" charset="-120"/>
              </a:rPr>
              <a:t>Dictionaries</a:t>
            </a:r>
            <a:endParaRPr lang="en-US" sz="3600" dirty="0"/>
          </a:p>
        </p:txBody>
      </p:sp>
      <p:sp>
        <p:nvSpPr>
          <p:cNvPr id="2" name="Text 1">
            <a:extLst>
              <a:ext uri="{FF2B5EF4-FFF2-40B4-BE49-F238E27FC236}">
                <a16:creationId xmlns:a16="http://schemas.microsoft.com/office/drawing/2014/main" id="{70AA7D54-F053-B556-E828-471C78E0ABCF}"/>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6 of 12)</a:t>
            </a:r>
            <a:endParaRPr lang="en-US" dirty="0">
              <a:solidFill>
                <a:srgbClr val="25274D"/>
              </a:solidFill>
            </a:endParaRPr>
          </a:p>
        </p:txBody>
      </p:sp>
    </p:spTree>
    <p:extLst>
      <p:ext uri="{BB962C8B-B14F-4D97-AF65-F5344CB8AC3E}">
        <p14:creationId xmlns:p14="http://schemas.microsoft.com/office/powerpoint/2010/main" val="7366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0400A-ED1E-9216-6326-02178A53927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541FB85-B713-BD61-6513-16C417061754}"/>
              </a:ext>
            </a:extLst>
          </p:cNvPr>
          <p:cNvSpPr>
            <a:spLocks noGrp="1"/>
          </p:cNvSpPr>
          <p:nvPr>
            <p:ph type="title"/>
          </p:nvPr>
        </p:nvSpPr>
        <p:spPr/>
        <p:txBody>
          <a:bodyPr/>
          <a:lstStyle/>
          <a:p>
            <a:pPr>
              <a:lnSpc>
                <a:spcPts val="2417"/>
              </a:lnSpc>
            </a:pPr>
            <a:r>
              <a:rPr lang="en-US" dirty="0"/>
              <a:t>Dictionary in Python</a:t>
            </a:r>
          </a:p>
        </p:txBody>
      </p:sp>
      <p:sp>
        <p:nvSpPr>
          <p:cNvPr id="2" name="Text Placeholder 1">
            <a:extLst>
              <a:ext uri="{FF2B5EF4-FFF2-40B4-BE49-F238E27FC236}">
                <a16:creationId xmlns:a16="http://schemas.microsoft.com/office/drawing/2014/main" id="{9440B903-7865-1AE7-17C1-C93C380CD44E}"/>
              </a:ext>
            </a:extLst>
          </p:cNvPr>
          <p:cNvSpPr>
            <a:spLocks noGrp="1"/>
          </p:cNvSpPr>
          <p:nvPr>
            <p:ph type="body" sz="quarter" idx="10"/>
          </p:nvPr>
        </p:nvSpPr>
        <p:spPr>
          <a:xfrm>
            <a:off x="749999" y="1109610"/>
            <a:ext cx="8990901" cy="450239"/>
          </a:xfrm>
        </p:spPr>
        <p:txBody>
          <a:bodyPr/>
          <a:lstStyle/>
          <a:p>
            <a:r>
              <a:rPr lang="en-US" dirty="0"/>
              <a:t>Key-Value Pairs for Efficient Data Storage and Retrieval</a:t>
            </a:r>
            <a:endParaRPr lang="en-GB" dirty="0"/>
          </a:p>
        </p:txBody>
      </p:sp>
      <p:grpSp>
        <p:nvGrpSpPr>
          <p:cNvPr id="40" name="Group 39">
            <a:extLst>
              <a:ext uri="{FF2B5EF4-FFF2-40B4-BE49-F238E27FC236}">
                <a16:creationId xmlns:a16="http://schemas.microsoft.com/office/drawing/2014/main" id="{CD17694A-E040-969C-7A88-3EE92CE12AB9}"/>
              </a:ext>
            </a:extLst>
          </p:cNvPr>
          <p:cNvGrpSpPr/>
          <p:nvPr/>
        </p:nvGrpSpPr>
        <p:grpSpPr>
          <a:xfrm>
            <a:off x="723900" y="1867488"/>
            <a:ext cx="10668000" cy="4368799"/>
            <a:chOff x="723900" y="1867488"/>
            <a:chExt cx="10668000" cy="4368799"/>
          </a:xfrm>
        </p:grpSpPr>
        <p:grpSp>
          <p:nvGrpSpPr>
            <p:cNvPr id="37" name="Group 36">
              <a:extLst>
                <a:ext uri="{FF2B5EF4-FFF2-40B4-BE49-F238E27FC236}">
                  <a16:creationId xmlns:a16="http://schemas.microsoft.com/office/drawing/2014/main" id="{7808A8C8-2182-5A6A-00AC-72A2DD1AA68F}"/>
                </a:ext>
              </a:extLst>
            </p:cNvPr>
            <p:cNvGrpSpPr/>
            <p:nvPr/>
          </p:nvGrpSpPr>
          <p:grpSpPr>
            <a:xfrm>
              <a:off x="723900" y="1867488"/>
              <a:ext cx="10668000" cy="4368799"/>
              <a:chOff x="723900" y="1867488"/>
              <a:chExt cx="10668000" cy="4368799"/>
            </a:xfrm>
          </p:grpSpPr>
          <p:grpSp>
            <p:nvGrpSpPr>
              <p:cNvPr id="34" name="Group 33">
                <a:extLst>
                  <a:ext uri="{FF2B5EF4-FFF2-40B4-BE49-F238E27FC236}">
                    <a16:creationId xmlns:a16="http://schemas.microsoft.com/office/drawing/2014/main" id="{3BD1833A-7713-9BEA-CB26-F73DCFFE930E}"/>
                  </a:ext>
                </a:extLst>
              </p:cNvPr>
              <p:cNvGrpSpPr/>
              <p:nvPr/>
            </p:nvGrpSpPr>
            <p:grpSpPr>
              <a:xfrm>
                <a:off x="723900" y="1867488"/>
                <a:ext cx="10668000" cy="4368799"/>
                <a:chOff x="723900" y="1867488"/>
                <a:chExt cx="10668000" cy="4368799"/>
              </a:xfrm>
            </p:grpSpPr>
            <p:grpSp>
              <p:nvGrpSpPr>
                <p:cNvPr id="31" name="Group 30">
                  <a:extLst>
                    <a:ext uri="{FF2B5EF4-FFF2-40B4-BE49-F238E27FC236}">
                      <a16:creationId xmlns:a16="http://schemas.microsoft.com/office/drawing/2014/main" id="{C3A7F113-DB59-04D6-826A-57D2C8EA27CA}"/>
                    </a:ext>
                  </a:extLst>
                </p:cNvPr>
                <p:cNvGrpSpPr/>
                <p:nvPr/>
              </p:nvGrpSpPr>
              <p:grpSpPr>
                <a:xfrm>
                  <a:off x="723900" y="1867488"/>
                  <a:ext cx="10668000" cy="4368799"/>
                  <a:chOff x="723900" y="1867488"/>
                  <a:chExt cx="10668000" cy="4368799"/>
                </a:xfrm>
              </p:grpSpPr>
              <p:grpSp>
                <p:nvGrpSpPr>
                  <p:cNvPr id="3" name="Group 2">
                    <a:extLst>
                      <a:ext uri="{FF2B5EF4-FFF2-40B4-BE49-F238E27FC236}">
                        <a16:creationId xmlns:a16="http://schemas.microsoft.com/office/drawing/2014/main" id="{6799ADDE-6BE3-A8CB-6253-41C4416343BE}"/>
                      </a:ext>
                    </a:extLst>
                  </p:cNvPr>
                  <p:cNvGrpSpPr/>
                  <p:nvPr/>
                </p:nvGrpSpPr>
                <p:grpSpPr>
                  <a:xfrm>
                    <a:off x="723900" y="1867488"/>
                    <a:ext cx="10668000" cy="4368799"/>
                    <a:chOff x="723900" y="1306286"/>
                    <a:chExt cx="10668000" cy="4368799"/>
                  </a:xfrm>
                </p:grpSpPr>
                <p:sp>
                  <p:nvSpPr>
                    <p:cNvPr id="4" name="Rectangle: Rounded Corners 3">
                      <a:extLst>
                        <a:ext uri="{FF2B5EF4-FFF2-40B4-BE49-F238E27FC236}">
                          <a16:creationId xmlns:a16="http://schemas.microsoft.com/office/drawing/2014/main" id="{56EE64DF-B042-2820-0568-67D404DE74BE}"/>
                        </a:ext>
                      </a:extLst>
                    </p:cNvPr>
                    <p:cNvSpPr/>
                    <p:nvPr/>
                  </p:nvSpPr>
                  <p:spPr>
                    <a:xfrm>
                      <a:off x="723900" y="1494971"/>
                      <a:ext cx="1625600" cy="162560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21742BB-B946-CDB8-8022-467BBE917DCE}"/>
                        </a:ext>
                      </a:extLst>
                    </p:cNvPr>
                    <p:cNvSpPr/>
                    <p:nvPr/>
                  </p:nvSpPr>
                  <p:spPr>
                    <a:xfrm>
                      <a:off x="1435099" y="1306286"/>
                      <a:ext cx="4515757" cy="2002970"/>
                    </a:xfrm>
                    <a:prstGeom prst="roundRect">
                      <a:avLst/>
                    </a:prstGeom>
                    <a:noFill/>
                    <a:ln w="3810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AACE52E-3144-A9E4-2F3D-5B617F69728F}"/>
                        </a:ext>
                      </a:extLst>
                    </p:cNvPr>
                    <p:cNvSpPr txBox="1"/>
                    <p:nvPr/>
                  </p:nvSpPr>
                  <p:spPr>
                    <a:xfrm>
                      <a:off x="2360383" y="1816685"/>
                      <a:ext cx="3590473" cy="369332"/>
                    </a:xfrm>
                    <a:prstGeom prst="rect">
                      <a:avLst/>
                    </a:prstGeom>
                    <a:noFill/>
                  </p:spPr>
                  <p:txBody>
                    <a:bodyPr wrap="square">
                      <a:spAutoFit/>
                    </a:bodyPr>
                    <a:lstStyle/>
                    <a:p>
                      <a:r>
                        <a:rPr lang="en-US" b="1" dirty="0">
                          <a:solidFill>
                            <a:srgbClr val="25274D"/>
                          </a:solidFill>
                          <a:latin typeface="Montserrat" panose="00000500000000000000" pitchFamily="2" charset="0"/>
                        </a:rPr>
                        <a:t>Key-value pairs</a:t>
                      </a:r>
                    </a:p>
                  </p:txBody>
                </p:sp>
                <p:sp>
                  <p:nvSpPr>
                    <p:cNvPr id="7" name="Rectangle: Rounded Corners 6">
                      <a:extLst>
                        <a:ext uri="{FF2B5EF4-FFF2-40B4-BE49-F238E27FC236}">
                          <a16:creationId xmlns:a16="http://schemas.microsoft.com/office/drawing/2014/main" id="{CA1866A3-7D57-96B2-D9C9-ABA975F252C6}"/>
                        </a:ext>
                      </a:extLst>
                    </p:cNvPr>
                    <p:cNvSpPr/>
                    <p:nvPr/>
                  </p:nvSpPr>
                  <p:spPr>
                    <a:xfrm>
                      <a:off x="1435099" y="3672115"/>
                      <a:ext cx="4515757" cy="2002970"/>
                    </a:xfrm>
                    <a:prstGeom prst="roundRect">
                      <a:avLst/>
                    </a:prstGeom>
                    <a:noFill/>
                    <a:ln w="38100">
                      <a:solidFill>
                        <a:srgbClr val="2964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05A471B5-6611-71D9-525C-3C39F131F409}"/>
                        </a:ext>
                      </a:extLst>
                    </p:cNvPr>
                    <p:cNvSpPr/>
                    <p:nvPr/>
                  </p:nvSpPr>
                  <p:spPr>
                    <a:xfrm>
                      <a:off x="6876143" y="1306286"/>
                      <a:ext cx="4515757" cy="2002970"/>
                    </a:xfrm>
                    <a:prstGeom prst="roundRect">
                      <a:avLst/>
                    </a:prstGeom>
                    <a:noFill/>
                    <a:ln w="38100">
                      <a:solidFill>
                        <a:srgbClr val="2E9C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2AD3CE2-ADF6-EE95-DEAA-651DC67A3CD9}"/>
                        </a:ext>
                      </a:extLst>
                    </p:cNvPr>
                    <p:cNvSpPr/>
                    <p:nvPr/>
                  </p:nvSpPr>
                  <p:spPr>
                    <a:xfrm>
                      <a:off x="6164944" y="3860800"/>
                      <a:ext cx="1625600" cy="162560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2D4F0C7-5FE8-F5B2-0708-E26620A3C3C0}"/>
                        </a:ext>
                      </a:extLst>
                    </p:cNvPr>
                    <p:cNvSpPr/>
                    <p:nvPr/>
                  </p:nvSpPr>
                  <p:spPr>
                    <a:xfrm>
                      <a:off x="6876143" y="3672115"/>
                      <a:ext cx="4515757" cy="2002970"/>
                    </a:xfrm>
                    <a:prstGeom prst="roundRect">
                      <a:avLst/>
                    </a:prstGeom>
                    <a:noFill/>
                    <a:ln w="3810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08B3BB6B-7876-A164-2555-FCDA0AF270D0}"/>
                        </a:ext>
                      </a:extLst>
                    </p:cNvPr>
                    <p:cNvSpPr/>
                    <p:nvPr/>
                  </p:nvSpPr>
                  <p:spPr>
                    <a:xfrm>
                      <a:off x="6164944" y="1494971"/>
                      <a:ext cx="1625600" cy="1625600"/>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E84E147E-A9F0-CB00-E6DF-59FE6257DB5E}"/>
                        </a:ext>
                      </a:extLst>
                    </p:cNvPr>
                    <p:cNvSpPr/>
                    <p:nvPr/>
                  </p:nvSpPr>
                  <p:spPr>
                    <a:xfrm>
                      <a:off x="723900" y="3860800"/>
                      <a:ext cx="1625600" cy="1625600"/>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F72FFC7-B447-0A68-27BD-701AF6DE850A}"/>
                        </a:ext>
                      </a:extLst>
                    </p:cNvPr>
                    <p:cNvSpPr txBox="1"/>
                    <p:nvPr/>
                  </p:nvSpPr>
                  <p:spPr>
                    <a:xfrm>
                      <a:off x="2360383" y="2156223"/>
                      <a:ext cx="3590473" cy="646331"/>
                    </a:xfrm>
                    <a:prstGeom prst="rect">
                      <a:avLst/>
                    </a:prstGeom>
                    <a:noFill/>
                  </p:spPr>
                  <p:txBody>
                    <a:bodyPr wrap="square">
                      <a:spAutoFit/>
                    </a:bodyPr>
                    <a:lstStyle/>
                    <a:p>
                      <a:r>
                        <a:rPr lang="en-US" dirty="0">
                          <a:solidFill>
                            <a:srgbClr val="25274D"/>
                          </a:solidFill>
                          <a:latin typeface="Montserrat" panose="00000500000000000000" pitchFamily="2" charset="0"/>
                        </a:rPr>
                        <a:t>Each element consists of a key and its associated value</a:t>
                      </a:r>
                    </a:p>
                  </p:txBody>
                </p:sp>
                <p:sp>
                  <p:nvSpPr>
                    <p:cNvPr id="22" name="TextBox 21">
                      <a:extLst>
                        <a:ext uri="{FF2B5EF4-FFF2-40B4-BE49-F238E27FC236}">
                          <a16:creationId xmlns:a16="http://schemas.microsoft.com/office/drawing/2014/main" id="{817632B1-92AA-67B0-21A5-028036A3B8F1}"/>
                        </a:ext>
                      </a:extLst>
                    </p:cNvPr>
                    <p:cNvSpPr txBox="1"/>
                    <p:nvPr/>
                  </p:nvSpPr>
                  <p:spPr>
                    <a:xfrm>
                      <a:off x="7801427" y="1695662"/>
                      <a:ext cx="3590473" cy="369332"/>
                    </a:xfrm>
                    <a:prstGeom prst="rect">
                      <a:avLst/>
                    </a:prstGeom>
                    <a:noFill/>
                  </p:spPr>
                  <p:txBody>
                    <a:bodyPr wrap="square">
                      <a:spAutoFit/>
                    </a:bodyPr>
                    <a:lstStyle/>
                    <a:p>
                      <a:r>
                        <a:rPr lang="en-US" b="1" dirty="0">
                          <a:solidFill>
                            <a:srgbClr val="25274D"/>
                          </a:solidFill>
                          <a:latin typeface="Montserrat" panose="00000500000000000000" pitchFamily="2" charset="0"/>
                        </a:rPr>
                        <a:t>Unordered (Pre-Python 3.7)</a:t>
                      </a:r>
                    </a:p>
                  </p:txBody>
                </p:sp>
                <p:sp>
                  <p:nvSpPr>
                    <p:cNvPr id="24" name="TextBox 23">
                      <a:extLst>
                        <a:ext uri="{FF2B5EF4-FFF2-40B4-BE49-F238E27FC236}">
                          <a16:creationId xmlns:a16="http://schemas.microsoft.com/office/drawing/2014/main" id="{CB3A9C20-ED7B-A84E-92E0-ED050D420358}"/>
                        </a:ext>
                      </a:extLst>
                    </p:cNvPr>
                    <p:cNvSpPr txBox="1"/>
                    <p:nvPr/>
                  </p:nvSpPr>
                  <p:spPr>
                    <a:xfrm>
                      <a:off x="7801427" y="2035200"/>
                      <a:ext cx="3590473" cy="923330"/>
                    </a:xfrm>
                    <a:prstGeom prst="rect">
                      <a:avLst/>
                    </a:prstGeom>
                    <a:noFill/>
                  </p:spPr>
                  <p:txBody>
                    <a:bodyPr wrap="square">
                      <a:spAutoFit/>
                    </a:bodyPr>
                    <a:lstStyle/>
                    <a:p>
                      <a:r>
                        <a:rPr lang="en-US" dirty="0">
                          <a:solidFill>
                            <a:srgbClr val="25274D"/>
                          </a:solidFill>
                          <a:latin typeface="Montserrat" panose="00000500000000000000" pitchFamily="2" charset="0"/>
                        </a:rPr>
                        <a:t>Traditionally unordered, though Python 3.7+ preserves insertion order</a:t>
                      </a:r>
                    </a:p>
                  </p:txBody>
                </p:sp>
                <p:sp>
                  <p:nvSpPr>
                    <p:cNvPr id="25" name="TextBox 24">
                      <a:extLst>
                        <a:ext uri="{FF2B5EF4-FFF2-40B4-BE49-F238E27FC236}">
                          <a16:creationId xmlns:a16="http://schemas.microsoft.com/office/drawing/2014/main" id="{8A97BE34-5BDF-33D5-3794-86FDF4BD9908}"/>
                        </a:ext>
                      </a:extLst>
                    </p:cNvPr>
                    <p:cNvSpPr txBox="1"/>
                    <p:nvPr/>
                  </p:nvSpPr>
                  <p:spPr>
                    <a:xfrm>
                      <a:off x="2360383" y="4148194"/>
                      <a:ext cx="3590473" cy="369332"/>
                    </a:xfrm>
                    <a:prstGeom prst="rect">
                      <a:avLst/>
                    </a:prstGeom>
                    <a:noFill/>
                  </p:spPr>
                  <p:txBody>
                    <a:bodyPr wrap="square">
                      <a:spAutoFit/>
                    </a:bodyPr>
                    <a:lstStyle/>
                    <a:p>
                      <a:r>
                        <a:rPr lang="en-US" b="1" dirty="0">
                          <a:solidFill>
                            <a:srgbClr val="25274D"/>
                          </a:solidFill>
                          <a:latin typeface="Montserrat" panose="00000500000000000000" pitchFamily="2" charset="0"/>
                        </a:rPr>
                        <a:t>Mutable</a:t>
                      </a:r>
                    </a:p>
                  </p:txBody>
                </p:sp>
                <p:sp>
                  <p:nvSpPr>
                    <p:cNvPr id="26" name="TextBox 25">
                      <a:extLst>
                        <a:ext uri="{FF2B5EF4-FFF2-40B4-BE49-F238E27FC236}">
                          <a16:creationId xmlns:a16="http://schemas.microsoft.com/office/drawing/2014/main" id="{B9B30F60-CF2A-527F-AD12-5C4B829626CC}"/>
                        </a:ext>
                      </a:extLst>
                    </p:cNvPr>
                    <p:cNvSpPr txBox="1"/>
                    <p:nvPr/>
                  </p:nvSpPr>
                  <p:spPr>
                    <a:xfrm>
                      <a:off x="2360384" y="4487732"/>
                      <a:ext cx="3467654" cy="646331"/>
                    </a:xfrm>
                    <a:prstGeom prst="rect">
                      <a:avLst/>
                    </a:prstGeom>
                    <a:noFill/>
                  </p:spPr>
                  <p:txBody>
                    <a:bodyPr wrap="square">
                      <a:spAutoFit/>
                    </a:bodyPr>
                    <a:lstStyle/>
                    <a:p>
                      <a:r>
                        <a:rPr lang="en-US" dirty="0">
                          <a:solidFill>
                            <a:srgbClr val="25274D"/>
                          </a:solidFill>
                          <a:latin typeface="Montserrat" panose="00000500000000000000" pitchFamily="2" charset="0"/>
                        </a:rPr>
                        <a:t>Can add, modify, or remove key-value pairs</a:t>
                      </a:r>
                    </a:p>
                  </p:txBody>
                </p:sp>
                <p:sp>
                  <p:nvSpPr>
                    <p:cNvPr id="27" name="TextBox 26">
                      <a:extLst>
                        <a:ext uri="{FF2B5EF4-FFF2-40B4-BE49-F238E27FC236}">
                          <a16:creationId xmlns:a16="http://schemas.microsoft.com/office/drawing/2014/main" id="{028B1ECD-1C85-A2EB-94A9-B6C0103697E3}"/>
                        </a:ext>
                      </a:extLst>
                    </p:cNvPr>
                    <p:cNvSpPr txBox="1"/>
                    <p:nvPr/>
                  </p:nvSpPr>
                  <p:spPr>
                    <a:xfrm>
                      <a:off x="7801427" y="4040618"/>
                      <a:ext cx="3590473" cy="369332"/>
                    </a:xfrm>
                    <a:prstGeom prst="rect">
                      <a:avLst/>
                    </a:prstGeom>
                    <a:noFill/>
                  </p:spPr>
                  <p:txBody>
                    <a:bodyPr wrap="square">
                      <a:spAutoFit/>
                    </a:bodyPr>
                    <a:lstStyle/>
                    <a:p>
                      <a:r>
                        <a:rPr lang="en-US" b="1" dirty="0">
                          <a:solidFill>
                            <a:srgbClr val="25274D"/>
                          </a:solidFill>
                          <a:latin typeface="Montserrat" panose="00000500000000000000" pitchFamily="2" charset="0"/>
                        </a:rPr>
                        <a:t>Unique keys</a:t>
                      </a:r>
                    </a:p>
                  </p:txBody>
                </p:sp>
                <p:sp>
                  <p:nvSpPr>
                    <p:cNvPr id="28" name="TextBox 27">
                      <a:extLst>
                        <a:ext uri="{FF2B5EF4-FFF2-40B4-BE49-F238E27FC236}">
                          <a16:creationId xmlns:a16="http://schemas.microsoft.com/office/drawing/2014/main" id="{DD1CA0E4-DC22-8DE3-7344-60784351FE99}"/>
                        </a:ext>
                      </a:extLst>
                    </p:cNvPr>
                    <p:cNvSpPr txBox="1"/>
                    <p:nvPr/>
                  </p:nvSpPr>
                  <p:spPr>
                    <a:xfrm>
                      <a:off x="7801427" y="4380156"/>
                      <a:ext cx="3590473" cy="923330"/>
                    </a:xfrm>
                    <a:prstGeom prst="rect">
                      <a:avLst/>
                    </a:prstGeom>
                    <a:noFill/>
                  </p:spPr>
                  <p:txBody>
                    <a:bodyPr wrap="square">
                      <a:spAutoFit/>
                    </a:bodyPr>
                    <a:lstStyle/>
                    <a:p>
                      <a:r>
                        <a:rPr lang="en-US" dirty="0">
                          <a:solidFill>
                            <a:srgbClr val="25274D"/>
                          </a:solidFill>
                          <a:latin typeface="Montserrat" panose="00000500000000000000" pitchFamily="2" charset="0"/>
                        </a:rPr>
                        <a:t>Keys must be unique and immutable, while values can be any type</a:t>
                      </a:r>
                    </a:p>
                  </p:txBody>
                </p:sp>
              </p:grpSp>
              <p:pic>
                <p:nvPicPr>
                  <p:cNvPr id="30" name="Graphic 29">
                    <a:extLst>
                      <a:ext uri="{FF2B5EF4-FFF2-40B4-BE49-F238E27FC236}">
                        <a16:creationId xmlns:a16="http://schemas.microsoft.com/office/drawing/2014/main" id="{BF5D2B21-7520-B461-DE25-BD725856F8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9584" y="2508740"/>
                    <a:ext cx="774233" cy="720467"/>
                  </a:xfrm>
                  <a:prstGeom prst="rect">
                    <a:avLst/>
                  </a:prstGeom>
                </p:spPr>
              </p:pic>
            </p:grpSp>
            <p:pic>
              <p:nvPicPr>
                <p:cNvPr id="33" name="Graphic 32">
                  <a:extLst>
                    <a:ext uri="{FF2B5EF4-FFF2-40B4-BE49-F238E27FC236}">
                      <a16:creationId xmlns:a16="http://schemas.microsoft.com/office/drawing/2014/main" id="{4F265E78-9469-95D6-D47A-A984C3D16B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5357" y="2527424"/>
                  <a:ext cx="884775" cy="683099"/>
                </a:xfrm>
                <a:prstGeom prst="rect">
                  <a:avLst/>
                </a:prstGeom>
              </p:spPr>
            </p:pic>
          </p:grpSp>
          <p:pic>
            <p:nvPicPr>
              <p:cNvPr id="36" name="Graphic 35">
                <a:extLst>
                  <a:ext uri="{FF2B5EF4-FFF2-40B4-BE49-F238E27FC236}">
                    <a16:creationId xmlns:a16="http://schemas.microsoft.com/office/drawing/2014/main" id="{A92A00A5-704B-2B48-44DA-80868E58105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01852" y="4837629"/>
                <a:ext cx="951785" cy="794346"/>
              </a:xfrm>
              <a:prstGeom prst="rect">
                <a:avLst/>
              </a:prstGeom>
            </p:spPr>
          </p:pic>
        </p:grpSp>
        <p:pic>
          <p:nvPicPr>
            <p:cNvPr id="39" name="Graphic 38">
              <a:extLst>
                <a:ext uri="{FF2B5EF4-FFF2-40B4-BE49-F238E27FC236}">
                  <a16:creationId xmlns:a16="http://schemas.microsoft.com/office/drawing/2014/main" id="{49AD66F6-9E87-0228-B570-F37289D3B04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6514" y="4805784"/>
              <a:ext cx="960372" cy="858037"/>
            </a:xfrm>
            <a:prstGeom prst="rect">
              <a:avLst/>
            </a:prstGeom>
          </p:spPr>
        </p:pic>
      </p:grpSp>
    </p:spTree>
    <p:extLst>
      <p:ext uri="{BB962C8B-B14F-4D97-AF65-F5344CB8AC3E}">
        <p14:creationId xmlns:p14="http://schemas.microsoft.com/office/powerpoint/2010/main" val="386328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5B31-A01A-22D0-D54E-55737B8DB6C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D926DB3-3A04-407A-2903-AC40B53FF3FD}"/>
              </a:ext>
            </a:extLst>
          </p:cNvPr>
          <p:cNvSpPr>
            <a:spLocks noGrp="1"/>
          </p:cNvSpPr>
          <p:nvPr>
            <p:ph type="title"/>
          </p:nvPr>
        </p:nvSpPr>
        <p:spPr/>
        <p:txBody>
          <a:bodyPr/>
          <a:lstStyle/>
          <a:p>
            <a:pPr>
              <a:lnSpc>
                <a:spcPts val="2625"/>
              </a:lnSpc>
            </a:pPr>
            <a:r>
              <a:rPr lang="en-US" dirty="0">
                <a:latin typeface="Montserrat Bold" pitchFamily="34" charset="0"/>
                <a:ea typeface="Montserrat Bold" pitchFamily="34" charset="-122"/>
                <a:cs typeface="Montserrat Bold" pitchFamily="34" charset="-120"/>
              </a:rPr>
              <a:t>Creating a Dictionary in Python</a:t>
            </a:r>
            <a:endParaRPr lang="en-US" dirty="0"/>
          </a:p>
        </p:txBody>
      </p:sp>
      <p:sp>
        <p:nvSpPr>
          <p:cNvPr id="2" name="Text Placeholder 1">
            <a:extLst>
              <a:ext uri="{FF2B5EF4-FFF2-40B4-BE49-F238E27FC236}">
                <a16:creationId xmlns:a16="http://schemas.microsoft.com/office/drawing/2014/main" id="{DE9CAAAC-9774-08D3-71A7-9714624616F4}"/>
              </a:ext>
            </a:extLst>
          </p:cNvPr>
          <p:cNvSpPr>
            <a:spLocks noGrp="1"/>
          </p:cNvSpPr>
          <p:nvPr>
            <p:ph type="body" sz="quarter" idx="10"/>
          </p:nvPr>
        </p:nvSpPr>
        <p:spPr/>
        <p:txBody>
          <a:bodyPr/>
          <a:lstStyle/>
          <a:p>
            <a:r>
              <a:rPr lang="en-US" dirty="0"/>
              <a:t>Use Curly Braces </a:t>
            </a:r>
            <a:r>
              <a:rPr lang="en-US" dirty="0">
                <a:latin typeface="Courier New" panose="02070309020205020404" pitchFamily="49" charset="0"/>
                <a:cs typeface="Courier New" panose="02070309020205020404" pitchFamily="49" charset="0"/>
              </a:rPr>
              <a:t>{}</a:t>
            </a:r>
            <a:r>
              <a:rPr lang="en-US" dirty="0"/>
              <a:t>or dict</a:t>
            </a:r>
            <a:r>
              <a:rPr lang="en-US" dirty="0">
                <a:latin typeface="Courier New" panose="02070309020205020404" pitchFamily="49" charset="0"/>
                <a:cs typeface="Courier New" panose="02070309020205020404" pitchFamily="49" charset="0"/>
              </a:rPr>
              <a:t>()</a:t>
            </a:r>
            <a:r>
              <a:rPr lang="en-US" dirty="0"/>
              <a:t>Function</a:t>
            </a:r>
            <a:endParaRPr lang="en-GB" dirty="0"/>
          </a:p>
        </p:txBody>
      </p:sp>
      <p:sp>
        <p:nvSpPr>
          <p:cNvPr id="25" name="TextBox 24">
            <a:extLst>
              <a:ext uri="{FF2B5EF4-FFF2-40B4-BE49-F238E27FC236}">
                <a16:creationId xmlns:a16="http://schemas.microsoft.com/office/drawing/2014/main" id="{36028163-B213-225A-4FF6-FCFD3E44660A}"/>
              </a:ext>
            </a:extLst>
          </p:cNvPr>
          <p:cNvSpPr txBox="1"/>
          <p:nvPr/>
        </p:nvSpPr>
        <p:spPr>
          <a:xfrm>
            <a:off x="4833360" y="5597477"/>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grpSp>
        <p:nvGrpSpPr>
          <p:cNvPr id="6" name="Group 5">
            <a:extLst>
              <a:ext uri="{FF2B5EF4-FFF2-40B4-BE49-F238E27FC236}">
                <a16:creationId xmlns:a16="http://schemas.microsoft.com/office/drawing/2014/main" id="{5DCECAF1-A7D5-B266-72D0-4E20D0B222C6}"/>
              </a:ext>
            </a:extLst>
          </p:cNvPr>
          <p:cNvGrpSpPr/>
          <p:nvPr/>
        </p:nvGrpSpPr>
        <p:grpSpPr>
          <a:xfrm>
            <a:off x="1549879" y="5729885"/>
            <a:ext cx="9092241" cy="773696"/>
            <a:chOff x="1549879" y="5932430"/>
            <a:chExt cx="9092241" cy="773696"/>
          </a:xfrm>
        </p:grpSpPr>
        <p:sp>
          <p:nvSpPr>
            <p:cNvPr id="3" name="Rectangle: Rounded Corners 2">
              <a:extLst>
                <a:ext uri="{FF2B5EF4-FFF2-40B4-BE49-F238E27FC236}">
                  <a16:creationId xmlns:a16="http://schemas.microsoft.com/office/drawing/2014/main" id="{73DCD17F-BBC2-5966-7193-B3EAA77FC3C4}"/>
                </a:ext>
              </a:extLst>
            </p:cNvPr>
            <p:cNvSpPr/>
            <p:nvPr/>
          </p:nvSpPr>
          <p:spPr>
            <a:xfrm>
              <a:off x="1549879" y="5932430"/>
              <a:ext cx="9092241" cy="773696"/>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11B6C35-56A4-D7E7-312F-2E95A67C37B9}"/>
                </a:ext>
              </a:extLst>
            </p:cNvPr>
            <p:cNvSpPr txBox="1"/>
            <p:nvPr/>
          </p:nvSpPr>
          <p:spPr>
            <a:xfrm>
              <a:off x="1927535" y="5996112"/>
              <a:ext cx="8336928" cy="646331"/>
            </a:xfrm>
            <a:prstGeom prst="rect">
              <a:avLst/>
            </a:prstGeom>
            <a:noFill/>
          </p:spPr>
          <p:txBody>
            <a:bodyPr wrap="square">
              <a:spAutoFit/>
            </a:bodyPr>
            <a:lstStyle/>
            <a:p>
              <a:pPr algn="ctr">
                <a:buNone/>
              </a:pPr>
              <a:r>
                <a:rPr lang="en-US" dirty="0">
                  <a:solidFill>
                    <a:schemeClr val="bg1"/>
                  </a:solidFill>
                  <a:latin typeface="Montserrat" panose="00000500000000000000" pitchFamily="2" charset="0"/>
                </a:rPr>
                <a:t>Dictionary comprehension allows creating dictionaries from </a:t>
              </a:r>
              <a:r>
                <a:rPr lang="en-US" dirty="0" err="1">
                  <a:solidFill>
                    <a:schemeClr val="bg1"/>
                  </a:solidFill>
                  <a:latin typeface="Montserrat" panose="00000500000000000000" pitchFamily="2" charset="0"/>
                </a:rPr>
                <a:t>iterables</a:t>
              </a:r>
              <a:r>
                <a:rPr lang="en-US" dirty="0">
                  <a:solidFill>
                    <a:schemeClr val="bg1"/>
                  </a:solidFill>
                  <a:latin typeface="Montserrat" panose="00000500000000000000" pitchFamily="2" charset="0"/>
                </a:rPr>
                <a:t>, similar to list comprehensions.</a:t>
              </a:r>
            </a:p>
          </p:txBody>
        </p:sp>
      </p:grpSp>
      <p:grpSp>
        <p:nvGrpSpPr>
          <p:cNvPr id="7" name="Group 6">
            <a:extLst>
              <a:ext uri="{FF2B5EF4-FFF2-40B4-BE49-F238E27FC236}">
                <a16:creationId xmlns:a16="http://schemas.microsoft.com/office/drawing/2014/main" id="{B3D72395-79DB-3D16-27B5-DA0DE3E9ED7E}"/>
              </a:ext>
            </a:extLst>
          </p:cNvPr>
          <p:cNvGrpSpPr/>
          <p:nvPr/>
        </p:nvGrpSpPr>
        <p:grpSpPr>
          <a:xfrm>
            <a:off x="3390900" y="1673284"/>
            <a:ext cx="5410200" cy="3854056"/>
            <a:chOff x="3390900" y="1673284"/>
            <a:chExt cx="5410200" cy="3854056"/>
          </a:xfrm>
        </p:grpSpPr>
        <p:sp>
          <p:nvSpPr>
            <p:cNvPr id="4" name="Rectangle: Rounded Corners 3">
              <a:extLst>
                <a:ext uri="{FF2B5EF4-FFF2-40B4-BE49-F238E27FC236}">
                  <a16:creationId xmlns:a16="http://schemas.microsoft.com/office/drawing/2014/main" id="{5A366FC2-0C28-3F4D-4AD7-4980974C63CA}"/>
                </a:ext>
              </a:extLst>
            </p:cNvPr>
            <p:cNvSpPr/>
            <p:nvPr/>
          </p:nvSpPr>
          <p:spPr>
            <a:xfrm>
              <a:off x="3390900" y="1673284"/>
              <a:ext cx="5410200" cy="385405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8" name="Group 17">
              <a:extLst>
                <a:ext uri="{FF2B5EF4-FFF2-40B4-BE49-F238E27FC236}">
                  <a16:creationId xmlns:a16="http://schemas.microsoft.com/office/drawing/2014/main" id="{8C156975-8BD5-EB77-9E27-D60437EC35E8}"/>
                </a:ext>
              </a:extLst>
            </p:cNvPr>
            <p:cNvGrpSpPr/>
            <p:nvPr/>
          </p:nvGrpSpPr>
          <p:grpSpPr>
            <a:xfrm>
              <a:off x="3670299" y="1876250"/>
              <a:ext cx="4851402" cy="3448124"/>
              <a:chOff x="3548554" y="1864745"/>
              <a:chExt cx="4829849" cy="3432806"/>
            </a:xfrm>
          </p:grpSpPr>
          <p:pic>
            <p:nvPicPr>
              <p:cNvPr id="11" name="Picture 10">
                <a:extLst>
                  <a:ext uri="{FF2B5EF4-FFF2-40B4-BE49-F238E27FC236}">
                    <a16:creationId xmlns:a16="http://schemas.microsoft.com/office/drawing/2014/main" id="{B71AB99B-10EC-5AFF-B092-9886825E1A14}"/>
                  </a:ext>
                </a:extLst>
              </p:cNvPr>
              <p:cNvPicPr>
                <a:picLocks noChangeAspect="1"/>
              </p:cNvPicPr>
              <p:nvPr/>
            </p:nvPicPr>
            <p:blipFill>
              <a:blip r:embed="rId3"/>
              <a:stretch>
                <a:fillRect/>
              </a:stretch>
            </p:blipFill>
            <p:spPr>
              <a:xfrm>
                <a:off x="3548554" y="1864745"/>
                <a:ext cx="4829849" cy="2686425"/>
              </a:xfrm>
              <a:prstGeom prst="rect">
                <a:avLst/>
              </a:prstGeom>
            </p:spPr>
          </p:pic>
          <p:pic>
            <p:nvPicPr>
              <p:cNvPr id="13" name="Picture 12">
                <a:extLst>
                  <a:ext uri="{FF2B5EF4-FFF2-40B4-BE49-F238E27FC236}">
                    <a16:creationId xmlns:a16="http://schemas.microsoft.com/office/drawing/2014/main" id="{65482806-DBEC-21DC-6F11-BEB808521301}"/>
                  </a:ext>
                </a:extLst>
              </p:cNvPr>
              <p:cNvPicPr>
                <a:picLocks noChangeAspect="1"/>
              </p:cNvPicPr>
              <p:nvPr/>
            </p:nvPicPr>
            <p:blipFill>
              <a:blip r:embed="rId4"/>
              <a:stretch>
                <a:fillRect/>
              </a:stretch>
            </p:blipFill>
            <p:spPr>
              <a:xfrm>
                <a:off x="3548554" y="4516392"/>
                <a:ext cx="4829848" cy="781159"/>
              </a:xfrm>
              <a:prstGeom prst="rect">
                <a:avLst/>
              </a:prstGeom>
            </p:spPr>
          </p:pic>
        </p:grpSp>
      </p:grpSp>
    </p:spTree>
    <p:extLst>
      <p:ext uri="{BB962C8B-B14F-4D97-AF65-F5344CB8AC3E}">
        <p14:creationId xmlns:p14="http://schemas.microsoft.com/office/powerpoint/2010/main" val="218560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par>
                                <p:cTn id="14" presetID="10" presetClass="entr" presetSubtype="0" fill="hold" nodeType="withEffect">
                                  <p:stCondLst>
                                    <p:cond delay="5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0F48-38A6-CD51-7F92-F64ED3A588D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AB30335-A648-AD29-88B1-3ADA088AE523}"/>
              </a:ext>
            </a:extLst>
          </p:cNvPr>
          <p:cNvSpPr>
            <a:spLocks noGrp="1"/>
          </p:cNvSpPr>
          <p:nvPr>
            <p:ph type="title"/>
          </p:nvPr>
        </p:nvSpPr>
        <p:spPr/>
        <p:txBody>
          <a:bodyPr/>
          <a:lstStyle/>
          <a:p>
            <a:pPr>
              <a:lnSpc>
                <a:spcPts val="2542"/>
              </a:lnSpc>
            </a:pPr>
            <a:r>
              <a:rPr lang="en-US" dirty="0">
                <a:latin typeface="Montserrat Bold" pitchFamily="34" charset="0"/>
                <a:ea typeface="Montserrat Bold" pitchFamily="34" charset="-122"/>
                <a:cs typeface="Montserrat Bold" pitchFamily="34" charset="-120"/>
              </a:rPr>
              <a:t>Accessing and Modifying Dictionary Elements</a:t>
            </a:r>
            <a:endParaRPr lang="en-US" dirty="0"/>
          </a:p>
        </p:txBody>
      </p:sp>
      <p:sp>
        <p:nvSpPr>
          <p:cNvPr id="25" name="TextBox 24">
            <a:extLst>
              <a:ext uri="{FF2B5EF4-FFF2-40B4-BE49-F238E27FC236}">
                <a16:creationId xmlns:a16="http://schemas.microsoft.com/office/drawing/2014/main" id="{8A892B88-A46E-D128-467F-D8D196A27999}"/>
              </a:ext>
            </a:extLst>
          </p:cNvPr>
          <p:cNvSpPr txBox="1"/>
          <p:nvPr/>
        </p:nvSpPr>
        <p:spPr>
          <a:xfrm>
            <a:off x="4833360" y="5263196"/>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sp>
        <p:nvSpPr>
          <p:cNvPr id="19" name="TextBox 18">
            <a:extLst>
              <a:ext uri="{FF2B5EF4-FFF2-40B4-BE49-F238E27FC236}">
                <a16:creationId xmlns:a16="http://schemas.microsoft.com/office/drawing/2014/main" id="{541CF510-95B0-D7AF-C202-F9612A3AFB0F}"/>
              </a:ext>
            </a:extLst>
          </p:cNvPr>
          <p:cNvSpPr txBox="1"/>
          <p:nvPr/>
        </p:nvSpPr>
        <p:spPr>
          <a:xfrm>
            <a:off x="1163905" y="1436693"/>
            <a:ext cx="2606317" cy="395173"/>
          </a:xfrm>
          <a:prstGeom prst="rect">
            <a:avLst/>
          </a:prstGeom>
          <a:noFill/>
        </p:spPr>
        <p:txBody>
          <a:bodyPr wrap="square">
            <a:spAutoFit/>
          </a:bodyPr>
          <a:lstStyle/>
          <a:p>
            <a:pPr marL="285750" marR="0" lvl="0" indent="-285750" rtl="0">
              <a:lnSpc>
                <a:spcPct val="115000"/>
              </a:lnSpc>
              <a:spcAft>
                <a:spcPts val="800"/>
              </a:spcAft>
              <a:buFont typeface="Arial" panose="020B0604020202020204" pitchFamily="34" charset="0"/>
              <a:buChar char="•"/>
              <a:tabLst>
                <a:tab pos="457200" algn="l"/>
              </a:tabLst>
            </a:pPr>
            <a:r>
              <a:rPr lang="en-US" sz="1800" b="1"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Accessing values</a:t>
            </a:r>
          </a:p>
        </p:txBody>
      </p:sp>
      <p:sp>
        <p:nvSpPr>
          <p:cNvPr id="21" name="TextBox 20">
            <a:extLst>
              <a:ext uri="{FF2B5EF4-FFF2-40B4-BE49-F238E27FC236}">
                <a16:creationId xmlns:a16="http://schemas.microsoft.com/office/drawing/2014/main" id="{88B8F450-E901-C3FC-5828-4B25BF04FDF2}"/>
              </a:ext>
            </a:extLst>
          </p:cNvPr>
          <p:cNvSpPr txBox="1"/>
          <p:nvPr/>
        </p:nvSpPr>
        <p:spPr>
          <a:xfrm>
            <a:off x="1163905" y="4051992"/>
            <a:ext cx="3303223" cy="388311"/>
          </a:xfrm>
          <a:prstGeom prst="rect">
            <a:avLst/>
          </a:prstGeom>
          <a:noFill/>
        </p:spPr>
        <p:txBody>
          <a:bodyPr wrap="square">
            <a:spAutoFit/>
          </a:bodyPr>
          <a:lstStyle/>
          <a:p>
            <a:pPr marL="285750" marR="0" lvl="0" indent="-285750" rtl="0">
              <a:lnSpc>
                <a:spcPct val="115000"/>
              </a:lnSpc>
              <a:spcAft>
                <a:spcPts val="800"/>
              </a:spcAft>
              <a:buFont typeface="Arial" panose="020B0604020202020204" pitchFamily="34" charset="0"/>
              <a:buChar char="•"/>
              <a:tabLst>
                <a:tab pos="457200" algn="l"/>
              </a:tabLst>
            </a:pPr>
            <a:r>
              <a:rPr lang="en-US" sz="1800" b="1"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Adding &amp; updating</a:t>
            </a:r>
          </a:p>
        </p:txBody>
      </p:sp>
      <p:sp>
        <p:nvSpPr>
          <p:cNvPr id="26" name="TextBox 25">
            <a:extLst>
              <a:ext uri="{FF2B5EF4-FFF2-40B4-BE49-F238E27FC236}">
                <a16:creationId xmlns:a16="http://schemas.microsoft.com/office/drawing/2014/main" id="{4DAD1F98-0E1E-766A-07E1-03FA1A1B0D05}"/>
              </a:ext>
            </a:extLst>
          </p:cNvPr>
          <p:cNvSpPr txBox="1"/>
          <p:nvPr/>
        </p:nvSpPr>
        <p:spPr>
          <a:xfrm>
            <a:off x="6630979" y="2256549"/>
            <a:ext cx="3155606" cy="388311"/>
          </a:xfrm>
          <a:prstGeom prst="rect">
            <a:avLst/>
          </a:prstGeom>
          <a:noFill/>
        </p:spPr>
        <p:txBody>
          <a:bodyPr wrap="square">
            <a:spAutoFit/>
          </a:bodyPr>
          <a:lstStyle/>
          <a:p>
            <a:pPr marL="285750" marR="0" lvl="0" indent="-285750" rtl="0">
              <a:lnSpc>
                <a:spcPct val="115000"/>
              </a:lnSpc>
              <a:spcAft>
                <a:spcPts val="800"/>
              </a:spcAft>
              <a:buFont typeface="Arial" panose="020B0604020202020204" pitchFamily="34" charset="0"/>
              <a:buChar char="•"/>
              <a:tabLst>
                <a:tab pos="457200" algn="l"/>
              </a:tabLst>
            </a:pPr>
            <a:r>
              <a:rPr lang="en-US" sz="1800" b="1"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Removing items</a:t>
            </a:r>
          </a:p>
        </p:txBody>
      </p:sp>
      <p:grpSp>
        <p:nvGrpSpPr>
          <p:cNvPr id="7" name="Group 6">
            <a:extLst>
              <a:ext uri="{FF2B5EF4-FFF2-40B4-BE49-F238E27FC236}">
                <a16:creationId xmlns:a16="http://schemas.microsoft.com/office/drawing/2014/main" id="{D750B168-2BB4-3E8A-24F8-40250A33AC3D}"/>
              </a:ext>
            </a:extLst>
          </p:cNvPr>
          <p:cNvGrpSpPr/>
          <p:nvPr/>
        </p:nvGrpSpPr>
        <p:grpSpPr>
          <a:xfrm>
            <a:off x="1380588" y="2058403"/>
            <a:ext cx="3839111" cy="1397234"/>
            <a:chOff x="1380588" y="2058403"/>
            <a:chExt cx="3839111" cy="1397234"/>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1380588" y="2058403"/>
              <a:ext cx="3839111" cy="139723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a:extLst>
                <a:ext uri="{FF2B5EF4-FFF2-40B4-BE49-F238E27FC236}">
                  <a16:creationId xmlns:a16="http://schemas.microsoft.com/office/drawing/2014/main" id="{C565361A-91FA-83A7-5530-51DA1FE245AB}"/>
                </a:ext>
              </a:extLst>
            </p:cNvPr>
            <p:cNvPicPr>
              <a:picLocks noChangeAspect="1"/>
            </p:cNvPicPr>
            <p:nvPr/>
          </p:nvPicPr>
          <p:blipFill>
            <a:blip r:embed="rId3"/>
            <a:stretch>
              <a:fillRect/>
            </a:stretch>
          </p:blipFill>
          <p:spPr>
            <a:xfrm>
              <a:off x="1509446" y="2196034"/>
              <a:ext cx="3581394" cy="1121972"/>
            </a:xfrm>
            <a:prstGeom prst="rect">
              <a:avLst/>
            </a:prstGeom>
          </p:spPr>
        </p:pic>
      </p:grpSp>
      <p:grpSp>
        <p:nvGrpSpPr>
          <p:cNvPr id="4" name="Group 3">
            <a:extLst>
              <a:ext uri="{FF2B5EF4-FFF2-40B4-BE49-F238E27FC236}">
                <a16:creationId xmlns:a16="http://schemas.microsoft.com/office/drawing/2014/main" id="{5D8E4BC4-8305-F3F8-0DB6-BC4BD7EB6EF8}"/>
              </a:ext>
            </a:extLst>
          </p:cNvPr>
          <p:cNvGrpSpPr/>
          <p:nvPr/>
        </p:nvGrpSpPr>
        <p:grpSpPr>
          <a:xfrm>
            <a:off x="1380588" y="4564579"/>
            <a:ext cx="4058187" cy="1655246"/>
            <a:chOff x="1380588" y="4564579"/>
            <a:chExt cx="4058187" cy="1655246"/>
          </a:xfrm>
        </p:grpSpPr>
        <p:sp>
          <p:nvSpPr>
            <p:cNvPr id="3" name="Rectangle: Rounded Corners 2">
              <a:extLst>
                <a:ext uri="{FF2B5EF4-FFF2-40B4-BE49-F238E27FC236}">
                  <a16:creationId xmlns:a16="http://schemas.microsoft.com/office/drawing/2014/main" id="{2E0A45DB-A7AE-FF48-7688-4787BDC7FDA4}"/>
                </a:ext>
              </a:extLst>
            </p:cNvPr>
            <p:cNvSpPr/>
            <p:nvPr/>
          </p:nvSpPr>
          <p:spPr>
            <a:xfrm>
              <a:off x="1380588" y="4564579"/>
              <a:ext cx="4058187" cy="165524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5" name="Picture 14">
              <a:extLst>
                <a:ext uri="{FF2B5EF4-FFF2-40B4-BE49-F238E27FC236}">
                  <a16:creationId xmlns:a16="http://schemas.microsoft.com/office/drawing/2014/main" id="{1B48973B-EC74-9BE8-6702-0C78F4C75A28}"/>
                </a:ext>
              </a:extLst>
            </p:cNvPr>
            <p:cNvPicPr>
              <a:picLocks noChangeAspect="1"/>
            </p:cNvPicPr>
            <p:nvPr/>
          </p:nvPicPr>
          <p:blipFill>
            <a:blip r:embed="rId4"/>
            <a:stretch>
              <a:fillRect/>
            </a:stretch>
          </p:blipFill>
          <p:spPr>
            <a:xfrm>
              <a:off x="1476159" y="4666840"/>
              <a:ext cx="3839111" cy="1457528"/>
            </a:xfrm>
            <a:prstGeom prst="rect">
              <a:avLst/>
            </a:prstGeom>
          </p:spPr>
        </p:pic>
      </p:grpSp>
      <p:grpSp>
        <p:nvGrpSpPr>
          <p:cNvPr id="6" name="Group 5">
            <a:extLst>
              <a:ext uri="{FF2B5EF4-FFF2-40B4-BE49-F238E27FC236}">
                <a16:creationId xmlns:a16="http://schemas.microsoft.com/office/drawing/2014/main" id="{C28EAE65-07AF-0948-BCC4-17918C982C3E}"/>
              </a:ext>
            </a:extLst>
          </p:cNvPr>
          <p:cNvGrpSpPr/>
          <p:nvPr/>
        </p:nvGrpSpPr>
        <p:grpSpPr>
          <a:xfrm>
            <a:off x="6972302" y="2815906"/>
            <a:ext cx="3533774" cy="2447289"/>
            <a:chOff x="6972302" y="2815906"/>
            <a:chExt cx="3533774" cy="2447289"/>
          </a:xfrm>
        </p:grpSpPr>
        <p:sp>
          <p:nvSpPr>
            <p:cNvPr id="5" name="Rectangle: Rounded Corners 4">
              <a:extLst>
                <a:ext uri="{FF2B5EF4-FFF2-40B4-BE49-F238E27FC236}">
                  <a16:creationId xmlns:a16="http://schemas.microsoft.com/office/drawing/2014/main" id="{10DAB51B-BE57-DF71-8F5D-FE0FDC9B1FDE}"/>
                </a:ext>
              </a:extLst>
            </p:cNvPr>
            <p:cNvSpPr/>
            <p:nvPr/>
          </p:nvSpPr>
          <p:spPr>
            <a:xfrm>
              <a:off x="6972302" y="2815906"/>
              <a:ext cx="3533774" cy="2447289"/>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7" name="Picture 16">
              <a:extLst>
                <a:ext uri="{FF2B5EF4-FFF2-40B4-BE49-F238E27FC236}">
                  <a16:creationId xmlns:a16="http://schemas.microsoft.com/office/drawing/2014/main" id="{21101ECB-962A-E4B2-5FA0-039BE79693DD}"/>
                </a:ext>
              </a:extLst>
            </p:cNvPr>
            <p:cNvPicPr>
              <a:picLocks noChangeAspect="1"/>
            </p:cNvPicPr>
            <p:nvPr/>
          </p:nvPicPr>
          <p:blipFill>
            <a:blip r:embed="rId5"/>
            <a:stretch>
              <a:fillRect/>
            </a:stretch>
          </p:blipFill>
          <p:spPr>
            <a:xfrm>
              <a:off x="7110555" y="2977041"/>
              <a:ext cx="3257268" cy="2125018"/>
            </a:xfrm>
            <a:prstGeom prst="rect">
              <a:avLst/>
            </a:prstGeom>
          </p:spPr>
        </p:pic>
      </p:grpSp>
    </p:spTree>
    <p:extLst>
      <p:ext uri="{BB962C8B-B14F-4D97-AF65-F5344CB8AC3E}">
        <p14:creationId xmlns:p14="http://schemas.microsoft.com/office/powerpoint/2010/main" val="328087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1000"/>
                                        <p:tgtEl>
                                          <p:spTgt spid="19"/>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1000"/>
                                        <p:tgtEl>
                                          <p:spTgt spid="21"/>
                                        </p:tgtEl>
                                      </p:cBhvr>
                                    </p:animEffect>
                                  </p:childTnLst>
                                </p:cTn>
                              </p:par>
                              <p:par>
                                <p:cTn id="17" presetID="10" presetClass="entr" presetSubtype="0" fill="hold" nodeType="withEffect">
                                  <p:stCondLst>
                                    <p:cond delay="5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par>
                                <p:cTn id="20" presetID="10" presetClass="entr" presetSubtype="0" fill="hold" nodeType="withEffect">
                                  <p:stCondLst>
                                    <p:cond delay="50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par>
                                <p:cTn id="23" presetID="10" presetClass="entr" presetSubtype="0" fill="hold" nodeType="withEffect">
                                  <p:stCondLst>
                                    <p:cond delay="5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p:bldP spid="21" grpId="0"/>
      <p:bldP spid="2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CA52F-D85B-5288-B193-79C88E7EA85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85F0A56-289B-2F67-2DA8-FB1CD3F005B0}"/>
              </a:ext>
            </a:extLst>
          </p:cNvPr>
          <p:cNvSpPr>
            <a:spLocks noGrp="1"/>
          </p:cNvSpPr>
          <p:nvPr>
            <p:ph type="title"/>
          </p:nvPr>
        </p:nvSpPr>
        <p:spPr/>
        <p:txBody>
          <a:bodyPr/>
          <a:lstStyle/>
          <a:p>
            <a:pPr>
              <a:lnSpc>
                <a:spcPts val="1792"/>
              </a:lnSpc>
            </a:pPr>
            <a:r>
              <a:rPr lang="en-US" dirty="0">
                <a:latin typeface="Montserrat Bold" pitchFamily="34" charset="0"/>
                <a:ea typeface="Montserrat Bold" pitchFamily="34" charset="-122"/>
                <a:cs typeface="Montserrat Bold" pitchFamily="34" charset="-120"/>
              </a:rPr>
              <a:t>Built- in Dictionary Methods</a:t>
            </a:r>
            <a:endParaRPr lang="en-US" dirty="0"/>
          </a:p>
        </p:txBody>
      </p:sp>
      <p:sp>
        <p:nvSpPr>
          <p:cNvPr id="25" name="TextBox 24">
            <a:extLst>
              <a:ext uri="{FF2B5EF4-FFF2-40B4-BE49-F238E27FC236}">
                <a16:creationId xmlns:a16="http://schemas.microsoft.com/office/drawing/2014/main" id="{BE26427B-E002-2039-4417-F818D6B766EF}"/>
              </a:ext>
            </a:extLst>
          </p:cNvPr>
          <p:cNvSpPr txBox="1"/>
          <p:nvPr/>
        </p:nvSpPr>
        <p:spPr>
          <a:xfrm>
            <a:off x="4833360" y="5597477"/>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grpSp>
        <p:nvGrpSpPr>
          <p:cNvPr id="3" name="Group 2">
            <a:extLst>
              <a:ext uri="{FF2B5EF4-FFF2-40B4-BE49-F238E27FC236}">
                <a16:creationId xmlns:a16="http://schemas.microsoft.com/office/drawing/2014/main" id="{968F0C74-27E2-C3AE-F90D-B1954C2367C6}"/>
              </a:ext>
            </a:extLst>
          </p:cNvPr>
          <p:cNvGrpSpPr/>
          <p:nvPr/>
        </p:nvGrpSpPr>
        <p:grpSpPr>
          <a:xfrm>
            <a:off x="3091543" y="1485900"/>
            <a:ext cx="6008914" cy="4367993"/>
            <a:chOff x="3091543" y="1485900"/>
            <a:chExt cx="6008914" cy="4367993"/>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3091543" y="1485900"/>
              <a:ext cx="6008914" cy="436799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0" name="Group 9">
              <a:extLst>
                <a:ext uri="{FF2B5EF4-FFF2-40B4-BE49-F238E27FC236}">
                  <a16:creationId xmlns:a16="http://schemas.microsoft.com/office/drawing/2014/main" id="{1E54174A-A66C-331C-9BF2-B72AD3F9E09F}"/>
                </a:ext>
              </a:extLst>
            </p:cNvPr>
            <p:cNvGrpSpPr/>
            <p:nvPr/>
          </p:nvGrpSpPr>
          <p:grpSpPr>
            <a:xfrm>
              <a:off x="3228575" y="1673679"/>
              <a:ext cx="5734850" cy="3992435"/>
              <a:chOff x="3228575" y="1490953"/>
              <a:chExt cx="5734850" cy="3992435"/>
            </a:xfrm>
          </p:grpSpPr>
          <p:pic>
            <p:nvPicPr>
              <p:cNvPr id="6" name="Picture 5">
                <a:extLst>
                  <a:ext uri="{FF2B5EF4-FFF2-40B4-BE49-F238E27FC236}">
                    <a16:creationId xmlns:a16="http://schemas.microsoft.com/office/drawing/2014/main" id="{0328A76E-3289-0C5F-8C87-7B0C18BCA2B1}"/>
                  </a:ext>
                </a:extLst>
              </p:cNvPr>
              <p:cNvPicPr>
                <a:picLocks noChangeAspect="1"/>
              </p:cNvPicPr>
              <p:nvPr/>
            </p:nvPicPr>
            <p:blipFill>
              <a:blip r:embed="rId3"/>
              <a:stretch>
                <a:fillRect/>
              </a:stretch>
            </p:blipFill>
            <p:spPr>
              <a:xfrm>
                <a:off x="3228575" y="1490953"/>
                <a:ext cx="5734850" cy="2495898"/>
              </a:xfrm>
              <a:prstGeom prst="rect">
                <a:avLst/>
              </a:prstGeom>
            </p:spPr>
          </p:pic>
          <p:pic>
            <p:nvPicPr>
              <p:cNvPr id="9" name="Picture 8">
                <a:extLst>
                  <a:ext uri="{FF2B5EF4-FFF2-40B4-BE49-F238E27FC236}">
                    <a16:creationId xmlns:a16="http://schemas.microsoft.com/office/drawing/2014/main" id="{44B99146-F38F-3620-521C-B8DD6CBA55A9}"/>
                  </a:ext>
                </a:extLst>
              </p:cNvPr>
              <p:cNvPicPr>
                <a:picLocks noChangeAspect="1"/>
              </p:cNvPicPr>
              <p:nvPr/>
            </p:nvPicPr>
            <p:blipFill>
              <a:blip r:embed="rId4"/>
              <a:stretch>
                <a:fillRect/>
              </a:stretch>
            </p:blipFill>
            <p:spPr>
              <a:xfrm>
                <a:off x="3228575" y="3949649"/>
                <a:ext cx="5734850" cy="1533739"/>
              </a:xfrm>
              <a:prstGeom prst="rect">
                <a:avLst/>
              </a:prstGeom>
            </p:spPr>
          </p:pic>
        </p:grpSp>
      </p:grpSp>
    </p:spTree>
    <p:extLst>
      <p:ext uri="{BB962C8B-B14F-4D97-AF65-F5344CB8AC3E}">
        <p14:creationId xmlns:p14="http://schemas.microsoft.com/office/powerpoint/2010/main" val="125204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15012-7968-E4A7-B0E6-92DF322D85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87D7B91-178E-B3A2-D49F-AFE93005F019}"/>
              </a:ext>
            </a:extLst>
          </p:cNvPr>
          <p:cNvSpPr>
            <a:spLocks noGrp="1"/>
          </p:cNvSpPr>
          <p:nvPr>
            <p:ph type="title"/>
          </p:nvPr>
        </p:nvSpPr>
        <p:spPr/>
        <p:txBody>
          <a:bodyPr/>
          <a:lstStyle/>
          <a:p>
            <a:pPr>
              <a:lnSpc>
                <a:spcPts val="1792"/>
              </a:lnSpc>
            </a:pPr>
            <a:r>
              <a:rPr lang="en-US" dirty="0">
                <a:latin typeface="Montserrat Bold" pitchFamily="34" charset="0"/>
                <a:ea typeface="Montserrat Bold" pitchFamily="34" charset="-122"/>
                <a:cs typeface="Montserrat Bold" pitchFamily="34" charset="-120"/>
              </a:rPr>
              <a:t>Built- in Dictionary Methods</a:t>
            </a:r>
            <a:endParaRPr lang="en-US" dirty="0"/>
          </a:p>
        </p:txBody>
      </p:sp>
      <p:sp>
        <p:nvSpPr>
          <p:cNvPr id="25" name="TextBox 24">
            <a:extLst>
              <a:ext uri="{FF2B5EF4-FFF2-40B4-BE49-F238E27FC236}">
                <a16:creationId xmlns:a16="http://schemas.microsoft.com/office/drawing/2014/main" id="{A5EB8A8A-E284-17B8-2BCB-199C6ABA1D21}"/>
              </a:ext>
            </a:extLst>
          </p:cNvPr>
          <p:cNvSpPr txBox="1"/>
          <p:nvPr/>
        </p:nvSpPr>
        <p:spPr>
          <a:xfrm>
            <a:off x="4833360" y="5597477"/>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sp>
        <p:nvSpPr>
          <p:cNvPr id="4" name="TextBox 3">
            <a:extLst>
              <a:ext uri="{FF2B5EF4-FFF2-40B4-BE49-F238E27FC236}">
                <a16:creationId xmlns:a16="http://schemas.microsoft.com/office/drawing/2014/main" id="{493C1042-2CEB-936F-B160-47796E49F059}"/>
              </a:ext>
            </a:extLst>
          </p:cNvPr>
          <p:cNvSpPr txBox="1"/>
          <p:nvPr/>
        </p:nvSpPr>
        <p:spPr>
          <a:xfrm>
            <a:off x="1716597" y="2326432"/>
            <a:ext cx="8402128" cy="646331"/>
          </a:xfrm>
          <a:prstGeom prst="rect">
            <a:avLst/>
          </a:prstGeom>
        </p:spPr>
        <p:txBody>
          <a:bodyPr wrap="square" rtlCol="0" anchor="ctr">
            <a:spAutoFit/>
          </a:bodyPr>
          <a:lstStyle/>
          <a:p>
            <a:pPr algn="l"/>
            <a:r>
              <a:rPr lang="en-US" b="1" dirty="0">
                <a:solidFill>
                  <a:srgbClr val="25274D"/>
                </a:solidFill>
                <a:latin typeface="Montserrat" panose="00000500000000000000" pitchFamily="2" charset="0"/>
              </a:rPr>
              <a:t>View objects</a:t>
            </a:r>
            <a:r>
              <a:rPr lang="en-US" dirty="0">
                <a:solidFill>
                  <a:srgbClr val="25274D"/>
                </a:solidFill>
                <a:latin typeface="Montserrat" panose="00000500000000000000" pitchFamily="2" charset="0"/>
              </a:rPr>
              <a:t>: </a:t>
            </a:r>
            <a:r>
              <a:rPr lang="en-US" dirty="0">
                <a:solidFill>
                  <a:srgbClr val="25274D"/>
                </a:solidFill>
                <a:latin typeface="Courier New" panose="02070309020205020404" pitchFamily="49" charset="0"/>
                <a:cs typeface="Courier New" panose="02070309020205020404" pitchFamily="49" charset="0"/>
              </a:rPr>
              <a:t>keys(), values()</a:t>
            </a:r>
            <a:r>
              <a:rPr lang="en-US" dirty="0">
                <a:solidFill>
                  <a:srgbClr val="25274D"/>
                </a:solidFill>
              </a:rPr>
              <a:t> </a:t>
            </a:r>
            <a:r>
              <a:rPr lang="en-US" dirty="0">
                <a:solidFill>
                  <a:srgbClr val="25274D"/>
                </a:solidFill>
                <a:latin typeface="Montserrat" panose="00000500000000000000" pitchFamily="2" charset="0"/>
              </a:rPr>
              <a:t>and</a:t>
            </a:r>
            <a:r>
              <a:rPr lang="en-US" dirty="0">
                <a:solidFill>
                  <a:srgbClr val="25274D"/>
                </a:solidFill>
              </a:rPr>
              <a:t> </a:t>
            </a:r>
            <a:r>
              <a:rPr lang="en-US" dirty="0">
                <a:solidFill>
                  <a:srgbClr val="25274D"/>
                </a:solidFill>
                <a:latin typeface="Courier New" panose="02070309020205020404" pitchFamily="49" charset="0"/>
                <a:cs typeface="Courier New" panose="02070309020205020404" pitchFamily="49" charset="0"/>
              </a:rPr>
              <a:t>items() </a:t>
            </a:r>
            <a:r>
              <a:rPr lang="en-US" dirty="0">
                <a:solidFill>
                  <a:srgbClr val="25274D"/>
                </a:solidFill>
                <a:latin typeface="Montserrat" panose="00000500000000000000" pitchFamily="2" charset="0"/>
              </a:rPr>
              <a:t>return dynamic views that update with dictionary changes.</a:t>
            </a:r>
            <a:endParaRPr lang="en-GB" dirty="0">
              <a:solidFill>
                <a:srgbClr val="25274D"/>
              </a:solidFill>
              <a:latin typeface="Montserrat" panose="00000500000000000000" pitchFamily="2" charset="0"/>
            </a:endParaRPr>
          </a:p>
        </p:txBody>
      </p:sp>
      <p:grpSp>
        <p:nvGrpSpPr>
          <p:cNvPr id="3" name="Group 2">
            <a:extLst>
              <a:ext uri="{FF2B5EF4-FFF2-40B4-BE49-F238E27FC236}">
                <a16:creationId xmlns:a16="http://schemas.microsoft.com/office/drawing/2014/main" id="{DE57AA59-4390-EC4C-1A18-707DBEB46F66}"/>
              </a:ext>
            </a:extLst>
          </p:cNvPr>
          <p:cNvGrpSpPr/>
          <p:nvPr/>
        </p:nvGrpSpPr>
        <p:grpSpPr>
          <a:xfrm>
            <a:off x="3085070" y="3249827"/>
            <a:ext cx="6021860" cy="1230612"/>
            <a:chOff x="3085070" y="3249827"/>
            <a:chExt cx="6021860" cy="1230612"/>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3085070" y="3249827"/>
              <a:ext cx="6021860" cy="123061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3F07EC87-ECE5-796A-C6A4-1E046AE24804}"/>
                </a:ext>
              </a:extLst>
            </p:cNvPr>
            <p:cNvPicPr>
              <a:picLocks noChangeAspect="1"/>
            </p:cNvPicPr>
            <p:nvPr/>
          </p:nvPicPr>
          <p:blipFill>
            <a:blip r:embed="rId3"/>
            <a:stretch>
              <a:fillRect/>
            </a:stretch>
          </p:blipFill>
          <p:spPr>
            <a:xfrm>
              <a:off x="3261917" y="3431685"/>
              <a:ext cx="5668166" cy="866896"/>
            </a:xfrm>
            <a:prstGeom prst="rect">
              <a:avLst/>
            </a:prstGeom>
          </p:spPr>
        </p:pic>
      </p:grpSp>
    </p:spTree>
    <p:extLst>
      <p:ext uri="{BB962C8B-B14F-4D97-AF65-F5344CB8AC3E}">
        <p14:creationId xmlns:p14="http://schemas.microsoft.com/office/powerpoint/2010/main" val="161325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47CC-AFC3-14D5-1948-501696032C9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CBA6897-27B8-177B-6273-CA1E6A02F9D4}"/>
              </a:ext>
            </a:extLst>
          </p:cNvPr>
          <p:cNvSpPr>
            <a:spLocks noGrp="1"/>
          </p:cNvSpPr>
          <p:nvPr>
            <p:ph type="title"/>
          </p:nvPr>
        </p:nvSpPr>
        <p:spPr/>
        <p:txBody>
          <a:bodyPr/>
          <a:lstStyle/>
          <a:p>
            <a:pPr>
              <a:lnSpc>
                <a:spcPts val="1875"/>
              </a:lnSpc>
            </a:pPr>
            <a:r>
              <a:rPr lang="en-US" dirty="0">
                <a:latin typeface="Montserrat Bold" pitchFamily="34" charset="0"/>
                <a:ea typeface="Montserrat Bold" pitchFamily="34" charset="-122"/>
                <a:cs typeface="Montserrat Bold" pitchFamily="34" charset="-120"/>
              </a:rPr>
              <a:t>Nested Dictionaries</a:t>
            </a:r>
            <a:endParaRPr lang="en-US" dirty="0"/>
          </a:p>
        </p:txBody>
      </p:sp>
      <p:sp>
        <p:nvSpPr>
          <p:cNvPr id="4" name="TextBox 3">
            <a:extLst>
              <a:ext uri="{FF2B5EF4-FFF2-40B4-BE49-F238E27FC236}">
                <a16:creationId xmlns:a16="http://schemas.microsoft.com/office/drawing/2014/main" id="{81E7AB00-B4B7-19D5-3D9E-89DD2469B9C6}"/>
              </a:ext>
            </a:extLst>
          </p:cNvPr>
          <p:cNvSpPr txBox="1"/>
          <p:nvPr/>
        </p:nvSpPr>
        <p:spPr>
          <a:xfrm>
            <a:off x="943333" y="1308465"/>
            <a:ext cx="10143767" cy="646331"/>
          </a:xfrm>
          <a:prstGeom prst="rect">
            <a:avLst/>
          </a:prstGeom>
          <a:noFill/>
        </p:spPr>
        <p:txBody>
          <a:bodyPr wrap="square">
            <a:spAutoFit/>
          </a:bodyPr>
          <a:lstStyle/>
          <a:p>
            <a:r>
              <a:rPr lang="en-US" dirty="0">
                <a:solidFill>
                  <a:srgbClr val="25274D"/>
                </a:solidFill>
                <a:latin typeface="Montserrat" panose="00000500000000000000" pitchFamily="2" charset="0"/>
              </a:rPr>
              <a:t>Dictionaries can contain other dictionaries, forming a nested structure for complex data relationships.</a:t>
            </a:r>
          </a:p>
        </p:txBody>
      </p:sp>
      <p:grpSp>
        <p:nvGrpSpPr>
          <p:cNvPr id="3" name="Group 2">
            <a:extLst>
              <a:ext uri="{FF2B5EF4-FFF2-40B4-BE49-F238E27FC236}">
                <a16:creationId xmlns:a16="http://schemas.microsoft.com/office/drawing/2014/main" id="{3465EBB4-5AB9-56D3-C5C9-B9C1BBD2AE58}"/>
              </a:ext>
            </a:extLst>
          </p:cNvPr>
          <p:cNvGrpSpPr/>
          <p:nvPr/>
        </p:nvGrpSpPr>
        <p:grpSpPr>
          <a:xfrm>
            <a:off x="3554627" y="2042915"/>
            <a:ext cx="5082746" cy="4481254"/>
            <a:chOff x="3554627" y="2042915"/>
            <a:chExt cx="5082746" cy="4481254"/>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3554627" y="2042915"/>
              <a:ext cx="5082746" cy="448125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Picture 11">
              <a:extLst>
                <a:ext uri="{FF2B5EF4-FFF2-40B4-BE49-F238E27FC236}">
                  <a16:creationId xmlns:a16="http://schemas.microsoft.com/office/drawing/2014/main" id="{9B8B633D-B03E-0673-F026-96C11D579B7D}"/>
                </a:ext>
              </a:extLst>
            </p:cNvPr>
            <p:cNvPicPr>
              <a:picLocks noChangeAspect="1"/>
            </p:cNvPicPr>
            <p:nvPr/>
          </p:nvPicPr>
          <p:blipFill>
            <a:blip r:embed="rId3"/>
            <a:stretch>
              <a:fillRect/>
            </a:stretch>
          </p:blipFill>
          <p:spPr>
            <a:xfrm>
              <a:off x="3795051" y="2203517"/>
              <a:ext cx="4601898" cy="4160048"/>
            </a:xfrm>
            <a:prstGeom prst="rect">
              <a:avLst/>
            </a:prstGeom>
          </p:spPr>
        </p:pic>
      </p:grpSp>
    </p:spTree>
    <p:extLst>
      <p:ext uri="{BB962C8B-B14F-4D97-AF65-F5344CB8AC3E}">
        <p14:creationId xmlns:p14="http://schemas.microsoft.com/office/powerpoint/2010/main" val="331461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09E15-7240-1013-D795-9E8EE88EB29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2D15AED-8163-FD04-AC19-F5316E97CFB7}"/>
              </a:ext>
            </a:extLst>
          </p:cNvPr>
          <p:cNvSpPr>
            <a:spLocks noGrp="1"/>
          </p:cNvSpPr>
          <p:nvPr>
            <p:ph type="title"/>
          </p:nvPr>
        </p:nvSpPr>
        <p:spPr/>
        <p:txBody>
          <a:bodyPr/>
          <a:lstStyle/>
          <a:p>
            <a:pPr>
              <a:lnSpc>
                <a:spcPts val="2417"/>
              </a:lnSpc>
            </a:pPr>
            <a:r>
              <a:rPr lang="en-US" dirty="0"/>
              <a:t>Importance of Nested Dictionaries</a:t>
            </a:r>
          </a:p>
        </p:txBody>
      </p:sp>
      <p:sp>
        <p:nvSpPr>
          <p:cNvPr id="25" name="TextBox 24">
            <a:extLst>
              <a:ext uri="{FF2B5EF4-FFF2-40B4-BE49-F238E27FC236}">
                <a16:creationId xmlns:a16="http://schemas.microsoft.com/office/drawing/2014/main" id="{7F765D08-31E0-38BD-23EA-4B643616DDC6}"/>
              </a:ext>
            </a:extLst>
          </p:cNvPr>
          <p:cNvSpPr txBox="1"/>
          <p:nvPr/>
        </p:nvSpPr>
        <p:spPr>
          <a:xfrm>
            <a:off x="4833360" y="5597477"/>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grpSp>
        <p:nvGrpSpPr>
          <p:cNvPr id="43" name="Group 42">
            <a:extLst>
              <a:ext uri="{FF2B5EF4-FFF2-40B4-BE49-F238E27FC236}">
                <a16:creationId xmlns:a16="http://schemas.microsoft.com/office/drawing/2014/main" id="{16A4D73E-B909-B7E6-440A-79BF429FB066}"/>
              </a:ext>
            </a:extLst>
          </p:cNvPr>
          <p:cNvGrpSpPr/>
          <p:nvPr/>
        </p:nvGrpSpPr>
        <p:grpSpPr>
          <a:xfrm>
            <a:off x="3199630" y="1306286"/>
            <a:ext cx="2836469" cy="2578608"/>
            <a:chOff x="3199630" y="1306286"/>
            <a:chExt cx="2836469" cy="2578608"/>
          </a:xfrm>
        </p:grpSpPr>
        <p:sp>
          <p:nvSpPr>
            <p:cNvPr id="14" name="Rectangle: Rounded Corners 13">
              <a:extLst>
                <a:ext uri="{FF2B5EF4-FFF2-40B4-BE49-F238E27FC236}">
                  <a16:creationId xmlns:a16="http://schemas.microsoft.com/office/drawing/2014/main" id="{EACE1846-6A6A-CC3B-25D0-C620AB128838}"/>
                </a:ext>
              </a:extLst>
            </p:cNvPr>
            <p:cNvSpPr/>
            <p:nvPr/>
          </p:nvSpPr>
          <p:spPr>
            <a:xfrm>
              <a:off x="3199630" y="1306286"/>
              <a:ext cx="2836469" cy="257860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52AB21D9-FF7D-46FA-6D3C-A7637ABE8C55}"/>
                </a:ext>
              </a:extLst>
            </p:cNvPr>
            <p:cNvGrpSpPr/>
            <p:nvPr/>
          </p:nvGrpSpPr>
          <p:grpSpPr>
            <a:xfrm>
              <a:off x="3254055" y="1881530"/>
              <a:ext cx="2727618" cy="1428121"/>
              <a:chOff x="3254055" y="1836846"/>
              <a:chExt cx="2727618" cy="1428121"/>
            </a:xfrm>
          </p:grpSpPr>
          <p:sp>
            <p:nvSpPr>
              <p:cNvPr id="30" name="TextBox 29">
                <a:extLst>
                  <a:ext uri="{FF2B5EF4-FFF2-40B4-BE49-F238E27FC236}">
                    <a16:creationId xmlns:a16="http://schemas.microsoft.com/office/drawing/2014/main" id="{971820B2-2895-7B8A-954B-2C2D929C35A1}"/>
                  </a:ext>
                </a:extLst>
              </p:cNvPr>
              <p:cNvSpPr txBox="1"/>
              <p:nvPr/>
            </p:nvSpPr>
            <p:spPr>
              <a:xfrm>
                <a:off x="3254055" y="2618636"/>
                <a:ext cx="2727618" cy="646331"/>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Represents hierarchical data</a:t>
                </a:r>
              </a:p>
            </p:txBody>
          </p:sp>
          <p:pic>
            <p:nvPicPr>
              <p:cNvPr id="31" name="Graphic 30">
                <a:extLst>
                  <a:ext uri="{FF2B5EF4-FFF2-40B4-BE49-F238E27FC236}">
                    <a16:creationId xmlns:a16="http://schemas.microsoft.com/office/drawing/2014/main" id="{E354428E-0E38-BADE-2FE5-D3C811BC48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1864" y="1836846"/>
                <a:ext cx="768855" cy="763479"/>
              </a:xfrm>
              <a:prstGeom prst="rect">
                <a:avLst/>
              </a:prstGeom>
            </p:spPr>
          </p:pic>
        </p:grpSp>
      </p:grpSp>
      <p:grpSp>
        <p:nvGrpSpPr>
          <p:cNvPr id="44" name="Group 43">
            <a:extLst>
              <a:ext uri="{FF2B5EF4-FFF2-40B4-BE49-F238E27FC236}">
                <a16:creationId xmlns:a16="http://schemas.microsoft.com/office/drawing/2014/main" id="{AF5351D7-3659-2D26-C721-FA9F3CF15F76}"/>
              </a:ext>
            </a:extLst>
          </p:cNvPr>
          <p:cNvGrpSpPr/>
          <p:nvPr/>
        </p:nvGrpSpPr>
        <p:grpSpPr>
          <a:xfrm>
            <a:off x="6155902" y="1306287"/>
            <a:ext cx="2836469" cy="2579913"/>
            <a:chOff x="6155902" y="1306287"/>
            <a:chExt cx="2836469" cy="2579913"/>
          </a:xfrm>
        </p:grpSpPr>
        <p:sp>
          <p:nvSpPr>
            <p:cNvPr id="17" name="Rectangle: Rounded Corners 16">
              <a:extLst>
                <a:ext uri="{FF2B5EF4-FFF2-40B4-BE49-F238E27FC236}">
                  <a16:creationId xmlns:a16="http://schemas.microsoft.com/office/drawing/2014/main" id="{354719A7-442D-88C5-2B13-BF7136C8B302}"/>
                </a:ext>
              </a:extLst>
            </p:cNvPr>
            <p:cNvSpPr/>
            <p:nvPr/>
          </p:nvSpPr>
          <p:spPr>
            <a:xfrm>
              <a:off x="6155902" y="1306287"/>
              <a:ext cx="2836469" cy="2579913"/>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BCCF69A5-DC4E-972A-3DBA-CB9E7FB199BF}"/>
                </a:ext>
              </a:extLst>
            </p:cNvPr>
            <p:cNvGrpSpPr/>
            <p:nvPr/>
          </p:nvGrpSpPr>
          <p:grpSpPr>
            <a:xfrm>
              <a:off x="6368090" y="1920083"/>
              <a:ext cx="2412092" cy="1352320"/>
              <a:chOff x="6368090" y="1952625"/>
              <a:chExt cx="2412092" cy="1352320"/>
            </a:xfrm>
          </p:grpSpPr>
          <p:sp>
            <p:nvSpPr>
              <p:cNvPr id="18" name="TextBox 17">
                <a:extLst>
                  <a:ext uri="{FF2B5EF4-FFF2-40B4-BE49-F238E27FC236}">
                    <a16:creationId xmlns:a16="http://schemas.microsoft.com/office/drawing/2014/main" id="{5EFF4F2E-6839-BD10-8C77-C884BB1FFA09}"/>
                  </a:ext>
                </a:extLst>
              </p:cNvPr>
              <p:cNvSpPr txBox="1"/>
              <p:nvPr/>
            </p:nvSpPr>
            <p:spPr>
              <a:xfrm>
                <a:off x="6368090" y="2658614"/>
                <a:ext cx="2412092" cy="646331"/>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Stores complex objects</a:t>
                </a:r>
              </a:p>
            </p:txBody>
          </p:sp>
          <p:pic>
            <p:nvPicPr>
              <p:cNvPr id="35" name="Graphic 34">
                <a:extLst>
                  <a:ext uri="{FF2B5EF4-FFF2-40B4-BE49-F238E27FC236}">
                    <a16:creationId xmlns:a16="http://schemas.microsoft.com/office/drawing/2014/main" id="{6FC0A3AC-822C-2EC3-B15A-8684BB8619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31787" y="1952625"/>
                <a:ext cx="528774" cy="688741"/>
              </a:xfrm>
              <a:prstGeom prst="rect">
                <a:avLst/>
              </a:prstGeom>
            </p:spPr>
          </p:pic>
        </p:grpSp>
      </p:grpSp>
      <p:grpSp>
        <p:nvGrpSpPr>
          <p:cNvPr id="46" name="Group 45">
            <a:extLst>
              <a:ext uri="{FF2B5EF4-FFF2-40B4-BE49-F238E27FC236}">
                <a16:creationId xmlns:a16="http://schemas.microsoft.com/office/drawing/2014/main" id="{8A16AA3B-0C62-43DC-C0A9-CE8E0C1593AC}"/>
              </a:ext>
            </a:extLst>
          </p:cNvPr>
          <p:cNvGrpSpPr/>
          <p:nvPr/>
        </p:nvGrpSpPr>
        <p:grpSpPr>
          <a:xfrm>
            <a:off x="3199630" y="3952504"/>
            <a:ext cx="2836469" cy="2578608"/>
            <a:chOff x="3199630" y="3952504"/>
            <a:chExt cx="2836469" cy="2578608"/>
          </a:xfrm>
        </p:grpSpPr>
        <p:sp>
          <p:nvSpPr>
            <p:cNvPr id="20" name="Rectangle: Rounded Corners 19">
              <a:extLst>
                <a:ext uri="{FF2B5EF4-FFF2-40B4-BE49-F238E27FC236}">
                  <a16:creationId xmlns:a16="http://schemas.microsoft.com/office/drawing/2014/main" id="{25EFBC78-C8A5-FADA-4ECF-7274A0B41939}"/>
                </a:ext>
              </a:extLst>
            </p:cNvPr>
            <p:cNvSpPr/>
            <p:nvPr/>
          </p:nvSpPr>
          <p:spPr>
            <a:xfrm>
              <a:off x="3199630" y="3952504"/>
              <a:ext cx="2836469" cy="2578608"/>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90AB242A-EB4E-FA08-C062-81212101C6E0}"/>
                </a:ext>
              </a:extLst>
            </p:cNvPr>
            <p:cNvGrpSpPr/>
            <p:nvPr/>
          </p:nvGrpSpPr>
          <p:grpSpPr>
            <a:xfrm>
              <a:off x="3349278" y="4588841"/>
              <a:ext cx="2537172" cy="1305934"/>
              <a:chOff x="3349278" y="4579417"/>
              <a:chExt cx="2537172" cy="1305934"/>
            </a:xfrm>
          </p:grpSpPr>
          <p:sp>
            <p:nvSpPr>
              <p:cNvPr id="21" name="TextBox 20">
                <a:extLst>
                  <a:ext uri="{FF2B5EF4-FFF2-40B4-BE49-F238E27FC236}">
                    <a16:creationId xmlns:a16="http://schemas.microsoft.com/office/drawing/2014/main" id="{4B53A42E-A005-825F-1562-443B33814E46}"/>
                  </a:ext>
                </a:extLst>
              </p:cNvPr>
              <p:cNvSpPr txBox="1"/>
              <p:nvPr/>
            </p:nvSpPr>
            <p:spPr>
              <a:xfrm>
                <a:off x="3349278" y="5239020"/>
                <a:ext cx="2537172" cy="646331"/>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Organises related information</a:t>
                </a:r>
              </a:p>
            </p:txBody>
          </p:sp>
          <p:pic>
            <p:nvPicPr>
              <p:cNvPr id="37" name="Graphic 36">
                <a:extLst>
                  <a:ext uri="{FF2B5EF4-FFF2-40B4-BE49-F238E27FC236}">
                    <a16:creationId xmlns:a16="http://schemas.microsoft.com/office/drawing/2014/main" id="{2F29BDB1-3B4D-1120-8F92-32BD15B066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13661" y="4579417"/>
                <a:ext cx="697626" cy="670965"/>
              </a:xfrm>
              <a:prstGeom prst="rect">
                <a:avLst/>
              </a:prstGeom>
            </p:spPr>
          </p:pic>
        </p:grpSp>
      </p:grpSp>
      <p:grpSp>
        <p:nvGrpSpPr>
          <p:cNvPr id="45" name="Group 44">
            <a:extLst>
              <a:ext uri="{FF2B5EF4-FFF2-40B4-BE49-F238E27FC236}">
                <a16:creationId xmlns:a16="http://schemas.microsoft.com/office/drawing/2014/main" id="{5F81F0D8-E58F-89B6-AEDD-581CF94C94F5}"/>
              </a:ext>
            </a:extLst>
          </p:cNvPr>
          <p:cNvGrpSpPr/>
          <p:nvPr/>
        </p:nvGrpSpPr>
        <p:grpSpPr>
          <a:xfrm>
            <a:off x="6155902" y="3952504"/>
            <a:ext cx="2836469" cy="2578608"/>
            <a:chOff x="6155902" y="3952504"/>
            <a:chExt cx="2836469" cy="2578608"/>
          </a:xfrm>
        </p:grpSpPr>
        <p:sp>
          <p:nvSpPr>
            <p:cNvPr id="23" name="Rectangle: Rounded Corners 22">
              <a:extLst>
                <a:ext uri="{FF2B5EF4-FFF2-40B4-BE49-F238E27FC236}">
                  <a16:creationId xmlns:a16="http://schemas.microsoft.com/office/drawing/2014/main" id="{47DBADAB-6749-9A8D-05D4-7FF4372E1117}"/>
                </a:ext>
              </a:extLst>
            </p:cNvPr>
            <p:cNvSpPr/>
            <p:nvPr/>
          </p:nvSpPr>
          <p:spPr>
            <a:xfrm>
              <a:off x="6155902" y="3952504"/>
              <a:ext cx="2836469" cy="257860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2C24A329-9DA8-5034-72AF-91C80789830B}"/>
                </a:ext>
              </a:extLst>
            </p:cNvPr>
            <p:cNvGrpSpPr/>
            <p:nvPr/>
          </p:nvGrpSpPr>
          <p:grpSpPr>
            <a:xfrm>
              <a:off x="6455122" y="4449019"/>
              <a:ext cx="2238028" cy="1585578"/>
              <a:chOff x="6455122" y="4674262"/>
              <a:chExt cx="2238028" cy="1585578"/>
            </a:xfrm>
          </p:grpSpPr>
          <p:sp>
            <p:nvSpPr>
              <p:cNvPr id="24" name="TextBox 23">
                <a:extLst>
                  <a:ext uri="{FF2B5EF4-FFF2-40B4-BE49-F238E27FC236}">
                    <a16:creationId xmlns:a16="http://schemas.microsoft.com/office/drawing/2014/main" id="{F216EDA6-1679-95D3-7536-1077F7CFD4A6}"/>
                  </a:ext>
                </a:extLst>
              </p:cNvPr>
              <p:cNvSpPr txBox="1"/>
              <p:nvPr/>
            </p:nvSpPr>
            <p:spPr>
              <a:xfrm>
                <a:off x="6455122" y="5336510"/>
                <a:ext cx="2238028" cy="923330"/>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Works with JSON-like data structures</a:t>
                </a:r>
              </a:p>
            </p:txBody>
          </p:sp>
          <p:pic>
            <p:nvPicPr>
              <p:cNvPr id="39" name="Graphic 38">
                <a:extLst>
                  <a:ext uri="{FF2B5EF4-FFF2-40B4-BE49-F238E27FC236}">
                    <a16:creationId xmlns:a16="http://schemas.microsoft.com/office/drawing/2014/main" id="{D81AA62E-ECAD-3DE6-2034-5A58E605F2D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17657" y="4674262"/>
                <a:ext cx="1112959" cy="586051"/>
              </a:xfrm>
              <a:prstGeom prst="rect">
                <a:avLst/>
              </a:prstGeom>
            </p:spPr>
          </p:pic>
        </p:grpSp>
      </p:grpSp>
    </p:spTree>
    <p:extLst>
      <p:ext uri="{BB962C8B-B14F-4D97-AF65-F5344CB8AC3E}">
        <p14:creationId xmlns:p14="http://schemas.microsoft.com/office/powerpoint/2010/main" val="167563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1000"/>
                                        <p:tgtEl>
                                          <p:spTgt spid="43"/>
                                        </p:tgtEl>
                                      </p:cBhvr>
                                    </p:animEffect>
                                  </p:childTnLst>
                                </p:cTn>
                              </p:par>
                              <p:par>
                                <p:cTn id="11" presetID="10" presetClass="entr" presetSubtype="0" fill="hold" nodeType="withEffect">
                                  <p:stCondLst>
                                    <p:cond delay="50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1000"/>
                                        <p:tgtEl>
                                          <p:spTgt spid="44"/>
                                        </p:tgtEl>
                                      </p:cBhvr>
                                    </p:animEffect>
                                  </p:childTnLst>
                                </p:cTn>
                              </p:par>
                              <p:par>
                                <p:cTn id="14" presetID="10" presetClass="entr" presetSubtype="0" fill="hold" nodeType="withEffect">
                                  <p:stCondLst>
                                    <p:cond delay="50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1000"/>
                                        <p:tgtEl>
                                          <p:spTgt spid="46"/>
                                        </p:tgtEl>
                                      </p:cBhvr>
                                    </p:animEffect>
                                  </p:childTnLst>
                                </p:cTn>
                              </p:par>
                              <p:par>
                                <p:cTn id="17" presetID="10" presetClass="entr" presetSubtype="0" fill="hold" nodeType="withEffect">
                                  <p:stCondLst>
                                    <p:cond delay="50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7E2C-5F2F-158E-0043-A6577554718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2294238" y="3262184"/>
            <a:ext cx="7603524" cy="1717589"/>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FE08B07B-67B7-50D0-0EB4-15FE94CD83BC}"/>
              </a:ext>
            </a:extLst>
          </p:cNvPr>
          <p:cNvSpPr>
            <a:spLocks noGrp="1"/>
          </p:cNvSpPr>
          <p:nvPr>
            <p:ph type="title"/>
          </p:nvPr>
        </p:nvSpPr>
        <p:spPr/>
        <p:txBody>
          <a:bodyPr/>
          <a:lstStyle/>
          <a:p>
            <a:pPr>
              <a:lnSpc>
                <a:spcPts val="2417"/>
              </a:lnSpc>
            </a:pPr>
            <a:r>
              <a:rPr lang="en-US" dirty="0"/>
              <a:t>Importance of Nested Dictionaries</a:t>
            </a:r>
          </a:p>
        </p:txBody>
      </p:sp>
      <p:sp>
        <p:nvSpPr>
          <p:cNvPr id="5" name="Text Placeholder 4">
            <a:extLst>
              <a:ext uri="{FF2B5EF4-FFF2-40B4-BE49-F238E27FC236}">
                <a16:creationId xmlns:a16="http://schemas.microsoft.com/office/drawing/2014/main" id="{22E23949-68AD-A9FB-331A-2D92A54189B7}"/>
              </a:ext>
            </a:extLst>
          </p:cNvPr>
          <p:cNvSpPr>
            <a:spLocks noGrp="1"/>
          </p:cNvSpPr>
          <p:nvPr>
            <p:ph type="body" sz="quarter" idx="10"/>
          </p:nvPr>
        </p:nvSpPr>
        <p:spPr/>
        <p:txBody>
          <a:bodyPr/>
          <a:lstStyle/>
          <a:p>
            <a:r>
              <a:rPr lang="en-GB" dirty="0"/>
              <a:t>Tip</a:t>
            </a:r>
          </a:p>
        </p:txBody>
      </p:sp>
      <p:sp>
        <p:nvSpPr>
          <p:cNvPr id="25" name="TextBox 24">
            <a:extLst>
              <a:ext uri="{FF2B5EF4-FFF2-40B4-BE49-F238E27FC236}">
                <a16:creationId xmlns:a16="http://schemas.microsoft.com/office/drawing/2014/main" id="{9C212906-9A21-0072-88FC-921267AC3E29}"/>
              </a:ext>
            </a:extLst>
          </p:cNvPr>
          <p:cNvSpPr txBox="1"/>
          <p:nvPr/>
        </p:nvSpPr>
        <p:spPr>
          <a:xfrm>
            <a:off x="4833360" y="5597477"/>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sp>
        <p:nvSpPr>
          <p:cNvPr id="6" name="TextBox 5">
            <a:extLst>
              <a:ext uri="{FF2B5EF4-FFF2-40B4-BE49-F238E27FC236}">
                <a16:creationId xmlns:a16="http://schemas.microsoft.com/office/drawing/2014/main" id="{417E1544-7057-B8F8-F4D0-C768244B4019}"/>
              </a:ext>
            </a:extLst>
          </p:cNvPr>
          <p:cNvSpPr txBox="1"/>
          <p:nvPr/>
        </p:nvSpPr>
        <p:spPr>
          <a:xfrm>
            <a:off x="1004759" y="2558534"/>
            <a:ext cx="10622082" cy="369332"/>
          </a:xfrm>
          <a:prstGeom prst="rect">
            <a:avLst/>
          </a:prstGeom>
          <a:noFill/>
        </p:spPr>
        <p:txBody>
          <a:bodyPr wrap="square">
            <a:spAutoFit/>
          </a:bodyPr>
          <a:lstStyle/>
          <a:p>
            <a:r>
              <a:rPr lang="en-US" dirty="0">
                <a:solidFill>
                  <a:srgbClr val="25274D"/>
                </a:solidFill>
                <a:latin typeface="Montserrat" panose="00000500000000000000" pitchFamily="2" charset="0"/>
              </a:rPr>
              <a:t>To avoid errors when accessing deeply nested dictionaries, use the </a:t>
            </a:r>
            <a:r>
              <a:rPr lang="en-US" dirty="0">
                <a:solidFill>
                  <a:srgbClr val="25274D"/>
                </a:solidFill>
                <a:latin typeface="Montserrat" panose="00000500000000000000" pitchFamily="2" charset="0"/>
                <a:cs typeface="Courier New" panose="02070309020205020404" pitchFamily="49" charset="0"/>
              </a:rPr>
              <a:t>get() </a:t>
            </a:r>
            <a:r>
              <a:rPr lang="en-US" dirty="0">
                <a:solidFill>
                  <a:srgbClr val="25274D"/>
                </a:solidFill>
                <a:latin typeface="Montserrat" panose="00000500000000000000" pitchFamily="2" charset="0"/>
              </a:rPr>
              <a:t>method:</a:t>
            </a:r>
          </a:p>
        </p:txBody>
      </p:sp>
      <p:pic>
        <p:nvPicPr>
          <p:cNvPr id="12" name="Picture 11">
            <a:extLst>
              <a:ext uri="{FF2B5EF4-FFF2-40B4-BE49-F238E27FC236}">
                <a16:creationId xmlns:a16="http://schemas.microsoft.com/office/drawing/2014/main" id="{0EED3AD1-9703-4637-87DE-BF5C9886C613}"/>
              </a:ext>
            </a:extLst>
          </p:cNvPr>
          <p:cNvPicPr>
            <a:picLocks noChangeAspect="1"/>
          </p:cNvPicPr>
          <p:nvPr/>
        </p:nvPicPr>
        <p:blipFill>
          <a:blip r:embed="rId3"/>
          <a:stretch>
            <a:fillRect/>
          </a:stretch>
        </p:blipFill>
        <p:spPr>
          <a:xfrm>
            <a:off x="2534286" y="3429000"/>
            <a:ext cx="7123428" cy="1382712"/>
          </a:xfrm>
          <a:prstGeom prst="rect">
            <a:avLst/>
          </a:prstGeom>
        </p:spPr>
      </p:pic>
    </p:spTree>
    <p:extLst>
      <p:ext uri="{BB962C8B-B14F-4D97-AF65-F5344CB8AC3E}">
        <p14:creationId xmlns:p14="http://schemas.microsoft.com/office/powerpoint/2010/main" val="304006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par>
                                <p:cTn id="17" presetID="10" presetClass="entr" presetSubtype="0" fill="hold" nodeType="with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5" grpId="0" build="p"/>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545FF-D507-75A6-10EF-1C5B31E57DD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A366FC2-0C28-3F4D-4AD7-4980974C63CA}"/>
              </a:ext>
            </a:extLst>
          </p:cNvPr>
          <p:cNvSpPr/>
          <p:nvPr/>
        </p:nvSpPr>
        <p:spPr>
          <a:xfrm>
            <a:off x="2108886" y="2637499"/>
            <a:ext cx="7974228" cy="351616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826C982B-8BBA-B57A-7930-1B9DE915EEC9}"/>
              </a:ext>
            </a:extLst>
          </p:cNvPr>
          <p:cNvSpPr/>
          <p:nvPr/>
        </p:nvSpPr>
        <p:spPr>
          <a:xfrm>
            <a:off x="876301" y="1447800"/>
            <a:ext cx="10210800" cy="647700"/>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007D4B96-605E-074C-C84F-C537192C720B}"/>
              </a:ext>
            </a:extLst>
          </p:cNvPr>
          <p:cNvSpPr>
            <a:spLocks noGrp="1"/>
          </p:cNvSpPr>
          <p:nvPr>
            <p:ph type="title"/>
          </p:nvPr>
        </p:nvSpPr>
        <p:spPr/>
        <p:txBody>
          <a:bodyPr/>
          <a:lstStyle/>
          <a:p>
            <a:pPr>
              <a:lnSpc>
                <a:spcPts val="2625"/>
              </a:lnSpc>
            </a:pPr>
            <a:r>
              <a:rPr lang="en-US" dirty="0">
                <a:latin typeface="Montserrat Bold" pitchFamily="34" charset="0"/>
                <a:ea typeface="Montserrat Bold" pitchFamily="34" charset="-122"/>
                <a:cs typeface="Montserrat Bold" pitchFamily="34" charset="-120"/>
              </a:rPr>
              <a:t>Limitations of Dictionaries</a:t>
            </a:r>
            <a:endParaRPr lang="en-US" dirty="0"/>
          </a:p>
        </p:txBody>
      </p:sp>
      <p:sp>
        <p:nvSpPr>
          <p:cNvPr id="25" name="TextBox 24">
            <a:extLst>
              <a:ext uri="{FF2B5EF4-FFF2-40B4-BE49-F238E27FC236}">
                <a16:creationId xmlns:a16="http://schemas.microsoft.com/office/drawing/2014/main" id="{9CA11C4A-23A5-A7BB-015F-804270E2AB2D}"/>
              </a:ext>
            </a:extLst>
          </p:cNvPr>
          <p:cNvSpPr txBox="1"/>
          <p:nvPr/>
        </p:nvSpPr>
        <p:spPr>
          <a:xfrm>
            <a:off x="4833360" y="5597477"/>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sp>
        <p:nvSpPr>
          <p:cNvPr id="10" name="TextBox 9">
            <a:extLst>
              <a:ext uri="{FF2B5EF4-FFF2-40B4-BE49-F238E27FC236}">
                <a16:creationId xmlns:a16="http://schemas.microsoft.com/office/drawing/2014/main" id="{E70C2530-050C-A8E8-B9B3-1B264DB1150E}"/>
              </a:ext>
            </a:extLst>
          </p:cNvPr>
          <p:cNvSpPr txBox="1"/>
          <p:nvPr/>
        </p:nvSpPr>
        <p:spPr>
          <a:xfrm>
            <a:off x="1066801" y="1577495"/>
            <a:ext cx="9829800" cy="388311"/>
          </a:xfrm>
          <a:prstGeom prst="rect">
            <a:avLst/>
          </a:prstGeom>
          <a:noFill/>
        </p:spPr>
        <p:txBody>
          <a:bodyPr wrap="square">
            <a:spAutoFit/>
          </a:bodyPr>
          <a:lstStyle/>
          <a:p>
            <a:pPr>
              <a:lnSpc>
                <a:spcPct val="115000"/>
              </a:lnSpc>
              <a:spcAft>
                <a:spcPts val="800"/>
              </a:spcAft>
            </a:pPr>
            <a:r>
              <a:rPr lang="en-US" sz="1800" b="1" kern="100" dirty="0">
                <a:solidFill>
                  <a:schemeClr val="bg1"/>
                </a:solidFill>
                <a:effectLst/>
                <a:latin typeface="Montserrat (Body)"/>
                <a:ea typeface="Aptos" panose="020B0004020202020204" pitchFamily="34" charset="0"/>
                <a:cs typeface="Arial" panose="020B0604020202020204" pitchFamily="34" charset="0"/>
              </a:rPr>
              <a:t>Key restriction: </a:t>
            </a:r>
            <a:r>
              <a:rPr lang="en-US" sz="1800" kern="100" dirty="0">
                <a:solidFill>
                  <a:schemeClr val="bg1"/>
                </a:solidFill>
                <a:effectLst/>
                <a:latin typeface="Montserrat (Body)"/>
                <a:ea typeface="Aptos" panose="020B0004020202020204" pitchFamily="34" charset="0"/>
                <a:cs typeface="Arial" panose="020B0604020202020204" pitchFamily="34" charset="0"/>
              </a:rPr>
              <a:t>M</a:t>
            </a:r>
            <a:r>
              <a:rPr lang="en-US" dirty="0">
                <a:solidFill>
                  <a:schemeClr val="bg1"/>
                </a:solidFill>
              </a:rPr>
              <a:t>ust be unique and immutable; only immutable tuples are allowed</a:t>
            </a:r>
          </a:p>
        </p:txBody>
      </p:sp>
      <p:pic>
        <p:nvPicPr>
          <p:cNvPr id="12" name="Picture 11">
            <a:extLst>
              <a:ext uri="{FF2B5EF4-FFF2-40B4-BE49-F238E27FC236}">
                <a16:creationId xmlns:a16="http://schemas.microsoft.com/office/drawing/2014/main" id="{0CBDE7A8-87B4-A718-A8BD-490C2EA7FB0D}"/>
              </a:ext>
            </a:extLst>
          </p:cNvPr>
          <p:cNvPicPr>
            <a:picLocks noChangeAspect="1"/>
          </p:cNvPicPr>
          <p:nvPr/>
        </p:nvPicPr>
        <p:blipFill>
          <a:blip r:embed="rId3"/>
          <a:stretch>
            <a:fillRect/>
          </a:stretch>
        </p:blipFill>
        <p:spPr>
          <a:xfrm>
            <a:off x="2441296" y="2848032"/>
            <a:ext cx="7309409" cy="3095100"/>
          </a:xfrm>
          <a:prstGeom prst="rect">
            <a:avLst/>
          </a:prstGeom>
        </p:spPr>
      </p:pic>
    </p:spTree>
    <p:extLst>
      <p:ext uri="{BB962C8B-B14F-4D97-AF65-F5344CB8AC3E}">
        <p14:creationId xmlns:p14="http://schemas.microsoft.com/office/powerpoint/2010/main" val="3130588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par>
                                <p:cTn id="17" presetID="10" presetClass="entr" presetSubtype="0" fill="hold" nodeType="with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8" grpId="0"/>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FBEB-4042-EE1D-E945-150D8C13F860}"/>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D00F44D1-F3B7-B68B-0B77-2DC9700C76EF}"/>
              </a:ext>
            </a:extLst>
          </p:cNvPr>
          <p:cNvSpPr/>
          <p:nvPr/>
        </p:nvSpPr>
        <p:spPr>
          <a:xfrm>
            <a:off x="3155324" y="2095500"/>
            <a:ext cx="6142152" cy="998777"/>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9CB130F8-7C99-746D-27A5-B8185216FA9A}"/>
              </a:ext>
            </a:extLst>
          </p:cNvPr>
          <p:cNvSpPr>
            <a:spLocks noGrp="1"/>
          </p:cNvSpPr>
          <p:nvPr>
            <p:ph type="title"/>
          </p:nvPr>
        </p:nvSpPr>
        <p:spPr/>
        <p:txBody>
          <a:bodyPr/>
          <a:lstStyle/>
          <a:p>
            <a:pPr>
              <a:lnSpc>
                <a:spcPts val="2625"/>
              </a:lnSpc>
            </a:pPr>
            <a:r>
              <a:rPr lang="en-US" dirty="0">
                <a:latin typeface="Montserrat Bold" pitchFamily="34" charset="0"/>
                <a:ea typeface="Montserrat Bold" pitchFamily="34" charset="-122"/>
                <a:cs typeface="Montserrat Bold" pitchFamily="34" charset="-120"/>
              </a:rPr>
              <a:t>Limitations of Dictionaries</a:t>
            </a:r>
            <a:endParaRPr lang="en-US" dirty="0"/>
          </a:p>
        </p:txBody>
      </p:sp>
      <p:sp>
        <p:nvSpPr>
          <p:cNvPr id="25" name="TextBox 24">
            <a:extLst>
              <a:ext uri="{FF2B5EF4-FFF2-40B4-BE49-F238E27FC236}">
                <a16:creationId xmlns:a16="http://schemas.microsoft.com/office/drawing/2014/main" id="{D7AF8104-8E23-C909-C19A-9E339AF9C8BE}"/>
              </a:ext>
            </a:extLst>
          </p:cNvPr>
          <p:cNvSpPr txBox="1"/>
          <p:nvPr/>
        </p:nvSpPr>
        <p:spPr>
          <a:xfrm>
            <a:off x="4833360" y="5597477"/>
            <a:ext cx="2236911" cy="264816"/>
          </a:xfrm>
          <a:prstGeom prst="rect">
            <a:avLst/>
          </a:prstGeom>
          <a:noFill/>
        </p:spPr>
        <p:txBody>
          <a:bodyPr wrap="square">
            <a:spAutoFit/>
          </a:bodyPr>
          <a:lstStyle/>
          <a:p>
            <a:pPr>
              <a:lnSpc>
                <a:spcPts val="1208"/>
              </a:lnSpc>
            </a:pPr>
            <a:r>
              <a:rPr lang="en-US" b="1" dirty="0">
                <a:solidFill>
                  <a:schemeClr val="bg1"/>
                </a:solidFill>
                <a:ea typeface="Montserrat" pitchFamily="34" charset="-122"/>
                <a:cs typeface="Montserrat" pitchFamily="34" charset="-120"/>
              </a:rPr>
              <a:t>Trust but verify</a:t>
            </a:r>
            <a:endParaRPr lang="en-US" dirty="0">
              <a:solidFill>
                <a:schemeClr val="bg1"/>
              </a:solidFill>
            </a:endParaRPr>
          </a:p>
        </p:txBody>
      </p:sp>
      <p:sp>
        <p:nvSpPr>
          <p:cNvPr id="4" name="TextBox 3">
            <a:extLst>
              <a:ext uri="{FF2B5EF4-FFF2-40B4-BE49-F238E27FC236}">
                <a16:creationId xmlns:a16="http://schemas.microsoft.com/office/drawing/2014/main" id="{6BA804FC-FF94-1529-EB65-3B46550F37C5}"/>
              </a:ext>
            </a:extLst>
          </p:cNvPr>
          <p:cNvSpPr txBox="1"/>
          <p:nvPr/>
        </p:nvSpPr>
        <p:spPr>
          <a:xfrm>
            <a:off x="3206840" y="2244542"/>
            <a:ext cx="5988676" cy="706860"/>
          </a:xfrm>
          <a:prstGeom prst="rect">
            <a:avLst/>
          </a:prstGeom>
          <a:noFill/>
        </p:spPr>
        <p:txBody>
          <a:bodyPr wrap="square">
            <a:spAutoFit/>
          </a:bodyPr>
          <a:lstStyle/>
          <a:p>
            <a:pPr>
              <a:lnSpc>
                <a:spcPct val="115000"/>
              </a:lnSpc>
              <a:spcAft>
                <a:spcPts val="800"/>
              </a:spcAft>
            </a:pPr>
            <a:r>
              <a:rPr lang="en-US" b="1" kern="100" dirty="0">
                <a:solidFill>
                  <a:schemeClr val="bg1"/>
                </a:solidFill>
                <a:latin typeface="Montserrat (Body)"/>
                <a:ea typeface="Aptos" panose="020B0004020202020204" pitchFamily="34" charset="0"/>
                <a:cs typeface="Arial" panose="020B0604020202020204" pitchFamily="34" charset="0"/>
              </a:rPr>
              <a:t>Memory usage: </a:t>
            </a:r>
            <a:r>
              <a:rPr lang="en-US" kern="100" dirty="0">
                <a:solidFill>
                  <a:schemeClr val="bg1"/>
                </a:solidFill>
                <a:latin typeface="Montserrat (Body)"/>
                <a:ea typeface="Aptos" panose="020B0004020202020204" pitchFamily="34" charset="0"/>
                <a:cs typeface="Arial" panose="020B0604020202020204" pitchFamily="34" charset="0"/>
              </a:rPr>
              <a:t>Uses more memory than lists due to storing keys and values</a:t>
            </a:r>
          </a:p>
        </p:txBody>
      </p:sp>
      <p:sp>
        <p:nvSpPr>
          <p:cNvPr id="5" name="Rectangle: Rounded Corners 4">
            <a:extLst>
              <a:ext uri="{FF2B5EF4-FFF2-40B4-BE49-F238E27FC236}">
                <a16:creationId xmlns:a16="http://schemas.microsoft.com/office/drawing/2014/main" id="{14EDD484-B963-B17D-9C34-928F3609732F}"/>
              </a:ext>
            </a:extLst>
          </p:cNvPr>
          <p:cNvSpPr/>
          <p:nvPr/>
        </p:nvSpPr>
        <p:spPr>
          <a:xfrm>
            <a:off x="3155324" y="3593205"/>
            <a:ext cx="6142152" cy="998777"/>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4335492-7BB6-90EE-7D96-2E2143EE50DB}"/>
              </a:ext>
            </a:extLst>
          </p:cNvPr>
          <p:cNvSpPr txBox="1"/>
          <p:nvPr/>
        </p:nvSpPr>
        <p:spPr>
          <a:xfrm>
            <a:off x="3204694" y="3722901"/>
            <a:ext cx="6016579" cy="706860"/>
          </a:xfrm>
          <a:prstGeom prst="rect">
            <a:avLst/>
          </a:prstGeom>
          <a:noFill/>
        </p:spPr>
        <p:txBody>
          <a:bodyPr wrap="square">
            <a:spAutoFit/>
          </a:bodyPr>
          <a:lstStyle/>
          <a:p>
            <a:pPr>
              <a:lnSpc>
                <a:spcPct val="115000"/>
              </a:lnSpc>
              <a:spcAft>
                <a:spcPts val="800"/>
              </a:spcAft>
            </a:pPr>
            <a:r>
              <a:rPr lang="en-US" b="1" kern="100" dirty="0">
                <a:solidFill>
                  <a:schemeClr val="bg1"/>
                </a:solidFill>
                <a:latin typeface="Montserrat (Body)"/>
                <a:ea typeface="Aptos" panose="020B0004020202020204" pitchFamily="34" charset="0"/>
                <a:cs typeface="Arial" panose="020B0604020202020204" pitchFamily="34" charset="0"/>
              </a:rPr>
              <a:t>Order considerations: </a:t>
            </a:r>
            <a:r>
              <a:rPr lang="en-US" kern="100" dirty="0">
                <a:solidFill>
                  <a:schemeClr val="bg1"/>
                </a:solidFill>
                <a:latin typeface="Montserrat (Body)"/>
                <a:ea typeface="Aptos" panose="020B0004020202020204" pitchFamily="34" charset="0"/>
                <a:cs typeface="Arial" panose="020B0604020202020204" pitchFamily="34" charset="0"/>
              </a:rPr>
              <a:t>Insertion order is preserved in Python 3.7+, but not in earlier versions</a:t>
            </a:r>
          </a:p>
        </p:txBody>
      </p:sp>
    </p:spTree>
    <p:extLst>
      <p:ext uri="{BB962C8B-B14F-4D97-AF65-F5344CB8AC3E}">
        <p14:creationId xmlns:p14="http://schemas.microsoft.com/office/powerpoint/2010/main" val="80581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p:bldP spid="5" grpId="0" animBg="1"/>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88DC8-1955-1949-63C8-A4A3764B992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E03E5AC-EB10-536B-6F94-914E29E52990}"/>
              </a:ext>
            </a:extLst>
          </p:cNvPr>
          <p:cNvSpPr>
            <a:spLocks noGrp="1"/>
          </p:cNvSpPr>
          <p:nvPr>
            <p:ph type="body" sz="quarter" idx="12"/>
          </p:nvPr>
        </p:nvSpPr>
        <p:spPr>
          <a:xfrm>
            <a:off x="749999" y="2482074"/>
            <a:ext cx="5761160" cy="1893851"/>
          </a:xfrm>
        </p:spPr>
        <p:txBody>
          <a:bodyPr>
            <a:normAutofit/>
          </a:bodyPr>
          <a:lstStyle/>
          <a:p>
            <a:pPr>
              <a:lnSpc>
                <a:spcPts val="4042"/>
              </a:lnSpc>
            </a:pPr>
            <a:r>
              <a:rPr lang="en-US" sz="3600" dirty="0">
                <a:latin typeface="Montserrat Bold" pitchFamily="34" charset="0"/>
                <a:ea typeface="Montserrat Bold" pitchFamily="34" charset="-122"/>
                <a:cs typeface="Montserrat Bold" pitchFamily="34" charset="-120"/>
              </a:rPr>
              <a:t>Python Conditional Statements</a:t>
            </a:r>
            <a:endParaRPr lang="en-US" sz="3600" dirty="0"/>
          </a:p>
        </p:txBody>
      </p:sp>
      <p:sp>
        <p:nvSpPr>
          <p:cNvPr id="2" name="Text 1">
            <a:extLst>
              <a:ext uri="{FF2B5EF4-FFF2-40B4-BE49-F238E27FC236}">
                <a16:creationId xmlns:a16="http://schemas.microsoft.com/office/drawing/2014/main" id="{A83A86D4-884C-C4CA-1CFC-5C1715747FC4}"/>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7 of 12)</a:t>
            </a:r>
            <a:endParaRPr lang="en-US" dirty="0">
              <a:solidFill>
                <a:srgbClr val="25274D"/>
              </a:solidFill>
            </a:endParaRPr>
          </a:p>
        </p:txBody>
      </p:sp>
    </p:spTree>
    <p:extLst>
      <p:ext uri="{BB962C8B-B14F-4D97-AF65-F5344CB8AC3E}">
        <p14:creationId xmlns:p14="http://schemas.microsoft.com/office/powerpoint/2010/main" val="2611792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FACF5-EC0A-186D-BDCC-4ACFC6401A1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FC2C28D-F639-0A66-32DC-376549963B8D}"/>
              </a:ext>
            </a:extLst>
          </p:cNvPr>
          <p:cNvSpPr>
            <a:spLocks noGrp="1"/>
          </p:cNvSpPr>
          <p:nvPr>
            <p:ph type="title"/>
          </p:nvPr>
        </p:nvSpPr>
        <p:spPr/>
        <p:txBody>
          <a:bodyPr/>
          <a:lstStyle/>
          <a:p>
            <a:r>
              <a:rPr lang="en-US" dirty="0">
                <a:latin typeface="Montserrat Bold" pitchFamily="34" charset="0"/>
                <a:ea typeface="Montserrat Bold" pitchFamily="34" charset="-122"/>
                <a:cs typeface="Montserrat Bold" pitchFamily="34" charset="-120"/>
              </a:rPr>
              <a:t>Conditional Statements in Python</a:t>
            </a:r>
            <a:br>
              <a:rPr lang="en-US" dirty="0"/>
            </a:br>
            <a:endParaRPr lang="en-GB" dirty="0"/>
          </a:p>
        </p:txBody>
      </p:sp>
      <p:sp>
        <p:nvSpPr>
          <p:cNvPr id="2" name="Text Placeholder 1">
            <a:extLst>
              <a:ext uri="{FF2B5EF4-FFF2-40B4-BE49-F238E27FC236}">
                <a16:creationId xmlns:a16="http://schemas.microsoft.com/office/drawing/2014/main" id="{BFAA684A-B7F0-B5B3-5586-631AD8970A8C}"/>
              </a:ext>
            </a:extLst>
          </p:cNvPr>
          <p:cNvSpPr>
            <a:spLocks noGrp="1"/>
          </p:cNvSpPr>
          <p:nvPr>
            <p:ph type="body" sz="quarter" idx="10"/>
          </p:nvPr>
        </p:nvSpPr>
        <p:spPr/>
        <p:txBody>
          <a:bodyPr/>
          <a:lstStyle/>
          <a:p>
            <a:r>
              <a:rPr lang="en-GB" dirty="0"/>
              <a:t>Key Reasons</a:t>
            </a:r>
          </a:p>
        </p:txBody>
      </p:sp>
      <p:sp>
        <p:nvSpPr>
          <p:cNvPr id="20" name="TextBox 19">
            <a:extLst>
              <a:ext uri="{FF2B5EF4-FFF2-40B4-BE49-F238E27FC236}">
                <a16:creationId xmlns:a16="http://schemas.microsoft.com/office/drawing/2014/main" id="{141277C7-C027-6B59-8EBA-1AB1B3F664CC}"/>
              </a:ext>
            </a:extLst>
          </p:cNvPr>
          <p:cNvSpPr txBox="1"/>
          <p:nvPr/>
        </p:nvSpPr>
        <p:spPr>
          <a:xfrm>
            <a:off x="6217520" y="2667008"/>
            <a:ext cx="5510374" cy="1230593"/>
          </a:xfrm>
          <a:prstGeom prst="rect">
            <a:avLst/>
          </a:prstGeom>
          <a:noFill/>
        </p:spPr>
        <p:txBody>
          <a:bodyPr wrap="square">
            <a:spAutoFit/>
          </a:bodyPr>
          <a:lstStyle/>
          <a:p>
            <a:pPr marL="285750" marR="0" indent="-285750">
              <a:lnSpc>
                <a:spcPct val="115000"/>
              </a:lnSpc>
              <a:spcAft>
                <a:spcPts val="800"/>
              </a:spcAft>
              <a:buFont typeface="Arial" panose="020B0604020202020204" pitchFamily="34" charset="0"/>
              <a:buChar char="•"/>
            </a:pPr>
            <a:r>
              <a:rPr lang="en-US" sz="1800" kern="100" dirty="0" err="1">
                <a:solidFill>
                  <a:srgbClr val="25274D"/>
                </a:solidFill>
                <a:effectLst/>
                <a:latin typeface="Montserrat" panose="00000500000000000000" pitchFamily="2" charset="0"/>
                <a:ea typeface="Aptos" panose="020B0004020202020204" pitchFamily="34" charset="0"/>
                <a:cs typeface="Arial" panose="020B0604020202020204" pitchFamily="34" charset="0"/>
              </a:rPr>
              <a:t>Program</a:t>
            </a:r>
            <a:r>
              <a:rPr lang="en-US" kern="100" dirty="0" err="1">
                <a:solidFill>
                  <a:srgbClr val="25274D"/>
                </a:solidFill>
                <a:latin typeface="Montserrat" panose="00000500000000000000" pitchFamily="2" charset="0"/>
                <a:ea typeface="Aptos" panose="020B0004020202020204" pitchFamily="34" charset="0"/>
                <a:cs typeface="Arial" panose="020B0604020202020204" pitchFamily="34" charset="0"/>
              </a:rPr>
              <a:t>me</a:t>
            </a:r>
            <a:r>
              <a:rPr lang="en-US" sz="1800" kern="100" dirty="0" err="1">
                <a:solidFill>
                  <a:srgbClr val="25274D"/>
                </a:solidFill>
                <a:effectLst/>
                <a:latin typeface="Montserrat" panose="00000500000000000000" pitchFamily="2" charset="0"/>
                <a:ea typeface="Aptos" panose="020B0004020202020204" pitchFamily="34" charset="0"/>
                <a:cs typeface="Arial" panose="020B0604020202020204" pitchFamily="34" charset="0"/>
              </a:rPr>
              <a:t>s</a:t>
            </a: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 need to make decisions</a:t>
            </a:r>
          </a:p>
          <a:p>
            <a:pPr marL="285750" marR="0" indent="-285750">
              <a:lnSpc>
                <a:spcPct val="115000"/>
              </a:lnSpc>
              <a:spcAft>
                <a:spcPts val="800"/>
              </a:spcAft>
              <a:buFont typeface="Arial" panose="020B0604020202020204" pitchFamily="34" charset="0"/>
              <a:buChar char="•"/>
            </a:pP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Execute different code based on conditions</a:t>
            </a:r>
          </a:p>
          <a:p>
            <a:pPr marL="285750" marR="0" indent="-285750">
              <a:lnSpc>
                <a:spcPct val="115000"/>
              </a:lnSpc>
              <a:spcAft>
                <a:spcPts val="800"/>
              </a:spcAft>
              <a:buFont typeface="Arial" panose="020B0604020202020204" pitchFamily="34" charset="0"/>
              <a:buChar char="•"/>
            </a:pPr>
            <a:r>
              <a:rPr lang="en-US" kern="100" dirty="0">
                <a:solidFill>
                  <a:srgbClr val="25274D"/>
                </a:solidFill>
                <a:latin typeface="Montserrat" panose="00000500000000000000" pitchFamily="2" charset="0"/>
                <a:ea typeface="Aptos" panose="020B0004020202020204" pitchFamily="34" charset="0"/>
                <a:cs typeface="Arial" panose="020B0604020202020204" pitchFamily="34" charset="0"/>
              </a:rPr>
              <a:t>For example: </a:t>
            </a:r>
          </a:p>
        </p:txBody>
      </p:sp>
      <p:sp>
        <p:nvSpPr>
          <p:cNvPr id="21" name="TextBox 20">
            <a:extLst>
              <a:ext uri="{FF2B5EF4-FFF2-40B4-BE49-F238E27FC236}">
                <a16:creationId xmlns:a16="http://schemas.microsoft.com/office/drawing/2014/main" id="{D81D25E5-4BC9-2799-5E82-909AC45E3509}"/>
              </a:ext>
            </a:extLst>
          </p:cNvPr>
          <p:cNvSpPr txBox="1"/>
          <p:nvPr/>
        </p:nvSpPr>
        <p:spPr>
          <a:xfrm>
            <a:off x="6708776" y="3931174"/>
            <a:ext cx="4527862" cy="860748"/>
          </a:xfrm>
          <a:prstGeom prst="rect">
            <a:avLst/>
          </a:prstGeom>
          <a:noFill/>
        </p:spPr>
        <p:txBody>
          <a:bodyPr wrap="square">
            <a:spAutoFit/>
          </a:bodyPr>
          <a:lstStyle/>
          <a:p>
            <a:pPr marL="285750" lvl="0" indent="-285750">
              <a:lnSpc>
                <a:spcPct val="115000"/>
              </a:lnSpc>
              <a:spcBef>
                <a:spcPts val="800"/>
              </a:spcBef>
              <a:spcAft>
                <a:spcPts val="400"/>
              </a:spcAft>
              <a:buFont typeface="Courier New" panose="02070309020205020404" pitchFamily="49" charset="0"/>
              <a:buChar char="o"/>
              <a:defRPr/>
            </a:pPr>
            <a:r>
              <a:rPr lang="en-US" dirty="0">
                <a:solidFill>
                  <a:srgbClr val="25274D"/>
                </a:solidFill>
                <a:latin typeface="Montserrat" panose="00000500000000000000" pitchFamily="2" charset="0"/>
                <a:ea typeface="Montserrat" pitchFamily="34" charset="-122"/>
                <a:cs typeface="Montserrat" pitchFamily="34" charset="-120"/>
              </a:rPr>
              <a:t>If a student's score ≥ 50 → Pass</a:t>
            </a:r>
            <a:endParaRPr lang="en-US" dirty="0">
              <a:solidFill>
                <a:srgbClr val="25274D"/>
              </a:solidFill>
              <a:latin typeface="Montserrat" panose="00000500000000000000" pitchFamily="2" charset="0"/>
            </a:endParaRPr>
          </a:p>
          <a:p>
            <a:pPr marL="285750" lvl="0" indent="-285750">
              <a:lnSpc>
                <a:spcPct val="115000"/>
              </a:lnSpc>
              <a:spcBef>
                <a:spcPts val="800"/>
              </a:spcBef>
              <a:spcAft>
                <a:spcPts val="400"/>
              </a:spcAft>
              <a:buFont typeface="Courier New" panose="02070309020205020404" pitchFamily="49" charset="0"/>
              <a:buChar char="o"/>
              <a:defRPr/>
            </a:pPr>
            <a:r>
              <a:rPr lang="en-US" dirty="0">
                <a:solidFill>
                  <a:srgbClr val="25274D"/>
                </a:solidFill>
                <a:latin typeface="Montserrat" panose="00000500000000000000" pitchFamily="2" charset="0"/>
                <a:ea typeface="Montserrat" pitchFamily="34" charset="-122"/>
                <a:cs typeface="Montserrat" pitchFamily="34" charset="-120"/>
              </a:rPr>
              <a:t>Else → Fail</a:t>
            </a:r>
            <a:endParaRPr lang="en-US" dirty="0">
              <a:solidFill>
                <a:srgbClr val="25274D"/>
              </a:solidFill>
              <a:latin typeface="Montserrat" panose="00000500000000000000" pitchFamily="2" charset="0"/>
            </a:endParaRPr>
          </a:p>
        </p:txBody>
      </p:sp>
      <p:pic>
        <p:nvPicPr>
          <p:cNvPr id="6" name="Picture Placeholder 5" descr="A computer screen with text and images&#10;&#10;AI-generated content may be incorrect.">
            <a:extLst>
              <a:ext uri="{FF2B5EF4-FFF2-40B4-BE49-F238E27FC236}">
                <a16:creationId xmlns:a16="http://schemas.microsoft.com/office/drawing/2014/main" id="{EFB24FF9-5641-35F0-AB44-EAD08D5D78A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2956" b="2956"/>
          <a:stretch>
            <a:fillRect/>
          </a:stretch>
        </p:blipFill>
        <p:spPr/>
      </p:pic>
    </p:spTree>
    <p:extLst>
      <p:ext uri="{BB962C8B-B14F-4D97-AF65-F5344CB8AC3E}">
        <p14:creationId xmlns:p14="http://schemas.microsoft.com/office/powerpoint/2010/main" val="226645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fade">
                                      <p:cBhvr>
                                        <p:cTn id="16" dur="1000"/>
                                        <p:tgtEl>
                                          <p:spTgt spid="2">
                                            <p:txEl>
                                              <p:pRg st="0" end="0"/>
                                            </p:txEl>
                                          </p:spTgt>
                                        </p:tgtEl>
                                      </p:cBhvr>
                                    </p:animEffect>
                                  </p:childTnLst>
                                </p:cTn>
                              </p:par>
                              <p:par>
                                <p:cTn id="17" presetID="10" presetClass="entr" presetSubtype="0" fill="hold" nodeType="withEffect">
                                  <p:stCondLst>
                                    <p:cond delay="5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P spid="20" grpId="0"/>
      <p:bldP spid="2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81467-03BA-AF20-DE3F-57BC315F950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30C0AF3-A168-D2B1-1022-062F22CA81F8}"/>
              </a:ext>
            </a:extLst>
          </p:cNvPr>
          <p:cNvSpPr>
            <a:spLocks noGrp="1"/>
          </p:cNvSpPr>
          <p:nvPr>
            <p:ph type="title"/>
          </p:nvPr>
        </p:nvSpPr>
        <p:spPr/>
        <p:txBody>
          <a:bodyPr/>
          <a:lstStyle/>
          <a:p>
            <a:pPr>
              <a:lnSpc>
                <a:spcPts val="3083"/>
              </a:lnSpc>
            </a:pPr>
            <a:r>
              <a:rPr lang="en-US" dirty="0">
                <a:latin typeface="Montserrat Bold" pitchFamily="34" charset="0"/>
                <a:ea typeface="Montserrat Bold" pitchFamily="34" charset="-122"/>
                <a:cs typeface="Montserrat Bold" pitchFamily="34" charset="-120"/>
              </a:rPr>
              <a:t>The if Statement</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0262EB9-6EF7-917E-A9D5-939FCD17DA34}"/>
                  </a:ext>
                </a:extLst>
              </p:cNvPr>
              <p:cNvSpPr txBox="1"/>
              <p:nvPr/>
            </p:nvSpPr>
            <p:spPr>
              <a:xfrm>
                <a:off x="6061039" y="2852218"/>
                <a:ext cx="4980561" cy="1534394"/>
              </a:xfrm>
              <a:prstGeom prst="rect">
                <a:avLst/>
              </a:prstGeom>
              <a:noFill/>
            </p:spPr>
            <p:txBody>
              <a:bodyPr wrap="square">
                <a:spAutoFit/>
              </a:bodyPr>
              <a:lstStyle/>
              <a:p>
                <a:pPr marL="285750" marR="0" lvl="0" indent="-285750" algn="l" defTabSz="914400" rtl="0" eaLnBrk="1" fontAlgn="auto" latinLnBrk="0" hangingPunct="1">
                  <a:lnSpc>
                    <a:spcPts val="1583"/>
                  </a:lnSpc>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The condition (</a:t>
                </a:r>
                <a14:m>
                  <m:oMath xmlns:m="http://schemas.openxmlformats.org/officeDocument/2006/math">
                    <m:r>
                      <a:rPr lang="en-US" sz="1800" i="1" dirty="0" smtClean="0">
                        <a:solidFill>
                          <a:srgbClr val="25274D"/>
                        </a:solidFill>
                        <a:latin typeface="Cambria Math" panose="02040503050406030204" pitchFamily="18" charset="0"/>
                        <a:ea typeface="Montserrat" pitchFamily="34" charset="-122"/>
                        <a:cs typeface="Montserrat" pitchFamily="34" charset="-120"/>
                      </a:rPr>
                      <m:t>𝑥</m:t>
                    </m:r>
                    <m:r>
                      <a:rPr lang="en-US" sz="1800" i="1" dirty="0" smtClean="0">
                        <a:solidFill>
                          <a:srgbClr val="25274D"/>
                        </a:solidFill>
                        <a:latin typeface="Cambria Math" panose="02040503050406030204" pitchFamily="18" charset="0"/>
                        <a:ea typeface="Montserrat" pitchFamily="34" charset="-122"/>
                        <a:cs typeface="Montserrat" pitchFamily="34" charset="-120"/>
                      </a:rPr>
                      <m:t> &gt; 5</m:t>
                    </m:r>
                  </m:oMath>
                </a14:m>
                <a:r>
                  <a:rPr lang="en-US" sz="1800" dirty="0">
                    <a:solidFill>
                      <a:srgbClr val="25274D"/>
                    </a:solidFill>
                    <a:latin typeface="Montserrat" panose="00000500000000000000" pitchFamily="2" charset="0"/>
                    <a:ea typeface="Montserrat" pitchFamily="34" charset="-122"/>
                    <a:cs typeface="Montserrat" pitchFamily="34" charset="-120"/>
                  </a:rPr>
                  <a:t>) is evaluated</a:t>
                </a:r>
              </a:p>
              <a:p>
                <a:pPr marL="285750" marR="0" lvl="0" indent="-285750" algn="l" defTabSz="914400" rtl="0" eaLnBrk="1" fontAlgn="auto" latinLnBrk="0" hangingPunct="1">
                  <a:lnSpc>
                    <a:spcPts val="1583"/>
                  </a:lnSpc>
                  <a:spcBef>
                    <a:spcPts val="0"/>
                  </a:spcBef>
                  <a:spcAft>
                    <a:spcPts val="0"/>
                  </a:spcAft>
                  <a:buClrTx/>
                  <a:buSzTx/>
                  <a:buFont typeface="Arial" panose="020B0604020202020204" pitchFamily="34" charset="0"/>
                  <a:buChar char="•"/>
                  <a:tabLst/>
                  <a:defRPr/>
                </a:pPr>
                <a:endParaRPr lang="en-US" sz="1800" dirty="0">
                  <a:solidFill>
                    <a:srgbClr val="25274D"/>
                  </a:solidFill>
                  <a:latin typeface="Montserrat" panose="00000500000000000000" pitchFamily="2" charset="0"/>
                </a:endParaRPr>
              </a:p>
              <a:p>
                <a:pPr marL="285750" marR="0" lvl="0" indent="-285750" algn="l" defTabSz="914400" rtl="0" eaLnBrk="1" fontAlgn="auto" latinLnBrk="0" hangingPunct="1">
                  <a:lnSpc>
                    <a:spcPts val="1583"/>
                  </a:lnSpc>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If the condition is True, the indented code block runs</a:t>
                </a:r>
              </a:p>
              <a:p>
                <a:pPr marL="285750" marR="0" lvl="0" indent="-285750" algn="l" defTabSz="914400" rtl="0" eaLnBrk="1" fontAlgn="auto" latinLnBrk="0" hangingPunct="1">
                  <a:lnSpc>
                    <a:spcPts val="1583"/>
                  </a:lnSpc>
                  <a:spcBef>
                    <a:spcPts val="0"/>
                  </a:spcBef>
                  <a:spcAft>
                    <a:spcPts val="0"/>
                  </a:spcAft>
                  <a:buClrTx/>
                  <a:buSzTx/>
                  <a:buFont typeface="Arial" panose="020B0604020202020204" pitchFamily="34" charset="0"/>
                  <a:buChar char="•"/>
                  <a:tabLst/>
                  <a:defRPr/>
                </a:pPr>
                <a:endParaRPr lang="en-US" sz="1800" dirty="0">
                  <a:solidFill>
                    <a:srgbClr val="25274D"/>
                  </a:solidFill>
                  <a:latin typeface="Montserrat" panose="00000500000000000000" pitchFamily="2" charset="0"/>
                </a:endParaRPr>
              </a:p>
              <a:p>
                <a:pPr marL="285750" marR="0" lvl="0" indent="-285750" algn="l" defTabSz="914400" rtl="0" eaLnBrk="1" fontAlgn="auto" latinLnBrk="0" hangingPunct="1">
                  <a:lnSpc>
                    <a:spcPts val="1583"/>
                  </a:lnSpc>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If the condition is False, the indented code is skipped</a:t>
                </a:r>
                <a:endParaRPr lang="en-US" sz="1800" dirty="0">
                  <a:solidFill>
                    <a:srgbClr val="25274D"/>
                  </a:solidFill>
                  <a:latin typeface="Montserrat" panose="00000500000000000000" pitchFamily="2" charset="0"/>
                </a:endParaRPr>
              </a:p>
            </p:txBody>
          </p:sp>
        </mc:Choice>
        <mc:Fallback xmlns="">
          <p:sp>
            <p:nvSpPr>
              <p:cNvPr id="6" name="TextBox 5">
                <a:extLst>
                  <a:ext uri="{FF2B5EF4-FFF2-40B4-BE49-F238E27FC236}">
                    <a16:creationId xmlns:a16="http://schemas.microsoft.com/office/drawing/2014/main" id="{70262EB9-6EF7-917E-A9D5-939FCD17DA34}"/>
                  </a:ext>
                </a:extLst>
              </p:cNvPr>
              <p:cNvSpPr txBox="1">
                <a:spLocks noRot="1" noChangeAspect="1" noMove="1" noResize="1" noEditPoints="1" noAdjustHandles="1" noChangeArrowheads="1" noChangeShapeType="1" noTextEdit="1"/>
              </p:cNvSpPr>
              <p:nvPr/>
            </p:nvSpPr>
            <p:spPr>
              <a:xfrm>
                <a:off x="6061039" y="2852218"/>
                <a:ext cx="4980561" cy="1534394"/>
              </a:xfrm>
              <a:prstGeom prst="rect">
                <a:avLst/>
              </a:prstGeom>
              <a:blipFill>
                <a:blip r:embed="rId3"/>
                <a:stretch>
                  <a:fillRect l="-734" t="-6349" b="-5556"/>
                </a:stretch>
              </a:blipFill>
            </p:spPr>
            <p:txBody>
              <a:bodyPr/>
              <a:lstStyle/>
              <a:p>
                <a:r>
                  <a:rPr lang="en-GB">
                    <a:noFill/>
                  </a:rPr>
                  <a:t> </a:t>
                </a:r>
              </a:p>
            </p:txBody>
          </p:sp>
        </mc:Fallback>
      </mc:AlternateContent>
      <p:grpSp>
        <p:nvGrpSpPr>
          <p:cNvPr id="3" name="Group 2">
            <a:extLst>
              <a:ext uri="{FF2B5EF4-FFF2-40B4-BE49-F238E27FC236}">
                <a16:creationId xmlns:a16="http://schemas.microsoft.com/office/drawing/2014/main" id="{BA08C1A5-A9A3-52FD-5943-967E8E830816}"/>
              </a:ext>
            </a:extLst>
          </p:cNvPr>
          <p:cNvGrpSpPr/>
          <p:nvPr/>
        </p:nvGrpSpPr>
        <p:grpSpPr>
          <a:xfrm>
            <a:off x="723900" y="2852217"/>
            <a:ext cx="4935495" cy="1534395"/>
            <a:chOff x="723900" y="2852217"/>
            <a:chExt cx="4935495" cy="1534395"/>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723900" y="2852217"/>
              <a:ext cx="4935495" cy="1534395"/>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36DFD9DD-7948-FC42-AFD7-B685C054253C}"/>
                </a:ext>
              </a:extLst>
            </p:cNvPr>
            <p:cNvPicPr>
              <a:picLocks noChangeAspect="1"/>
            </p:cNvPicPr>
            <p:nvPr/>
          </p:nvPicPr>
          <p:blipFill>
            <a:blip r:embed="rId4"/>
            <a:stretch>
              <a:fillRect/>
            </a:stretch>
          </p:blipFill>
          <p:spPr>
            <a:xfrm>
              <a:off x="966825" y="3069105"/>
              <a:ext cx="4449645" cy="1100619"/>
            </a:xfrm>
            <a:prstGeom prst="rect">
              <a:avLst/>
            </a:prstGeom>
          </p:spPr>
        </p:pic>
      </p:grpSp>
    </p:spTree>
    <p:extLst>
      <p:ext uri="{BB962C8B-B14F-4D97-AF65-F5344CB8AC3E}">
        <p14:creationId xmlns:p14="http://schemas.microsoft.com/office/powerpoint/2010/main" val="38775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F5BC4-52B9-E8F3-9831-22DFA842CF8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D05F408-9D60-FAE9-23D5-13743E63C875}"/>
              </a:ext>
            </a:extLst>
          </p:cNvPr>
          <p:cNvSpPr>
            <a:spLocks noGrp="1"/>
          </p:cNvSpPr>
          <p:nvPr>
            <p:ph type="title"/>
          </p:nvPr>
        </p:nvSpPr>
        <p:spPr/>
        <p:txBody>
          <a:bodyPr/>
          <a:lstStyle/>
          <a:p>
            <a:pPr>
              <a:lnSpc>
                <a:spcPts val="3083"/>
              </a:lnSpc>
            </a:pPr>
            <a:r>
              <a:rPr lang="en-US" dirty="0">
                <a:latin typeface="Montserrat Bold" pitchFamily="34" charset="0"/>
                <a:ea typeface="Montserrat Bold" pitchFamily="34" charset="-122"/>
                <a:cs typeface="Montserrat Bold" pitchFamily="34" charset="-120"/>
              </a:rPr>
              <a:t>The if-else Statement</a:t>
            </a:r>
            <a:endParaRPr lang="en-US" dirty="0"/>
          </a:p>
        </p:txBody>
      </p:sp>
      <p:sp>
        <p:nvSpPr>
          <p:cNvPr id="5" name="TextBox 4">
            <a:extLst>
              <a:ext uri="{FF2B5EF4-FFF2-40B4-BE49-F238E27FC236}">
                <a16:creationId xmlns:a16="http://schemas.microsoft.com/office/drawing/2014/main" id="{B6E494B1-C61D-DE20-9EE7-3CAC1FE6C0D6}"/>
              </a:ext>
            </a:extLst>
          </p:cNvPr>
          <p:cNvSpPr txBox="1"/>
          <p:nvPr/>
        </p:nvSpPr>
        <p:spPr>
          <a:xfrm>
            <a:off x="5268706" y="2512011"/>
            <a:ext cx="509878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dirty="0">
                <a:solidFill>
                  <a:srgbClr val="25274D"/>
                </a:solidFill>
                <a:latin typeface="Montserrat" panose="00000500000000000000" pitchFamily="2" charset="0"/>
                <a:ea typeface="Montserrat Bold" pitchFamily="34" charset="-122"/>
                <a:cs typeface="Montserrat Bold" pitchFamily="34" charset="-120"/>
              </a:rPr>
              <a:t>Condition </a:t>
            </a:r>
            <a:r>
              <a:rPr lang="en-US" b="1" dirty="0">
                <a:solidFill>
                  <a:srgbClr val="25274D"/>
                </a:solidFill>
                <a:latin typeface="Montserrat" panose="00000500000000000000" pitchFamily="2" charset="0"/>
                <a:ea typeface="Montserrat Bold" pitchFamily="34" charset="-122"/>
                <a:cs typeface="Montserrat Bold" pitchFamily="34" charset="-120"/>
              </a:rPr>
              <a:t>c</a:t>
            </a:r>
            <a:r>
              <a:rPr lang="en-US" sz="1800" b="1" dirty="0">
                <a:solidFill>
                  <a:srgbClr val="25274D"/>
                </a:solidFill>
                <a:latin typeface="Montserrat" panose="00000500000000000000" pitchFamily="2" charset="0"/>
                <a:ea typeface="Montserrat Bold" pitchFamily="34" charset="-122"/>
                <a:cs typeface="Montserrat Bold" pitchFamily="34" charset="-120"/>
              </a:rPr>
              <a:t>heck</a:t>
            </a:r>
            <a:r>
              <a:rPr lang="en-US" b="1" dirty="0">
                <a:solidFill>
                  <a:srgbClr val="25274D"/>
                </a:solidFill>
                <a:latin typeface="Montserrat" panose="00000500000000000000" pitchFamily="2" charset="0"/>
              </a:rPr>
              <a:t>: </a:t>
            </a:r>
            <a:r>
              <a:rPr lang="en-US" sz="1800" dirty="0">
                <a:solidFill>
                  <a:srgbClr val="25274D"/>
                </a:solidFill>
                <a:latin typeface="Montserrat" panose="00000500000000000000" pitchFamily="2" charset="0"/>
                <a:ea typeface="Montserrat" pitchFamily="34" charset="-122"/>
                <a:cs typeface="Montserrat" pitchFamily="34" charset="-120"/>
              </a:rPr>
              <a:t>Evaluate if x % 2 == 0</a:t>
            </a:r>
            <a:endParaRPr lang="en-US" sz="1800" dirty="0">
              <a:solidFill>
                <a:srgbClr val="25274D"/>
              </a:solidFill>
              <a:latin typeface="Montserrat" panose="00000500000000000000" pitchFamily="2" charset="0"/>
            </a:endParaRPr>
          </a:p>
        </p:txBody>
      </p:sp>
      <p:sp>
        <p:nvSpPr>
          <p:cNvPr id="7" name="TextBox 6">
            <a:extLst>
              <a:ext uri="{FF2B5EF4-FFF2-40B4-BE49-F238E27FC236}">
                <a16:creationId xmlns:a16="http://schemas.microsoft.com/office/drawing/2014/main" id="{A2E388BB-2CB2-B914-0889-48F484B57D7A}"/>
              </a:ext>
            </a:extLst>
          </p:cNvPr>
          <p:cNvSpPr txBox="1"/>
          <p:nvPr/>
        </p:nvSpPr>
        <p:spPr>
          <a:xfrm>
            <a:off x="5268706" y="3116592"/>
            <a:ext cx="545939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dirty="0">
                <a:solidFill>
                  <a:srgbClr val="25274D"/>
                </a:solidFill>
                <a:latin typeface="Montserrat" panose="00000500000000000000" pitchFamily="2" charset="0"/>
                <a:ea typeface="Montserrat Bold" pitchFamily="34" charset="-122"/>
                <a:cs typeface="Montserrat Bold" pitchFamily="34" charset="-120"/>
              </a:rPr>
              <a:t>Decision </a:t>
            </a:r>
            <a:r>
              <a:rPr lang="en-US" b="1" dirty="0">
                <a:solidFill>
                  <a:srgbClr val="25274D"/>
                </a:solidFill>
                <a:latin typeface="Montserrat" panose="00000500000000000000" pitchFamily="2" charset="0"/>
                <a:ea typeface="Montserrat Bold" pitchFamily="34" charset="-122"/>
                <a:cs typeface="Montserrat Bold" pitchFamily="34" charset="-120"/>
              </a:rPr>
              <a:t>p</a:t>
            </a:r>
            <a:r>
              <a:rPr lang="en-US" sz="1800" b="1" dirty="0">
                <a:solidFill>
                  <a:srgbClr val="25274D"/>
                </a:solidFill>
                <a:latin typeface="Montserrat" panose="00000500000000000000" pitchFamily="2" charset="0"/>
                <a:ea typeface="Montserrat Bold" pitchFamily="34" charset="-122"/>
                <a:cs typeface="Montserrat Bold" pitchFamily="34" charset="-120"/>
              </a:rPr>
              <a:t>oint: B</a:t>
            </a:r>
            <a:r>
              <a:rPr lang="en-US" sz="1800" dirty="0">
                <a:solidFill>
                  <a:srgbClr val="25274D"/>
                </a:solidFill>
                <a:latin typeface="Montserrat" panose="00000500000000000000" pitchFamily="2" charset="0"/>
                <a:ea typeface="Montserrat" pitchFamily="34" charset="-122"/>
                <a:cs typeface="Montserrat" pitchFamily="34" charset="-120"/>
              </a:rPr>
              <a:t>ased on True/False result</a:t>
            </a:r>
            <a:endParaRPr lang="en-US" sz="1800" dirty="0">
              <a:solidFill>
                <a:srgbClr val="25274D"/>
              </a:solidFill>
              <a:latin typeface="Montserrat" panose="00000500000000000000" pitchFamily="2" charset="0"/>
            </a:endParaRPr>
          </a:p>
        </p:txBody>
      </p:sp>
      <p:sp>
        <p:nvSpPr>
          <p:cNvPr id="10" name="TextBox 9">
            <a:extLst>
              <a:ext uri="{FF2B5EF4-FFF2-40B4-BE49-F238E27FC236}">
                <a16:creationId xmlns:a16="http://schemas.microsoft.com/office/drawing/2014/main" id="{DC73A31D-6143-BB4D-92E5-80FD256FBF03}"/>
              </a:ext>
            </a:extLst>
          </p:cNvPr>
          <p:cNvSpPr txBox="1"/>
          <p:nvPr/>
        </p:nvSpPr>
        <p:spPr>
          <a:xfrm>
            <a:off x="5223423" y="3778911"/>
            <a:ext cx="6290290"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dirty="0">
                <a:solidFill>
                  <a:srgbClr val="25274D"/>
                </a:solidFill>
                <a:latin typeface="Montserrat" panose="00000500000000000000" pitchFamily="2" charset="0"/>
                <a:ea typeface="Montserrat Bold" pitchFamily="34" charset="-122"/>
                <a:cs typeface="Montserrat Bold" pitchFamily="34" charset="-120"/>
              </a:rPr>
              <a:t>Execution: </a:t>
            </a:r>
            <a:r>
              <a:rPr lang="en-US" sz="1800" dirty="0">
                <a:solidFill>
                  <a:srgbClr val="25274D"/>
                </a:solidFill>
                <a:latin typeface="Montserrat" panose="00000500000000000000" pitchFamily="2" charset="0"/>
                <a:ea typeface="Montserrat" pitchFamily="34" charset="-122"/>
                <a:cs typeface="Montserrat" pitchFamily="34" charset="-120"/>
              </a:rPr>
              <a:t>Run either the if block or the else block</a:t>
            </a:r>
            <a:endParaRPr lang="en-US" sz="1800" dirty="0">
              <a:solidFill>
                <a:srgbClr val="25274D"/>
              </a:solidFill>
              <a:latin typeface="Montserrat" panose="00000500000000000000" pitchFamily="2" charset="0"/>
            </a:endParaRPr>
          </a:p>
        </p:txBody>
      </p:sp>
      <p:sp>
        <p:nvSpPr>
          <p:cNvPr id="12" name="TextBox 11">
            <a:extLst>
              <a:ext uri="{FF2B5EF4-FFF2-40B4-BE49-F238E27FC236}">
                <a16:creationId xmlns:a16="http://schemas.microsoft.com/office/drawing/2014/main" id="{D2A840A2-CC23-4E41-5879-D948B43B0D43}"/>
              </a:ext>
            </a:extLst>
          </p:cNvPr>
          <p:cNvSpPr txBox="1"/>
          <p:nvPr/>
        </p:nvSpPr>
        <p:spPr>
          <a:xfrm>
            <a:off x="1699577" y="5444229"/>
            <a:ext cx="8792846" cy="369332"/>
          </a:xfrm>
          <a:prstGeom prst="rect">
            <a:avLst/>
          </a:prstGeom>
          <a:noFill/>
        </p:spPr>
        <p:txBody>
          <a:bodyPr wrap="square">
            <a:spAutoFit/>
          </a:bodyPr>
          <a:lstStyle/>
          <a:p>
            <a:pPr algn="ctr">
              <a:buNone/>
            </a:pPr>
            <a:r>
              <a:rPr lang="en-US" dirty="0">
                <a:solidFill>
                  <a:srgbClr val="25274D"/>
                </a:solidFill>
                <a:latin typeface="Montserrat" panose="00000500000000000000" pitchFamily="2" charset="0"/>
              </a:rPr>
              <a:t>The if-else statement gives two paths, ensuring one block always executes</a:t>
            </a:r>
          </a:p>
        </p:txBody>
      </p:sp>
      <p:grpSp>
        <p:nvGrpSpPr>
          <p:cNvPr id="4" name="Group 3">
            <a:extLst>
              <a:ext uri="{FF2B5EF4-FFF2-40B4-BE49-F238E27FC236}">
                <a16:creationId xmlns:a16="http://schemas.microsoft.com/office/drawing/2014/main" id="{72317E5E-45DC-B7AA-6A16-A044145B9EF0}"/>
              </a:ext>
            </a:extLst>
          </p:cNvPr>
          <p:cNvGrpSpPr/>
          <p:nvPr/>
        </p:nvGrpSpPr>
        <p:grpSpPr>
          <a:xfrm>
            <a:off x="795281" y="2314989"/>
            <a:ext cx="4428142" cy="2203310"/>
            <a:chOff x="795281" y="2314989"/>
            <a:chExt cx="4428142" cy="2203310"/>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795281" y="2314989"/>
              <a:ext cx="4428142" cy="220331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E39113A1-4DA7-AD13-ACCC-C103493D843A}"/>
                </a:ext>
              </a:extLst>
            </p:cNvPr>
            <p:cNvPicPr>
              <a:picLocks noChangeAspect="1"/>
            </p:cNvPicPr>
            <p:nvPr/>
          </p:nvPicPr>
          <p:blipFill>
            <a:blip r:embed="rId3"/>
            <a:stretch>
              <a:fillRect/>
            </a:stretch>
          </p:blipFill>
          <p:spPr>
            <a:xfrm>
              <a:off x="959614" y="2444002"/>
              <a:ext cx="4062028" cy="1969996"/>
            </a:xfrm>
            <a:prstGeom prst="rect">
              <a:avLst/>
            </a:prstGeom>
          </p:spPr>
        </p:pic>
      </p:grpSp>
    </p:spTree>
    <p:extLst>
      <p:ext uri="{BB962C8B-B14F-4D97-AF65-F5344CB8AC3E}">
        <p14:creationId xmlns:p14="http://schemas.microsoft.com/office/powerpoint/2010/main" val="133674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par>
                                <p:cTn id="20" presetID="10" presetClass="entr" presetSubtype="0" fill="hold" nodeType="withEffect">
                                  <p:stCondLst>
                                    <p:cond delay="50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7" grpId="0"/>
      <p:bldP spid="10" grpId="0"/>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E025D-F98A-A0C6-BED4-13BB513E235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6C8E899-DC61-3E7E-F185-C40651FDE521}"/>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The if-</a:t>
            </a:r>
            <a:r>
              <a:rPr lang="en-US" dirty="0" err="1">
                <a:latin typeface="Montserrat Bold" pitchFamily="34" charset="0"/>
                <a:ea typeface="Montserrat Bold" pitchFamily="34" charset="-122"/>
                <a:cs typeface="Montserrat Bold" pitchFamily="34" charset="-120"/>
              </a:rPr>
              <a:t>elif</a:t>
            </a:r>
            <a:r>
              <a:rPr lang="en-US" dirty="0">
                <a:latin typeface="Montserrat Bold" pitchFamily="34" charset="0"/>
                <a:ea typeface="Montserrat Bold" pitchFamily="34" charset="-122"/>
                <a:cs typeface="Montserrat Bold" pitchFamily="34" charset="-120"/>
              </a:rPr>
              <a:t>-else Statement</a:t>
            </a:r>
            <a:endParaRPr lang="en-US" dirty="0"/>
          </a:p>
        </p:txBody>
      </p:sp>
      <p:sp>
        <p:nvSpPr>
          <p:cNvPr id="5" name="TextBox 4">
            <a:extLst>
              <a:ext uri="{FF2B5EF4-FFF2-40B4-BE49-F238E27FC236}">
                <a16:creationId xmlns:a16="http://schemas.microsoft.com/office/drawing/2014/main" id="{C557DF8B-B4EE-E7B9-5254-777936F5E8BC}"/>
              </a:ext>
            </a:extLst>
          </p:cNvPr>
          <p:cNvSpPr txBox="1"/>
          <p:nvPr/>
        </p:nvSpPr>
        <p:spPr>
          <a:xfrm>
            <a:off x="6574237" y="2518383"/>
            <a:ext cx="4943995" cy="286232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Check conditions from top to bottom</a:t>
            </a:r>
          </a:p>
          <a:p>
            <a:pPr marL="285750" indent="-285750">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buFont typeface="Arial" panose="020B0604020202020204" pitchFamily="34" charset="0"/>
              <a:buChar char="•"/>
            </a:pPr>
            <a:r>
              <a:rPr lang="en-US" dirty="0">
                <a:solidFill>
                  <a:srgbClr val="25274D"/>
                </a:solidFill>
                <a:latin typeface="Montserrat" panose="00000500000000000000" pitchFamily="2" charset="0"/>
              </a:rPr>
              <a:t>Execute the first block that evaluates to True</a:t>
            </a:r>
          </a:p>
          <a:p>
            <a:pPr marL="285750" indent="-285750">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buFont typeface="Arial" panose="020B0604020202020204" pitchFamily="34" charset="0"/>
              <a:buChar char="•"/>
            </a:pPr>
            <a:r>
              <a:rPr lang="en-US" dirty="0">
                <a:solidFill>
                  <a:srgbClr val="25274D"/>
                </a:solidFill>
                <a:latin typeface="Montserrat" panose="00000500000000000000" pitchFamily="2" charset="0"/>
              </a:rPr>
              <a:t>Skip remaining checks once a match is found</a:t>
            </a:r>
          </a:p>
          <a:p>
            <a:pPr marL="285750" indent="-285750">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buFont typeface="Arial" panose="020B0604020202020204" pitchFamily="34" charset="0"/>
              <a:buChar char="•"/>
            </a:pPr>
            <a:r>
              <a:rPr lang="en-US" dirty="0">
                <a:solidFill>
                  <a:srgbClr val="25274D"/>
                </a:solidFill>
                <a:latin typeface="Montserrat" panose="00000500000000000000" pitchFamily="2" charset="0"/>
              </a:rPr>
              <a:t>Run the else block only if all conditions are False</a:t>
            </a:r>
          </a:p>
        </p:txBody>
      </p:sp>
      <p:grpSp>
        <p:nvGrpSpPr>
          <p:cNvPr id="3" name="Group 2">
            <a:extLst>
              <a:ext uri="{FF2B5EF4-FFF2-40B4-BE49-F238E27FC236}">
                <a16:creationId xmlns:a16="http://schemas.microsoft.com/office/drawing/2014/main" id="{21DD4FEA-877F-F77B-1FE5-7F453764EDD0}"/>
              </a:ext>
            </a:extLst>
          </p:cNvPr>
          <p:cNvGrpSpPr/>
          <p:nvPr/>
        </p:nvGrpSpPr>
        <p:grpSpPr>
          <a:xfrm>
            <a:off x="749998" y="2311401"/>
            <a:ext cx="5598415" cy="3387526"/>
            <a:chOff x="749998" y="2311401"/>
            <a:chExt cx="5598415" cy="3387526"/>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749998" y="2311401"/>
              <a:ext cx="5598415" cy="3387526"/>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BA736FCD-BB3D-AEA8-6B4D-578BEB68C79F}"/>
                </a:ext>
              </a:extLst>
            </p:cNvPr>
            <p:cNvPicPr>
              <a:picLocks noChangeAspect="1"/>
            </p:cNvPicPr>
            <p:nvPr/>
          </p:nvPicPr>
          <p:blipFill>
            <a:blip r:embed="rId3"/>
            <a:stretch>
              <a:fillRect/>
            </a:stretch>
          </p:blipFill>
          <p:spPr>
            <a:xfrm>
              <a:off x="926869" y="2629623"/>
              <a:ext cx="5244672" cy="2751082"/>
            </a:xfrm>
            <a:prstGeom prst="rect">
              <a:avLst/>
            </a:prstGeom>
          </p:spPr>
        </p:pic>
      </p:grpSp>
    </p:spTree>
    <p:extLst>
      <p:ext uri="{BB962C8B-B14F-4D97-AF65-F5344CB8AC3E}">
        <p14:creationId xmlns:p14="http://schemas.microsoft.com/office/powerpoint/2010/main" val="300710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8C054-CA98-938E-CD6F-25966D54F85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B8234C2-A441-CDC7-F940-ED70EF11E069}"/>
              </a:ext>
            </a:extLst>
          </p:cNvPr>
          <p:cNvSpPr>
            <a:spLocks noGrp="1"/>
          </p:cNvSpPr>
          <p:nvPr>
            <p:ph type="title"/>
          </p:nvPr>
        </p:nvSpPr>
        <p:spPr/>
        <p:txBody>
          <a:bodyPr/>
          <a:lstStyle/>
          <a:p>
            <a:pPr>
              <a:lnSpc>
                <a:spcPts val="3917"/>
              </a:lnSpc>
            </a:pPr>
            <a:r>
              <a:rPr lang="en-US" dirty="0">
                <a:latin typeface="Montserrat Bold" pitchFamily="34" charset="0"/>
                <a:ea typeface="Montserrat Bold" pitchFamily="34" charset="-122"/>
                <a:cs typeface="Montserrat Bold" pitchFamily="34" charset="-120"/>
              </a:rPr>
              <a:t>Nested if Statements</a:t>
            </a:r>
            <a:endParaRPr lang="en-US" dirty="0"/>
          </a:p>
        </p:txBody>
      </p:sp>
      <p:sp>
        <p:nvSpPr>
          <p:cNvPr id="5" name="TextBox 4">
            <a:extLst>
              <a:ext uri="{FF2B5EF4-FFF2-40B4-BE49-F238E27FC236}">
                <a16:creationId xmlns:a16="http://schemas.microsoft.com/office/drawing/2014/main" id="{20807CD4-B3E0-CFAC-A039-D677E42C5C56}"/>
              </a:ext>
            </a:extLst>
          </p:cNvPr>
          <p:cNvSpPr txBox="1"/>
          <p:nvPr/>
        </p:nvSpPr>
        <p:spPr>
          <a:xfrm>
            <a:off x="6061040" y="2673854"/>
            <a:ext cx="5140360" cy="2308324"/>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Check outer and inner conditions to build layered logic</a:t>
            </a:r>
          </a:p>
          <a:p>
            <a:pPr marL="285750" indent="-285750">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buFont typeface="Arial" panose="020B0604020202020204" pitchFamily="34" charset="0"/>
              <a:buChar char="•"/>
            </a:pPr>
            <a:r>
              <a:rPr lang="en-US" dirty="0">
                <a:solidFill>
                  <a:srgbClr val="25274D"/>
                </a:solidFill>
                <a:latin typeface="Montserrat" panose="00000500000000000000" pitchFamily="2" charset="0"/>
              </a:rPr>
              <a:t>Risk reduced readability with deep nesting</a:t>
            </a:r>
          </a:p>
          <a:p>
            <a:pPr marL="285750" indent="-285750">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buFont typeface="Arial" panose="020B0604020202020204" pitchFamily="34" charset="0"/>
              <a:buChar char="•"/>
            </a:pPr>
            <a:r>
              <a:rPr lang="en-US" dirty="0">
                <a:solidFill>
                  <a:srgbClr val="25274D"/>
                </a:solidFill>
                <a:latin typeface="Montserrat" panose="00000500000000000000" pitchFamily="2" charset="0"/>
              </a:rPr>
              <a:t>Prefer flattening logic using if-</a:t>
            </a:r>
            <a:r>
              <a:rPr lang="en-US" dirty="0" err="1">
                <a:solidFill>
                  <a:srgbClr val="25274D"/>
                </a:solidFill>
                <a:latin typeface="Montserrat" panose="00000500000000000000" pitchFamily="2" charset="0"/>
              </a:rPr>
              <a:t>elif</a:t>
            </a:r>
            <a:r>
              <a:rPr lang="en-US" dirty="0">
                <a:solidFill>
                  <a:srgbClr val="25274D"/>
                </a:solidFill>
                <a:latin typeface="Montserrat" panose="00000500000000000000" pitchFamily="2" charset="0"/>
              </a:rPr>
              <a:t>-else when possible</a:t>
            </a:r>
          </a:p>
        </p:txBody>
      </p:sp>
      <p:grpSp>
        <p:nvGrpSpPr>
          <p:cNvPr id="3" name="Group 2">
            <a:extLst>
              <a:ext uri="{FF2B5EF4-FFF2-40B4-BE49-F238E27FC236}">
                <a16:creationId xmlns:a16="http://schemas.microsoft.com/office/drawing/2014/main" id="{9E4E46B8-F318-9FB9-31EC-5EE0A5F0FA41}"/>
              </a:ext>
            </a:extLst>
          </p:cNvPr>
          <p:cNvGrpSpPr/>
          <p:nvPr/>
        </p:nvGrpSpPr>
        <p:grpSpPr>
          <a:xfrm>
            <a:off x="723900" y="2197101"/>
            <a:ext cx="5140360" cy="3211512"/>
            <a:chOff x="723900" y="2197101"/>
            <a:chExt cx="5140360" cy="3211512"/>
          </a:xfrm>
        </p:grpSpPr>
        <p:sp>
          <p:nvSpPr>
            <p:cNvPr id="2" name="Rectangle: Rounded Corners 1">
              <a:extLst>
                <a:ext uri="{FF2B5EF4-FFF2-40B4-BE49-F238E27FC236}">
                  <a16:creationId xmlns:a16="http://schemas.microsoft.com/office/drawing/2014/main" id="{5A366FC2-0C28-3F4D-4AD7-4980974C63CA}"/>
                </a:ext>
              </a:extLst>
            </p:cNvPr>
            <p:cNvSpPr/>
            <p:nvPr/>
          </p:nvSpPr>
          <p:spPr>
            <a:xfrm>
              <a:off x="723900" y="2197101"/>
              <a:ext cx="5140360" cy="321151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374C173D-D2F6-0C49-391C-039472A10238}"/>
                </a:ext>
              </a:extLst>
            </p:cNvPr>
            <p:cNvPicPr>
              <a:picLocks noChangeAspect="1"/>
            </p:cNvPicPr>
            <p:nvPr/>
          </p:nvPicPr>
          <p:blipFill>
            <a:blip r:embed="rId3"/>
            <a:stretch>
              <a:fillRect/>
            </a:stretch>
          </p:blipFill>
          <p:spPr>
            <a:xfrm>
              <a:off x="1034677" y="2387715"/>
              <a:ext cx="4518806" cy="2830284"/>
            </a:xfrm>
            <a:prstGeom prst="rect">
              <a:avLst/>
            </a:prstGeom>
          </p:spPr>
        </p:pic>
      </p:grpSp>
    </p:spTree>
    <p:extLst>
      <p:ext uri="{BB962C8B-B14F-4D97-AF65-F5344CB8AC3E}">
        <p14:creationId xmlns:p14="http://schemas.microsoft.com/office/powerpoint/2010/main" val="232293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8A112-7500-B0E9-1302-A5E19E375CED}"/>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1A8B69A-8A4C-8CE5-5525-2F19732158D6}"/>
              </a:ext>
            </a:extLst>
          </p:cNvPr>
          <p:cNvSpPr/>
          <p:nvPr/>
        </p:nvSpPr>
        <p:spPr>
          <a:xfrm>
            <a:off x="3376212" y="4679619"/>
            <a:ext cx="4803467" cy="75295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5A366FC2-0C28-3F4D-4AD7-4980974C63CA}"/>
              </a:ext>
            </a:extLst>
          </p:cNvPr>
          <p:cNvSpPr/>
          <p:nvPr/>
        </p:nvSpPr>
        <p:spPr>
          <a:xfrm>
            <a:off x="3376213" y="1748594"/>
            <a:ext cx="3852594" cy="2130708"/>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8C5DF1AC-C5CD-2368-B3EC-760103346661}"/>
              </a:ext>
            </a:extLst>
          </p:cNvPr>
          <p:cNvSpPr>
            <a:spLocks noGrp="1"/>
          </p:cNvSpPr>
          <p:nvPr>
            <p:ph type="title"/>
          </p:nvPr>
        </p:nvSpPr>
        <p:spPr/>
        <p:txBody>
          <a:bodyPr/>
          <a:lstStyle/>
          <a:p>
            <a:pPr>
              <a:lnSpc>
                <a:spcPts val="3583"/>
              </a:lnSpc>
            </a:pPr>
            <a:r>
              <a:rPr lang="en-US" dirty="0">
                <a:latin typeface="Montserrat Bold" pitchFamily="34" charset="0"/>
                <a:ea typeface="Montserrat Bold" pitchFamily="34" charset="-122"/>
                <a:cs typeface="Montserrat Bold" pitchFamily="34" charset="-120"/>
              </a:rPr>
              <a:t>Conditional Expressions (Ternary Operator)</a:t>
            </a:r>
            <a:endParaRPr lang="en-US" dirty="0"/>
          </a:p>
        </p:txBody>
      </p:sp>
      <p:sp>
        <p:nvSpPr>
          <p:cNvPr id="3" name="TextBox 2">
            <a:extLst>
              <a:ext uri="{FF2B5EF4-FFF2-40B4-BE49-F238E27FC236}">
                <a16:creationId xmlns:a16="http://schemas.microsoft.com/office/drawing/2014/main" id="{3F7F9170-0416-7EAD-A773-1EC6A6454CED}"/>
              </a:ext>
            </a:extLst>
          </p:cNvPr>
          <p:cNvSpPr txBox="1"/>
          <p:nvPr/>
        </p:nvSpPr>
        <p:spPr>
          <a:xfrm>
            <a:off x="3162458" y="1425428"/>
            <a:ext cx="7793182" cy="323165"/>
          </a:xfrm>
          <a:prstGeom prst="rect">
            <a:avLst/>
          </a:prstGeom>
          <a:noFill/>
        </p:spPr>
        <p:txBody>
          <a:bodyPr wrap="square">
            <a:spAutoFit/>
          </a:bodyPr>
          <a:lstStyle/>
          <a:p>
            <a:pPr marL="285750" indent="-285750">
              <a:lnSpc>
                <a:spcPts val="1792"/>
              </a:lnSpc>
              <a:buFont typeface="Arial" panose="020B0604020202020204" pitchFamily="34" charset="0"/>
              <a:buChar char="•"/>
            </a:pPr>
            <a:r>
              <a:rPr lang="en-US" sz="1800" b="1" dirty="0">
                <a:solidFill>
                  <a:srgbClr val="000000"/>
                </a:solidFill>
                <a:latin typeface="Montserrat" panose="00000500000000000000" pitchFamily="2" charset="0"/>
                <a:ea typeface="Montserrat Bold" pitchFamily="34" charset="-122"/>
                <a:cs typeface="Montserrat Bold" pitchFamily="34" charset="-120"/>
              </a:rPr>
              <a:t>Standard if-else</a:t>
            </a:r>
            <a:endParaRPr lang="en-US" sz="1800" dirty="0">
              <a:latin typeface="Montserrat" panose="00000500000000000000" pitchFamily="2" charset="0"/>
            </a:endParaRPr>
          </a:p>
        </p:txBody>
      </p:sp>
      <p:sp>
        <p:nvSpPr>
          <p:cNvPr id="7" name="TextBox 6">
            <a:extLst>
              <a:ext uri="{FF2B5EF4-FFF2-40B4-BE49-F238E27FC236}">
                <a16:creationId xmlns:a16="http://schemas.microsoft.com/office/drawing/2014/main" id="{289C6A84-ACDC-05FA-36FF-12564DF93A30}"/>
              </a:ext>
            </a:extLst>
          </p:cNvPr>
          <p:cNvSpPr txBox="1"/>
          <p:nvPr/>
        </p:nvSpPr>
        <p:spPr>
          <a:xfrm>
            <a:off x="3332216" y="4306709"/>
            <a:ext cx="7793182" cy="323165"/>
          </a:xfrm>
          <a:prstGeom prst="rect">
            <a:avLst/>
          </a:prstGeom>
          <a:noFill/>
        </p:spPr>
        <p:txBody>
          <a:bodyPr wrap="square">
            <a:spAutoFit/>
          </a:bodyPr>
          <a:lstStyle/>
          <a:p>
            <a:pPr marL="285750" indent="-285750">
              <a:lnSpc>
                <a:spcPts val="1792"/>
              </a:lnSpc>
              <a:buFont typeface="Arial" panose="020B0604020202020204" pitchFamily="34" charset="0"/>
              <a:buChar char="•"/>
            </a:pPr>
            <a:r>
              <a:rPr lang="en-US" sz="1800" b="1" dirty="0">
                <a:solidFill>
                  <a:srgbClr val="000000"/>
                </a:solidFill>
                <a:latin typeface="Montserrat" panose="00000500000000000000" pitchFamily="2" charset="0"/>
                <a:ea typeface="Montserrat Bold" pitchFamily="34" charset="-122"/>
                <a:cs typeface="Montserrat Bold" pitchFamily="34" charset="-120"/>
              </a:rPr>
              <a:t>Ternary operator</a:t>
            </a:r>
            <a:endParaRPr lang="en-US" sz="1800" dirty="0">
              <a:latin typeface="Montserrat" panose="00000500000000000000" pitchFamily="2" charset="0"/>
            </a:endParaRPr>
          </a:p>
        </p:txBody>
      </p:sp>
      <p:sp>
        <p:nvSpPr>
          <p:cNvPr id="13" name="Speech Bubble: Rectangle with Corners Rounded 12">
            <a:extLst>
              <a:ext uri="{FF2B5EF4-FFF2-40B4-BE49-F238E27FC236}">
                <a16:creationId xmlns:a16="http://schemas.microsoft.com/office/drawing/2014/main" id="{7A26F631-125C-B844-29C7-98EAE4B50D10}"/>
              </a:ext>
            </a:extLst>
          </p:cNvPr>
          <p:cNvSpPr/>
          <p:nvPr/>
        </p:nvSpPr>
        <p:spPr>
          <a:xfrm>
            <a:off x="723900" y="4434518"/>
            <a:ext cx="2438558" cy="1310455"/>
          </a:xfrm>
          <a:prstGeom prst="wedgeRoundRectCallout">
            <a:avLst>
              <a:gd name="adj1" fmla="val 70735"/>
              <a:gd name="adj2" fmla="val -5154"/>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Montserrat" panose="00000500000000000000" pitchFamily="2" charset="0"/>
              </a:rPr>
              <a:t>Assign values clearly without full if-else blocks</a:t>
            </a:r>
          </a:p>
        </p:txBody>
      </p:sp>
      <p:pic>
        <p:nvPicPr>
          <p:cNvPr id="6" name="Picture 5">
            <a:extLst>
              <a:ext uri="{FF2B5EF4-FFF2-40B4-BE49-F238E27FC236}">
                <a16:creationId xmlns:a16="http://schemas.microsoft.com/office/drawing/2014/main" id="{278D291F-8DD2-EA71-3EFC-8C2E14554FF6}"/>
              </a:ext>
            </a:extLst>
          </p:cNvPr>
          <p:cNvPicPr>
            <a:picLocks noChangeAspect="1"/>
          </p:cNvPicPr>
          <p:nvPr/>
        </p:nvPicPr>
        <p:blipFill>
          <a:blip r:embed="rId3"/>
          <a:stretch>
            <a:fillRect/>
          </a:stretch>
        </p:blipFill>
        <p:spPr>
          <a:xfrm>
            <a:off x="3554616" y="1975072"/>
            <a:ext cx="3537080" cy="1729586"/>
          </a:xfrm>
          <a:prstGeom prst="rect">
            <a:avLst/>
          </a:prstGeom>
        </p:spPr>
      </p:pic>
      <p:pic>
        <p:nvPicPr>
          <p:cNvPr id="14" name="Picture 13">
            <a:extLst>
              <a:ext uri="{FF2B5EF4-FFF2-40B4-BE49-F238E27FC236}">
                <a16:creationId xmlns:a16="http://schemas.microsoft.com/office/drawing/2014/main" id="{9818C809-ECF3-FD43-2DF6-75896319A253}"/>
              </a:ext>
            </a:extLst>
          </p:cNvPr>
          <p:cNvPicPr>
            <a:picLocks noChangeAspect="1"/>
          </p:cNvPicPr>
          <p:nvPr/>
        </p:nvPicPr>
        <p:blipFill>
          <a:blip r:embed="rId4"/>
          <a:stretch>
            <a:fillRect/>
          </a:stretch>
        </p:blipFill>
        <p:spPr>
          <a:xfrm>
            <a:off x="3554616" y="4797995"/>
            <a:ext cx="4492437" cy="521066"/>
          </a:xfrm>
          <a:prstGeom prst="rect">
            <a:avLst/>
          </a:prstGeom>
        </p:spPr>
      </p:pic>
      <p:sp>
        <p:nvSpPr>
          <p:cNvPr id="11" name="Speech Bubble: Rectangle with Corners Rounded 10">
            <a:extLst>
              <a:ext uri="{FF2B5EF4-FFF2-40B4-BE49-F238E27FC236}">
                <a16:creationId xmlns:a16="http://schemas.microsoft.com/office/drawing/2014/main" id="{288EEE00-D320-57ED-B477-234A1F91901D}"/>
              </a:ext>
            </a:extLst>
          </p:cNvPr>
          <p:cNvSpPr/>
          <p:nvPr/>
        </p:nvSpPr>
        <p:spPr>
          <a:xfrm>
            <a:off x="8216811" y="3892002"/>
            <a:ext cx="2871456" cy="1152578"/>
          </a:xfrm>
          <a:prstGeom prst="wedgeRoundRectCallout">
            <a:avLst>
              <a:gd name="adj1" fmla="val -67721"/>
              <a:gd name="adj2" fmla="val 65493"/>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Montserrat" panose="00000500000000000000" pitchFamily="2" charset="0"/>
              </a:rPr>
              <a:t>Use the ternary operator for simple, one-line decisions</a:t>
            </a:r>
            <a:endParaRPr lang="en-GB" dirty="0">
              <a:latin typeface="Montserrat" panose="00000500000000000000" pitchFamily="2" charset="0"/>
            </a:endParaRPr>
          </a:p>
        </p:txBody>
      </p:sp>
    </p:spTree>
    <p:extLst>
      <p:ext uri="{BB962C8B-B14F-4D97-AF65-F5344CB8AC3E}">
        <p14:creationId xmlns:p14="http://schemas.microsoft.com/office/powerpoint/2010/main" val="286067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par>
                                <p:cTn id="26" presetID="10" presetClass="entr" presetSubtype="0" fill="hold" nodeType="withEffect">
                                  <p:stCondLst>
                                    <p:cond delay="5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childTnLst>
                                </p:cTn>
                              </p:par>
                              <p:par>
                                <p:cTn id="29" presetID="10" presetClass="entr" presetSubtype="0" fill="hold" nodeType="withEffect">
                                  <p:stCondLst>
                                    <p:cond delay="5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8" grpId="0"/>
      <p:bldP spid="3" grpId="0"/>
      <p:bldP spid="7" grpId="0"/>
      <p:bldP spid="13" grpId="0" animBg="1"/>
      <p:bldP spid="1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5E29D-3D7E-294A-683F-F10F92C64BAF}"/>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872BEA4-7AC8-17E4-259C-0A53D800CD5F}"/>
              </a:ext>
            </a:extLst>
          </p:cNvPr>
          <p:cNvSpPr/>
          <p:nvPr/>
        </p:nvSpPr>
        <p:spPr>
          <a:xfrm>
            <a:off x="8591549" y="2608477"/>
            <a:ext cx="2352675" cy="64633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Rectangle: Rounded Corners 3">
            <a:extLst>
              <a:ext uri="{FF2B5EF4-FFF2-40B4-BE49-F238E27FC236}">
                <a16:creationId xmlns:a16="http://schemas.microsoft.com/office/drawing/2014/main" id="{D920EA8A-24C9-5584-5D63-3DCD51EE88C4}"/>
              </a:ext>
            </a:extLst>
          </p:cNvPr>
          <p:cNvSpPr/>
          <p:nvPr/>
        </p:nvSpPr>
        <p:spPr>
          <a:xfrm>
            <a:off x="4727429" y="2608477"/>
            <a:ext cx="2781300" cy="64633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5A366FC2-0C28-3F4D-4AD7-4980974C63CA}"/>
              </a:ext>
            </a:extLst>
          </p:cNvPr>
          <p:cNvSpPr/>
          <p:nvPr/>
        </p:nvSpPr>
        <p:spPr>
          <a:xfrm>
            <a:off x="1028700" y="2608477"/>
            <a:ext cx="2781300" cy="64633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BB26A010-BE48-5148-11E6-B427A0A815F0}"/>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Logical Operators in Conditions</a:t>
            </a:r>
            <a:endParaRPr lang="en-US" dirty="0"/>
          </a:p>
        </p:txBody>
      </p:sp>
      <p:sp>
        <p:nvSpPr>
          <p:cNvPr id="3" name="TextBox 2">
            <a:extLst>
              <a:ext uri="{FF2B5EF4-FFF2-40B4-BE49-F238E27FC236}">
                <a16:creationId xmlns:a16="http://schemas.microsoft.com/office/drawing/2014/main" id="{25A105C8-C629-4B82-B209-30B5B105CE7F}"/>
              </a:ext>
            </a:extLst>
          </p:cNvPr>
          <p:cNvSpPr txBox="1"/>
          <p:nvPr/>
        </p:nvSpPr>
        <p:spPr>
          <a:xfrm>
            <a:off x="1936076" y="1944186"/>
            <a:ext cx="953684" cy="348813"/>
          </a:xfrm>
          <a:prstGeom prst="rect">
            <a:avLst/>
          </a:prstGeom>
          <a:noFill/>
        </p:spPr>
        <p:txBody>
          <a:bodyPr wrap="square">
            <a:spAutoFit/>
          </a:bodyPr>
          <a:lstStyle/>
          <a:p>
            <a:pPr algn="ct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and</a:t>
            </a:r>
            <a:endParaRPr lang="en-US" sz="1800" dirty="0">
              <a:solidFill>
                <a:srgbClr val="25274D"/>
              </a:solidFill>
              <a:latin typeface="Montserrat" panose="00000500000000000000" pitchFamily="2" charset="0"/>
            </a:endParaRPr>
          </a:p>
        </p:txBody>
      </p:sp>
      <p:sp>
        <p:nvSpPr>
          <p:cNvPr id="7" name="TextBox 6">
            <a:extLst>
              <a:ext uri="{FF2B5EF4-FFF2-40B4-BE49-F238E27FC236}">
                <a16:creationId xmlns:a16="http://schemas.microsoft.com/office/drawing/2014/main" id="{B36038F1-243E-9016-1151-1E4EFD452303}"/>
              </a:ext>
            </a:extLst>
          </p:cNvPr>
          <p:cNvSpPr txBox="1"/>
          <p:nvPr/>
        </p:nvSpPr>
        <p:spPr>
          <a:xfrm>
            <a:off x="5764767" y="1868511"/>
            <a:ext cx="706624" cy="348813"/>
          </a:xfrm>
          <a:prstGeom prst="rect">
            <a:avLst/>
          </a:prstGeom>
          <a:noFill/>
        </p:spPr>
        <p:txBody>
          <a:bodyPr wrap="square">
            <a:spAutoFit/>
          </a:bodyPr>
          <a:lstStyle/>
          <a:p>
            <a:pPr algn="ctr">
              <a:lnSpc>
                <a:spcPts val="2000"/>
              </a:lnSpc>
            </a:pPr>
            <a:r>
              <a:rPr lang="en-US" sz="1800" b="1" dirty="0">
                <a:solidFill>
                  <a:srgbClr val="000000"/>
                </a:solidFill>
                <a:latin typeface="Montserrat Bold" pitchFamily="34" charset="0"/>
                <a:ea typeface="Montserrat Bold" pitchFamily="34" charset="-122"/>
                <a:cs typeface="Montserrat Bold" pitchFamily="34" charset="-120"/>
              </a:rPr>
              <a:t>or</a:t>
            </a:r>
            <a:endParaRPr lang="en-US" sz="1800" dirty="0"/>
          </a:p>
        </p:txBody>
      </p:sp>
      <p:sp>
        <p:nvSpPr>
          <p:cNvPr id="12" name="TextBox 11">
            <a:extLst>
              <a:ext uri="{FF2B5EF4-FFF2-40B4-BE49-F238E27FC236}">
                <a16:creationId xmlns:a16="http://schemas.microsoft.com/office/drawing/2014/main" id="{49206843-54EC-6B29-5DD6-0896F2BA2D5A}"/>
              </a:ext>
            </a:extLst>
          </p:cNvPr>
          <p:cNvSpPr txBox="1"/>
          <p:nvPr/>
        </p:nvSpPr>
        <p:spPr>
          <a:xfrm>
            <a:off x="8737588" y="1868511"/>
            <a:ext cx="2099980" cy="348813"/>
          </a:xfrm>
          <a:prstGeom prst="rect">
            <a:avLst/>
          </a:prstGeom>
          <a:noFill/>
        </p:spPr>
        <p:txBody>
          <a:bodyPr wrap="square">
            <a:spAutoFit/>
          </a:bodyPr>
          <a:lstStyle/>
          <a:p>
            <a:pPr algn="ctr">
              <a:lnSpc>
                <a:spcPts val="2000"/>
              </a:lnSpc>
            </a:pPr>
            <a:r>
              <a:rPr lang="en-US" sz="1800" b="1" dirty="0">
                <a:solidFill>
                  <a:srgbClr val="000000"/>
                </a:solidFill>
                <a:latin typeface="Montserrat Bold" pitchFamily="34" charset="0"/>
                <a:ea typeface="Montserrat Bold" pitchFamily="34" charset="-122"/>
                <a:cs typeface="Montserrat Bold" pitchFamily="34" charset="-120"/>
              </a:rPr>
              <a:t>not</a:t>
            </a:r>
            <a:endParaRPr lang="en-US" sz="1800" dirty="0"/>
          </a:p>
        </p:txBody>
      </p:sp>
      <p:sp>
        <p:nvSpPr>
          <p:cNvPr id="16" name="TextBox 15">
            <a:extLst>
              <a:ext uri="{FF2B5EF4-FFF2-40B4-BE49-F238E27FC236}">
                <a16:creationId xmlns:a16="http://schemas.microsoft.com/office/drawing/2014/main" id="{24193D15-6BEC-9BF1-0130-F09D45F8429A}"/>
              </a:ext>
            </a:extLst>
          </p:cNvPr>
          <p:cNvSpPr txBox="1"/>
          <p:nvPr/>
        </p:nvSpPr>
        <p:spPr>
          <a:xfrm>
            <a:off x="723900" y="3295052"/>
            <a:ext cx="3378039" cy="646331"/>
          </a:xfrm>
          <a:prstGeom prst="rect">
            <a:avLst/>
          </a:prstGeom>
          <a:noFill/>
        </p:spPr>
        <p:txBody>
          <a:bodyPr wrap="square">
            <a:spAutoFit/>
          </a:bodyPr>
          <a:lstStyle/>
          <a:p>
            <a:pPr algn="ctr"/>
            <a:r>
              <a:rPr lang="en-US" dirty="0">
                <a:solidFill>
                  <a:srgbClr val="25274D"/>
                </a:solidFill>
                <a:latin typeface="Montserrat" panose="00000500000000000000" pitchFamily="2" charset="0"/>
              </a:rPr>
              <a:t>Returns true only if both conditions are True </a:t>
            </a:r>
          </a:p>
        </p:txBody>
      </p:sp>
      <p:sp>
        <p:nvSpPr>
          <p:cNvPr id="22" name="TextBox 21">
            <a:extLst>
              <a:ext uri="{FF2B5EF4-FFF2-40B4-BE49-F238E27FC236}">
                <a16:creationId xmlns:a16="http://schemas.microsoft.com/office/drawing/2014/main" id="{254C0234-1E68-B2EB-3B98-D04ABADE070A}"/>
              </a:ext>
            </a:extLst>
          </p:cNvPr>
          <p:cNvSpPr txBox="1"/>
          <p:nvPr/>
        </p:nvSpPr>
        <p:spPr>
          <a:xfrm>
            <a:off x="4414390" y="3295052"/>
            <a:ext cx="3363220" cy="646331"/>
          </a:xfrm>
          <a:prstGeom prst="rect">
            <a:avLst/>
          </a:prstGeom>
          <a:noFill/>
        </p:spPr>
        <p:txBody>
          <a:bodyPr wrap="square">
            <a:spAutoFit/>
          </a:bodyPr>
          <a:lstStyle/>
          <a:p>
            <a:pPr marR="0" algn="ctr">
              <a:spcAft>
                <a:spcPts val="800"/>
              </a:spcAft>
            </a:pP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Returns True if at least one condition is True</a:t>
            </a:r>
          </a:p>
        </p:txBody>
      </p:sp>
      <p:sp>
        <p:nvSpPr>
          <p:cNvPr id="26" name="TextBox 25">
            <a:extLst>
              <a:ext uri="{FF2B5EF4-FFF2-40B4-BE49-F238E27FC236}">
                <a16:creationId xmlns:a16="http://schemas.microsoft.com/office/drawing/2014/main" id="{3478101C-201B-478A-96D3-10690F62DB54}"/>
              </a:ext>
            </a:extLst>
          </p:cNvPr>
          <p:cNvSpPr txBox="1"/>
          <p:nvPr/>
        </p:nvSpPr>
        <p:spPr>
          <a:xfrm>
            <a:off x="8229600" y="3295052"/>
            <a:ext cx="3162300" cy="646331"/>
          </a:xfrm>
          <a:prstGeom prst="rect">
            <a:avLst/>
          </a:prstGeom>
          <a:noFill/>
        </p:spPr>
        <p:txBody>
          <a:bodyPr wrap="square">
            <a:spAutoFit/>
          </a:bodyPr>
          <a:lstStyle/>
          <a:p>
            <a:pPr marR="0" algn="ctr">
              <a:spcAft>
                <a:spcPts val="800"/>
              </a:spcAft>
            </a:pP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Reverses the </a:t>
            </a:r>
            <a:r>
              <a:rPr lang="en-US" sz="1800" kern="100" dirty="0" err="1">
                <a:solidFill>
                  <a:srgbClr val="25274D"/>
                </a:solidFill>
                <a:effectLst/>
                <a:latin typeface="Montserrat" panose="00000500000000000000" pitchFamily="2" charset="0"/>
                <a:ea typeface="Aptos" panose="020B0004020202020204" pitchFamily="34" charset="0"/>
                <a:cs typeface="Arial" panose="020B0604020202020204" pitchFamily="34" charset="0"/>
              </a:rPr>
              <a:t>boolean</a:t>
            </a:r>
            <a:r>
              <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 value of a condition</a:t>
            </a:r>
          </a:p>
        </p:txBody>
      </p:sp>
      <p:grpSp>
        <p:nvGrpSpPr>
          <p:cNvPr id="13" name="Group 12">
            <a:extLst>
              <a:ext uri="{FF2B5EF4-FFF2-40B4-BE49-F238E27FC236}">
                <a16:creationId xmlns:a16="http://schemas.microsoft.com/office/drawing/2014/main" id="{0C4B4AC5-C124-4D43-E5DC-1DBB6D3106C5}"/>
              </a:ext>
            </a:extLst>
          </p:cNvPr>
          <p:cNvGrpSpPr/>
          <p:nvPr/>
        </p:nvGrpSpPr>
        <p:grpSpPr>
          <a:xfrm>
            <a:off x="3118796" y="4195882"/>
            <a:ext cx="5954408" cy="786397"/>
            <a:chOff x="1347055" y="5932430"/>
            <a:chExt cx="9427967" cy="773696"/>
          </a:xfrm>
        </p:grpSpPr>
        <p:sp>
          <p:nvSpPr>
            <p:cNvPr id="6" name="Rectangle: Rounded Corners 5">
              <a:extLst>
                <a:ext uri="{FF2B5EF4-FFF2-40B4-BE49-F238E27FC236}">
                  <a16:creationId xmlns:a16="http://schemas.microsoft.com/office/drawing/2014/main" id="{FCBE186A-1159-1274-0699-3B7528EE706B}"/>
                </a:ext>
              </a:extLst>
            </p:cNvPr>
            <p:cNvSpPr/>
            <p:nvPr/>
          </p:nvSpPr>
          <p:spPr>
            <a:xfrm>
              <a:off x="1549879" y="5932430"/>
              <a:ext cx="9092241" cy="773696"/>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E275656-F56B-F2E5-C8ED-0809D78F742F}"/>
                </a:ext>
              </a:extLst>
            </p:cNvPr>
            <p:cNvSpPr txBox="1"/>
            <p:nvPr/>
          </p:nvSpPr>
          <p:spPr>
            <a:xfrm>
              <a:off x="1347055" y="5992424"/>
              <a:ext cx="9427967" cy="635892"/>
            </a:xfrm>
            <a:prstGeom prst="rect">
              <a:avLst/>
            </a:prstGeom>
            <a:noFill/>
          </p:spPr>
          <p:txBody>
            <a:bodyPr wrap="square">
              <a:spAutoFit/>
            </a:bodyPr>
            <a:lstStyle/>
            <a:p>
              <a:pPr algn="ctr">
                <a:buNone/>
              </a:pPr>
              <a:r>
                <a:rPr lang="en-US" dirty="0">
                  <a:solidFill>
                    <a:schemeClr val="bg1"/>
                  </a:solidFill>
                  <a:latin typeface="Montserrat" panose="00000500000000000000" pitchFamily="2" charset="0"/>
                </a:rPr>
                <a:t>Logical operators combine conditions for more complex decision-making.</a:t>
              </a:r>
            </a:p>
          </p:txBody>
        </p:sp>
      </p:grpSp>
      <p:pic>
        <p:nvPicPr>
          <p:cNvPr id="10" name="Picture 9">
            <a:extLst>
              <a:ext uri="{FF2B5EF4-FFF2-40B4-BE49-F238E27FC236}">
                <a16:creationId xmlns:a16="http://schemas.microsoft.com/office/drawing/2014/main" id="{E3833742-E9A7-918E-6F68-DCEA0F05D499}"/>
              </a:ext>
            </a:extLst>
          </p:cNvPr>
          <p:cNvPicPr>
            <a:picLocks noChangeAspect="1"/>
          </p:cNvPicPr>
          <p:nvPr/>
        </p:nvPicPr>
        <p:blipFill>
          <a:blip r:embed="rId3"/>
          <a:stretch>
            <a:fillRect/>
          </a:stretch>
        </p:blipFill>
        <p:spPr>
          <a:xfrm>
            <a:off x="1122279" y="2704281"/>
            <a:ext cx="2581279" cy="453097"/>
          </a:xfrm>
          <a:prstGeom prst="rect">
            <a:avLst/>
          </a:prstGeom>
        </p:spPr>
      </p:pic>
      <p:pic>
        <p:nvPicPr>
          <p:cNvPr id="23" name="Picture 22">
            <a:extLst>
              <a:ext uri="{FF2B5EF4-FFF2-40B4-BE49-F238E27FC236}">
                <a16:creationId xmlns:a16="http://schemas.microsoft.com/office/drawing/2014/main" id="{4BC18B7A-B5AA-51FC-FEB1-FF998305D3AC}"/>
              </a:ext>
            </a:extLst>
          </p:cNvPr>
          <p:cNvPicPr>
            <a:picLocks noChangeAspect="1"/>
          </p:cNvPicPr>
          <p:nvPr/>
        </p:nvPicPr>
        <p:blipFill>
          <a:blip r:embed="rId4"/>
          <a:stretch>
            <a:fillRect/>
          </a:stretch>
        </p:blipFill>
        <p:spPr>
          <a:xfrm>
            <a:off x="4931136" y="2713106"/>
            <a:ext cx="2373887" cy="435446"/>
          </a:xfrm>
          <a:prstGeom prst="rect">
            <a:avLst/>
          </a:prstGeom>
        </p:spPr>
      </p:pic>
      <p:pic>
        <p:nvPicPr>
          <p:cNvPr id="25" name="Picture 24">
            <a:extLst>
              <a:ext uri="{FF2B5EF4-FFF2-40B4-BE49-F238E27FC236}">
                <a16:creationId xmlns:a16="http://schemas.microsoft.com/office/drawing/2014/main" id="{D176E366-C716-41F7-01BD-B8F3A952C308}"/>
              </a:ext>
            </a:extLst>
          </p:cNvPr>
          <p:cNvPicPr>
            <a:picLocks noChangeAspect="1"/>
          </p:cNvPicPr>
          <p:nvPr/>
        </p:nvPicPr>
        <p:blipFill>
          <a:blip r:embed="rId5"/>
          <a:stretch>
            <a:fillRect/>
          </a:stretch>
        </p:blipFill>
        <p:spPr>
          <a:xfrm>
            <a:off x="8737588" y="2693909"/>
            <a:ext cx="2099980" cy="475467"/>
          </a:xfrm>
          <a:prstGeom prst="rect">
            <a:avLst/>
          </a:prstGeom>
        </p:spPr>
      </p:pic>
    </p:spTree>
    <p:extLst>
      <p:ext uri="{BB962C8B-B14F-4D97-AF65-F5344CB8AC3E}">
        <p14:creationId xmlns:p14="http://schemas.microsoft.com/office/powerpoint/2010/main" val="410162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1000"/>
                                        <p:tgtEl>
                                          <p:spTgt spid="2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childTnLst>
                                </p:cTn>
                              </p:par>
                              <p:par>
                                <p:cTn id="20" presetID="10" presetClass="entr" presetSubtype="0" fill="hold" nodeType="withEffect">
                                  <p:stCondLst>
                                    <p:cond delay="5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childTnLst>
                                </p:cTn>
                              </p:par>
                              <p:par>
                                <p:cTn id="32" presetID="10" presetClass="entr" presetSubtype="0" fill="hold" nodeType="withEffect">
                                  <p:stCondLst>
                                    <p:cond delay="50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1000"/>
                                        <p:tgtEl>
                                          <p:spTgt spid="25"/>
                                        </p:tgtEl>
                                      </p:cBhvr>
                                    </p:animEffect>
                                  </p:childTnLst>
                                </p:cTn>
                              </p:par>
                              <p:par>
                                <p:cTn id="35" presetID="10" presetClass="entr" presetSubtype="0" fill="hold" nodeType="withEffect">
                                  <p:stCondLst>
                                    <p:cond delay="5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1000"/>
                                        <p:tgtEl>
                                          <p:spTgt spid="2"/>
                                        </p:tgtEl>
                                      </p:cBhvr>
                                    </p:animEffect>
                                  </p:childTnLst>
                                </p:cTn>
                              </p:par>
                              <p:par>
                                <p:cTn id="44" presetID="10" presetClass="entr" presetSubtype="0" fill="hold" nodeType="withEffect">
                                  <p:stCondLst>
                                    <p:cond delay="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2" grpId="0" animBg="1"/>
      <p:bldP spid="8" grpId="0"/>
      <p:bldP spid="3" grpId="0"/>
      <p:bldP spid="7" grpId="0"/>
      <p:bldP spid="12" grpId="0"/>
      <p:bldP spid="16" grpId="0"/>
      <p:bldP spid="22" grpId="0"/>
      <p:bldP spid="2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DF0C1-89E2-3375-00B3-9EC937D35AA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FB750B1-593E-6E21-ADEE-4C64AAB99482}"/>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Common Mistakes to Avoid</a:t>
            </a:r>
            <a:endParaRPr lang="en-US" dirty="0"/>
          </a:p>
        </p:txBody>
      </p:sp>
      <p:grpSp>
        <p:nvGrpSpPr>
          <p:cNvPr id="11" name="Group 10">
            <a:extLst>
              <a:ext uri="{FF2B5EF4-FFF2-40B4-BE49-F238E27FC236}">
                <a16:creationId xmlns:a16="http://schemas.microsoft.com/office/drawing/2014/main" id="{AB351EE3-8D4B-E9C7-B827-79D1AF18093C}"/>
              </a:ext>
            </a:extLst>
          </p:cNvPr>
          <p:cNvGrpSpPr/>
          <p:nvPr/>
        </p:nvGrpSpPr>
        <p:grpSpPr>
          <a:xfrm>
            <a:off x="3155458" y="1230011"/>
            <a:ext cx="5881084" cy="1070578"/>
            <a:chOff x="2215166" y="1560211"/>
            <a:chExt cx="5881084" cy="1070578"/>
          </a:xfrm>
        </p:grpSpPr>
        <p:sp>
          <p:nvSpPr>
            <p:cNvPr id="2" name="Rectangle: Rounded Corners 1">
              <a:extLst>
                <a:ext uri="{FF2B5EF4-FFF2-40B4-BE49-F238E27FC236}">
                  <a16:creationId xmlns:a16="http://schemas.microsoft.com/office/drawing/2014/main" id="{EA3E2BD1-464E-438E-3465-68F18F49A6AD}"/>
                </a:ext>
              </a:extLst>
            </p:cNvPr>
            <p:cNvSpPr/>
            <p:nvPr/>
          </p:nvSpPr>
          <p:spPr>
            <a:xfrm>
              <a:off x="2215166" y="1560211"/>
              <a:ext cx="5881084" cy="107057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78BCC1E-DD37-7114-F1CB-B7293C0DF199}"/>
                </a:ext>
              </a:extLst>
            </p:cNvPr>
            <p:cNvGrpSpPr/>
            <p:nvPr/>
          </p:nvGrpSpPr>
          <p:grpSpPr>
            <a:xfrm>
              <a:off x="2298879" y="1725631"/>
              <a:ext cx="5749746" cy="739738"/>
              <a:chOff x="2298879" y="1641956"/>
              <a:chExt cx="5749746" cy="739738"/>
            </a:xfrm>
          </p:grpSpPr>
          <p:sp>
            <p:nvSpPr>
              <p:cNvPr id="7" name="TextBox 6">
                <a:extLst>
                  <a:ext uri="{FF2B5EF4-FFF2-40B4-BE49-F238E27FC236}">
                    <a16:creationId xmlns:a16="http://schemas.microsoft.com/office/drawing/2014/main" id="{BD6321BB-0487-F72A-78F6-F880349F8AB0}"/>
                  </a:ext>
                </a:extLst>
              </p:cNvPr>
              <p:cNvSpPr txBox="1"/>
              <p:nvPr/>
            </p:nvSpPr>
            <p:spPr>
              <a:xfrm>
                <a:off x="2298879" y="1641956"/>
                <a:ext cx="4617076" cy="388311"/>
              </a:xfrm>
              <a:prstGeom prst="rect">
                <a:avLst/>
              </a:prstGeom>
              <a:noFill/>
            </p:spPr>
            <p:txBody>
              <a:bodyPr wrap="square">
                <a:spAutoFit/>
              </a:bodyPr>
              <a:lstStyle/>
              <a:p>
                <a:pPr marL="0" marR="0">
                  <a:lnSpc>
                    <a:spcPct val="115000"/>
                  </a:lnSpc>
                  <a:spcAft>
                    <a:spcPts val="800"/>
                  </a:spcAft>
                  <a:buNone/>
                </a:pPr>
                <a:r>
                  <a:rPr lang="en-US" sz="1800" b="1"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Using = instead of == for comparison</a:t>
                </a:r>
              </a:p>
            </p:txBody>
          </p:sp>
          <p:sp>
            <p:nvSpPr>
              <p:cNvPr id="9" name="TextBox 8">
                <a:extLst>
                  <a:ext uri="{FF2B5EF4-FFF2-40B4-BE49-F238E27FC236}">
                    <a16:creationId xmlns:a16="http://schemas.microsoft.com/office/drawing/2014/main" id="{5037FA06-7FEA-07E2-6314-2DB9E627E5EC}"/>
                  </a:ext>
                </a:extLst>
              </p:cNvPr>
              <p:cNvSpPr txBox="1"/>
              <p:nvPr/>
            </p:nvSpPr>
            <p:spPr>
              <a:xfrm>
                <a:off x="2298879" y="1981200"/>
                <a:ext cx="5749746" cy="400494"/>
              </a:xfrm>
              <a:prstGeom prst="rect">
                <a:avLst/>
              </a:prstGeom>
              <a:noFill/>
            </p:spPr>
            <p:txBody>
              <a:bodyPr wrap="square">
                <a:spAutoFit/>
              </a:bodyPr>
              <a:lstStyle/>
              <a:p>
                <a:pPr marL="0" marR="0">
                  <a:lnSpc>
                    <a:spcPct val="115000"/>
                  </a:lnSpc>
                  <a:spcAft>
                    <a:spcPts val="800"/>
                  </a:spcAft>
                  <a:buNone/>
                </a:pP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if </a:t>
                </a:r>
                <a:r>
                  <a:rPr lang="en-US" sz="1800" kern="100" dirty="0">
                    <a:solidFill>
                      <a:schemeClr val="bg1"/>
                    </a:solidFill>
                    <a:effectLst/>
                    <a:latin typeface="Courier New" panose="02070309020205020404" pitchFamily="49" charset="0"/>
                    <a:ea typeface="Aptos" panose="020B0004020202020204" pitchFamily="34" charset="0"/>
                    <a:cs typeface="Courier New" panose="02070309020205020404" pitchFamily="49" charset="0"/>
                  </a:rPr>
                  <a:t>x = 5</a:t>
                </a: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 (assignment) vs. if </a:t>
                </a:r>
                <a:r>
                  <a:rPr lang="en-US" sz="1800" kern="100" dirty="0">
                    <a:solidFill>
                      <a:schemeClr val="bg1"/>
                    </a:solidFill>
                    <a:effectLst/>
                    <a:latin typeface="Courier New" panose="02070309020205020404" pitchFamily="49" charset="0"/>
                    <a:ea typeface="Aptos" panose="020B0004020202020204" pitchFamily="34" charset="0"/>
                    <a:cs typeface="Courier New" panose="02070309020205020404" pitchFamily="49" charset="0"/>
                  </a:rPr>
                  <a:t>x == 5</a:t>
                </a: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 (comparison)</a:t>
                </a:r>
              </a:p>
            </p:txBody>
          </p:sp>
        </p:grpSp>
      </p:grpSp>
      <p:grpSp>
        <p:nvGrpSpPr>
          <p:cNvPr id="12" name="Group 11">
            <a:extLst>
              <a:ext uri="{FF2B5EF4-FFF2-40B4-BE49-F238E27FC236}">
                <a16:creationId xmlns:a16="http://schemas.microsoft.com/office/drawing/2014/main" id="{AD619BF1-FE0D-11C7-B309-33496211176A}"/>
              </a:ext>
            </a:extLst>
          </p:cNvPr>
          <p:cNvGrpSpPr/>
          <p:nvPr/>
        </p:nvGrpSpPr>
        <p:grpSpPr>
          <a:xfrm>
            <a:off x="3155458" y="2501860"/>
            <a:ext cx="5881084" cy="1070578"/>
            <a:chOff x="2215166" y="1560211"/>
            <a:chExt cx="5881084" cy="1070578"/>
          </a:xfrm>
        </p:grpSpPr>
        <p:sp>
          <p:nvSpPr>
            <p:cNvPr id="13" name="Rectangle: Rounded Corners 12">
              <a:extLst>
                <a:ext uri="{FF2B5EF4-FFF2-40B4-BE49-F238E27FC236}">
                  <a16:creationId xmlns:a16="http://schemas.microsoft.com/office/drawing/2014/main" id="{F15900AA-71F7-5CAD-8AF7-686149B65E56}"/>
                </a:ext>
              </a:extLst>
            </p:cNvPr>
            <p:cNvSpPr/>
            <p:nvPr/>
          </p:nvSpPr>
          <p:spPr>
            <a:xfrm>
              <a:off x="2215166" y="1560211"/>
              <a:ext cx="5881084" cy="1070578"/>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988EC16-0891-3502-31BF-E40335EDFA85}"/>
                </a:ext>
              </a:extLst>
            </p:cNvPr>
            <p:cNvGrpSpPr/>
            <p:nvPr/>
          </p:nvGrpSpPr>
          <p:grpSpPr>
            <a:xfrm>
              <a:off x="2298879" y="1583963"/>
              <a:ext cx="5749746" cy="1046104"/>
              <a:chOff x="2298879" y="1500288"/>
              <a:chExt cx="5749746" cy="1046104"/>
            </a:xfrm>
          </p:grpSpPr>
          <p:sp>
            <p:nvSpPr>
              <p:cNvPr id="15" name="TextBox 14">
                <a:extLst>
                  <a:ext uri="{FF2B5EF4-FFF2-40B4-BE49-F238E27FC236}">
                    <a16:creationId xmlns:a16="http://schemas.microsoft.com/office/drawing/2014/main" id="{727F2389-8448-7D6C-3F03-868256C147B4}"/>
                  </a:ext>
                </a:extLst>
              </p:cNvPr>
              <p:cNvSpPr txBox="1"/>
              <p:nvPr/>
            </p:nvSpPr>
            <p:spPr>
              <a:xfrm>
                <a:off x="2298879" y="1500288"/>
                <a:ext cx="4617076" cy="388311"/>
              </a:xfrm>
              <a:prstGeom prst="rect">
                <a:avLst/>
              </a:prstGeom>
              <a:noFill/>
            </p:spPr>
            <p:txBody>
              <a:bodyPr wrap="square">
                <a:spAutoFit/>
              </a:bodyPr>
              <a:lstStyle/>
              <a:p>
                <a:pPr marL="0" marR="0">
                  <a:lnSpc>
                    <a:spcPct val="115000"/>
                  </a:lnSpc>
                  <a:spcAft>
                    <a:spcPts val="800"/>
                  </a:spcAft>
                  <a:buNone/>
                </a:pPr>
                <a:r>
                  <a:rPr lang="en-US" sz="1800" b="1"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Forgetting indentation:</a:t>
                </a:r>
              </a:p>
            </p:txBody>
          </p:sp>
          <p:sp>
            <p:nvSpPr>
              <p:cNvPr id="16" name="TextBox 15">
                <a:extLst>
                  <a:ext uri="{FF2B5EF4-FFF2-40B4-BE49-F238E27FC236}">
                    <a16:creationId xmlns:a16="http://schemas.microsoft.com/office/drawing/2014/main" id="{CE6D3E94-D5EC-89B9-641C-E3BDFC151C2F}"/>
                  </a:ext>
                </a:extLst>
              </p:cNvPr>
              <p:cNvSpPr txBox="1"/>
              <p:nvPr/>
            </p:nvSpPr>
            <p:spPr>
              <a:xfrm>
                <a:off x="2298879" y="1839532"/>
                <a:ext cx="5749746" cy="706860"/>
              </a:xfrm>
              <a:prstGeom prst="rect">
                <a:avLst/>
              </a:prstGeom>
              <a:noFill/>
            </p:spPr>
            <p:txBody>
              <a:bodyPr wrap="square">
                <a:spAutoFit/>
              </a:bodyPr>
              <a:lstStyle/>
              <a:p>
                <a:pPr marL="0" marR="0">
                  <a:lnSpc>
                    <a:spcPct val="115000"/>
                  </a:lnSpc>
                  <a:spcAft>
                    <a:spcPts val="800"/>
                  </a:spcAft>
                  <a:buNone/>
                </a:pP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Python uses indentation to define code blocks, unlike languages with braces.</a:t>
                </a:r>
              </a:p>
            </p:txBody>
          </p:sp>
        </p:grpSp>
      </p:grpSp>
      <p:grpSp>
        <p:nvGrpSpPr>
          <p:cNvPr id="17" name="Group 16">
            <a:extLst>
              <a:ext uri="{FF2B5EF4-FFF2-40B4-BE49-F238E27FC236}">
                <a16:creationId xmlns:a16="http://schemas.microsoft.com/office/drawing/2014/main" id="{0914A6A9-0D37-3168-81F1-AB5346D7EA81}"/>
              </a:ext>
            </a:extLst>
          </p:cNvPr>
          <p:cNvGrpSpPr/>
          <p:nvPr/>
        </p:nvGrpSpPr>
        <p:grpSpPr>
          <a:xfrm>
            <a:off x="3155458" y="3773709"/>
            <a:ext cx="5881084" cy="1070578"/>
            <a:chOff x="2215166" y="1560211"/>
            <a:chExt cx="5881084" cy="1070578"/>
          </a:xfrm>
        </p:grpSpPr>
        <p:sp>
          <p:nvSpPr>
            <p:cNvPr id="18" name="Rectangle: Rounded Corners 17">
              <a:extLst>
                <a:ext uri="{FF2B5EF4-FFF2-40B4-BE49-F238E27FC236}">
                  <a16:creationId xmlns:a16="http://schemas.microsoft.com/office/drawing/2014/main" id="{6B80EC88-4F8B-F4B4-7944-5B6F522487A2}"/>
                </a:ext>
              </a:extLst>
            </p:cNvPr>
            <p:cNvSpPr/>
            <p:nvPr/>
          </p:nvSpPr>
          <p:spPr>
            <a:xfrm>
              <a:off x="2215166" y="1560211"/>
              <a:ext cx="5881084" cy="1070578"/>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B70F4576-2BC7-CDE7-27CE-C4BB078379FE}"/>
                </a:ext>
              </a:extLst>
            </p:cNvPr>
            <p:cNvGrpSpPr/>
            <p:nvPr/>
          </p:nvGrpSpPr>
          <p:grpSpPr>
            <a:xfrm>
              <a:off x="2298879" y="1583963"/>
              <a:ext cx="5749746" cy="1046104"/>
              <a:chOff x="2298879" y="1500288"/>
              <a:chExt cx="5749746" cy="1046104"/>
            </a:xfrm>
          </p:grpSpPr>
          <p:sp>
            <p:nvSpPr>
              <p:cNvPr id="20" name="TextBox 19">
                <a:extLst>
                  <a:ext uri="{FF2B5EF4-FFF2-40B4-BE49-F238E27FC236}">
                    <a16:creationId xmlns:a16="http://schemas.microsoft.com/office/drawing/2014/main" id="{028B93BF-B55C-2A21-4D55-A0279E79929D}"/>
                  </a:ext>
                </a:extLst>
              </p:cNvPr>
              <p:cNvSpPr txBox="1"/>
              <p:nvPr/>
            </p:nvSpPr>
            <p:spPr>
              <a:xfrm>
                <a:off x="2298879" y="1500288"/>
                <a:ext cx="4617076" cy="388311"/>
              </a:xfrm>
              <a:prstGeom prst="rect">
                <a:avLst/>
              </a:prstGeom>
              <a:noFill/>
            </p:spPr>
            <p:txBody>
              <a:bodyPr wrap="square">
                <a:spAutoFit/>
              </a:bodyPr>
              <a:lstStyle/>
              <a:p>
                <a:pPr marL="0" marR="0">
                  <a:lnSpc>
                    <a:spcPct val="115000"/>
                  </a:lnSpc>
                  <a:spcAft>
                    <a:spcPts val="800"/>
                  </a:spcAft>
                  <a:buNone/>
                </a:pPr>
                <a:r>
                  <a:rPr lang="en-US" sz="1800" b="1"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Overusing nested if statements:</a:t>
                </a:r>
              </a:p>
            </p:txBody>
          </p:sp>
          <p:sp>
            <p:nvSpPr>
              <p:cNvPr id="21" name="TextBox 20">
                <a:extLst>
                  <a:ext uri="{FF2B5EF4-FFF2-40B4-BE49-F238E27FC236}">
                    <a16:creationId xmlns:a16="http://schemas.microsoft.com/office/drawing/2014/main" id="{9C90EAC9-5AAD-9C10-9297-C3885F12280B}"/>
                  </a:ext>
                </a:extLst>
              </p:cNvPr>
              <p:cNvSpPr txBox="1"/>
              <p:nvPr/>
            </p:nvSpPr>
            <p:spPr>
              <a:xfrm>
                <a:off x="2298879" y="1839532"/>
                <a:ext cx="5749746" cy="706860"/>
              </a:xfrm>
              <a:prstGeom prst="rect">
                <a:avLst/>
              </a:prstGeom>
              <a:noFill/>
            </p:spPr>
            <p:txBody>
              <a:bodyPr wrap="square">
                <a:spAutoFit/>
              </a:bodyPr>
              <a:lstStyle/>
              <a:p>
                <a:pPr marL="0" marR="0">
                  <a:lnSpc>
                    <a:spcPct val="115000"/>
                  </a:lnSpc>
                  <a:spcAft>
                    <a:spcPts val="800"/>
                  </a:spcAft>
                  <a:buNone/>
                </a:pP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Complex nested conditions make code harder to read and maintain.</a:t>
                </a:r>
              </a:p>
            </p:txBody>
          </p:sp>
        </p:grpSp>
      </p:grpSp>
      <p:grpSp>
        <p:nvGrpSpPr>
          <p:cNvPr id="22" name="Group 21">
            <a:extLst>
              <a:ext uri="{FF2B5EF4-FFF2-40B4-BE49-F238E27FC236}">
                <a16:creationId xmlns:a16="http://schemas.microsoft.com/office/drawing/2014/main" id="{1C2AF4F4-158A-7D63-15DA-95CB1FE595B0}"/>
              </a:ext>
            </a:extLst>
          </p:cNvPr>
          <p:cNvGrpSpPr/>
          <p:nvPr/>
        </p:nvGrpSpPr>
        <p:grpSpPr>
          <a:xfrm>
            <a:off x="3155458" y="5045557"/>
            <a:ext cx="5881084" cy="1082039"/>
            <a:chOff x="2215166" y="1560211"/>
            <a:chExt cx="5881084" cy="1082039"/>
          </a:xfrm>
        </p:grpSpPr>
        <p:sp>
          <p:nvSpPr>
            <p:cNvPr id="23" name="Rectangle: Rounded Corners 22">
              <a:extLst>
                <a:ext uri="{FF2B5EF4-FFF2-40B4-BE49-F238E27FC236}">
                  <a16:creationId xmlns:a16="http://schemas.microsoft.com/office/drawing/2014/main" id="{3756F4D4-B4E3-4825-2660-500F9F7ACE22}"/>
                </a:ext>
              </a:extLst>
            </p:cNvPr>
            <p:cNvSpPr/>
            <p:nvPr/>
          </p:nvSpPr>
          <p:spPr>
            <a:xfrm>
              <a:off x="2215166" y="1560211"/>
              <a:ext cx="5881084" cy="107057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9367672-B1C4-AA43-EF2D-5FF1FE7D98E7}"/>
                </a:ext>
              </a:extLst>
            </p:cNvPr>
            <p:cNvGrpSpPr/>
            <p:nvPr/>
          </p:nvGrpSpPr>
          <p:grpSpPr>
            <a:xfrm>
              <a:off x="2298879" y="1583963"/>
              <a:ext cx="5749746" cy="1058287"/>
              <a:chOff x="2298879" y="1500288"/>
              <a:chExt cx="5749746" cy="1058287"/>
            </a:xfrm>
          </p:grpSpPr>
          <p:sp>
            <p:nvSpPr>
              <p:cNvPr id="25" name="TextBox 24">
                <a:extLst>
                  <a:ext uri="{FF2B5EF4-FFF2-40B4-BE49-F238E27FC236}">
                    <a16:creationId xmlns:a16="http://schemas.microsoft.com/office/drawing/2014/main" id="{69FE6F71-042D-86F9-568F-7D3D8AB49DE0}"/>
                  </a:ext>
                </a:extLst>
              </p:cNvPr>
              <p:cNvSpPr txBox="1"/>
              <p:nvPr/>
            </p:nvSpPr>
            <p:spPr>
              <a:xfrm>
                <a:off x="2298879" y="1500288"/>
                <a:ext cx="4617076" cy="388311"/>
              </a:xfrm>
              <a:prstGeom prst="rect">
                <a:avLst/>
              </a:prstGeom>
              <a:noFill/>
            </p:spPr>
            <p:txBody>
              <a:bodyPr wrap="square">
                <a:spAutoFit/>
              </a:bodyPr>
              <a:lstStyle/>
              <a:p>
                <a:pPr marL="0" marR="0">
                  <a:lnSpc>
                    <a:spcPct val="115000"/>
                  </a:lnSpc>
                  <a:spcAft>
                    <a:spcPts val="800"/>
                  </a:spcAft>
                  <a:buNone/>
                </a:pPr>
                <a:r>
                  <a:rPr lang="en-US" sz="1800" b="1"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Confusing </a:t>
                </a:r>
                <a:r>
                  <a:rPr lang="en-US" sz="1800" b="1" kern="100" dirty="0" err="1">
                    <a:solidFill>
                      <a:schemeClr val="bg1"/>
                    </a:solidFill>
                    <a:effectLst/>
                    <a:latin typeface="Montserrat" panose="00000500000000000000" pitchFamily="2" charset="0"/>
                    <a:ea typeface="Aptos" panose="020B0004020202020204" pitchFamily="34" charset="0"/>
                    <a:cs typeface="Arial" panose="020B0604020202020204" pitchFamily="34" charset="0"/>
                  </a:rPr>
                  <a:t>boolean</a:t>
                </a:r>
                <a:r>
                  <a:rPr lang="en-US" sz="1800" b="1"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 expressions</a:t>
                </a:r>
              </a:p>
            </p:txBody>
          </p:sp>
          <p:sp>
            <p:nvSpPr>
              <p:cNvPr id="26" name="TextBox 25">
                <a:extLst>
                  <a:ext uri="{FF2B5EF4-FFF2-40B4-BE49-F238E27FC236}">
                    <a16:creationId xmlns:a16="http://schemas.microsoft.com/office/drawing/2014/main" id="{52329B0E-7300-8D9F-833B-460A65F86AAF}"/>
                  </a:ext>
                </a:extLst>
              </p:cNvPr>
              <p:cNvSpPr txBox="1"/>
              <p:nvPr/>
            </p:nvSpPr>
            <p:spPr>
              <a:xfrm>
                <a:off x="2298879" y="1839532"/>
                <a:ext cx="5749746" cy="719043"/>
              </a:xfrm>
              <a:prstGeom prst="rect">
                <a:avLst/>
              </a:prstGeom>
              <a:noFill/>
            </p:spPr>
            <p:txBody>
              <a:bodyPr wrap="square">
                <a:spAutoFit/>
              </a:bodyPr>
              <a:lstStyle/>
              <a:p>
                <a:pPr marL="0" marR="0">
                  <a:lnSpc>
                    <a:spcPct val="115000"/>
                  </a:lnSpc>
                  <a:spcAft>
                    <a:spcPts val="800"/>
                  </a:spcAft>
                  <a:buNone/>
                </a:pP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Using if </a:t>
                </a:r>
                <a:r>
                  <a:rPr lang="en-US" sz="1800" kern="100" dirty="0">
                    <a:solidFill>
                      <a:schemeClr val="bg1"/>
                    </a:solidFill>
                    <a:effectLst/>
                    <a:latin typeface="Courier New" panose="02070309020205020404" pitchFamily="49" charset="0"/>
                    <a:ea typeface="Aptos" panose="020B0004020202020204" pitchFamily="34" charset="0"/>
                    <a:cs typeface="Courier New" panose="02070309020205020404" pitchFamily="49" charset="0"/>
                  </a:rPr>
                  <a:t>x</a:t>
                </a: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 when you mean if </a:t>
                </a:r>
                <a:r>
                  <a:rPr lang="en-US" sz="1800" kern="100" dirty="0">
                    <a:solidFill>
                      <a:schemeClr val="bg1"/>
                    </a:solidFill>
                    <a:effectLst/>
                    <a:latin typeface="Courier New" panose="02070309020205020404" pitchFamily="49" charset="0"/>
                    <a:ea typeface="Aptos" panose="020B0004020202020204" pitchFamily="34" charset="0"/>
                    <a:cs typeface="Courier New" panose="02070309020205020404" pitchFamily="49" charset="0"/>
                  </a:rPr>
                  <a:t>x</a:t>
                </a: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 is not None or if </a:t>
                </a:r>
                <a:r>
                  <a:rPr lang="en-US" sz="1800" kern="100" dirty="0">
                    <a:solidFill>
                      <a:schemeClr val="bg1"/>
                    </a:solidFill>
                    <a:effectLst/>
                    <a:latin typeface="Courier New" panose="02070309020205020404" pitchFamily="49" charset="0"/>
                    <a:ea typeface="Aptos" panose="020B0004020202020204" pitchFamily="34" charset="0"/>
                    <a:cs typeface="Courier New" panose="02070309020205020404" pitchFamily="49" charset="0"/>
                  </a:rPr>
                  <a:t>x</a:t>
                </a:r>
                <a:r>
                  <a:rPr lang="en-US" sz="1800" kern="100" dirty="0">
                    <a:solidFill>
                      <a:schemeClr val="bg1"/>
                    </a:solidFill>
                    <a:effectLst/>
                    <a:latin typeface="Montserrat" panose="00000500000000000000" pitchFamily="2" charset="0"/>
                    <a:ea typeface="Aptos" panose="020B0004020202020204" pitchFamily="34" charset="0"/>
                    <a:cs typeface="Arial" panose="020B0604020202020204" pitchFamily="34" charset="0"/>
                  </a:rPr>
                  <a:t> </a:t>
                </a:r>
                <a:r>
                  <a:rPr lang="en-US" sz="1800" kern="100" dirty="0">
                    <a:solidFill>
                      <a:schemeClr val="bg1"/>
                    </a:solidFill>
                    <a:effectLst/>
                    <a:latin typeface="Courier New" panose="02070309020205020404" pitchFamily="49" charset="0"/>
                    <a:ea typeface="Aptos" panose="020B0004020202020204" pitchFamily="34" charset="0"/>
                    <a:cs typeface="Courier New" panose="02070309020205020404" pitchFamily="49" charset="0"/>
                  </a:rPr>
                  <a:t>!= 0</a:t>
                </a:r>
              </a:p>
            </p:txBody>
          </p:sp>
        </p:grpSp>
      </p:grpSp>
    </p:spTree>
    <p:extLst>
      <p:ext uri="{BB962C8B-B14F-4D97-AF65-F5344CB8AC3E}">
        <p14:creationId xmlns:p14="http://schemas.microsoft.com/office/powerpoint/2010/main" val="376760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par>
                                <p:cTn id="11" presetID="10" presetClass="entr" presetSubtype="0" fill="hold" nodeType="withEffect">
                                  <p:stCondLst>
                                    <p:cond delay="5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childTnLst>
                                </p:cTn>
                              </p:par>
                              <p:par>
                                <p:cTn id="14" presetID="10" presetClass="entr" presetSubtype="0" fill="hold" nodeType="withEffect">
                                  <p:stCondLst>
                                    <p:cond delay="5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childTnLst>
                                </p:cTn>
                              </p:par>
                              <p:par>
                                <p:cTn id="17" presetID="10" presetClass="entr" presetSubtype="0" fill="hold" nodeType="withEffect">
                                  <p:stCondLst>
                                    <p:cond delay="50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51E3-5C5C-E6C7-5E7F-B1D3966CD9C0}"/>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6B346E2-C736-3A3E-3D17-5312A5B5DFD1}"/>
              </a:ext>
            </a:extLst>
          </p:cNvPr>
          <p:cNvSpPr>
            <a:spLocks noGrp="1"/>
          </p:cNvSpPr>
          <p:nvPr>
            <p:ph type="body" sz="quarter" idx="12"/>
          </p:nvPr>
        </p:nvSpPr>
        <p:spPr>
          <a:xfrm>
            <a:off x="749998" y="2482074"/>
            <a:ext cx="6979269" cy="1893851"/>
          </a:xfrm>
        </p:spPr>
        <p:txBody>
          <a:bodyPr>
            <a:normAutofit/>
          </a:bodyPr>
          <a:lstStyle/>
          <a:p>
            <a:pPr>
              <a:lnSpc>
                <a:spcPts val="4042"/>
              </a:lnSpc>
            </a:pPr>
            <a:r>
              <a:rPr lang="en-US" sz="3600" dirty="0">
                <a:latin typeface="Montserrat Bold" pitchFamily="34" charset="0"/>
                <a:ea typeface="Montserrat Bold" pitchFamily="34" charset="-122"/>
                <a:cs typeface="Montserrat Bold" pitchFamily="34" charset="-120"/>
              </a:rPr>
              <a:t>Loops in Python: Automating Repetitive Tasks</a:t>
            </a:r>
            <a:endParaRPr lang="en-US" sz="3600" dirty="0"/>
          </a:p>
        </p:txBody>
      </p:sp>
      <p:sp>
        <p:nvSpPr>
          <p:cNvPr id="2" name="Text 1">
            <a:extLst>
              <a:ext uri="{FF2B5EF4-FFF2-40B4-BE49-F238E27FC236}">
                <a16:creationId xmlns:a16="http://schemas.microsoft.com/office/drawing/2014/main" id="{25435B92-78B7-7FB0-08E3-D2DDAACF5A5E}"/>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8 of 12)</a:t>
            </a:r>
            <a:endParaRPr lang="en-US" dirty="0">
              <a:solidFill>
                <a:srgbClr val="25274D"/>
              </a:solidFill>
            </a:endParaRPr>
          </a:p>
        </p:txBody>
      </p:sp>
    </p:spTree>
    <p:extLst>
      <p:ext uri="{BB962C8B-B14F-4D97-AF65-F5344CB8AC3E}">
        <p14:creationId xmlns:p14="http://schemas.microsoft.com/office/powerpoint/2010/main" val="369421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DD74-337B-9B6C-97DA-39B85AEB333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0C311D6-74ED-0538-44C9-001BF077C7C5}"/>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Purpose of Loops</a:t>
            </a:r>
            <a:br>
              <a:rPr lang="en-US" dirty="0"/>
            </a:br>
            <a:endParaRPr lang="en-US" dirty="0"/>
          </a:p>
        </p:txBody>
      </p:sp>
      <p:sp>
        <p:nvSpPr>
          <p:cNvPr id="2" name="Text Placeholder 1">
            <a:extLst>
              <a:ext uri="{FF2B5EF4-FFF2-40B4-BE49-F238E27FC236}">
                <a16:creationId xmlns:a16="http://schemas.microsoft.com/office/drawing/2014/main" id="{3B3A6672-1BC7-A59C-108F-AB44C7A90700}"/>
              </a:ext>
            </a:extLst>
          </p:cNvPr>
          <p:cNvSpPr>
            <a:spLocks noGrp="1"/>
          </p:cNvSpPr>
          <p:nvPr>
            <p:ph type="body" sz="quarter" idx="10"/>
          </p:nvPr>
        </p:nvSpPr>
        <p:spPr/>
        <p:txBody>
          <a:bodyPr/>
          <a:lstStyle/>
          <a:p>
            <a:r>
              <a:rPr lang="en-US" dirty="0"/>
              <a:t>The Problem: Repetition</a:t>
            </a:r>
          </a:p>
        </p:txBody>
      </p:sp>
      <p:grpSp>
        <p:nvGrpSpPr>
          <p:cNvPr id="14" name="Group 13">
            <a:extLst>
              <a:ext uri="{FF2B5EF4-FFF2-40B4-BE49-F238E27FC236}">
                <a16:creationId xmlns:a16="http://schemas.microsoft.com/office/drawing/2014/main" id="{15C7E431-F0F1-9A93-FCB8-C09ABECF7DA1}"/>
              </a:ext>
            </a:extLst>
          </p:cNvPr>
          <p:cNvGrpSpPr/>
          <p:nvPr/>
        </p:nvGrpSpPr>
        <p:grpSpPr>
          <a:xfrm>
            <a:off x="2413255" y="5572665"/>
            <a:ext cx="7435970" cy="932673"/>
            <a:chOff x="2656936" y="5434642"/>
            <a:chExt cx="7435970" cy="932673"/>
          </a:xfrm>
        </p:grpSpPr>
        <p:sp>
          <p:nvSpPr>
            <p:cNvPr id="5" name="Rectangle: Rounded Corners 4">
              <a:extLst>
                <a:ext uri="{FF2B5EF4-FFF2-40B4-BE49-F238E27FC236}">
                  <a16:creationId xmlns:a16="http://schemas.microsoft.com/office/drawing/2014/main" id="{288C0D15-1210-2637-CE16-C2E683956B4B}"/>
                </a:ext>
              </a:extLst>
            </p:cNvPr>
            <p:cNvSpPr/>
            <p:nvPr/>
          </p:nvSpPr>
          <p:spPr>
            <a:xfrm>
              <a:off x="2656936" y="5434642"/>
              <a:ext cx="7435970" cy="932673"/>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D43DBEF0-7708-C294-D5AD-7FD46406AE32}"/>
                </a:ext>
              </a:extLst>
            </p:cNvPr>
            <p:cNvSpPr txBox="1"/>
            <p:nvPr/>
          </p:nvSpPr>
          <p:spPr>
            <a:xfrm>
              <a:off x="2750768" y="5648132"/>
              <a:ext cx="7177826" cy="605294"/>
            </a:xfrm>
            <a:prstGeom prst="rect">
              <a:avLst/>
            </a:prstGeom>
            <a:noFill/>
          </p:spPr>
          <p:txBody>
            <a:bodyPr wrap="square">
              <a:spAutoFit/>
            </a:bodyPr>
            <a:lstStyle/>
            <a:p>
              <a:pPr algn="ctr">
                <a:lnSpc>
                  <a:spcPts val="1958"/>
                </a:lnSpc>
              </a:pPr>
              <a:r>
                <a:rPr lang="en-US" sz="1800" dirty="0">
                  <a:solidFill>
                    <a:schemeClr val="bg1"/>
                  </a:solidFill>
                  <a:latin typeface="Montserrat" pitchFamily="34" charset="0"/>
                  <a:ea typeface="Montserrat" pitchFamily="34" charset="-122"/>
                  <a:cs typeface="Montserrat" pitchFamily="34" charset="-120"/>
                </a:rPr>
                <a:t>Use loops to repeat actions efficiently without writing code multiple times.</a:t>
              </a:r>
            </a:p>
          </p:txBody>
        </p:sp>
      </p:grpSp>
      <p:grpSp>
        <p:nvGrpSpPr>
          <p:cNvPr id="19" name="Group 18">
            <a:extLst>
              <a:ext uri="{FF2B5EF4-FFF2-40B4-BE49-F238E27FC236}">
                <a16:creationId xmlns:a16="http://schemas.microsoft.com/office/drawing/2014/main" id="{B1CF6CE5-D788-1CAB-BA6E-2931582E68C6}"/>
              </a:ext>
            </a:extLst>
          </p:cNvPr>
          <p:cNvGrpSpPr/>
          <p:nvPr/>
        </p:nvGrpSpPr>
        <p:grpSpPr>
          <a:xfrm>
            <a:off x="3781425" y="1930838"/>
            <a:ext cx="4629150" cy="3403162"/>
            <a:chOff x="3781425" y="1930838"/>
            <a:chExt cx="4629150" cy="3403162"/>
          </a:xfrm>
        </p:grpSpPr>
        <p:sp>
          <p:nvSpPr>
            <p:cNvPr id="15" name="Rectangle: Rounded Corners 14">
              <a:extLst>
                <a:ext uri="{FF2B5EF4-FFF2-40B4-BE49-F238E27FC236}">
                  <a16:creationId xmlns:a16="http://schemas.microsoft.com/office/drawing/2014/main" id="{F52941C7-7764-D6A2-49AB-14F9352F1C6C}"/>
                </a:ext>
              </a:extLst>
            </p:cNvPr>
            <p:cNvSpPr/>
            <p:nvPr/>
          </p:nvSpPr>
          <p:spPr>
            <a:xfrm>
              <a:off x="3781425" y="1930838"/>
              <a:ext cx="4629150" cy="340316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952FA806-D56E-6A2E-493D-EDC1122CDCD1}"/>
                </a:ext>
              </a:extLst>
            </p:cNvPr>
            <p:cNvPicPr>
              <a:picLocks noChangeAspect="1"/>
            </p:cNvPicPr>
            <p:nvPr/>
          </p:nvPicPr>
          <p:blipFill>
            <a:blip r:embed="rId3"/>
            <a:stretch>
              <a:fillRect/>
            </a:stretch>
          </p:blipFill>
          <p:spPr>
            <a:xfrm>
              <a:off x="4012728" y="2133479"/>
              <a:ext cx="4166545" cy="2997880"/>
            </a:xfrm>
            <a:prstGeom prst="rect">
              <a:avLst/>
            </a:prstGeom>
          </p:spPr>
        </p:pic>
      </p:grpSp>
    </p:spTree>
    <p:extLst>
      <p:ext uri="{BB962C8B-B14F-4D97-AF65-F5344CB8AC3E}">
        <p14:creationId xmlns:p14="http://schemas.microsoft.com/office/powerpoint/2010/main" val="307311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childTnLst>
                                </p:cTn>
                              </p:par>
                              <p:par>
                                <p:cTn id="14" presetID="10" presetClass="entr" presetSubtype="0" fill="hold" nodeType="withEffect">
                                  <p:stCondLst>
                                    <p:cond delay="5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C560-0A43-48EF-42A0-AEFD7CE489C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5900520-1135-92B0-32C7-3CB1DC473C6D}"/>
              </a:ext>
            </a:extLst>
          </p:cNvPr>
          <p:cNvSpPr/>
          <p:nvPr/>
        </p:nvSpPr>
        <p:spPr>
          <a:xfrm>
            <a:off x="8295204" y="2608478"/>
            <a:ext cx="2836346" cy="54067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Rounded Corners 12">
            <a:extLst>
              <a:ext uri="{FF2B5EF4-FFF2-40B4-BE49-F238E27FC236}">
                <a16:creationId xmlns:a16="http://schemas.microsoft.com/office/drawing/2014/main" id="{D603A38D-05D6-C5D9-B18B-5A39305FB904}"/>
              </a:ext>
            </a:extLst>
          </p:cNvPr>
          <p:cNvSpPr/>
          <p:nvPr/>
        </p:nvSpPr>
        <p:spPr>
          <a:xfrm>
            <a:off x="4369865" y="2608478"/>
            <a:ext cx="3419686" cy="54067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C2FDC7F7-E72D-DD71-5E27-284DDE1AFF59}"/>
              </a:ext>
            </a:extLst>
          </p:cNvPr>
          <p:cNvSpPr>
            <a:spLocks noGrp="1"/>
          </p:cNvSpPr>
          <p:nvPr>
            <p:ph type="title"/>
          </p:nvPr>
        </p:nvSpPr>
        <p:spPr/>
        <p:txBody>
          <a:bodyPr/>
          <a:lstStyle/>
          <a:p>
            <a:pPr>
              <a:lnSpc>
                <a:spcPts val="4042"/>
              </a:lnSpc>
            </a:pPr>
            <a:r>
              <a:rPr lang="en-US" dirty="0">
                <a:ea typeface="Montserrat Bold" pitchFamily="34" charset="-122"/>
                <a:cs typeface="Montserrat Bold" pitchFamily="34" charset="-120"/>
              </a:rPr>
              <a:t>Types of Loops in Python</a:t>
            </a:r>
            <a:br>
              <a:rPr lang="en-US" dirty="0"/>
            </a:br>
            <a:endParaRPr lang="en-US" dirty="0"/>
          </a:p>
        </p:txBody>
      </p:sp>
      <p:sp>
        <p:nvSpPr>
          <p:cNvPr id="3" name="TextBox 2">
            <a:extLst>
              <a:ext uri="{FF2B5EF4-FFF2-40B4-BE49-F238E27FC236}">
                <a16:creationId xmlns:a16="http://schemas.microsoft.com/office/drawing/2014/main" id="{2566741D-6AF5-1E39-8861-1A7CC8404483}"/>
              </a:ext>
            </a:extLst>
          </p:cNvPr>
          <p:cNvSpPr txBox="1"/>
          <p:nvPr/>
        </p:nvSpPr>
        <p:spPr>
          <a:xfrm>
            <a:off x="784503" y="2077652"/>
            <a:ext cx="1323697" cy="352448"/>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for Loop</a:t>
            </a:r>
            <a:endParaRPr lang="en-US" sz="1800" dirty="0">
              <a:solidFill>
                <a:srgbClr val="25274D"/>
              </a:solidFill>
              <a:latin typeface="Montserrat" panose="00000500000000000000" pitchFamily="2" charset="0"/>
            </a:endParaRPr>
          </a:p>
        </p:txBody>
      </p:sp>
      <p:sp>
        <p:nvSpPr>
          <p:cNvPr id="7" name="TextBox 6">
            <a:extLst>
              <a:ext uri="{FF2B5EF4-FFF2-40B4-BE49-F238E27FC236}">
                <a16:creationId xmlns:a16="http://schemas.microsoft.com/office/drawing/2014/main" id="{1564B671-F93F-CE51-A54C-583565522D3D}"/>
              </a:ext>
            </a:extLst>
          </p:cNvPr>
          <p:cNvSpPr txBox="1"/>
          <p:nvPr/>
        </p:nvSpPr>
        <p:spPr>
          <a:xfrm>
            <a:off x="573127" y="3499071"/>
            <a:ext cx="3962503" cy="1477328"/>
          </a:xfrm>
          <a:prstGeom prst="rect">
            <a:avLst/>
          </a:prstGeom>
          <a:noFill/>
        </p:spPr>
        <p:txBody>
          <a:bodyPr wrap="square">
            <a:spAutoFit/>
          </a:bodyPr>
          <a:lstStyle/>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Iterates over sequences like lists, strings or ranges</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endParaRPr lang="en-US" sz="1800" dirty="0">
              <a:solidFill>
                <a:srgbClr val="25274D"/>
              </a:solidFill>
              <a:latin typeface="Montserrat" panose="00000500000000000000" pitchFamily="2" charset="0"/>
            </a:endParaRP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Use when the number of iterations is known</a:t>
            </a:r>
            <a:endParaRPr lang="en-US" sz="1800" dirty="0">
              <a:solidFill>
                <a:srgbClr val="25274D"/>
              </a:solidFill>
              <a:latin typeface="Montserrat" panose="00000500000000000000" pitchFamily="2" charset="0"/>
            </a:endParaRPr>
          </a:p>
        </p:txBody>
      </p:sp>
      <p:sp>
        <p:nvSpPr>
          <p:cNvPr id="10" name="TextBox 9">
            <a:extLst>
              <a:ext uri="{FF2B5EF4-FFF2-40B4-BE49-F238E27FC236}">
                <a16:creationId xmlns:a16="http://schemas.microsoft.com/office/drawing/2014/main" id="{113433C4-AD97-C8D5-9A2C-EEA556866F94}"/>
              </a:ext>
            </a:extLst>
          </p:cNvPr>
          <p:cNvSpPr txBox="1"/>
          <p:nvPr/>
        </p:nvSpPr>
        <p:spPr>
          <a:xfrm>
            <a:off x="4769364" y="2013206"/>
            <a:ext cx="1555236"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while Loop</a:t>
            </a:r>
            <a:endParaRPr lang="en-US" sz="1800" dirty="0">
              <a:solidFill>
                <a:srgbClr val="25274D"/>
              </a:solidFill>
              <a:latin typeface="Montserrat" panose="00000500000000000000" pitchFamily="2" charset="0"/>
            </a:endParaRPr>
          </a:p>
        </p:txBody>
      </p:sp>
      <p:sp>
        <p:nvSpPr>
          <p:cNvPr id="14" name="TextBox 13">
            <a:extLst>
              <a:ext uri="{FF2B5EF4-FFF2-40B4-BE49-F238E27FC236}">
                <a16:creationId xmlns:a16="http://schemas.microsoft.com/office/drawing/2014/main" id="{89EA45E4-A417-06EB-B859-5FB65BCAE8DC}"/>
              </a:ext>
            </a:extLst>
          </p:cNvPr>
          <p:cNvSpPr txBox="1"/>
          <p:nvPr/>
        </p:nvSpPr>
        <p:spPr>
          <a:xfrm>
            <a:off x="4565837" y="3474741"/>
            <a:ext cx="3484243" cy="1477328"/>
          </a:xfrm>
          <a:prstGeom prst="rect">
            <a:avLst/>
          </a:prstGeom>
          <a:noFill/>
        </p:spPr>
        <p:txBody>
          <a:bodyPr wrap="square">
            <a:spAutoFit/>
          </a:bodyPr>
          <a:lstStyle/>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Repeats while a condition is True</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endParaRPr lang="en-US" sz="1800" dirty="0">
              <a:solidFill>
                <a:srgbClr val="25274D"/>
              </a:solidFill>
              <a:latin typeface="Montserrat" panose="00000500000000000000" pitchFamily="2" charset="0"/>
              <a:ea typeface="Montserrat" pitchFamily="34" charset="-122"/>
              <a:cs typeface="Montserrat" pitchFamily="34" charset="-120"/>
            </a:endParaRP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Use when the number of iterations is unknown</a:t>
            </a:r>
            <a:endParaRPr lang="en-US" sz="1800" dirty="0">
              <a:solidFill>
                <a:srgbClr val="25274D"/>
              </a:solidFill>
              <a:latin typeface="Montserrat" panose="00000500000000000000" pitchFamily="2" charset="0"/>
            </a:endParaRPr>
          </a:p>
        </p:txBody>
      </p:sp>
      <p:sp>
        <p:nvSpPr>
          <p:cNvPr id="16" name="TextBox 15">
            <a:extLst>
              <a:ext uri="{FF2B5EF4-FFF2-40B4-BE49-F238E27FC236}">
                <a16:creationId xmlns:a16="http://schemas.microsoft.com/office/drawing/2014/main" id="{DA668214-3E82-A74E-B4F9-542FADC50025}"/>
              </a:ext>
            </a:extLst>
          </p:cNvPr>
          <p:cNvSpPr txBox="1"/>
          <p:nvPr/>
        </p:nvSpPr>
        <p:spPr>
          <a:xfrm>
            <a:off x="8295861" y="1981200"/>
            <a:ext cx="1991139" cy="348813"/>
          </a:xfrm>
          <a:prstGeom prst="rect">
            <a:avLst/>
          </a:prstGeom>
          <a:noFill/>
        </p:spPr>
        <p:txBody>
          <a:bodyPr wrap="square">
            <a:spAutoFit/>
          </a:bodyPr>
          <a:lstStyle/>
          <a:p>
            <a:pPr>
              <a:lnSpc>
                <a:spcPts val="2000"/>
              </a:lnSpc>
            </a:pPr>
            <a:r>
              <a:rPr lang="en-US" sz="1800" b="1" dirty="0">
                <a:solidFill>
                  <a:srgbClr val="25274D"/>
                </a:solidFill>
                <a:latin typeface="Montserrat" panose="00000500000000000000" pitchFamily="2" charset="0"/>
                <a:ea typeface="Montserrat Bold" pitchFamily="34" charset="-122"/>
                <a:cs typeface="Montserrat Bold" pitchFamily="34" charset="-120"/>
              </a:rPr>
              <a:t>Nested Loops</a:t>
            </a:r>
            <a:endParaRPr lang="en-US" sz="1800" dirty="0">
              <a:solidFill>
                <a:srgbClr val="25274D"/>
              </a:solidFill>
              <a:latin typeface="Montserrat" panose="00000500000000000000" pitchFamily="2" charset="0"/>
            </a:endParaRPr>
          </a:p>
        </p:txBody>
      </p:sp>
      <p:sp>
        <p:nvSpPr>
          <p:cNvPr id="20" name="TextBox 19">
            <a:extLst>
              <a:ext uri="{FF2B5EF4-FFF2-40B4-BE49-F238E27FC236}">
                <a16:creationId xmlns:a16="http://schemas.microsoft.com/office/drawing/2014/main" id="{00726FAC-32A2-CF67-0161-9CE7387C4C97}"/>
              </a:ext>
            </a:extLst>
          </p:cNvPr>
          <p:cNvSpPr txBox="1"/>
          <p:nvPr/>
        </p:nvSpPr>
        <p:spPr>
          <a:xfrm>
            <a:off x="8300030" y="3474741"/>
            <a:ext cx="3697529" cy="1477328"/>
          </a:xfrm>
          <a:prstGeom prst="rect">
            <a:avLst/>
          </a:prstGeom>
          <a:noFill/>
        </p:spPr>
        <p:txBody>
          <a:bodyPr wrap="square">
            <a:spAutoFit/>
          </a:bodyPr>
          <a:lstStyle/>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Loops inside other loops</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endParaRPr lang="en-US" sz="1800" dirty="0">
              <a:solidFill>
                <a:srgbClr val="25274D"/>
              </a:solidFill>
              <a:latin typeface="Montserrat" panose="00000500000000000000" pitchFamily="2" charset="0"/>
            </a:endParaRP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1800" dirty="0">
                <a:solidFill>
                  <a:srgbClr val="25274D"/>
                </a:solidFill>
                <a:latin typeface="Montserrat" panose="00000500000000000000" pitchFamily="2" charset="0"/>
                <a:ea typeface="Montserrat" pitchFamily="34" charset="-122"/>
                <a:cs typeface="Montserrat" pitchFamily="34" charset="-120"/>
              </a:rPr>
              <a:t>Use when working with multi-dimensional data or complex patterns</a:t>
            </a:r>
            <a:endParaRPr lang="en-US" sz="1800" dirty="0">
              <a:solidFill>
                <a:srgbClr val="25274D"/>
              </a:solidFill>
              <a:latin typeface="Montserrat" panose="00000500000000000000" pitchFamily="2" charset="0"/>
            </a:endParaRPr>
          </a:p>
        </p:txBody>
      </p:sp>
      <p:grpSp>
        <p:nvGrpSpPr>
          <p:cNvPr id="19" name="Group 18">
            <a:extLst>
              <a:ext uri="{FF2B5EF4-FFF2-40B4-BE49-F238E27FC236}">
                <a16:creationId xmlns:a16="http://schemas.microsoft.com/office/drawing/2014/main" id="{96AF27A0-7EE9-4380-54DD-972F1D1F89E2}"/>
              </a:ext>
            </a:extLst>
          </p:cNvPr>
          <p:cNvGrpSpPr/>
          <p:nvPr/>
        </p:nvGrpSpPr>
        <p:grpSpPr>
          <a:xfrm>
            <a:off x="444526" y="2608478"/>
            <a:ext cx="3624554" cy="540674"/>
            <a:chOff x="444526" y="2608478"/>
            <a:chExt cx="3624554" cy="540674"/>
          </a:xfrm>
        </p:grpSpPr>
        <p:sp>
          <p:nvSpPr>
            <p:cNvPr id="17" name="Rectangle: Rounded Corners 16">
              <a:extLst>
                <a:ext uri="{FF2B5EF4-FFF2-40B4-BE49-F238E27FC236}">
                  <a16:creationId xmlns:a16="http://schemas.microsoft.com/office/drawing/2014/main" id="{2857549A-3DEE-AA85-9B1C-1CD3350B466E}"/>
                </a:ext>
              </a:extLst>
            </p:cNvPr>
            <p:cNvSpPr/>
            <p:nvPr/>
          </p:nvSpPr>
          <p:spPr>
            <a:xfrm>
              <a:off x="444526" y="2608478"/>
              <a:ext cx="3624554" cy="54067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2" name="Picture 21">
              <a:extLst>
                <a:ext uri="{FF2B5EF4-FFF2-40B4-BE49-F238E27FC236}">
                  <a16:creationId xmlns:a16="http://schemas.microsoft.com/office/drawing/2014/main" id="{56783B73-2591-1BDB-668C-C413F018AA1C}"/>
                </a:ext>
              </a:extLst>
            </p:cNvPr>
            <p:cNvPicPr>
              <a:picLocks noChangeAspect="1"/>
            </p:cNvPicPr>
            <p:nvPr/>
          </p:nvPicPr>
          <p:blipFill>
            <a:blip r:embed="rId3"/>
            <a:stretch>
              <a:fillRect/>
            </a:stretch>
          </p:blipFill>
          <p:spPr>
            <a:xfrm>
              <a:off x="546960" y="2701573"/>
              <a:ext cx="3419686" cy="352447"/>
            </a:xfrm>
            <a:prstGeom prst="rect">
              <a:avLst/>
            </a:prstGeom>
          </p:spPr>
        </p:pic>
      </p:grpSp>
      <p:pic>
        <p:nvPicPr>
          <p:cNvPr id="24" name="Picture 23">
            <a:extLst>
              <a:ext uri="{FF2B5EF4-FFF2-40B4-BE49-F238E27FC236}">
                <a16:creationId xmlns:a16="http://schemas.microsoft.com/office/drawing/2014/main" id="{6C252DF9-97A4-4EA2-CEA2-46D066F3A3AC}"/>
              </a:ext>
            </a:extLst>
          </p:cNvPr>
          <p:cNvPicPr>
            <a:picLocks noChangeAspect="1"/>
          </p:cNvPicPr>
          <p:nvPr/>
        </p:nvPicPr>
        <p:blipFill>
          <a:blip r:embed="rId4"/>
          <a:stretch>
            <a:fillRect/>
          </a:stretch>
        </p:blipFill>
        <p:spPr>
          <a:xfrm>
            <a:off x="4545293" y="2701573"/>
            <a:ext cx="3116785" cy="359256"/>
          </a:xfrm>
          <a:prstGeom prst="rect">
            <a:avLst/>
          </a:prstGeom>
        </p:spPr>
      </p:pic>
      <p:pic>
        <p:nvPicPr>
          <p:cNvPr id="26" name="Picture 25">
            <a:extLst>
              <a:ext uri="{FF2B5EF4-FFF2-40B4-BE49-F238E27FC236}">
                <a16:creationId xmlns:a16="http://schemas.microsoft.com/office/drawing/2014/main" id="{CEE09B48-9F4D-5566-D4B7-E32C1B62DCF1}"/>
              </a:ext>
            </a:extLst>
          </p:cNvPr>
          <p:cNvPicPr>
            <a:picLocks noChangeAspect="1"/>
          </p:cNvPicPr>
          <p:nvPr/>
        </p:nvPicPr>
        <p:blipFill>
          <a:blip r:embed="rId5"/>
          <a:stretch>
            <a:fillRect/>
          </a:stretch>
        </p:blipFill>
        <p:spPr>
          <a:xfrm>
            <a:off x="8377755" y="2668919"/>
            <a:ext cx="2671246" cy="434348"/>
          </a:xfrm>
          <a:prstGeom prst="rect">
            <a:avLst/>
          </a:prstGeom>
        </p:spPr>
      </p:pic>
    </p:spTree>
    <p:extLst>
      <p:ext uri="{BB962C8B-B14F-4D97-AF65-F5344CB8AC3E}">
        <p14:creationId xmlns:p14="http://schemas.microsoft.com/office/powerpoint/2010/main" val="7526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1000"/>
                                        <p:tgtEl>
                                          <p:spTgt spid="20"/>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childTnLst>
                                </p:cTn>
                              </p:par>
                              <p:par>
                                <p:cTn id="32" presetID="10" presetClass="entr" presetSubtype="0" fill="hold" nodeType="withEffect">
                                  <p:stCondLst>
                                    <p:cond delay="50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childTnLst>
                                </p:cTn>
                              </p:par>
                              <p:par>
                                <p:cTn id="35" presetID="10" presetClass="entr" presetSubtype="0" fill="hold" nodeType="withEffect">
                                  <p:stCondLst>
                                    <p:cond delay="50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childTnLst>
                                </p:cTn>
                              </p:par>
                              <p:par>
                                <p:cTn id="38" presetID="10" presetClass="entr" presetSubtype="0" fill="hold" nodeType="withEffect">
                                  <p:stCondLst>
                                    <p:cond delay="50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8" grpId="0"/>
      <p:bldP spid="3" grpId="0"/>
      <p:bldP spid="7" grpId="0"/>
      <p:bldP spid="10" grpId="0"/>
      <p:bldP spid="14" grpId="0"/>
      <p:bldP spid="16" grpId="0"/>
      <p:bldP spid="2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7102-7936-0F5C-4719-5B6BD0D8926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CB65BA9-817F-626D-7ABE-13FB9F1F8B23}"/>
              </a:ext>
            </a:extLst>
          </p:cNvPr>
          <p:cNvSpPr/>
          <p:nvPr/>
        </p:nvSpPr>
        <p:spPr>
          <a:xfrm>
            <a:off x="3386631" y="2928551"/>
            <a:ext cx="4422839" cy="151988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B1D78295-05F6-9527-DA1D-5AE5B33934C7}"/>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The for Loop: Iterating Over Sequences</a:t>
            </a:r>
            <a:br>
              <a:rPr lang="en-US" dirty="0"/>
            </a:br>
            <a:endParaRPr lang="en-US" dirty="0"/>
          </a:p>
        </p:txBody>
      </p:sp>
      <p:sp>
        <p:nvSpPr>
          <p:cNvPr id="3" name="TextBox 2">
            <a:extLst>
              <a:ext uri="{FF2B5EF4-FFF2-40B4-BE49-F238E27FC236}">
                <a16:creationId xmlns:a16="http://schemas.microsoft.com/office/drawing/2014/main" id="{8CA00DFE-B692-EE9D-1197-E0F9C2A4EF43}"/>
              </a:ext>
            </a:extLst>
          </p:cNvPr>
          <p:cNvSpPr txBox="1"/>
          <p:nvPr/>
        </p:nvSpPr>
        <p:spPr>
          <a:xfrm>
            <a:off x="1639109" y="2335110"/>
            <a:ext cx="9057645" cy="369332"/>
          </a:xfrm>
          <a:prstGeom prst="rect">
            <a:avLst/>
          </a:prstGeom>
          <a:noFill/>
        </p:spPr>
        <p:txBody>
          <a:bodyPr wrap="square">
            <a:spAutoFit/>
          </a:bodyPr>
          <a:lstStyle/>
          <a:p>
            <a:r>
              <a:rPr lang="en-US" dirty="0">
                <a:solidFill>
                  <a:srgbClr val="25274D"/>
                </a:solidFill>
                <a:latin typeface="Montserrat" panose="00000500000000000000" pitchFamily="2" charset="0"/>
              </a:rPr>
              <a:t>Iterates through a sequence, running the code block for each item</a:t>
            </a:r>
          </a:p>
        </p:txBody>
      </p:sp>
      <p:pic>
        <p:nvPicPr>
          <p:cNvPr id="5" name="Picture 4">
            <a:extLst>
              <a:ext uri="{FF2B5EF4-FFF2-40B4-BE49-F238E27FC236}">
                <a16:creationId xmlns:a16="http://schemas.microsoft.com/office/drawing/2014/main" id="{0C079D02-85D0-545E-37B9-09EE0A81CFBA}"/>
              </a:ext>
            </a:extLst>
          </p:cNvPr>
          <p:cNvPicPr>
            <a:picLocks noChangeAspect="1"/>
          </p:cNvPicPr>
          <p:nvPr/>
        </p:nvPicPr>
        <p:blipFill>
          <a:blip r:embed="rId3"/>
          <a:stretch>
            <a:fillRect/>
          </a:stretch>
        </p:blipFill>
        <p:spPr>
          <a:xfrm>
            <a:off x="3553628" y="3060829"/>
            <a:ext cx="4111991" cy="1241877"/>
          </a:xfrm>
          <a:prstGeom prst="rect">
            <a:avLst/>
          </a:prstGeom>
        </p:spPr>
      </p:pic>
      <p:sp>
        <p:nvSpPr>
          <p:cNvPr id="2" name="Speech Bubble: Rectangle with Corners Rounded 1">
            <a:extLst>
              <a:ext uri="{FF2B5EF4-FFF2-40B4-BE49-F238E27FC236}">
                <a16:creationId xmlns:a16="http://schemas.microsoft.com/office/drawing/2014/main" id="{7AC3DD30-FC56-588A-FB3A-304E40120AF4}"/>
              </a:ext>
            </a:extLst>
          </p:cNvPr>
          <p:cNvSpPr/>
          <p:nvPr/>
        </p:nvSpPr>
        <p:spPr>
          <a:xfrm>
            <a:off x="7450957" y="4233824"/>
            <a:ext cx="3245797" cy="1241878"/>
          </a:xfrm>
          <a:prstGeom prst="wedgeRoundRectCallout">
            <a:avLst>
              <a:gd name="adj1" fmla="val -76918"/>
              <a:gd name="adj2" fmla="val -56818"/>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anose="00000500000000000000" pitchFamily="2" charset="0"/>
              </a:rPr>
              <a:t>Ideal for processing each element without using indices or counters</a:t>
            </a:r>
          </a:p>
        </p:txBody>
      </p:sp>
    </p:spTree>
    <p:extLst>
      <p:ext uri="{BB962C8B-B14F-4D97-AF65-F5344CB8AC3E}">
        <p14:creationId xmlns:p14="http://schemas.microsoft.com/office/powerpoint/2010/main" val="87949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par>
                                <p:cTn id="17" presetID="10" presetClass="entr" presetSubtype="0" fill="hold" nodeType="withEffect">
                                  <p:stCondLst>
                                    <p:cond delay="5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3" grpId="0"/>
      <p:bldP spid="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CAAE-A787-33C9-D52E-57D201312FF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9AD7363-0F28-45C4-37FA-4E4897AADB69}"/>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Using range() with for Loops</a:t>
            </a:r>
            <a:br>
              <a:rPr lang="en-US" dirty="0"/>
            </a:br>
            <a:endParaRPr lang="en-US" dirty="0"/>
          </a:p>
        </p:txBody>
      </p:sp>
      <p:sp>
        <p:nvSpPr>
          <p:cNvPr id="13" name="Text Placeholder 12">
            <a:extLst>
              <a:ext uri="{FF2B5EF4-FFF2-40B4-BE49-F238E27FC236}">
                <a16:creationId xmlns:a16="http://schemas.microsoft.com/office/drawing/2014/main" id="{2694E623-AAE6-6224-563A-626C3E03F178}"/>
              </a:ext>
            </a:extLst>
          </p:cNvPr>
          <p:cNvSpPr>
            <a:spLocks noGrp="1"/>
          </p:cNvSpPr>
          <p:nvPr>
            <p:ph type="body" sz="quarter" idx="10"/>
          </p:nvPr>
        </p:nvSpPr>
        <p:spPr/>
        <p:txBody>
          <a:bodyPr/>
          <a:lstStyle/>
          <a:p>
            <a:r>
              <a:rPr lang="en-GB" dirty="0"/>
              <a:t>The range() Function</a:t>
            </a:r>
          </a:p>
          <a:p>
            <a:endParaRPr lang="en-GB" dirty="0"/>
          </a:p>
        </p:txBody>
      </p:sp>
      <p:grpSp>
        <p:nvGrpSpPr>
          <p:cNvPr id="2" name="Group 1">
            <a:extLst>
              <a:ext uri="{FF2B5EF4-FFF2-40B4-BE49-F238E27FC236}">
                <a16:creationId xmlns:a16="http://schemas.microsoft.com/office/drawing/2014/main" id="{9DAF5058-E526-ABD2-BFA7-2D7981850CFB}"/>
              </a:ext>
            </a:extLst>
          </p:cNvPr>
          <p:cNvGrpSpPr/>
          <p:nvPr/>
        </p:nvGrpSpPr>
        <p:grpSpPr>
          <a:xfrm>
            <a:off x="2939143" y="2643908"/>
            <a:ext cx="6313714" cy="1496292"/>
            <a:chOff x="1840593" y="1281546"/>
            <a:chExt cx="6313714" cy="1496292"/>
          </a:xfrm>
        </p:grpSpPr>
        <p:sp>
          <p:nvSpPr>
            <p:cNvPr id="4" name="Rectangle: Top Corners Rounded 3">
              <a:extLst>
                <a:ext uri="{FF2B5EF4-FFF2-40B4-BE49-F238E27FC236}">
                  <a16:creationId xmlns:a16="http://schemas.microsoft.com/office/drawing/2014/main" id="{B0FABAD0-44AC-BC85-4936-FA815153E3CB}"/>
                </a:ext>
              </a:extLst>
            </p:cNvPr>
            <p:cNvSpPr/>
            <p:nvPr/>
          </p:nvSpPr>
          <p:spPr>
            <a:xfrm>
              <a:off x="1840593" y="1281546"/>
              <a:ext cx="6313714" cy="546032"/>
            </a:xfrm>
            <a:prstGeom prst="round2Same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Top Corners Rounded 5">
              <a:extLst>
                <a:ext uri="{FF2B5EF4-FFF2-40B4-BE49-F238E27FC236}">
                  <a16:creationId xmlns:a16="http://schemas.microsoft.com/office/drawing/2014/main" id="{DB59BD55-0E6C-2793-F053-F3A87FB329EF}"/>
                </a:ext>
              </a:extLst>
            </p:cNvPr>
            <p:cNvSpPr/>
            <p:nvPr/>
          </p:nvSpPr>
          <p:spPr>
            <a:xfrm rot="10800000">
              <a:off x="1840593" y="1827578"/>
              <a:ext cx="6313714" cy="950260"/>
            </a:xfrm>
            <a:prstGeom prst="round2SameRect">
              <a:avLst>
                <a:gd name="adj1" fmla="val 12667"/>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6B120AF-5465-F85F-F9A7-8EC4CD3C6600}"/>
                </a:ext>
              </a:extLst>
            </p:cNvPr>
            <p:cNvSpPr txBox="1"/>
            <p:nvPr/>
          </p:nvSpPr>
          <p:spPr>
            <a:xfrm>
              <a:off x="1855107" y="1373971"/>
              <a:ext cx="6212114" cy="369332"/>
            </a:xfrm>
            <a:prstGeom prst="rect">
              <a:avLst/>
            </a:prstGeom>
            <a:noFill/>
          </p:spPr>
          <p:txBody>
            <a:bodyPr wrap="square">
              <a:spAutoFit/>
            </a:bodyPr>
            <a:lstStyle/>
            <a:p>
              <a:pPr algn="ctr"/>
              <a:r>
                <a:rPr lang="en-US" b="1" dirty="0">
                  <a:solidFill>
                    <a:schemeClr val="bg1"/>
                  </a:solidFill>
                  <a:latin typeface="Montserrat" panose="00000500000000000000" pitchFamily="2" charset="0"/>
                </a:rPr>
                <a:t>Generates a sequence of numbers for iteration</a:t>
              </a:r>
            </a:p>
          </p:txBody>
        </p:sp>
        <p:sp>
          <p:nvSpPr>
            <p:cNvPr id="9" name="TextBox 8">
              <a:extLst>
                <a:ext uri="{FF2B5EF4-FFF2-40B4-BE49-F238E27FC236}">
                  <a16:creationId xmlns:a16="http://schemas.microsoft.com/office/drawing/2014/main" id="{21C020C0-3B11-1A24-7F52-0E519E8687F3}"/>
                </a:ext>
              </a:extLst>
            </p:cNvPr>
            <p:cNvSpPr txBox="1"/>
            <p:nvPr/>
          </p:nvSpPr>
          <p:spPr>
            <a:xfrm>
              <a:off x="1913164" y="1877942"/>
              <a:ext cx="3367316"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range(stop) - 0 to stop-1</a:t>
              </a:r>
            </a:p>
          </p:txBody>
        </p:sp>
        <p:sp>
          <p:nvSpPr>
            <p:cNvPr id="10" name="TextBox 9">
              <a:extLst>
                <a:ext uri="{FF2B5EF4-FFF2-40B4-BE49-F238E27FC236}">
                  <a16:creationId xmlns:a16="http://schemas.microsoft.com/office/drawing/2014/main" id="{BADD7DA5-2A1C-2EEF-164D-A6F9670AA656}"/>
                </a:ext>
              </a:extLst>
            </p:cNvPr>
            <p:cNvSpPr txBox="1"/>
            <p:nvPr/>
          </p:nvSpPr>
          <p:spPr>
            <a:xfrm>
              <a:off x="1913163" y="2298856"/>
              <a:ext cx="6154058"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range(start, stop, step) - with custom increments</a:t>
              </a:r>
            </a:p>
          </p:txBody>
        </p:sp>
      </p:grpSp>
    </p:spTree>
    <p:extLst>
      <p:ext uri="{BB962C8B-B14F-4D97-AF65-F5344CB8AC3E}">
        <p14:creationId xmlns:p14="http://schemas.microsoft.com/office/powerpoint/2010/main" val="96601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3">
                                            <p:txEl>
                                              <p:pRg st="0" end="0"/>
                                            </p:txEl>
                                          </p:spTgt>
                                        </p:tgtEl>
                                        <p:attrNameLst>
                                          <p:attrName>style.visibility</p:attrName>
                                        </p:attrNameLst>
                                      </p:cBhvr>
                                      <p:to>
                                        <p:strVal val="visible"/>
                                      </p:to>
                                    </p:set>
                                    <p:animEffect transition="in" filter="fade">
                                      <p:cBhvr>
                                        <p:cTn id="10" dur="1000"/>
                                        <p:tgtEl>
                                          <p:spTgt spid="13">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B1E7E-7F08-4E4E-1579-9158378BFB9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556DFBB-743A-122C-33ED-2851EED637CE}"/>
              </a:ext>
            </a:extLst>
          </p:cNvPr>
          <p:cNvSpPr/>
          <p:nvPr/>
        </p:nvSpPr>
        <p:spPr>
          <a:xfrm>
            <a:off x="2240279" y="4401822"/>
            <a:ext cx="1811021" cy="100679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D1D06961-719A-1CAB-8A6E-9A987D92713B}"/>
              </a:ext>
            </a:extLst>
          </p:cNvPr>
          <p:cNvSpPr/>
          <p:nvPr/>
        </p:nvSpPr>
        <p:spPr>
          <a:xfrm>
            <a:off x="1820352" y="2284801"/>
            <a:ext cx="3945447" cy="64633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ADC7C537-FEAB-5A8C-D249-7DACDC27ECD5}"/>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Using range() with for Loops</a:t>
            </a:r>
            <a:br>
              <a:rPr lang="en-US" dirty="0"/>
            </a:br>
            <a:endParaRPr lang="en-US" dirty="0"/>
          </a:p>
        </p:txBody>
      </p:sp>
      <p:sp>
        <p:nvSpPr>
          <p:cNvPr id="12" name="TextBox 11">
            <a:extLst>
              <a:ext uri="{FF2B5EF4-FFF2-40B4-BE49-F238E27FC236}">
                <a16:creationId xmlns:a16="http://schemas.microsoft.com/office/drawing/2014/main" id="{5377DBB5-E99B-21DC-949B-E7E049498CA7}"/>
              </a:ext>
            </a:extLst>
          </p:cNvPr>
          <p:cNvSpPr txBox="1"/>
          <p:nvPr/>
        </p:nvSpPr>
        <p:spPr>
          <a:xfrm>
            <a:off x="5906219" y="2212811"/>
            <a:ext cx="5719086" cy="630942"/>
          </a:xfrm>
          <a:prstGeom prst="rect">
            <a:avLst/>
          </a:prstGeom>
          <a:noFill/>
        </p:spPr>
        <p:txBody>
          <a:bodyPr wrap="square">
            <a:spAutoFit/>
          </a:bodyPr>
          <a:lstStyle/>
          <a:p>
            <a:pPr>
              <a:lnSpc>
                <a:spcPts val="2083"/>
              </a:lnSpc>
            </a:pPr>
            <a:r>
              <a:rPr lang="en-US" sz="1800" dirty="0">
                <a:solidFill>
                  <a:srgbClr val="25274D"/>
                </a:solidFill>
                <a:latin typeface="Montserrat" panose="00000500000000000000" pitchFamily="2" charset="0"/>
                <a:ea typeface="Montserrat" pitchFamily="34" charset="-122"/>
                <a:cs typeface="Montserrat" pitchFamily="34" charset="-120"/>
              </a:rPr>
              <a:t>This code will print numbers 1 through 5, stopping before it reaches 6</a:t>
            </a:r>
            <a:endParaRPr lang="en-US" sz="1800" dirty="0">
              <a:solidFill>
                <a:srgbClr val="25274D"/>
              </a:solidFill>
              <a:latin typeface="Montserrat" panose="00000500000000000000" pitchFamily="2" charset="0"/>
            </a:endParaRPr>
          </a:p>
        </p:txBody>
      </p:sp>
      <p:sp>
        <p:nvSpPr>
          <p:cNvPr id="4" name="TextBox 3">
            <a:extLst>
              <a:ext uri="{FF2B5EF4-FFF2-40B4-BE49-F238E27FC236}">
                <a16:creationId xmlns:a16="http://schemas.microsoft.com/office/drawing/2014/main" id="{29D4E228-89BF-D7E9-7D85-DDA671C9A1DD}"/>
              </a:ext>
            </a:extLst>
          </p:cNvPr>
          <p:cNvSpPr txBox="1"/>
          <p:nvPr/>
        </p:nvSpPr>
        <p:spPr>
          <a:xfrm>
            <a:off x="2013105" y="1638845"/>
            <a:ext cx="3284337" cy="361637"/>
          </a:xfrm>
          <a:prstGeom prst="rect">
            <a:avLst/>
          </a:prstGeom>
          <a:noFill/>
        </p:spPr>
        <p:txBody>
          <a:bodyPr wrap="square">
            <a:spAutoFit/>
          </a:bodyPr>
          <a:lstStyle/>
          <a:p>
            <a:pPr marL="285750" indent="-285750">
              <a:lnSpc>
                <a:spcPts val="2083"/>
              </a:lnSpc>
              <a:buFont typeface="Arial" panose="020B0604020202020204" pitchFamily="34" charset="0"/>
              <a:buChar char="•"/>
            </a:pPr>
            <a:r>
              <a:rPr lang="en-US" sz="1800" b="1" dirty="0">
                <a:solidFill>
                  <a:srgbClr val="25274D"/>
                </a:solidFill>
                <a:latin typeface="Montserrat" panose="00000500000000000000" pitchFamily="2" charset="0"/>
                <a:ea typeface="Montserrat" pitchFamily="34" charset="-122"/>
                <a:cs typeface="Montserrat" pitchFamily="34" charset="-120"/>
              </a:rPr>
              <a:t>Example</a:t>
            </a:r>
            <a:endParaRPr lang="en-US" sz="1800" b="1" dirty="0">
              <a:solidFill>
                <a:srgbClr val="25274D"/>
              </a:solidFill>
              <a:latin typeface="Montserrat" panose="00000500000000000000" pitchFamily="2" charset="0"/>
            </a:endParaRPr>
          </a:p>
        </p:txBody>
      </p:sp>
      <p:sp>
        <p:nvSpPr>
          <p:cNvPr id="6" name="TextBox 5">
            <a:extLst>
              <a:ext uri="{FF2B5EF4-FFF2-40B4-BE49-F238E27FC236}">
                <a16:creationId xmlns:a16="http://schemas.microsoft.com/office/drawing/2014/main" id="{487AA047-6A6E-B7C5-AAC4-8D4BC9A8EF3A}"/>
              </a:ext>
            </a:extLst>
          </p:cNvPr>
          <p:cNvSpPr txBox="1"/>
          <p:nvPr/>
        </p:nvSpPr>
        <p:spPr>
          <a:xfrm>
            <a:off x="2013104" y="3881898"/>
            <a:ext cx="3284337" cy="361637"/>
          </a:xfrm>
          <a:prstGeom prst="rect">
            <a:avLst/>
          </a:prstGeom>
          <a:noFill/>
        </p:spPr>
        <p:txBody>
          <a:bodyPr wrap="square">
            <a:spAutoFit/>
          </a:bodyPr>
          <a:lstStyle/>
          <a:p>
            <a:pPr marL="285750" indent="-285750">
              <a:lnSpc>
                <a:spcPts val="2083"/>
              </a:lnSpc>
              <a:buFont typeface="Arial" panose="020B0604020202020204" pitchFamily="34" charset="0"/>
              <a:buChar char="•"/>
            </a:pPr>
            <a:r>
              <a:rPr lang="en-US" sz="1800" b="1" dirty="0">
                <a:solidFill>
                  <a:srgbClr val="25274D"/>
                </a:solidFill>
                <a:latin typeface="Montserrat" panose="00000500000000000000" pitchFamily="2" charset="0"/>
                <a:ea typeface="Montserrat" pitchFamily="34" charset="-122"/>
                <a:cs typeface="Montserrat" pitchFamily="34" charset="-120"/>
              </a:rPr>
              <a:t>Output</a:t>
            </a:r>
            <a:endParaRPr lang="en-US" sz="1800" b="1" dirty="0">
              <a:solidFill>
                <a:srgbClr val="25274D"/>
              </a:solidFill>
              <a:latin typeface="Montserrat" panose="00000500000000000000" pitchFamily="2" charset="0"/>
            </a:endParaRPr>
          </a:p>
        </p:txBody>
      </p:sp>
      <p:sp>
        <p:nvSpPr>
          <p:cNvPr id="11" name="TextBox 10">
            <a:extLst>
              <a:ext uri="{FF2B5EF4-FFF2-40B4-BE49-F238E27FC236}">
                <a16:creationId xmlns:a16="http://schemas.microsoft.com/office/drawing/2014/main" id="{D02739A3-13B4-8CD9-043E-2C27602A79CE}"/>
              </a:ext>
            </a:extLst>
          </p:cNvPr>
          <p:cNvSpPr txBox="1"/>
          <p:nvPr/>
        </p:nvSpPr>
        <p:spPr>
          <a:xfrm>
            <a:off x="6096000" y="4568444"/>
            <a:ext cx="4299926" cy="646331"/>
          </a:xfrm>
          <a:prstGeom prst="rect">
            <a:avLst/>
          </a:prstGeom>
          <a:noFill/>
        </p:spPr>
        <p:txBody>
          <a:bodyPr wrap="square">
            <a:spAutoFit/>
          </a:bodyPr>
          <a:lstStyle/>
          <a:p>
            <a:r>
              <a:rPr lang="en-US" dirty="0">
                <a:solidFill>
                  <a:srgbClr val="25274D"/>
                </a:solidFill>
                <a:latin typeface="Montserrat" panose="00000500000000000000" pitchFamily="2" charset="0"/>
              </a:rPr>
              <a:t>Generates values on-demand, saving memory</a:t>
            </a:r>
          </a:p>
        </p:txBody>
      </p:sp>
      <p:pic>
        <p:nvPicPr>
          <p:cNvPr id="10" name="Picture 9">
            <a:extLst>
              <a:ext uri="{FF2B5EF4-FFF2-40B4-BE49-F238E27FC236}">
                <a16:creationId xmlns:a16="http://schemas.microsoft.com/office/drawing/2014/main" id="{F07D9025-92C4-4660-C8B4-C3AADD9004F7}"/>
              </a:ext>
            </a:extLst>
          </p:cNvPr>
          <p:cNvPicPr>
            <a:picLocks noChangeAspect="1"/>
          </p:cNvPicPr>
          <p:nvPr/>
        </p:nvPicPr>
        <p:blipFill>
          <a:blip r:embed="rId3"/>
          <a:stretch>
            <a:fillRect/>
          </a:stretch>
        </p:blipFill>
        <p:spPr>
          <a:xfrm>
            <a:off x="2013104" y="2386126"/>
            <a:ext cx="3617722" cy="443683"/>
          </a:xfrm>
          <a:prstGeom prst="rect">
            <a:avLst/>
          </a:prstGeom>
        </p:spPr>
      </p:pic>
      <p:pic>
        <p:nvPicPr>
          <p:cNvPr id="16" name="Picture 15">
            <a:extLst>
              <a:ext uri="{FF2B5EF4-FFF2-40B4-BE49-F238E27FC236}">
                <a16:creationId xmlns:a16="http://schemas.microsoft.com/office/drawing/2014/main" id="{907D713E-6342-DEDE-A6E5-6BE4211CD65E}"/>
              </a:ext>
            </a:extLst>
          </p:cNvPr>
          <p:cNvPicPr>
            <a:picLocks noChangeAspect="1"/>
          </p:cNvPicPr>
          <p:nvPr/>
        </p:nvPicPr>
        <p:blipFill>
          <a:blip r:embed="rId4"/>
          <a:stretch>
            <a:fillRect/>
          </a:stretch>
        </p:blipFill>
        <p:spPr>
          <a:xfrm>
            <a:off x="2375885" y="4479069"/>
            <a:ext cx="1554089" cy="816555"/>
          </a:xfrm>
          <a:prstGeom prst="rect">
            <a:avLst/>
          </a:prstGeom>
        </p:spPr>
      </p:pic>
    </p:spTree>
    <p:extLst>
      <p:ext uri="{BB962C8B-B14F-4D97-AF65-F5344CB8AC3E}">
        <p14:creationId xmlns:p14="http://schemas.microsoft.com/office/powerpoint/2010/main" val="4195593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childTnLst>
                                </p:cTn>
                              </p:par>
                              <p:par>
                                <p:cTn id="23" presetID="10" presetClass="entr" presetSubtype="0" fill="hold" nodeType="withEffect">
                                  <p:stCondLst>
                                    <p:cond delay="5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childTnLst>
                                </p:cTn>
                              </p:par>
                              <p:par>
                                <p:cTn id="29" presetID="10" presetClass="entr" presetSubtype="0" fill="hold" nodeType="withEffect">
                                  <p:stCondLst>
                                    <p:cond delay="50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8" grpId="0"/>
      <p:bldP spid="12" grpId="0"/>
      <p:bldP spid="4" grpId="0"/>
      <p:bldP spid="6" grpId="0"/>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725D1-3F15-7B8C-9840-61815069E44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96FAF13-CC6E-8096-8A05-20446745ADD3}"/>
              </a:ext>
            </a:extLst>
          </p:cNvPr>
          <p:cNvSpPr/>
          <p:nvPr/>
        </p:nvSpPr>
        <p:spPr>
          <a:xfrm>
            <a:off x="1085848" y="2558053"/>
            <a:ext cx="4124328" cy="213451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20453FF8-C30D-5FCF-1F83-0C6608681624}"/>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The while Loop: Condition-Based Repetition</a:t>
            </a:r>
            <a:br>
              <a:rPr lang="en-US" dirty="0"/>
            </a:br>
            <a:endParaRPr lang="en-US" dirty="0"/>
          </a:p>
        </p:txBody>
      </p:sp>
      <p:sp>
        <p:nvSpPr>
          <p:cNvPr id="6" name="Text Placeholder 5">
            <a:extLst>
              <a:ext uri="{FF2B5EF4-FFF2-40B4-BE49-F238E27FC236}">
                <a16:creationId xmlns:a16="http://schemas.microsoft.com/office/drawing/2014/main" id="{ECD7DE45-C101-C593-63B2-66376E47D4B6}"/>
              </a:ext>
            </a:extLst>
          </p:cNvPr>
          <p:cNvSpPr>
            <a:spLocks noGrp="1"/>
          </p:cNvSpPr>
          <p:nvPr>
            <p:ph type="body" sz="quarter" idx="10"/>
          </p:nvPr>
        </p:nvSpPr>
        <p:spPr/>
        <p:txBody>
          <a:bodyPr/>
          <a:lstStyle/>
          <a:p>
            <a:r>
              <a:rPr lang="en-US" dirty="0"/>
              <a:t>Key Functionality</a:t>
            </a:r>
          </a:p>
          <a:p>
            <a:endParaRPr lang="en-US" dirty="0"/>
          </a:p>
        </p:txBody>
      </p:sp>
      <p:sp>
        <p:nvSpPr>
          <p:cNvPr id="18" name="TextBox 17">
            <a:extLst>
              <a:ext uri="{FF2B5EF4-FFF2-40B4-BE49-F238E27FC236}">
                <a16:creationId xmlns:a16="http://schemas.microsoft.com/office/drawing/2014/main" id="{E80BE898-2635-6E34-7058-0F1C6B3A59DC}"/>
              </a:ext>
            </a:extLst>
          </p:cNvPr>
          <p:cNvSpPr txBox="1"/>
          <p:nvPr/>
        </p:nvSpPr>
        <p:spPr>
          <a:xfrm>
            <a:off x="6282378" y="2814555"/>
            <a:ext cx="5098092" cy="1477328"/>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Executes as long as its condition remains True.</a:t>
            </a:r>
          </a:p>
          <a:p>
            <a:pPr marL="285750" indent="-285750">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buFont typeface="Arial" panose="020B0604020202020204" pitchFamily="34" charset="0"/>
              <a:buChar char="•"/>
            </a:pPr>
            <a:r>
              <a:rPr lang="en-US" dirty="0">
                <a:solidFill>
                  <a:srgbClr val="25274D"/>
                </a:solidFill>
                <a:latin typeface="Montserrat" panose="00000500000000000000" pitchFamily="2" charset="0"/>
              </a:rPr>
              <a:t>Requires a statement to eventually make the condition False.</a:t>
            </a:r>
          </a:p>
        </p:txBody>
      </p:sp>
      <p:grpSp>
        <p:nvGrpSpPr>
          <p:cNvPr id="3" name="Group 2">
            <a:extLst>
              <a:ext uri="{FF2B5EF4-FFF2-40B4-BE49-F238E27FC236}">
                <a16:creationId xmlns:a16="http://schemas.microsoft.com/office/drawing/2014/main" id="{0BACF9E2-DAF5-FFC9-93AF-66DEB91D7A98}"/>
              </a:ext>
            </a:extLst>
          </p:cNvPr>
          <p:cNvGrpSpPr/>
          <p:nvPr/>
        </p:nvGrpSpPr>
        <p:grpSpPr>
          <a:xfrm>
            <a:off x="2050211" y="5669872"/>
            <a:ext cx="8091578" cy="646331"/>
            <a:chOff x="2682240" y="5771472"/>
            <a:chExt cx="8091578" cy="646331"/>
          </a:xfrm>
        </p:grpSpPr>
        <p:sp>
          <p:nvSpPr>
            <p:cNvPr id="2" name="Rectangle: Rounded Corners 1">
              <a:extLst>
                <a:ext uri="{FF2B5EF4-FFF2-40B4-BE49-F238E27FC236}">
                  <a16:creationId xmlns:a16="http://schemas.microsoft.com/office/drawing/2014/main" id="{AE0B8665-5BC5-9217-5399-664EFE389958}"/>
                </a:ext>
              </a:extLst>
            </p:cNvPr>
            <p:cNvSpPr/>
            <p:nvPr/>
          </p:nvSpPr>
          <p:spPr>
            <a:xfrm>
              <a:off x="2682240" y="5771472"/>
              <a:ext cx="8091578" cy="646331"/>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72B62D2-076B-2416-D97B-52338EAD55BB}"/>
                    </a:ext>
                  </a:extLst>
                </p:cNvPr>
                <p:cNvSpPr txBox="1"/>
                <p:nvPr/>
              </p:nvSpPr>
              <p:spPr>
                <a:xfrm>
                  <a:off x="2826589" y="5771472"/>
                  <a:ext cx="7802880" cy="646331"/>
                </a:xfrm>
                <a:prstGeom prst="rect">
                  <a:avLst/>
                </a:prstGeom>
                <a:noFill/>
              </p:spPr>
              <p:txBody>
                <a:bodyPr wrap="square">
                  <a:spAutoFit/>
                </a:bodyPr>
                <a:lstStyle/>
                <a:p>
                  <a:pPr algn="ctr"/>
                  <a:r>
                    <a:rPr lang="en-US" b="1" dirty="0">
                      <a:solidFill>
                        <a:schemeClr val="bg1"/>
                      </a:solidFill>
                      <a:latin typeface="Montserrat" panose="00000500000000000000" pitchFamily="2" charset="0"/>
                      <a:ea typeface="Montserrat" pitchFamily="34" charset="-122"/>
                      <a:cs typeface="Montserrat" pitchFamily="34" charset="-120"/>
                    </a:rPr>
                    <a:t>Warning:</a:t>
                  </a:r>
                  <a:r>
                    <a:rPr lang="en-US" dirty="0">
                      <a:solidFill>
                        <a:schemeClr val="bg1"/>
                      </a:solidFill>
                      <a:latin typeface="Montserrat" panose="00000500000000000000" pitchFamily="2" charset="0"/>
                      <a:ea typeface="Montserrat" pitchFamily="34" charset="-122"/>
                      <a:cs typeface="Montserrat" pitchFamily="34" charset="-120"/>
                    </a:rPr>
                    <a:t> </a:t>
                  </a:r>
                  <a:r>
                    <a:rPr lang="en-US" dirty="0">
                      <a:solidFill>
                        <a:schemeClr val="bg1"/>
                      </a:solidFill>
                      <a:latin typeface="Montserrat" panose="00000500000000000000" pitchFamily="2" charset="0"/>
                    </a:rPr>
                    <a:t>Failing to update the loop condition, like omitting </a:t>
                  </a:r>
                  <a14:m>
                    <m:oMath xmlns:m="http://schemas.openxmlformats.org/officeDocument/2006/math">
                      <m:r>
                        <m:rPr>
                          <m:sty m:val="p"/>
                        </m:rPr>
                        <a:rPr lang="en-US" i="0" dirty="0" smtClean="0">
                          <a:solidFill>
                            <a:schemeClr val="bg1"/>
                          </a:solidFill>
                          <a:latin typeface="Cambria Math" panose="02040503050406030204" pitchFamily="18" charset="0"/>
                        </a:rPr>
                        <m:t>count</m:t>
                      </m:r>
                    </m:oMath>
                  </a14:m>
                  <a:r>
                    <a:rPr lang="en-US" dirty="0">
                      <a:solidFill>
                        <a:schemeClr val="bg1"/>
                      </a:solidFill>
                      <a:latin typeface="Courier New" panose="02070309020205020404" pitchFamily="49" charset="0"/>
                      <a:cs typeface="Courier New" panose="02070309020205020404" pitchFamily="49" charset="0"/>
                    </a:rPr>
                    <a:t> </a:t>
                  </a:r>
                  <a14:m>
                    <m:oMath xmlns:m="http://schemas.openxmlformats.org/officeDocument/2006/math">
                      <m:r>
                        <a:rPr lang="en-US" i="0" dirty="0" smtClean="0">
                          <a:solidFill>
                            <a:schemeClr val="bg1"/>
                          </a:solidFill>
                          <a:latin typeface="Cambria Math" panose="02040503050406030204" pitchFamily="18" charset="0"/>
                        </a:rPr>
                        <m:t>+= </m:t>
                      </m:r>
                      <m:r>
                        <a:rPr lang="en-US" i="1" dirty="0" smtClean="0">
                          <a:solidFill>
                            <a:schemeClr val="bg1"/>
                          </a:solidFill>
                          <a:latin typeface="Cambria Math" panose="02040503050406030204" pitchFamily="18" charset="0"/>
                        </a:rPr>
                        <m:t>1,</m:t>
                      </m:r>
                    </m:oMath>
                  </a14:m>
                  <a:r>
                    <a:rPr lang="en-US" dirty="0">
                      <a:solidFill>
                        <a:schemeClr val="bg1"/>
                      </a:solidFill>
                      <a:latin typeface="Montserrat" panose="00000500000000000000" pitchFamily="2" charset="0"/>
                    </a:rPr>
                    <a:t> creates an infinite loop.</a:t>
                  </a:r>
                </a:p>
              </p:txBody>
            </p:sp>
          </mc:Choice>
          <mc:Fallback xmlns="">
            <p:sp>
              <p:nvSpPr>
                <p:cNvPr id="20" name="TextBox 19">
                  <a:extLst>
                    <a:ext uri="{FF2B5EF4-FFF2-40B4-BE49-F238E27FC236}">
                      <a16:creationId xmlns:a16="http://schemas.microsoft.com/office/drawing/2014/main" id="{472B62D2-076B-2416-D97B-52338EAD55BB}"/>
                    </a:ext>
                  </a:extLst>
                </p:cNvPr>
                <p:cNvSpPr txBox="1">
                  <a:spLocks noRot="1" noChangeAspect="1" noMove="1" noResize="1" noEditPoints="1" noAdjustHandles="1" noChangeArrowheads="1" noChangeShapeType="1" noTextEdit="1"/>
                </p:cNvSpPr>
                <p:nvPr/>
              </p:nvSpPr>
              <p:spPr>
                <a:xfrm>
                  <a:off x="2826589" y="5771472"/>
                  <a:ext cx="7802880" cy="646331"/>
                </a:xfrm>
                <a:prstGeom prst="rect">
                  <a:avLst/>
                </a:prstGeom>
                <a:blipFill>
                  <a:blip r:embed="rId4"/>
                  <a:stretch>
                    <a:fillRect t="-5660" b="-15094"/>
                  </a:stretch>
                </a:blipFill>
              </p:spPr>
              <p:txBody>
                <a:bodyPr/>
                <a:lstStyle/>
                <a:p>
                  <a:r>
                    <a:rPr lang="en-US">
                      <a:noFill/>
                    </a:rPr>
                    <a:t> </a:t>
                  </a:r>
                </a:p>
              </p:txBody>
            </p:sp>
          </mc:Fallback>
        </mc:AlternateContent>
      </p:grpSp>
      <p:pic>
        <p:nvPicPr>
          <p:cNvPr id="14" name="Picture 13">
            <a:extLst>
              <a:ext uri="{FF2B5EF4-FFF2-40B4-BE49-F238E27FC236}">
                <a16:creationId xmlns:a16="http://schemas.microsoft.com/office/drawing/2014/main" id="{1E6521C9-372D-60B9-8023-A3F287AEB336}"/>
              </a:ext>
            </a:extLst>
          </p:cNvPr>
          <p:cNvPicPr>
            <a:picLocks noChangeAspect="1"/>
          </p:cNvPicPr>
          <p:nvPr/>
        </p:nvPicPr>
        <p:blipFill>
          <a:blip r:embed="rId5"/>
          <a:stretch>
            <a:fillRect/>
          </a:stretch>
        </p:blipFill>
        <p:spPr>
          <a:xfrm>
            <a:off x="1288143" y="2680579"/>
            <a:ext cx="3755627" cy="1868562"/>
          </a:xfrm>
          <a:prstGeom prst="rect">
            <a:avLst/>
          </a:prstGeom>
        </p:spPr>
      </p:pic>
    </p:spTree>
    <p:extLst>
      <p:ext uri="{BB962C8B-B14F-4D97-AF65-F5344CB8AC3E}">
        <p14:creationId xmlns:p14="http://schemas.microsoft.com/office/powerpoint/2010/main" val="204990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1000"/>
                                        <p:tgtEl>
                                          <p:spTgt spid="6">
                                            <p:txEl>
                                              <p:pRg st="0" end="0"/>
                                            </p:tx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par>
                                <p:cTn id="14" presetID="10" presetClass="entr" presetSubtype="0" fill="hold" nodeType="withEffect">
                                  <p:stCondLst>
                                    <p:cond delay="5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childTnLst>
                                </p:cTn>
                              </p:par>
                              <p:par>
                                <p:cTn id="20" presetID="10" presetClass="entr" presetSubtype="0" fill="hold" nodeType="withEffect">
                                  <p:stCondLst>
                                    <p:cond delay="5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6" grpId="0" build="p"/>
      <p:bldP spid="1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FB2E2-516C-8E63-DB9B-F0B6ADABC88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A9C2DC9-7FF4-B9ED-2DA2-E3F8CAB74EB5}"/>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Loop Control Statements</a:t>
            </a:r>
            <a:br>
              <a:rPr lang="en-US" dirty="0"/>
            </a:br>
            <a:endParaRPr lang="en-US" dirty="0"/>
          </a:p>
        </p:txBody>
      </p:sp>
      <p:sp>
        <p:nvSpPr>
          <p:cNvPr id="6" name="TextBox 5">
            <a:extLst>
              <a:ext uri="{FF2B5EF4-FFF2-40B4-BE49-F238E27FC236}">
                <a16:creationId xmlns:a16="http://schemas.microsoft.com/office/drawing/2014/main" id="{34B30DA6-928C-7B44-8C9B-DD5B8B65B8E3}"/>
              </a:ext>
            </a:extLst>
          </p:cNvPr>
          <p:cNvSpPr txBox="1"/>
          <p:nvPr/>
        </p:nvSpPr>
        <p:spPr>
          <a:xfrm>
            <a:off x="734283" y="2751980"/>
            <a:ext cx="3516134" cy="923330"/>
          </a:xfrm>
          <a:prstGeom prst="rect">
            <a:avLst/>
          </a:prstGeom>
          <a:noFill/>
        </p:spPr>
        <p:txBody>
          <a:bodyPr wrap="square">
            <a:spAutoFit/>
          </a:bodyPr>
          <a:lstStyle/>
          <a:p>
            <a:r>
              <a:rPr lang="en-US" b="1" dirty="0">
                <a:solidFill>
                  <a:srgbClr val="25274D"/>
                </a:solidFill>
                <a:latin typeface="Montserrat" panose="00000500000000000000" pitchFamily="2" charset="0"/>
              </a:rPr>
              <a:t>Continue</a:t>
            </a:r>
          </a:p>
          <a:p>
            <a:r>
              <a:rPr lang="en-US" dirty="0">
                <a:solidFill>
                  <a:srgbClr val="25274D"/>
                </a:solidFill>
                <a:latin typeface="Montserrat" panose="00000500000000000000" pitchFamily="2" charset="0"/>
              </a:rPr>
              <a:t>Skip the rest of the code and proceed to the next cycle</a:t>
            </a:r>
          </a:p>
        </p:txBody>
      </p:sp>
      <p:sp>
        <p:nvSpPr>
          <p:cNvPr id="2" name="TextBox 1">
            <a:extLst>
              <a:ext uri="{FF2B5EF4-FFF2-40B4-BE49-F238E27FC236}">
                <a16:creationId xmlns:a16="http://schemas.microsoft.com/office/drawing/2014/main" id="{15E19BF8-D2F8-56E8-7155-9EA668D087F4}"/>
              </a:ext>
            </a:extLst>
          </p:cNvPr>
          <p:cNvSpPr txBox="1"/>
          <p:nvPr/>
        </p:nvSpPr>
        <p:spPr>
          <a:xfrm>
            <a:off x="8460401" y="2751980"/>
            <a:ext cx="2997317" cy="923330"/>
          </a:xfrm>
          <a:prstGeom prst="rect">
            <a:avLst/>
          </a:prstGeom>
          <a:noFill/>
        </p:spPr>
        <p:txBody>
          <a:bodyPr wrap="square">
            <a:spAutoFit/>
          </a:bodyPr>
          <a:lstStyle/>
          <a:p>
            <a:r>
              <a:rPr lang="en-US" b="1" dirty="0">
                <a:solidFill>
                  <a:srgbClr val="25274D"/>
                </a:solidFill>
                <a:latin typeface="Montserrat" panose="00000500000000000000" pitchFamily="2" charset="0"/>
              </a:rPr>
              <a:t>Pass</a:t>
            </a:r>
          </a:p>
          <a:p>
            <a:r>
              <a:rPr lang="en-US" dirty="0">
                <a:solidFill>
                  <a:srgbClr val="25274D"/>
                </a:solidFill>
                <a:latin typeface="Montserrat" panose="00000500000000000000" pitchFamily="2" charset="0"/>
              </a:rPr>
              <a:t>Proceed with the next step as usual</a:t>
            </a:r>
            <a:endParaRPr lang="en-US" sz="1800"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9E636F0-D845-7537-8EE1-D63D52BDE9D1}"/>
              </a:ext>
            </a:extLst>
          </p:cNvPr>
          <p:cNvSpPr txBox="1"/>
          <p:nvPr/>
        </p:nvSpPr>
        <p:spPr>
          <a:xfrm>
            <a:off x="4763298" y="2751980"/>
            <a:ext cx="3184223" cy="923330"/>
          </a:xfrm>
          <a:prstGeom prst="rect">
            <a:avLst/>
          </a:prstGeom>
          <a:noFill/>
        </p:spPr>
        <p:txBody>
          <a:bodyPr wrap="square">
            <a:spAutoFit/>
          </a:bodyPr>
          <a:lstStyle/>
          <a:p>
            <a:r>
              <a:rPr lang="en-US" b="1" dirty="0">
                <a:solidFill>
                  <a:srgbClr val="25274D"/>
                </a:solidFill>
                <a:latin typeface="Montserrat" panose="00000500000000000000" pitchFamily="2" charset="0"/>
              </a:rPr>
              <a:t>Break</a:t>
            </a:r>
          </a:p>
          <a:p>
            <a:r>
              <a:rPr lang="en-US" dirty="0">
                <a:solidFill>
                  <a:srgbClr val="25274D"/>
                </a:solidFill>
                <a:latin typeface="Montserrat" panose="00000500000000000000" pitchFamily="2" charset="0"/>
              </a:rPr>
              <a:t>Break out of the loop and halt iteration</a:t>
            </a:r>
          </a:p>
        </p:txBody>
      </p:sp>
    </p:spTree>
    <p:extLst>
      <p:ext uri="{BB962C8B-B14F-4D97-AF65-F5344CB8AC3E}">
        <p14:creationId xmlns:p14="http://schemas.microsoft.com/office/powerpoint/2010/main" val="420455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2" grpId="0"/>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9E8A-796C-E3AB-0594-D54DBE060420}"/>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23F2D59-1788-1B63-45F7-117AB1C63CB4}"/>
              </a:ext>
            </a:extLst>
          </p:cNvPr>
          <p:cNvSpPr/>
          <p:nvPr/>
        </p:nvSpPr>
        <p:spPr>
          <a:xfrm>
            <a:off x="7441022" y="2908919"/>
            <a:ext cx="788578" cy="162449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5FF58624-E049-42E4-49CD-685E3EA0764A}"/>
              </a:ext>
            </a:extLst>
          </p:cNvPr>
          <p:cNvSpPr/>
          <p:nvPr/>
        </p:nvSpPr>
        <p:spPr>
          <a:xfrm>
            <a:off x="2552700" y="3070354"/>
            <a:ext cx="4210050" cy="130162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31FC1F19-1E36-74CD-3B65-DB63835999DE}"/>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Loop Control Statements</a:t>
            </a:r>
            <a:br>
              <a:rPr lang="en-US" dirty="0"/>
            </a:br>
            <a:endParaRPr lang="en-US" dirty="0"/>
          </a:p>
        </p:txBody>
      </p:sp>
      <p:sp>
        <p:nvSpPr>
          <p:cNvPr id="11" name="Text Placeholder 10">
            <a:extLst>
              <a:ext uri="{FF2B5EF4-FFF2-40B4-BE49-F238E27FC236}">
                <a16:creationId xmlns:a16="http://schemas.microsoft.com/office/drawing/2014/main" id="{13D3C63F-E61C-B74D-0A2D-B85529F4C642}"/>
              </a:ext>
            </a:extLst>
          </p:cNvPr>
          <p:cNvSpPr>
            <a:spLocks noGrp="1"/>
          </p:cNvSpPr>
          <p:nvPr>
            <p:ph type="body" sz="quarter" idx="10"/>
          </p:nvPr>
        </p:nvSpPr>
        <p:spPr/>
        <p:txBody>
          <a:bodyPr/>
          <a:lstStyle/>
          <a:p>
            <a:r>
              <a:rPr lang="en-GB" dirty="0"/>
              <a:t>Continue Statement</a:t>
            </a:r>
          </a:p>
        </p:txBody>
      </p:sp>
      <p:sp>
        <p:nvSpPr>
          <p:cNvPr id="4" name="TextBox 3">
            <a:extLst>
              <a:ext uri="{FF2B5EF4-FFF2-40B4-BE49-F238E27FC236}">
                <a16:creationId xmlns:a16="http://schemas.microsoft.com/office/drawing/2014/main" id="{40C1E854-2039-5E9C-2E1F-7B0071EFA801}"/>
              </a:ext>
            </a:extLst>
          </p:cNvPr>
          <p:cNvSpPr txBox="1"/>
          <p:nvPr/>
        </p:nvSpPr>
        <p:spPr>
          <a:xfrm>
            <a:off x="3850257" y="2471324"/>
            <a:ext cx="2245743" cy="388311"/>
          </a:xfrm>
          <a:prstGeom prst="rect">
            <a:avLst/>
          </a:prstGeom>
          <a:noFill/>
        </p:spPr>
        <p:txBody>
          <a:bodyPr wrap="square">
            <a:spAutoFit/>
          </a:bodyPr>
          <a:lstStyle/>
          <a:p>
            <a:pPr marR="0">
              <a:lnSpc>
                <a:spcPct val="115000"/>
              </a:lnSpc>
              <a:spcAft>
                <a:spcPts val="800"/>
              </a:spcAft>
            </a:pPr>
            <a:r>
              <a:rPr lang="en-US" sz="1800" b="1"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Example:</a:t>
            </a:r>
          </a:p>
        </p:txBody>
      </p:sp>
      <p:sp>
        <p:nvSpPr>
          <p:cNvPr id="7" name="TextBox 6">
            <a:extLst>
              <a:ext uri="{FF2B5EF4-FFF2-40B4-BE49-F238E27FC236}">
                <a16:creationId xmlns:a16="http://schemas.microsoft.com/office/drawing/2014/main" id="{89DD495C-965E-30ED-8370-51FF6434DF99}"/>
              </a:ext>
            </a:extLst>
          </p:cNvPr>
          <p:cNvSpPr txBox="1"/>
          <p:nvPr/>
        </p:nvSpPr>
        <p:spPr>
          <a:xfrm>
            <a:off x="7269716" y="2542690"/>
            <a:ext cx="1114587" cy="245580"/>
          </a:xfrm>
          <a:prstGeom prst="rect">
            <a:avLst/>
          </a:prstGeom>
          <a:noFill/>
        </p:spPr>
        <p:txBody>
          <a:bodyPr wrap="square">
            <a:spAutoFit/>
          </a:bodyPr>
          <a:lstStyle/>
          <a:p>
            <a:pPr>
              <a:lnSpc>
                <a:spcPts val="1042"/>
              </a:lnSpc>
            </a:pPr>
            <a:r>
              <a:rPr lang="en-US" sz="1800" b="1" dirty="0">
                <a:solidFill>
                  <a:srgbClr val="25274D"/>
                </a:solidFill>
                <a:latin typeface="Montserrat" panose="00000500000000000000" pitchFamily="2" charset="0"/>
                <a:ea typeface="Montserrat" pitchFamily="34" charset="-122"/>
                <a:cs typeface="Montserrat" pitchFamily="34" charset="-120"/>
              </a:rPr>
              <a:t>Output:</a:t>
            </a:r>
            <a:endParaRPr lang="en-US" sz="1800" b="1" dirty="0">
              <a:solidFill>
                <a:srgbClr val="25274D"/>
              </a:solidFill>
              <a:latin typeface="Montserrat" panose="00000500000000000000" pitchFamily="2" charset="0"/>
            </a:endParaRPr>
          </a:p>
        </p:txBody>
      </p:sp>
      <p:pic>
        <p:nvPicPr>
          <p:cNvPr id="6" name="Picture 5">
            <a:extLst>
              <a:ext uri="{FF2B5EF4-FFF2-40B4-BE49-F238E27FC236}">
                <a16:creationId xmlns:a16="http://schemas.microsoft.com/office/drawing/2014/main" id="{00EB9EE7-F4D7-4708-4ABF-4E43548913A3}"/>
              </a:ext>
            </a:extLst>
          </p:cNvPr>
          <p:cNvPicPr>
            <a:picLocks noChangeAspect="1"/>
          </p:cNvPicPr>
          <p:nvPr/>
        </p:nvPicPr>
        <p:blipFill>
          <a:blip r:embed="rId3"/>
          <a:stretch>
            <a:fillRect/>
          </a:stretch>
        </p:blipFill>
        <p:spPr>
          <a:xfrm>
            <a:off x="7538720" y="2979978"/>
            <a:ext cx="576580" cy="1495993"/>
          </a:xfrm>
          <a:prstGeom prst="rect">
            <a:avLst/>
          </a:prstGeom>
        </p:spPr>
      </p:pic>
      <p:pic>
        <p:nvPicPr>
          <p:cNvPr id="20" name="Picture 19">
            <a:extLst>
              <a:ext uri="{FF2B5EF4-FFF2-40B4-BE49-F238E27FC236}">
                <a16:creationId xmlns:a16="http://schemas.microsoft.com/office/drawing/2014/main" id="{7E5C9FC5-6D9D-ADBC-582A-62CF1F714AFE}"/>
              </a:ext>
            </a:extLst>
          </p:cNvPr>
          <p:cNvPicPr>
            <a:picLocks noChangeAspect="1"/>
          </p:cNvPicPr>
          <p:nvPr/>
        </p:nvPicPr>
        <p:blipFill>
          <a:blip r:embed="rId4"/>
          <a:stretch>
            <a:fillRect/>
          </a:stretch>
        </p:blipFill>
        <p:spPr>
          <a:xfrm>
            <a:off x="2645953" y="3207555"/>
            <a:ext cx="4014656" cy="1040837"/>
          </a:xfrm>
          <a:prstGeom prst="rect">
            <a:avLst/>
          </a:prstGeom>
        </p:spPr>
      </p:pic>
    </p:spTree>
    <p:extLst>
      <p:ext uri="{BB962C8B-B14F-4D97-AF65-F5344CB8AC3E}">
        <p14:creationId xmlns:p14="http://schemas.microsoft.com/office/powerpoint/2010/main" val="132268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5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par>
                                <p:cTn id="17" presetID="10" presetClass="entr" presetSubtype="0" fill="hold" nodeType="withEffect">
                                  <p:stCondLst>
                                    <p:cond delay="5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11"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0DD5A-047E-4CAE-1BA3-73E6A068FE0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0438FB8-4695-78B7-30B6-8C020FE5F163}"/>
              </a:ext>
            </a:extLst>
          </p:cNvPr>
          <p:cNvSpPr/>
          <p:nvPr/>
        </p:nvSpPr>
        <p:spPr>
          <a:xfrm>
            <a:off x="8614230" y="2752725"/>
            <a:ext cx="1124858" cy="285750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2576DDCB-53FD-7F05-5075-9F209804FFCD}"/>
              </a:ext>
            </a:extLst>
          </p:cNvPr>
          <p:cNvSpPr/>
          <p:nvPr/>
        </p:nvSpPr>
        <p:spPr>
          <a:xfrm>
            <a:off x="1552574" y="2894561"/>
            <a:ext cx="6391275" cy="1401214"/>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CACB36EF-C92C-CB57-44E0-44EDA9641F96}"/>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Nested Loops: Loops Within Loops</a:t>
            </a:r>
            <a:br>
              <a:rPr lang="en-US" dirty="0"/>
            </a:br>
            <a:endParaRPr lang="en-US" dirty="0"/>
          </a:p>
        </p:txBody>
      </p:sp>
      <p:sp>
        <p:nvSpPr>
          <p:cNvPr id="3" name="TextBox 2">
            <a:extLst>
              <a:ext uri="{FF2B5EF4-FFF2-40B4-BE49-F238E27FC236}">
                <a16:creationId xmlns:a16="http://schemas.microsoft.com/office/drawing/2014/main" id="{D192713D-BD49-6E9A-DE77-0DB069789BE5}"/>
              </a:ext>
            </a:extLst>
          </p:cNvPr>
          <p:cNvSpPr txBox="1"/>
          <p:nvPr/>
        </p:nvSpPr>
        <p:spPr>
          <a:xfrm>
            <a:off x="1658857" y="1992293"/>
            <a:ext cx="6070411" cy="646331"/>
          </a:xfrm>
          <a:prstGeom prst="rect">
            <a:avLst/>
          </a:prstGeom>
          <a:noFill/>
        </p:spPr>
        <p:txBody>
          <a:bodyPr wrap="square">
            <a:spAutoFit/>
          </a:bodyPr>
          <a:lstStyle/>
          <a:p>
            <a:r>
              <a:rPr lang="en-US" dirty="0">
                <a:solidFill>
                  <a:srgbClr val="25274D"/>
                </a:solidFill>
                <a:latin typeface="Montserrat" panose="00000500000000000000" pitchFamily="2" charset="0"/>
              </a:rPr>
              <a:t>In nested loops, the inner loop completes fully before the outer loop advances.</a:t>
            </a:r>
          </a:p>
        </p:txBody>
      </p:sp>
      <p:sp>
        <p:nvSpPr>
          <p:cNvPr id="9" name="TextBox 8">
            <a:extLst>
              <a:ext uri="{FF2B5EF4-FFF2-40B4-BE49-F238E27FC236}">
                <a16:creationId xmlns:a16="http://schemas.microsoft.com/office/drawing/2014/main" id="{16C80C5F-9DC9-FCA6-9C04-BAF77CDF5431}"/>
              </a:ext>
            </a:extLst>
          </p:cNvPr>
          <p:cNvSpPr txBox="1"/>
          <p:nvPr/>
        </p:nvSpPr>
        <p:spPr>
          <a:xfrm>
            <a:off x="8590848" y="2268010"/>
            <a:ext cx="2349010" cy="370614"/>
          </a:xfrm>
          <a:prstGeom prst="rect">
            <a:avLst/>
          </a:prstGeom>
          <a:noFill/>
        </p:spPr>
        <p:txBody>
          <a:bodyPr wrap="square">
            <a:spAutoFit/>
          </a:bodyPr>
          <a:lstStyle/>
          <a:p>
            <a:pPr>
              <a:lnSpc>
                <a:spcPts val="2250"/>
              </a:lnSpc>
            </a:pPr>
            <a:r>
              <a:rPr lang="en-US" sz="1800" b="1" dirty="0">
                <a:solidFill>
                  <a:srgbClr val="25274D"/>
                </a:solidFill>
                <a:latin typeface="Montserrat" panose="00000500000000000000" pitchFamily="2" charset="0"/>
                <a:ea typeface="Montserrat Bold" pitchFamily="34" charset="-122"/>
                <a:cs typeface="Montserrat Bold" pitchFamily="34" charset="-120"/>
              </a:rPr>
              <a:t>Output:</a:t>
            </a:r>
            <a:endParaRPr lang="en-US" sz="1800" dirty="0">
              <a:solidFill>
                <a:srgbClr val="25274D"/>
              </a:solidFill>
              <a:latin typeface="Montserrat" panose="00000500000000000000" pitchFamily="2" charset="0"/>
            </a:endParaRPr>
          </a:p>
        </p:txBody>
      </p:sp>
      <p:pic>
        <p:nvPicPr>
          <p:cNvPr id="15" name="Picture 14">
            <a:extLst>
              <a:ext uri="{FF2B5EF4-FFF2-40B4-BE49-F238E27FC236}">
                <a16:creationId xmlns:a16="http://schemas.microsoft.com/office/drawing/2014/main" id="{D2D3CCD7-B568-21CB-890A-B562558EC975}"/>
              </a:ext>
            </a:extLst>
          </p:cNvPr>
          <p:cNvPicPr>
            <a:picLocks noChangeAspect="1"/>
          </p:cNvPicPr>
          <p:nvPr/>
        </p:nvPicPr>
        <p:blipFill>
          <a:blip r:embed="rId3"/>
          <a:stretch>
            <a:fillRect/>
          </a:stretch>
        </p:blipFill>
        <p:spPr>
          <a:xfrm>
            <a:off x="8755060" y="2852218"/>
            <a:ext cx="853862" cy="2613863"/>
          </a:xfrm>
          <a:prstGeom prst="rect">
            <a:avLst/>
          </a:prstGeom>
        </p:spPr>
      </p:pic>
      <p:pic>
        <p:nvPicPr>
          <p:cNvPr id="5" name="Picture 4">
            <a:extLst>
              <a:ext uri="{FF2B5EF4-FFF2-40B4-BE49-F238E27FC236}">
                <a16:creationId xmlns:a16="http://schemas.microsoft.com/office/drawing/2014/main" id="{93B8B78B-EA6C-9110-9D80-89ECEC9ADD7A}"/>
              </a:ext>
            </a:extLst>
          </p:cNvPr>
          <p:cNvPicPr>
            <a:picLocks noChangeAspect="1"/>
          </p:cNvPicPr>
          <p:nvPr/>
        </p:nvPicPr>
        <p:blipFill>
          <a:blip r:embed="rId4"/>
          <a:stretch>
            <a:fillRect/>
          </a:stretch>
        </p:blipFill>
        <p:spPr>
          <a:xfrm>
            <a:off x="1658857" y="3000932"/>
            <a:ext cx="6198796" cy="1172745"/>
          </a:xfrm>
          <a:prstGeom prst="rect">
            <a:avLst/>
          </a:prstGeom>
        </p:spPr>
      </p:pic>
      <p:sp>
        <p:nvSpPr>
          <p:cNvPr id="6" name="Speech Bubble: Rectangle with Corners Rounded 5">
            <a:extLst>
              <a:ext uri="{FF2B5EF4-FFF2-40B4-BE49-F238E27FC236}">
                <a16:creationId xmlns:a16="http://schemas.microsoft.com/office/drawing/2014/main" id="{DF0DF3AF-AE99-4AC5-77A3-99ED5F57300D}"/>
              </a:ext>
            </a:extLst>
          </p:cNvPr>
          <p:cNvSpPr/>
          <p:nvPr/>
        </p:nvSpPr>
        <p:spPr>
          <a:xfrm>
            <a:off x="3115538" y="4718369"/>
            <a:ext cx="4399722" cy="1172745"/>
          </a:xfrm>
          <a:prstGeom prst="wedgeRoundRectCallout">
            <a:avLst>
              <a:gd name="adj1" fmla="val -29147"/>
              <a:gd name="adj2" fmla="val -126871"/>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anose="00000500000000000000" pitchFamily="2" charset="0"/>
              </a:rPr>
              <a:t>Total iterations = outer loop count × inner loop count = 3 × 2 = 6</a:t>
            </a:r>
          </a:p>
        </p:txBody>
      </p:sp>
    </p:spTree>
    <p:extLst>
      <p:ext uri="{BB962C8B-B14F-4D97-AF65-F5344CB8AC3E}">
        <p14:creationId xmlns:p14="http://schemas.microsoft.com/office/powerpoint/2010/main" val="351654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childTnLst>
                                </p:cTn>
                              </p:par>
                              <p:par>
                                <p:cTn id="20" presetID="10" presetClass="entr" presetSubtype="0" fill="hold" nodeType="withEffect">
                                  <p:stCondLst>
                                    <p:cond delay="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8" grpId="0"/>
      <p:bldP spid="3" grpId="0"/>
      <p:bldP spid="9" grpId="0"/>
      <p:bldP spid="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A322E-C5DA-219C-AD27-1BEA71B00E4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78FF475-58B0-FF11-C8E2-7B76FEB1AA78}"/>
              </a:ext>
            </a:extLst>
          </p:cNvPr>
          <p:cNvSpPr/>
          <p:nvPr/>
        </p:nvSpPr>
        <p:spPr>
          <a:xfrm>
            <a:off x="2198054" y="4624870"/>
            <a:ext cx="5549632" cy="1936568"/>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F3F84B60-9049-3F63-1791-AAEF51B5F1EC}"/>
              </a:ext>
            </a:extLst>
          </p:cNvPr>
          <p:cNvSpPr/>
          <p:nvPr/>
        </p:nvSpPr>
        <p:spPr>
          <a:xfrm>
            <a:off x="2198054" y="2307829"/>
            <a:ext cx="4598162" cy="1567485"/>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25F096A6-ED67-2ECD-C7FC-4B2C6D366100}"/>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Iterating with enumerate()</a:t>
            </a:r>
            <a:br>
              <a:rPr lang="en-US" dirty="0"/>
            </a:br>
            <a:endParaRPr lang="en-US" dirty="0"/>
          </a:p>
        </p:txBody>
      </p:sp>
      <p:sp>
        <p:nvSpPr>
          <p:cNvPr id="3" name="TextBox 2">
            <a:extLst>
              <a:ext uri="{FF2B5EF4-FFF2-40B4-BE49-F238E27FC236}">
                <a16:creationId xmlns:a16="http://schemas.microsoft.com/office/drawing/2014/main" id="{68730E60-88DF-2D10-C019-0EDCD2F41A2B}"/>
              </a:ext>
            </a:extLst>
          </p:cNvPr>
          <p:cNvSpPr txBox="1"/>
          <p:nvPr/>
        </p:nvSpPr>
        <p:spPr>
          <a:xfrm>
            <a:off x="1930400" y="1537507"/>
            <a:ext cx="8686800"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The </a:t>
            </a:r>
            <a:r>
              <a:rPr lang="en-US" dirty="0">
                <a:solidFill>
                  <a:srgbClr val="25274D"/>
                </a:solidFill>
                <a:latin typeface="Montserrat" panose="00000500000000000000" pitchFamily="2" charset="0"/>
                <a:cs typeface="Courier New" panose="02070309020205020404" pitchFamily="49" charset="0"/>
              </a:rPr>
              <a:t>enumerate()</a:t>
            </a:r>
            <a:r>
              <a:rPr lang="en-US" dirty="0">
                <a:solidFill>
                  <a:srgbClr val="25274D"/>
                </a:solidFill>
                <a:latin typeface="Montserrat" panose="00000500000000000000" pitchFamily="2" charset="0"/>
              </a:rPr>
              <a:t> function adds a counter to an </a:t>
            </a:r>
            <a:r>
              <a:rPr lang="en-US" dirty="0" err="1">
                <a:solidFill>
                  <a:srgbClr val="25274D"/>
                </a:solidFill>
                <a:latin typeface="Montserrat" panose="00000500000000000000" pitchFamily="2" charset="0"/>
              </a:rPr>
              <a:t>iterable</a:t>
            </a:r>
            <a:r>
              <a:rPr lang="en-US" dirty="0">
                <a:solidFill>
                  <a:srgbClr val="25274D"/>
                </a:solidFill>
                <a:latin typeface="Montserrat" panose="00000500000000000000" pitchFamily="2" charset="0"/>
              </a:rPr>
              <a:t>, returning </a:t>
            </a:r>
            <a:r>
              <a:rPr lang="en-US" dirty="0">
                <a:solidFill>
                  <a:srgbClr val="25274D"/>
                </a:solidFill>
                <a:latin typeface="Montserrat" panose="00000500000000000000" pitchFamily="2" charset="0"/>
                <a:cs typeface="Courier New" panose="02070309020205020404" pitchFamily="49" charset="0"/>
              </a:rPr>
              <a:t>(index, item) </a:t>
            </a:r>
            <a:r>
              <a:rPr lang="en-US" dirty="0">
                <a:solidFill>
                  <a:srgbClr val="25274D"/>
                </a:solidFill>
                <a:latin typeface="Montserrat" panose="00000500000000000000" pitchFamily="2" charset="0"/>
              </a:rPr>
              <a:t>pairs for position-aware iteration.</a:t>
            </a:r>
          </a:p>
        </p:txBody>
      </p:sp>
      <p:sp>
        <p:nvSpPr>
          <p:cNvPr id="7" name="TextBox 6">
            <a:extLst>
              <a:ext uri="{FF2B5EF4-FFF2-40B4-BE49-F238E27FC236}">
                <a16:creationId xmlns:a16="http://schemas.microsoft.com/office/drawing/2014/main" id="{FC4F31C2-E90A-FC3F-4BB7-80951BE58229}"/>
              </a:ext>
            </a:extLst>
          </p:cNvPr>
          <p:cNvSpPr txBox="1"/>
          <p:nvPr/>
        </p:nvSpPr>
        <p:spPr>
          <a:xfrm>
            <a:off x="1889273" y="4106639"/>
            <a:ext cx="7792278"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You can specify a different starting index:</a:t>
            </a:r>
          </a:p>
        </p:txBody>
      </p:sp>
      <p:pic>
        <p:nvPicPr>
          <p:cNvPr id="12" name="Picture 11">
            <a:extLst>
              <a:ext uri="{FF2B5EF4-FFF2-40B4-BE49-F238E27FC236}">
                <a16:creationId xmlns:a16="http://schemas.microsoft.com/office/drawing/2014/main" id="{67055DAA-864C-ABBE-0DF4-AAFE38BD81D6}"/>
              </a:ext>
            </a:extLst>
          </p:cNvPr>
          <p:cNvPicPr>
            <a:picLocks noChangeAspect="1"/>
          </p:cNvPicPr>
          <p:nvPr/>
        </p:nvPicPr>
        <p:blipFill>
          <a:blip r:embed="rId3"/>
          <a:stretch>
            <a:fillRect/>
          </a:stretch>
        </p:blipFill>
        <p:spPr>
          <a:xfrm>
            <a:off x="2367998" y="2520017"/>
            <a:ext cx="4231604" cy="1174012"/>
          </a:xfrm>
          <a:prstGeom prst="rect">
            <a:avLst/>
          </a:prstGeom>
        </p:spPr>
      </p:pic>
      <p:pic>
        <p:nvPicPr>
          <p:cNvPr id="15" name="Picture 14">
            <a:extLst>
              <a:ext uri="{FF2B5EF4-FFF2-40B4-BE49-F238E27FC236}">
                <a16:creationId xmlns:a16="http://schemas.microsoft.com/office/drawing/2014/main" id="{7A3A2EB7-1B6B-648D-7444-08AF08461794}"/>
              </a:ext>
            </a:extLst>
          </p:cNvPr>
          <p:cNvPicPr>
            <a:picLocks noChangeAspect="1"/>
          </p:cNvPicPr>
          <p:nvPr/>
        </p:nvPicPr>
        <p:blipFill>
          <a:blip r:embed="rId4"/>
          <a:stretch>
            <a:fillRect/>
          </a:stretch>
        </p:blipFill>
        <p:spPr>
          <a:xfrm>
            <a:off x="2367998" y="4810685"/>
            <a:ext cx="5222713" cy="1556630"/>
          </a:xfrm>
          <a:prstGeom prst="rect">
            <a:avLst/>
          </a:prstGeom>
        </p:spPr>
      </p:pic>
    </p:spTree>
    <p:extLst>
      <p:ext uri="{BB962C8B-B14F-4D97-AF65-F5344CB8AC3E}">
        <p14:creationId xmlns:p14="http://schemas.microsoft.com/office/powerpoint/2010/main" val="72996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par>
                                <p:cTn id="17" presetID="10" presetClass="entr" presetSubtype="0" fill="hold" nodeType="withEffect">
                                  <p:stCondLst>
                                    <p:cond delay="5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childTnLst>
                                </p:cTn>
                              </p:par>
                              <p:par>
                                <p:cTn id="20" presetID="10" presetClass="entr" presetSubtype="0" fill="hold"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8" grpId="0"/>
      <p:bldP spid="3" grpId="0"/>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654F7-FD43-9E15-6F45-FE1005455D0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75C36B-0D0B-5A0C-8F4D-94BD0C7425D1}"/>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Mastering Python Loops</a:t>
            </a:r>
            <a:br>
              <a:rPr lang="en-US" dirty="0"/>
            </a:br>
            <a:endParaRPr lang="en-US" dirty="0"/>
          </a:p>
        </p:txBody>
      </p:sp>
      <p:sp>
        <p:nvSpPr>
          <p:cNvPr id="2" name="Text Placeholder 1">
            <a:extLst>
              <a:ext uri="{FF2B5EF4-FFF2-40B4-BE49-F238E27FC236}">
                <a16:creationId xmlns:a16="http://schemas.microsoft.com/office/drawing/2014/main" id="{BB155DC9-39ED-58A4-87CB-A1201E3EE999}"/>
              </a:ext>
            </a:extLst>
          </p:cNvPr>
          <p:cNvSpPr>
            <a:spLocks noGrp="1"/>
          </p:cNvSpPr>
          <p:nvPr>
            <p:ph type="body" sz="quarter" idx="10"/>
          </p:nvPr>
        </p:nvSpPr>
        <p:spPr/>
        <p:txBody>
          <a:bodyPr/>
          <a:lstStyle/>
          <a:p>
            <a:r>
              <a:rPr lang="en-GB" dirty="0"/>
              <a:t>Key Takeaways</a:t>
            </a:r>
          </a:p>
        </p:txBody>
      </p:sp>
      <p:grpSp>
        <p:nvGrpSpPr>
          <p:cNvPr id="3" name="Group 2">
            <a:extLst>
              <a:ext uri="{FF2B5EF4-FFF2-40B4-BE49-F238E27FC236}">
                <a16:creationId xmlns:a16="http://schemas.microsoft.com/office/drawing/2014/main" id="{F4A66FBA-7640-555B-12EF-969A4C01C86B}"/>
              </a:ext>
            </a:extLst>
          </p:cNvPr>
          <p:cNvGrpSpPr/>
          <p:nvPr/>
        </p:nvGrpSpPr>
        <p:grpSpPr>
          <a:xfrm>
            <a:off x="723900" y="1867488"/>
            <a:ext cx="10668000" cy="4445138"/>
            <a:chOff x="723900" y="1306286"/>
            <a:chExt cx="10668000" cy="4445138"/>
          </a:xfrm>
        </p:grpSpPr>
        <p:sp>
          <p:nvSpPr>
            <p:cNvPr id="7" name="Rectangle: Rounded Corners 6">
              <a:extLst>
                <a:ext uri="{FF2B5EF4-FFF2-40B4-BE49-F238E27FC236}">
                  <a16:creationId xmlns:a16="http://schemas.microsoft.com/office/drawing/2014/main" id="{ADC19FDA-9547-71DF-66CE-842DBE092C0E}"/>
                </a:ext>
              </a:extLst>
            </p:cNvPr>
            <p:cNvSpPr/>
            <p:nvPr/>
          </p:nvSpPr>
          <p:spPr>
            <a:xfrm>
              <a:off x="723900" y="1494971"/>
              <a:ext cx="1625600" cy="162560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30F0EDA-C5A1-E5B7-DEC5-9831FA7BAED2}"/>
                </a:ext>
              </a:extLst>
            </p:cNvPr>
            <p:cNvSpPr/>
            <p:nvPr/>
          </p:nvSpPr>
          <p:spPr>
            <a:xfrm>
              <a:off x="1435099" y="1306286"/>
              <a:ext cx="4515757" cy="2002970"/>
            </a:xfrm>
            <a:prstGeom prst="roundRect">
              <a:avLst/>
            </a:prstGeom>
            <a:noFill/>
            <a:ln w="3810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ABA85B-4F17-D949-C3B1-F05B1DF1790B}"/>
                </a:ext>
              </a:extLst>
            </p:cNvPr>
            <p:cNvSpPr txBox="1"/>
            <p:nvPr/>
          </p:nvSpPr>
          <p:spPr>
            <a:xfrm>
              <a:off x="2360383" y="1707607"/>
              <a:ext cx="3590473" cy="1200329"/>
            </a:xfrm>
            <a:prstGeom prst="rect">
              <a:avLst/>
            </a:prstGeom>
            <a:noFill/>
          </p:spPr>
          <p:txBody>
            <a:bodyPr wrap="square">
              <a:spAutoFit/>
            </a:bodyPr>
            <a:lstStyle/>
            <a:p>
              <a:pPr algn="ctr"/>
              <a:r>
                <a:rPr lang="en-US" dirty="0">
                  <a:solidFill>
                    <a:srgbClr val="25274D"/>
                  </a:solidFill>
                  <a:latin typeface="Montserrat" panose="00000500000000000000" pitchFamily="2" charset="0"/>
                </a:rPr>
                <a:t>Use for loops </a:t>
              </a:r>
              <a:r>
                <a:rPr lang="en-US" dirty="0">
                  <a:solidFill>
                    <a:srgbClr val="25274D"/>
                  </a:solidFill>
                  <a:latin typeface="Courier New" panose="02070309020205020404" pitchFamily="49" charset="0"/>
                  <a:cs typeface="Courier New" panose="02070309020205020404" pitchFamily="49" charset="0"/>
                </a:rPr>
                <a:t>for</a:t>
              </a:r>
              <a:r>
                <a:rPr lang="en-US" dirty="0">
                  <a:solidFill>
                    <a:srgbClr val="25274D"/>
                  </a:solidFill>
                  <a:latin typeface="Montserrat" panose="00000500000000000000" pitchFamily="2" charset="0"/>
                </a:rPr>
                <a:t> known sequences and </a:t>
              </a:r>
              <a:r>
                <a:rPr lang="en-US" dirty="0">
                  <a:solidFill>
                    <a:srgbClr val="25274D"/>
                  </a:solidFill>
                  <a:latin typeface="Courier New" panose="02070309020205020404" pitchFamily="49" charset="0"/>
                  <a:cs typeface="Courier New" panose="02070309020205020404" pitchFamily="49" charset="0"/>
                </a:rPr>
                <a:t>while</a:t>
              </a:r>
              <a:r>
                <a:rPr lang="en-US" dirty="0">
                  <a:solidFill>
                    <a:srgbClr val="25274D"/>
                  </a:solidFill>
                  <a:latin typeface="Montserrat" panose="00000500000000000000" pitchFamily="2" charset="0"/>
                </a:rPr>
                <a:t> loops when iterations depend on a condition</a:t>
              </a:r>
            </a:p>
          </p:txBody>
        </p:sp>
        <p:sp>
          <p:nvSpPr>
            <p:cNvPr id="11" name="Rectangle: Rounded Corners 10">
              <a:extLst>
                <a:ext uri="{FF2B5EF4-FFF2-40B4-BE49-F238E27FC236}">
                  <a16:creationId xmlns:a16="http://schemas.microsoft.com/office/drawing/2014/main" id="{D01ED048-7A43-E0C1-0732-F229D5F7DF39}"/>
                </a:ext>
              </a:extLst>
            </p:cNvPr>
            <p:cNvSpPr/>
            <p:nvPr/>
          </p:nvSpPr>
          <p:spPr>
            <a:xfrm>
              <a:off x="1435099" y="3672115"/>
              <a:ext cx="4515757" cy="2002970"/>
            </a:xfrm>
            <a:prstGeom prst="roundRect">
              <a:avLst/>
            </a:prstGeom>
            <a:noFill/>
            <a:ln w="38100">
              <a:solidFill>
                <a:srgbClr val="2964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D2710A-5F15-F9A6-8167-42AF6AD209DA}"/>
                </a:ext>
              </a:extLst>
            </p:cNvPr>
            <p:cNvSpPr txBox="1"/>
            <p:nvPr/>
          </p:nvSpPr>
          <p:spPr>
            <a:xfrm>
              <a:off x="2360384" y="4211935"/>
              <a:ext cx="3094266" cy="923330"/>
            </a:xfrm>
            <a:prstGeom prst="rect">
              <a:avLst/>
            </a:prstGeom>
            <a:noFill/>
          </p:spPr>
          <p:txBody>
            <a:bodyPr wrap="square">
              <a:spAutoFit/>
            </a:bodyPr>
            <a:lstStyle/>
            <a:p>
              <a:pPr algn="ctr"/>
              <a:r>
                <a:rPr lang="en-US" dirty="0">
                  <a:solidFill>
                    <a:srgbClr val="25274D"/>
                  </a:solidFill>
                  <a:latin typeface="Montserrat" panose="00000500000000000000" pitchFamily="2" charset="0"/>
                </a:rPr>
                <a:t>Use </a:t>
              </a:r>
              <a:r>
                <a:rPr lang="en-US" dirty="0">
                  <a:solidFill>
                    <a:srgbClr val="25274D"/>
                  </a:solidFill>
                  <a:latin typeface="Courier New" panose="02070309020205020404" pitchFamily="49" charset="0"/>
                  <a:cs typeface="Courier New" panose="02070309020205020404" pitchFamily="49" charset="0"/>
                </a:rPr>
                <a:t>break</a:t>
              </a:r>
              <a:r>
                <a:rPr lang="en-US" dirty="0">
                  <a:solidFill>
                    <a:srgbClr val="25274D"/>
                  </a:solidFill>
                  <a:latin typeface="Montserrat" panose="00000500000000000000" pitchFamily="2" charset="0"/>
                </a:rPr>
                <a:t>,</a:t>
              </a:r>
              <a:r>
                <a:rPr lang="en-US" dirty="0">
                  <a:solidFill>
                    <a:srgbClr val="25274D"/>
                  </a:solidFill>
                  <a:latin typeface="Courier New" panose="02070309020205020404" pitchFamily="49" charset="0"/>
                  <a:cs typeface="Courier New" panose="02070309020205020404" pitchFamily="49" charset="0"/>
                </a:rPr>
                <a:t> continue and pass </a:t>
              </a:r>
              <a:r>
                <a:rPr lang="en-US" dirty="0">
                  <a:solidFill>
                    <a:srgbClr val="25274D"/>
                  </a:solidFill>
                  <a:latin typeface="Montserrat" panose="00000500000000000000" pitchFamily="2" charset="0"/>
                </a:rPr>
                <a:t>to manage loop execution</a:t>
              </a:r>
            </a:p>
          </p:txBody>
        </p:sp>
        <p:sp>
          <p:nvSpPr>
            <p:cNvPr id="13" name="Rectangle: Rounded Corners 12">
              <a:extLst>
                <a:ext uri="{FF2B5EF4-FFF2-40B4-BE49-F238E27FC236}">
                  <a16:creationId xmlns:a16="http://schemas.microsoft.com/office/drawing/2014/main" id="{5D0F937A-2EF6-EA95-63B4-6367FEDC10D1}"/>
                </a:ext>
              </a:extLst>
            </p:cNvPr>
            <p:cNvSpPr/>
            <p:nvPr/>
          </p:nvSpPr>
          <p:spPr>
            <a:xfrm>
              <a:off x="6876143" y="1306286"/>
              <a:ext cx="4515757" cy="2002970"/>
            </a:xfrm>
            <a:prstGeom prst="roundRect">
              <a:avLst/>
            </a:prstGeom>
            <a:noFill/>
            <a:ln w="38100">
              <a:solidFill>
                <a:srgbClr val="2E9C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E8B8E77-D488-8E90-7605-CDDC263B4AB8}"/>
                </a:ext>
              </a:extLst>
            </p:cNvPr>
            <p:cNvSpPr txBox="1"/>
            <p:nvPr/>
          </p:nvSpPr>
          <p:spPr>
            <a:xfrm>
              <a:off x="7801428" y="1707607"/>
              <a:ext cx="3094266" cy="1200329"/>
            </a:xfrm>
            <a:prstGeom prst="rect">
              <a:avLst/>
            </a:prstGeom>
            <a:noFill/>
          </p:spPr>
          <p:txBody>
            <a:bodyPr wrap="square">
              <a:spAutoFit/>
            </a:bodyPr>
            <a:lstStyle/>
            <a:p>
              <a:pPr algn="ctr"/>
              <a:r>
                <a:rPr lang="en-US" dirty="0">
                  <a:solidFill>
                    <a:srgbClr val="25274D"/>
                  </a:solidFill>
                  <a:latin typeface="Montserrat" panose="00000500000000000000" pitchFamily="2" charset="0"/>
                </a:rPr>
                <a:t>Use </a:t>
              </a:r>
              <a:r>
                <a:rPr lang="en-US" dirty="0">
                  <a:solidFill>
                    <a:srgbClr val="25274D"/>
                  </a:solidFill>
                  <a:latin typeface="Courier New" panose="02070309020205020404" pitchFamily="49" charset="0"/>
                  <a:cs typeface="Courier New" panose="02070309020205020404" pitchFamily="49" charset="0"/>
                </a:rPr>
                <a:t>range() </a:t>
              </a:r>
              <a:r>
                <a:rPr lang="en-US" dirty="0">
                  <a:solidFill>
                    <a:srgbClr val="25274D"/>
                  </a:solidFill>
                  <a:latin typeface="Montserrat" panose="00000500000000000000" pitchFamily="2" charset="0"/>
                </a:rPr>
                <a:t>for number sequences and </a:t>
              </a:r>
              <a:r>
                <a:rPr lang="en-US" dirty="0">
                  <a:solidFill>
                    <a:srgbClr val="25274D"/>
                  </a:solidFill>
                  <a:latin typeface="Courier New" panose="02070309020205020404" pitchFamily="49" charset="0"/>
                  <a:cs typeface="Courier New" panose="02070309020205020404" pitchFamily="49" charset="0"/>
                </a:rPr>
                <a:t>enumerate() </a:t>
              </a:r>
              <a:r>
                <a:rPr lang="en-US" dirty="0">
                  <a:solidFill>
                    <a:srgbClr val="25274D"/>
                  </a:solidFill>
                  <a:latin typeface="Montserrat" panose="00000500000000000000" pitchFamily="2" charset="0"/>
                </a:rPr>
                <a:t>to access indices and values</a:t>
              </a:r>
            </a:p>
          </p:txBody>
        </p:sp>
        <p:sp>
          <p:nvSpPr>
            <p:cNvPr id="15" name="Rectangle: Rounded Corners 14">
              <a:extLst>
                <a:ext uri="{FF2B5EF4-FFF2-40B4-BE49-F238E27FC236}">
                  <a16:creationId xmlns:a16="http://schemas.microsoft.com/office/drawing/2014/main" id="{385C6995-352B-DA24-7E4E-F59A1BF90FD8}"/>
                </a:ext>
              </a:extLst>
            </p:cNvPr>
            <p:cNvSpPr/>
            <p:nvPr/>
          </p:nvSpPr>
          <p:spPr>
            <a:xfrm>
              <a:off x="6164944" y="3860800"/>
              <a:ext cx="1625600" cy="162560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F36C178E-EDD4-53B2-8B23-4735E7266848}"/>
                </a:ext>
              </a:extLst>
            </p:cNvPr>
            <p:cNvSpPr/>
            <p:nvPr/>
          </p:nvSpPr>
          <p:spPr>
            <a:xfrm>
              <a:off x="6876143" y="3748454"/>
              <a:ext cx="4515757" cy="2002970"/>
            </a:xfrm>
            <a:prstGeom prst="roundRect">
              <a:avLst/>
            </a:prstGeom>
            <a:noFill/>
            <a:ln w="3810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031E940-EA90-E932-83ED-267A0F2E74F8}"/>
                </a:ext>
              </a:extLst>
            </p:cNvPr>
            <p:cNvSpPr txBox="1"/>
            <p:nvPr/>
          </p:nvSpPr>
          <p:spPr>
            <a:xfrm>
              <a:off x="7801428" y="4011275"/>
              <a:ext cx="3094266" cy="1477328"/>
            </a:xfrm>
            <a:prstGeom prst="rect">
              <a:avLst/>
            </a:prstGeom>
            <a:noFill/>
          </p:spPr>
          <p:txBody>
            <a:bodyPr wrap="square">
              <a:spAutoFit/>
            </a:bodyPr>
            <a:lstStyle/>
            <a:p>
              <a:pPr algn="ctr"/>
              <a:r>
                <a:rPr lang="en-US" dirty="0">
                  <a:solidFill>
                    <a:srgbClr val="25274D"/>
                  </a:solidFill>
                  <a:latin typeface="Montserrat" panose="00000500000000000000" pitchFamily="2" charset="0"/>
                </a:rPr>
                <a:t>Combine loops for multi-dimensional data, while considering performance and complexity</a:t>
              </a:r>
            </a:p>
          </p:txBody>
        </p:sp>
        <p:sp>
          <p:nvSpPr>
            <p:cNvPr id="18" name="Rectangle: Rounded Corners 17">
              <a:extLst>
                <a:ext uri="{FF2B5EF4-FFF2-40B4-BE49-F238E27FC236}">
                  <a16:creationId xmlns:a16="http://schemas.microsoft.com/office/drawing/2014/main" id="{51E9A746-7F97-7CE7-3122-E0440B9CF55A}"/>
                </a:ext>
              </a:extLst>
            </p:cNvPr>
            <p:cNvSpPr/>
            <p:nvPr/>
          </p:nvSpPr>
          <p:spPr>
            <a:xfrm>
              <a:off x="6164944" y="1494971"/>
              <a:ext cx="1625600" cy="1625600"/>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6A97DBFE-3BE3-DF23-6388-366040200562}"/>
                </a:ext>
              </a:extLst>
            </p:cNvPr>
            <p:cNvSpPr/>
            <p:nvPr/>
          </p:nvSpPr>
          <p:spPr>
            <a:xfrm>
              <a:off x="723900" y="3860800"/>
              <a:ext cx="1625600" cy="1625600"/>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214350E-F142-E524-6474-A9024584248A}"/>
                </a:ext>
              </a:extLst>
            </p:cNvPr>
            <p:cNvSpPr txBox="1"/>
            <p:nvPr/>
          </p:nvSpPr>
          <p:spPr>
            <a:xfrm>
              <a:off x="794657" y="1846106"/>
              <a:ext cx="1484087" cy="923330"/>
            </a:xfrm>
            <a:prstGeom prst="rect">
              <a:avLst/>
            </a:prstGeom>
            <a:noFill/>
          </p:spPr>
          <p:txBody>
            <a:bodyPr wrap="square">
              <a:spAutoFit/>
            </a:bodyPr>
            <a:lstStyle/>
            <a:p>
              <a:pPr algn="ctr"/>
              <a:r>
                <a:rPr lang="en-US" b="1" dirty="0">
                  <a:solidFill>
                    <a:schemeClr val="bg1"/>
                  </a:solidFill>
                  <a:latin typeface="Montserrat" panose="00000500000000000000" pitchFamily="2" charset="0"/>
                </a:rPr>
                <a:t>Choose the right loop</a:t>
              </a:r>
            </a:p>
          </p:txBody>
        </p:sp>
        <p:sp>
          <p:nvSpPr>
            <p:cNvPr id="21" name="TextBox 20">
              <a:extLst>
                <a:ext uri="{FF2B5EF4-FFF2-40B4-BE49-F238E27FC236}">
                  <a16:creationId xmlns:a16="http://schemas.microsoft.com/office/drawing/2014/main" id="{A319C54C-7273-0545-941F-D24A7857F597}"/>
                </a:ext>
              </a:extLst>
            </p:cNvPr>
            <p:cNvSpPr txBox="1"/>
            <p:nvPr/>
          </p:nvSpPr>
          <p:spPr>
            <a:xfrm>
              <a:off x="6217557" y="1984606"/>
              <a:ext cx="1484087" cy="646331"/>
            </a:xfrm>
            <a:prstGeom prst="rect">
              <a:avLst/>
            </a:prstGeom>
            <a:noFill/>
          </p:spPr>
          <p:txBody>
            <a:bodyPr wrap="square">
              <a:spAutoFit/>
            </a:bodyPr>
            <a:lstStyle/>
            <a:p>
              <a:pPr algn="ctr"/>
              <a:r>
                <a:rPr lang="en-US" b="1" dirty="0">
                  <a:solidFill>
                    <a:schemeClr val="bg1"/>
                  </a:solidFill>
                  <a:latin typeface="Montserrat" panose="00000500000000000000" pitchFamily="2" charset="0"/>
                </a:rPr>
                <a:t>Special iterators</a:t>
              </a:r>
            </a:p>
          </p:txBody>
        </p:sp>
        <p:sp>
          <p:nvSpPr>
            <p:cNvPr id="22" name="TextBox 21">
              <a:extLst>
                <a:ext uri="{FF2B5EF4-FFF2-40B4-BE49-F238E27FC236}">
                  <a16:creationId xmlns:a16="http://schemas.microsoft.com/office/drawing/2014/main" id="{A3FE902D-0806-5F1B-E2A6-AEC01B07A310}"/>
                </a:ext>
              </a:extLst>
            </p:cNvPr>
            <p:cNvSpPr txBox="1"/>
            <p:nvPr/>
          </p:nvSpPr>
          <p:spPr>
            <a:xfrm>
              <a:off x="794657" y="4350435"/>
              <a:ext cx="1484087" cy="646331"/>
            </a:xfrm>
            <a:prstGeom prst="rect">
              <a:avLst/>
            </a:prstGeom>
            <a:noFill/>
          </p:spPr>
          <p:txBody>
            <a:bodyPr wrap="square">
              <a:spAutoFit/>
            </a:bodyPr>
            <a:lstStyle/>
            <a:p>
              <a:pPr algn="ctr"/>
              <a:r>
                <a:rPr lang="en-US" b="1" dirty="0">
                  <a:solidFill>
                    <a:schemeClr val="bg1"/>
                  </a:solidFill>
                  <a:latin typeface="Montserrat" panose="00000500000000000000" pitchFamily="2" charset="0"/>
                </a:rPr>
                <a:t>Microsoft </a:t>
              </a:r>
              <a:r>
                <a:rPr lang="en-US" b="1" dirty="0" err="1">
                  <a:solidFill>
                    <a:schemeClr val="bg1"/>
                  </a:solidFill>
                  <a:latin typeface="Montserrat" panose="00000500000000000000" pitchFamily="2" charset="0"/>
                </a:rPr>
                <a:t>Autogen</a:t>
              </a:r>
              <a:endParaRPr lang="en-US" b="1" dirty="0">
                <a:solidFill>
                  <a:schemeClr val="bg1"/>
                </a:solidFill>
                <a:latin typeface="Montserrat" panose="00000500000000000000" pitchFamily="2" charset="0"/>
              </a:endParaRPr>
            </a:p>
          </p:txBody>
        </p:sp>
        <p:sp>
          <p:nvSpPr>
            <p:cNvPr id="23" name="TextBox 22">
              <a:extLst>
                <a:ext uri="{FF2B5EF4-FFF2-40B4-BE49-F238E27FC236}">
                  <a16:creationId xmlns:a16="http://schemas.microsoft.com/office/drawing/2014/main" id="{A13CA306-CF36-D852-2235-4336DA0CB489}"/>
                </a:ext>
              </a:extLst>
            </p:cNvPr>
            <p:cNvSpPr txBox="1"/>
            <p:nvPr/>
          </p:nvSpPr>
          <p:spPr>
            <a:xfrm>
              <a:off x="6235701" y="4350435"/>
              <a:ext cx="1484087" cy="646331"/>
            </a:xfrm>
            <a:prstGeom prst="rect">
              <a:avLst/>
            </a:prstGeom>
            <a:noFill/>
          </p:spPr>
          <p:txBody>
            <a:bodyPr wrap="square">
              <a:spAutoFit/>
            </a:bodyPr>
            <a:lstStyle/>
            <a:p>
              <a:pPr algn="ctr"/>
              <a:r>
                <a:rPr lang="en-US" b="1" dirty="0">
                  <a:solidFill>
                    <a:schemeClr val="bg1"/>
                  </a:solidFill>
                  <a:latin typeface="Montserrat" panose="00000500000000000000" pitchFamily="2" charset="0"/>
                </a:rPr>
                <a:t>Nested loops</a:t>
              </a:r>
            </a:p>
          </p:txBody>
        </p:sp>
      </p:grpSp>
    </p:spTree>
    <p:extLst>
      <p:ext uri="{BB962C8B-B14F-4D97-AF65-F5344CB8AC3E}">
        <p14:creationId xmlns:p14="http://schemas.microsoft.com/office/powerpoint/2010/main" val="47289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A8A1-72CB-101C-3B8C-FD115C9571B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D863F3A-1092-6455-F4C0-28427B34A49A}"/>
              </a:ext>
            </a:extLst>
          </p:cNvPr>
          <p:cNvSpPr>
            <a:spLocks noGrp="1"/>
          </p:cNvSpPr>
          <p:nvPr>
            <p:ph type="body" sz="quarter" idx="12"/>
          </p:nvPr>
        </p:nvSpPr>
        <p:spPr>
          <a:xfrm>
            <a:off x="749999" y="2482074"/>
            <a:ext cx="5761160" cy="1893851"/>
          </a:xfrm>
        </p:spPr>
        <p:txBody>
          <a:bodyPr>
            <a:normAutofit/>
          </a:bodyPr>
          <a:lstStyle/>
          <a:p>
            <a:pPr>
              <a:lnSpc>
                <a:spcPts val="4042"/>
              </a:lnSpc>
            </a:pPr>
            <a:r>
              <a:rPr lang="en-US" sz="3600" dirty="0">
                <a:latin typeface="Montserrat Bold" pitchFamily="34" charset="0"/>
                <a:ea typeface="Montserrat Bold" pitchFamily="34" charset="-122"/>
                <a:cs typeface="Montserrat Bold" pitchFamily="34" charset="-120"/>
              </a:rPr>
              <a:t>Building a Simple Chatbot in Python</a:t>
            </a:r>
            <a:endParaRPr lang="en-US" sz="3600" dirty="0"/>
          </a:p>
        </p:txBody>
      </p:sp>
      <p:sp>
        <p:nvSpPr>
          <p:cNvPr id="2" name="Text 1">
            <a:extLst>
              <a:ext uri="{FF2B5EF4-FFF2-40B4-BE49-F238E27FC236}">
                <a16:creationId xmlns:a16="http://schemas.microsoft.com/office/drawing/2014/main" id="{A358F6E2-BD1D-5576-9B30-75B3EE87AC33}"/>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9 of 12)</a:t>
            </a:r>
            <a:endParaRPr lang="en-US" dirty="0">
              <a:solidFill>
                <a:srgbClr val="25274D"/>
              </a:solidFill>
            </a:endParaRPr>
          </a:p>
        </p:txBody>
      </p:sp>
    </p:spTree>
    <p:extLst>
      <p:ext uri="{BB962C8B-B14F-4D97-AF65-F5344CB8AC3E}">
        <p14:creationId xmlns:p14="http://schemas.microsoft.com/office/powerpoint/2010/main" val="364973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5FFD-DC1F-0BC6-F313-28F9ADC1C7F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86D1C6C-71E3-B761-DBB7-38A3DFE4D026}"/>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Building a Simple Chatbot in Python</a:t>
            </a:r>
            <a:br>
              <a:rPr lang="en-US" dirty="0"/>
            </a:br>
            <a:endParaRPr lang="en-US" dirty="0"/>
          </a:p>
        </p:txBody>
      </p:sp>
      <p:grpSp>
        <p:nvGrpSpPr>
          <p:cNvPr id="14" name="Group 13">
            <a:extLst>
              <a:ext uri="{FF2B5EF4-FFF2-40B4-BE49-F238E27FC236}">
                <a16:creationId xmlns:a16="http://schemas.microsoft.com/office/drawing/2014/main" id="{4E6BB466-32D5-0CC9-A10E-F2F6BCA1C33C}"/>
              </a:ext>
            </a:extLst>
          </p:cNvPr>
          <p:cNvGrpSpPr/>
          <p:nvPr/>
        </p:nvGrpSpPr>
        <p:grpSpPr>
          <a:xfrm>
            <a:off x="2333625" y="1981200"/>
            <a:ext cx="7524750" cy="1314450"/>
            <a:chOff x="2333625" y="1981200"/>
            <a:chExt cx="7524750" cy="1314450"/>
          </a:xfrm>
        </p:grpSpPr>
        <p:sp>
          <p:nvSpPr>
            <p:cNvPr id="2" name="Rectangle: Rounded Corners 1">
              <a:extLst>
                <a:ext uri="{FF2B5EF4-FFF2-40B4-BE49-F238E27FC236}">
                  <a16:creationId xmlns:a16="http://schemas.microsoft.com/office/drawing/2014/main" id="{67AD6FBB-AEBC-B41C-7F2B-A0FEF7169B98}"/>
                </a:ext>
              </a:extLst>
            </p:cNvPr>
            <p:cNvSpPr/>
            <p:nvPr/>
          </p:nvSpPr>
          <p:spPr>
            <a:xfrm>
              <a:off x="2333625" y="1981200"/>
              <a:ext cx="7524750" cy="1314450"/>
            </a:xfrm>
            <a:prstGeom prst="roundRect">
              <a:avLst>
                <a:gd name="adj" fmla="val 50000"/>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AB362F1-1974-C9ED-F145-359EEF8D3FE3}"/>
                </a:ext>
              </a:extLst>
            </p:cNvPr>
            <p:cNvSpPr txBox="1"/>
            <p:nvPr/>
          </p:nvSpPr>
          <p:spPr>
            <a:xfrm>
              <a:off x="3892364" y="2315260"/>
              <a:ext cx="5749178" cy="646331"/>
            </a:xfrm>
            <a:prstGeom prst="rect">
              <a:avLst/>
            </a:prstGeom>
            <a:noFill/>
          </p:spPr>
          <p:txBody>
            <a:bodyPr wrap="square">
              <a:spAutoFit/>
            </a:bodyPr>
            <a:lstStyle/>
            <a:p>
              <a:r>
                <a:rPr lang="en-US" b="1" dirty="0">
                  <a:solidFill>
                    <a:schemeClr val="bg1"/>
                  </a:solidFill>
                  <a:latin typeface="Montserrat" panose="00000500000000000000" pitchFamily="2" charset="0"/>
                </a:rPr>
                <a:t>Objective:</a:t>
              </a:r>
              <a:r>
                <a:rPr lang="en-US" dirty="0">
                  <a:solidFill>
                    <a:schemeClr val="bg1"/>
                  </a:solidFill>
                  <a:latin typeface="Montserrat" panose="00000500000000000000" pitchFamily="2" charset="0"/>
                </a:rPr>
                <a:t> Make </a:t>
              </a:r>
              <a:r>
                <a:rPr lang="en-US" dirty="0" err="1">
                  <a:solidFill>
                    <a:schemeClr val="bg1"/>
                  </a:solidFill>
                  <a:latin typeface="Montserrat" panose="00000500000000000000" pitchFamily="2" charset="0"/>
                </a:rPr>
                <a:t>programmes</a:t>
              </a:r>
              <a:r>
                <a:rPr lang="en-US" dirty="0">
                  <a:solidFill>
                    <a:schemeClr val="bg1"/>
                  </a:solidFill>
                  <a:latin typeface="Montserrat" panose="00000500000000000000" pitchFamily="2" charset="0"/>
                </a:rPr>
                <a:t> interactive using conditionals and loops</a:t>
              </a:r>
            </a:p>
          </p:txBody>
        </p:sp>
        <p:pic>
          <p:nvPicPr>
            <p:cNvPr id="12" name="Graphic 11">
              <a:extLst>
                <a:ext uri="{FF2B5EF4-FFF2-40B4-BE49-F238E27FC236}">
                  <a16:creationId xmlns:a16="http://schemas.microsoft.com/office/drawing/2014/main" id="{95DFF12E-AF3F-DD62-F29B-06FE586651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6401" y="2268783"/>
              <a:ext cx="827998" cy="739285"/>
            </a:xfrm>
            <a:prstGeom prst="rect">
              <a:avLst/>
            </a:prstGeom>
          </p:spPr>
        </p:pic>
      </p:grpSp>
      <p:grpSp>
        <p:nvGrpSpPr>
          <p:cNvPr id="17" name="Group 16">
            <a:extLst>
              <a:ext uri="{FF2B5EF4-FFF2-40B4-BE49-F238E27FC236}">
                <a16:creationId xmlns:a16="http://schemas.microsoft.com/office/drawing/2014/main" id="{E1F9C74B-036D-DA4B-6F20-ECA01605EE41}"/>
              </a:ext>
            </a:extLst>
          </p:cNvPr>
          <p:cNvGrpSpPr/>
          <p:nvPr/>
        </p:nvGrpSpPr>
        <p:grpSpPr>
          <a:xfrm>
            <a:off x="2333625" y="3867150"/>
            <a:ext cx="7524750" cy="1314450"/>
            <a:chOff x="2333625" y="3867150"/>
            <a:chExt cx="7524750" cy="1314450"/>
          </a:xfrm>
        </p:grpSpPr>
        <p:sp>
          <p:nvSpPr>
            <p:cNvPr id="3" name="Rectangle: Rounded Corners 2">
              <a:extLst>
                <a:ext uri="{FF2B5EF4-FFF2-40B4-BE49-F238E27FC236}">
                  <a16:creationId xmlns:a16="http://schemas.microsoft.com/office/drawing/2014/main" id="{E6FBE2E3-320D-5938-7D6C-B220AE14B13D}"/>
                </a:ext>
              </a:extLst>
            </p:cNvPr>
            <p:cNvSpPr/>
            <p:nvPr/>
          </p:nvSpPr>
          <p:spPr>
            <a:xfrm>
              <a:off x="2333625" y="3867150"/>
              <a:ext cx="7524750" cy="1314450"/>
            </a:xfrm>
            <a:prstGeom prst="roundRect">
              <a:avLst>
                <a:gd name="adj" fmla="val 50000"/>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28F1BD9-531B-DA1E-03C2-6E4D038E641D}"/>
                </a:ext>
              </a:extLst>
            </p:cNvPr>
            <p:cNvSpPr txBox="1"/>
            <p:nvPr/>
          </p:nvSpPr>
          <p:spPr>
            <a:xfrm>
              <a:off x="3892364" y="4201210"/>
              <a:ext cx="5749178" cy="646331"/>
            </a:xfrm>
            <a:prstGeom prst="rect">
              <a:avLst/>
            </a:prstGeom>
            <a:noFill/>
          </p:spPr>
          <p:txBody>
            <a:bodyPr wrap="square">
              <a:spAutoFit/>
            </a:bodyPr>
            <a:lstStyle/>
            <a:p>
              <a:r>
                <a:rPr lang="en-US" b="1" dirty="0">
                  <a:solidFill>
                    <a:schemeClr val="bg1"/>
                  </a:solidFill>
                  <a:latin typeface="Montserrat" panose="00000500000000000000" pitchFamily="2" charset="0"/>
                </a:rPr>
                <a:t>Scenario: </a:t>
              </a:r>
              <a:r>
                <a:rPr lang="en-US" dirty="0">
                  <a:solidFill>
                    <a:schemeClr val="bg1"/>
                  </a:solidFill>
                  <a:latin typeface="Montserrat" panose="00000500000000000000" pitchFamily="2" charset="0"/>
                </a:rPr>
                <a:t>Build a chatbot that greets, answers queries and ends with "bye”</a:t>
              </a:r>
            </a:p>
          </p:txBody>
        </p:sp>
        <p:pic>
          <p:nvPicPr>
            <p:cNvPr id="16" name="Graphic 15">
              <a:extLst>
                <a:ext uri="{FF2B5EF4-FFF2-40B4-BE49-F238E27FC236}">
                  <a16:creationId xmlns:a16="http://schemas.microsoft.com/office/drawing/2014/main" id="{325BEF95-8218-53DA-C7D2-D61A599145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81992" y="4087372"/>
              <a:ext cx="751114" cy="893055"/>
            </a:xfrm>
            <a:prstGeom prst="rect">
              <a:avLst/>
            </a:prstGeom>
          </p:spPr>
        </p:pic>
      </p:grpSp>
    </p:spTree>
    <p:extLst>
      <p:ext uri="{BB962C8B-B14F-4D97-AF65-F5344CB8AC3E}">
        <p14:creationId xmlns:p14="http://schemas.microsoft.com/office/powerpoint/2010/main" val="335490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1000"/>
                                        <p:tgtEl>
                                          <p:spTgt spid="14"/>
                                        </p:tgtEl>
                                      </p:cBhvr>
                                    </p:animEffect>
                                  </p:childTnLst>
                                </p:cTn>
                              </p:par>
                              <p:par>
                                <p:cTn id="11" presetID="10" presetClass="entr" presetSubtype="0" fill="hold" nodeType="withEffect">
                                  <p:stCondLst>
                                    <p:cond delay="5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822F3-9971-9FAC-951F-44169C3F556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AEA987B-28FE-34F2-CB2B-DF1074AC794D}"/>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Building a Simple Chatbot in Python</a:t>
            </a:r>
            <a:br>
              <a:rPr lang="en-US" dirty="0"/>
            </a:br>
            <a:endParaRPr lang="en-US" dirty="0"/>
          </a:p>
        </p:txBody>
      </p:sp>
      <p:sp>
        <p:nvSpPr>
          <p:cNvPr id="2" name="Text Placeholder 1">
            <a:extLst>
              <a:ext uri="{FF2B5EF4-FFF2-40B4-BE49-F238E27FC236}">
                <a16:creationId xmlns:a16="http://schemas.microsoft.com/office/drawing/2014/main" id="{49C9980D-58B0-A02A-F44C-B3592001C52E}"/>
              </a:ext>
            </a:extLst>
          </p:cNvPr>
          <p:cNvSpPr>
            <a:spLocks noGrp="1"/>
          </p:cNvSpPr>
          <p:nvPr>
            <p:ph type="body" sz="quarter" idx="10"/>
          </p:nvPr>
        </p:nvSpPr>
        <p:spPr/>
        <p:txBody>
          <a:bodyPr/>
          <a:lstStyle/>
          <a:p>
            <a:r>
              <a:rPr lang="en-US" dirty="0"/>
              <a:t>Key Concepts Explained</a:t>
            </a:r>
          </a:p>
        </p:txBody>
      </p:sp>
      <p:grpSp>
        <p:nvGrpSpPr>
          <p:cNvPr id="3" name="Group 2">
            <a:extLst>
              <a:ext uri="{FF2B5EF4-FFF2-40B4-BE49-F238E27FC236}">
                <a16:creationId xmlns:a16="http://schemas.microsoft.com/office/drawing/2014/main" id="{A9D3D9AB-9A78-D3FD-92ED-C1246F74B373}"/>
              </a:ext>
            </a:extLst>
          </p:cNvPr>
          <p:cNvGrpSpPr/>
          <p:nvPr/>
        </p:nvGrpSpPr>
        <p:grpSpPr>
          <a:xfrm>
            <a:off x="2768797" y="2030309"/>
            <a:ext cx="6654406" cy="1057964"/>
            <a:chOff x="1901372" y="1330886"/>
            <a:chExt cx="6136420" cy="1057964"/>
          </a:xfrm>
        </p:grpSpPr>
        <p:grpSp>
          <p:nvGrpSpPr>
            <p:cNvPr id="5" name="Group 4">
              <a:extLst>
                <a:ext uri="{FF2B5EF4-FFF2-40B4-BE49-F238E27FC236}">
                  <a16:creationId xmlns:a16="http://schemas.microsoft.com/office/drawing/2014/main" id="{57D1D1B2-E95D-7423-315C-DDD772F588B1}"/>
                </a:ext>
              </a:extLst>
            </p:cNvPr>
            <p:cNvGrpSpPr/>
            <p:nvPr/>
          </p:nvGrpSpPr>
          <p:grpSpPr>
            <a:xfrm>
              <a:off x="1901372" y="1330886"/>
              <a:ext cx="6136420" cy="1057964"/>
              <a:chOff x="1234865" y="1792106"/>
              <a:chExt cx="6136420" cy="1057964"/>
            </a:xfrm>
          </p:grpSpPr>
          <p:sp>
            <p:nvSpPr>
              <p:cNvPr id="9" name="Rectangle: Rounded Corners 8">
                <a:extLst>
                  <a:ext uri="{FF2B5EF4-FFF2-40B4-BE49-F238E27FC236}">
                    <a16:creationId xmlns:a16="http://schemas.microsoft.com/office/drawing/2014/main" id="{4A2AD3C5-C342-9244-67D1-01E48BCFA7E0}"/>
                  </a:ext>
                </a:extLst>
              </p:cNvPr>
              <p:cNvSpPr/>
              <p:nvPr/>
            </p:nvSpPr>
            <p:spPr>
              <a:xfrm>
                <a:off x="1234865" y="1792106"/>
                <a:ext cx="6136420" cy="1057964"/>
              </a:xfrm>
              <a:prstGeom prst="roundRect">
                <a:avLst>
                  <a:gd name="adj" fmla="val 9369"/>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78A2E39-5619-71AE-37AA-D75FCB0EAB59}"/>
                  </a:ext>
                </a:extLst>
              </p:cNvPr>
              <p:cNvSpPr txBox="1"/>
              <p:nvPr/>
            </p:nvSpPr>
            <p:spPr>
              <a:xfrm>
                <a:off x="1839024" y="1997923"/>
                <a:ext cx="5354116" cy="646331"/>
              </a:xfrm>
              <a:prstGeom prst="rect">
                <a:avLst/>
              </a:prstGeom>
              <a:noFill/>
            </p:spPr>
            <p:txBody>
              <a:bodyPr wrap="square">
                <a:spAutoFit/>
              </a:bodyPr>
              <a:lstStyle/>
              <a:p>
                <a:pPr lvl="0" eaLnBrk="0" fontAlgn="base" hangingPunct="0">
                  <a:spcBef>
                    <a:spcPct val="0"/>
                  </a:spcBef>
                  <a:spcAft>
                    <a:spcPct val="0"/>
                  </a:spcAft>
                </a:pPr>
                <a:r>
                  <a:rPr lang="en-US" dirty="0">
                    <a:solidFill>
                      <a:schemeClr val="bg1"/>
                    </a:solidFill>
                    <a:latin typeface="Montserrat" panose="00000500000000000000" pitchFamily="2" charset="0"/>
                    <a:ea typeface="Consolas" pitchFamily="34" charset="-122"/>
                    <a:cs typeface="Courier New" panose="02070309020205020404" pitchFamily="49" charset="0"/>
                  </a:rPr>
                  <a:t>Use a </a:t>
                </a:r>
                <a:r>
                  <a:rPr lang="en-US" dirty="0">
                    <a:solidFill>
                      <a:schemeClr val="bg1"/>
                    </a:solidFill>
                    <a:latin typeface="Courier New" panose="02070309020205020404" pitchFamily="49" charset="0"/>
                    <a:ea typeface="Consolas" pitchFamily="34" charset="-122"/>
                    <a:cs typeface="Courier New" panose="02070309020205020404" pitchFamily="49" charset="0"/>
                  </a:rPr>
                  <a:t>while loop </a:t>
                </a:r>
                <a:r>
                  <a:rPr lang="en-US" dirty="0">
                    <a:solidFill>
                      <a:schemeClr val="bg1"/>
                    </a:solidFill>
                    <a:latin typeface="Montserrat" panose="00000500000000000000" pitchFamily="2" charset="0"/>
                    <a:ea typeface="Consolas" pitchFamily="34" charset="-122"/>
                    <a:cs typeface="Courier New" panose="02070309020205020404" pitchFamily="49" charset="0"/>
                  </a:rPr>
                  <a:t>to keep the chatbot active for multiple inputs</a:t>
                </a:r>
              </a:p>
            </p:txBody>
          </p:sp>
        </p:grpSp>
        <p:sp>
          <p:nvSpPr>
            <p:cNvPr id="6" name="Freeform 45">
              <a:extLst>
                <a:ext uri="{FF2B5EF4-FFF2-40B4-BE49-F238E27FC236}">
                  <a16:creationId xmlns:a16="http://schemas.microsoft.com/office/drawing/2014/main" id="{380115AA-5EE8-754C-B3F0-5B814602B290}"/>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1" name="Group 10">
            <a:extLst>
              <a:ext uri="{FF2B5EF4-FFF2-40B4-BE49-F238E27FC236}">
                <a16:creationId xmlns:a16="http://schemas.microsoft.com/office/drawing/2014/main" id="{87067B3A-D3D9-7979-F7F4-58A6AE03BE2A}"/>
              </a:ext>
            </a:extLst>
          </p:cNvPr>
          <p:cNvGrpSpPr/>
          <p:nvPr/>
        </p:nvGrpSpPr>
        <p:grpSpPr>
          <a:xfrm>
            <a:off x="2742368" y="3265203"/>
            <a:ext cx="6680835" cy="1057964"/>
            <a:chOff x="1901372" y="1330886"/>
            <a:chExt cx="6160792" cy="1057964"/>
          </a:xfrm>
        </p:grpSpPr>
        <p:grpSp>
          <p:nvGrpSpPr>
            <p:cNvPr id="12" name="Group 11">
              <a:extLst>
                <a:ext uri="{FF2B5EF4-FFF2-40B4-BE49-F238E27FC236}">
                  <a16:creationId xmlns:a16="http://schemas.microsoft.com/office/drawing/2014/main" id="{599227F0-AB7E-8F71-6A01-CD7314FB9D3D}"/>
                </a:ext>
              </a:extLst>
            </p:cNvPr>
            <p:cNvGrpSpPr/>
            <p:nvPr/>
          </p:nvGrpSpPr>
          <p:grpSpPr>
            <a:xfrm>
              <a:off x="1901372" y="1330886"/>
              <a:ext cx="6160792" cy="1057964"/>
              <a:chOff x="1234865" y="1792106"/>
              <a:chExt cx="6160792" cy="1057964"/>
            </a:xfrm>
          </p:grpSpPr>
          <p:sp>
            <p:nvSpPr>
              <p:cNvPr id="14" name="Rectangle: Rounded Corners 13">
                <a:extLst>
                  <a:ext uri="{FF2B5EF4-FFF2-40B4-BE49-F238E27FC236}">
                    <a16:creationId xmlns:a16="http://schemas.microsoft.com/office/drawing/2014/main" id="{CA3BD864-4B10-5189-F4D8-B0E6B701AF2C}"/>
                  </a:ext>
                </a:extLst>
              </p:cNvPr>
              <p:cNvSpPr/>
              <p:nvPr/>
            </p:nvSpPr>
            <p:spPr>
              <a:xfrm>
                <a:off x="1234865" y="1792106"/>
                <a:ext cx="6148296" cy="1057964"/>
              </a:xfrm>
              <a:prstGeom prst="roundRect">
                <a:avLst>
                  <a:gd name="adj" fmla="val 9369"/>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3623246-21DB-F5D7-890B-357DCE7437F6}"/>
                  </a:ext>
                </a:extLst>
              </p:cNvPr>
              <p:cNvSpPr txBox="1"/>
              <p:nvPr/>
            </p:nvSpPr>
            <p:spPr>
              <a:xfrm>
                <a:off x="1839024" y="1997923"/>
                <a:ext cx="5556633"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Courier New" panose="02070309020205020404" pitchFamily="49" charset="0"/>
                  </a:rPr>
                  <a:t>Use</a:t>
                </a: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if-</a:t>
                </a:r>
                <a:r>
                  <a:rPr kumimoji="0" lang="en-US" altLang="en-US" sz="1800" i="0" u="none" strike="noStrike" cap="none" normalizeH="0" baseline="0" dirty="0" err="1">
                    <a:ln>
                      <a:noFill/>
                    </a:ln>
                    <a:solidFill>
                      <a:schemeClr val="bg1"/>
                    </a:solidFill>
                    <a:effectLst/>
                    <a:latin typeface="Courier New" panose="02070309020205020404" pitchFamily="49" charset="0"/>
                    <a:cs typeface="Courier New" panose="02070309020205020404" pitchFamily="49" charset="0"/>
                  </a:rPr>
                  <a:t>elif</a:t>
                </a: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-else </a:t>
                </a:r>
                <a:r>
                  <a:rPr kumimoji="0" lang="en-US" altLang="en-US" sz="1800" i="0" u="none" strike="noStrike" cap="none" normalizeH="0" baseline="0" dirty="0">
                    <a:ln>
                      <a:noFill/>
                    </a:ln>
                    <a:solidFill>
                      <a:schemeClr val="bg1"/>
                    </a:solidFill>
                    <a:effectLst/>
                    <a:latin typeface="Montserrat" panose="00000500000000000000" pitchFamily="2" charset="0"/>
                    <a:cs typeface="Courier New" panose="02070309020205020404" pitchFamily="49" charset="0"/>
                  </a:rPr>
                  <a:t>conditionals to decide responses based on user input</a:t>
                </a:r>
              </a:p>
            </p:txBody>
          </p:sp>
        </p:grpSp>
        <p:sp>
          <p:nvSpPr>
            <p:cNvPr id="13" name="Freeform 45">
              <a:extLst>
                <a:ext uri="{FF2B5EF4-FFF2-40B4-BE49-F238E27FC236}">
                  <a16:creationId xmlns:a16="http://schemas.microsoft.com/office/drawing/2014/main" id="{9EBF6A9A-00C5-DC28-7F2E-07B26EB74115}"/>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B2F1E518-62BE-CE0B-FBAE-A2312FFBB638}"/>
              </a:ext>
            </a:extLst>
          </p:cNvPr>
          <p:cNvGrpSpPr/>
          <p:nvPr/>
        </p:nvGrpSpPr>
        <p:grpSpPr>
          <a:xfrm>
            <a:off x="2742368" y="4500096"/>
            <a:ext cx="6680835" cy="1057964"/>
            <a:chOff x="1901373" y="1330886"/>
            <a:chExt cx="6160791" cy="1057964"/>
          </a:xfrm>
        </p:grpSpPr>
        <p:grpSp>
          <p:nvGrpSpPr>
            <p:cNvPr id="17" name="Group 16">
              <a:extLst>
                <a:ext uri="{FF2B5EF4-FFF2-40B4-BE49-F238E27FC236}">
                  <a16:creationId xmlns:a16="http://schemas.microsoft.com/office/drawing/2014/main" id="{33BB1EFB-15D2-96C6-0500-CBDFB263BF08}"/>
                </a:ext>
              </a:extLst>
            </p:cNvPr>
            <p:cNvGrpSpPr/>
            <p:nvPr/>
          </p:nvGrpSpPr>
          <p:grpSpPr>
            <a:xfrm>
              <a:off x="1901373" y="1330886"/>
              <a:ext cx="6160791" cy="1057964"/>
              <a:chOff x="1234866" y="1792106"/>
              <a:chExt cx="6160791" cy="1057964"/>
            </a:xfrm>
          </p:grpSpPr>
          <p:sp>
            <p:nvSpPr>
              <p:cNvPr id="19" name="Rectangle: Rounded Corners 18">
                <a:extLst>
                  <a:ext uri="{FF2B5EF4-FFF2-40B4-BE49-F238E27FC236}">
                    <a16:creationId xmlns:a16="http://schemas.microsoft.com/office/drawing/2014/main" id="{7BEADCA4-3EF5-3DF0-0931-5CD9B81854ED}"/>
                  </a:ext>
                </a:extLst>
              </p:cNvPr>
              <p:cNvSpPr/>
              <p:nvPr/>
            </p:nvSpPr>
            <p:spPr>
              <a:xfrm>
                <a:off x="1234866" y="1792106"/>
                <a:ext cx="6134441" cy="1057964"/>
              </a:xfrm>
              <a:prstGeom prst="roundRect">
                <a:avLst>
                  <a:gd name="adj" fmla="val 9369"/>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E5483721-0BAE-DBC9-C306-B1BB7A9F9B16}"/>
                  </a:ext>
                </a:extLst>
              </p:cNvPr>
              <p:cNvSpPr txBox="1"/>
              <p:nvPr/>
            </p:nvSpPr>
            <p:spPr>
              <a:xfrm>
                <a:off x="1839024" y="1997923"/>
                <a:ext cx="5556633"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Combine logic and repetition to build real-world applications</a:t>
                </a:r>
              </a:p>
            </p:txBody>
          </p:sp>
        </p:grpSp>
        <p:sp>
          <p:nvSpPr>
            <p:cNvPr id="18" name="Freeform 45">
              <a:extLst>
                <a:ext uri="{FF2B5EF4-FFF2-40B4-BE49-F238E27FC236}">
                  <a16:creationId xmlns:a16="http://schemas.microsoft.com/office/drawing/2014/main" id="{EC22F879-03D4-5FD0-E9CF-E0B2CEB79279}"/>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4034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nodeType="withEffect">
                                  <p:stCondLst>
                                    <p:cond delay="5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childTnLst>
                                </p:cTn>
                              </p:par>
                              <p:par>
                                <p:cTn id="14" presetID="10" presetClass="entr" presetSubtype="0" fill="hold" nodeType="withEffect">
                                  <p:stCondLst>
                                    <p:cond delay="5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55998-72E0-AAE9-D854-39C4A8677947}"/>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74FC3AA-F8A0-6EAD-D136-8A9FB3112EAF}"/>
              </a:ext>
            </a:extLst>
          </p:cNvPr>
          <p:cNvSpPr/>
          <p:nvPr/>
        </p:nvSpPr>
        <p:spPr>
          <a:xfrm>
            <a:off x="2133600" y="1485901"/>
            <a:ext cx="7924800" cy="498904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69D2C232-814B-BE26-7C37-1F139CD1A79F}"/>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Building a Simple Chatbot in Python</a:t>
            </a:r>
            <a:br>
              <a:rPr lang="en-US" dirty="0"/>
            </a:br>
            <a:endParaRPr lang="en-US" dirty="0"/>
          </a:p>
        </p:txBody>
      </p:sp>
      <p:pic>
        <p:nvPicPr>
          <p:cNvPr id="3" name="Picture 2">
            <a:extLst>
              <a:ext uri="{FF2B5EF4-FFF2-40B4-BE49-F238E27FC236}">
                <a16:creationId xmlns:a16="http://schemas.microsoft.com/office/drawing/2014/main" id="{C9FD91C7-143C-4AB0-C69A-97F0F9AD4966}"/>
              </a:ext>
            </a:extLst>
          </p:cNvPr>
          <p:cNvPicPr>
            <a:picLocks noChangeAspect="1"/>
          </p:cNvPicPr>
          <p:nvPr/>
        </p:nvPicPr>
        <p:blipFill>
          <a:blip r:embed="rId3"/>
          <a:stretch>
            <a:fillRect/>
          </a:stretch>
        </p:blipFill>
        <p:spPr>
          <a:xfrm>
            <a:off x="2421650" y="1700927"/>
            <a:ext cx="7348699" cy="4504041"/>
          </a:xfrm>
          <a:prstGeom prst="rect">
            <a:avLst/>
          </a:prstGeom>
        </p:spPr>
      </p:pic>
    </p:spTree>
    <p:extLst>
      <p:ext uri="{BB962C8B-B14F-4D97-AF65-F5344CB8AC3E}">
        <p14:creationId xmlns:p14="http://schemas.microsoft.com/office/powerpoint/2010/main" val="317002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2BF8-1B5E-7CB9-3101-440C28A4139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DA6AD19-F2FA-FCB0-2B41-B8B5768B9E1E}"/>
              </a:ext>
            </a:extLst>
          </p:cNvPr>
          <p:cNvSpPr>
            <a:spLocks noGrp="1"/>
          </p:cNvSpPr>
          <p:nvPr>
            <p:ph type="body" sz="quarter" idx="12"/>
          </p:nvPr>
        </p:nvSpPr>
        <p:spPr>
          <a:xfrm>
            <a:off x="749999" y="2482074"/>
            <a:ext cx="5761160" cy="1893851"/>
          </a:xfrm>
        </p:spPr>
        <p:txBody>
          <a:bodyPr>
            <a:normAutofit/>
          </a:bodyPr>
          <a:lstStyle/>
          <a:p>
            <a:pPr>
              <a:lnSpc>
                <a:spcPts val="2708"/>
              </a:lnSpc>
            </a:pPr>
            <a:r>
              <a:rPr lang="en-US" sz="3600" dirty="0">
                <a:latin typeface="Montserrat Bold" pitchFamily="34" charset="0"/>
                <a:ea typeface="Montserrat Bold" pitchFamily="34" charset="-122"/>
                <a:cs typeface="Montserrat Bold" pitchFamily="34" charset="-120"/>
              </a:rPr>
              <a:t>Recap</a:t>
            </a:r>
            <a:endParaRPr lang="en-US" sz="3600" dirty="0"/>
          </a:p>
        </p:txBody>
      </p:sp>
      <p:sp>
        <p:nvSpPr>
          <p:cNvPr id="2" name="Text 1">
            <a:extLst>
              <a:ext uri="{FF2B5EF4-FFF2-40B4-BE49-F238E27FC236}">
                <a16:creationId xmlns:a16="http://schemas.microsoft.com/office/drawing/2014/main" id="{97805D22-5C04-D95B-A0ED-CAABE0DC95D8}"/>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10 of 12)</a:t>
            </a:r>
            <a:endParaRPr lang="en-US" dirty="0">
              <a:solidFill>
                <a:srgbClr val="25274D"/>
              </a:solidFill>
            </a:endParaRPr>
          </a:p>
        </p:txBody>
      </p:sp>
    </p:spTree>
    <p:extLst>
      <p:ext uri="{BB962C8B-B14F-4D97-AF65-F5344CB8AC3E}">
        <p14:creationId xmlns:p14="http://schemas.microsoft.com/office/powerpoint/2010/main" val="383704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D6EF4-153C-7D2C-6B5E-C84B6504408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DC52709-CEB5-C190-1F51-357A0B044190}"/>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Python Fundamentals</a:t>
            </a:r>
            <a:endParaRPr lang="en-US" dirty="0"/>
          </a:p>
        </p:txBody>
      </p:sp>
      <p:sp>
        <p:nvSpPr>
          <p:cNvPr id="3" name="Text Placeholder 2">
            <a:extLst>
              <a:ext uri="{FF2B5EF4-FFF2-40B4-BE49-F238E27FC236}">
                <a16:creationId xmlns:a16="http://schemas.microsoft.com/office/drawing/2014/main" id="{F62EBEED-5578-2113-F62D-EC42EFBF33CD}"/>
              </a:ext>
            </a:extLst>
          </p:cNvPr>
          <p:cNvSpPr>
            <a:spLocks noGrp="1"/>
          </p:cNvSpPr>
          <p:nvPr>
            <p:ph type="body" sz="quarter" idx="10"/>
          </p:nvPr>
        </p:nvSpPr>
        <p:spPr/>
        <p:txBody>
          <a:bodyPr/>
          <a:lstStyle/>
          <a:p>
            <a:r>
              <a:rPr lang="en-GB" dirty="0"/>
              <a:t>Recap</a:t>
            </a:r>
          </a:p>
        </p:txBody>
      </p:sp>
      <p:grpSp>
        <p:nvGrpSpPr>
          <p:cNvPr id="4" name="Group 3">
            <a:extLst>
              <a:ext uri="{FF2B5EF4-FFF2-40B4-BE49-F238E27FC236}">
                <a16:creationId xmlns:a16="http://schemas.microsoft.com/office/drawing/2014/main" id="{643C9646-36FD-4871-297C-EDFBF8E5EE9C}"/>
              </a:ext>
            </a:extLst>
          </p:cNvPr>
          <p:cNvGrpSpPr/>
          <p:nvPr/>
        </p:nvGrpSpPr>
        <p:grpSpPr>
          <a:xfrm>
            <a:off x="742044" y="2106467"/>
            <a:ext cx="10591800" cy="760874"/>
            <a:chOff x="800100" y="1715063"/>
            <a:chExt cx="10591800" cy="760874"/>
          </a:xfrm>
        </p:grpSpPr>
        <p:grpSp>
          <p:nvGrpSpPr>
            <p:cNvPr id="5" name="Group 4">
              <a:extLst>
                <a:ext uri="{FF2B5EF4-FFF2-40B4-BE49-F238E27FC236}">
                  <a16:creationId xmlns:a16="http://schemas.microsoft.com/office/drawing/2014/main" id="{B0A918FA-9920-6ED8-8A22-8DD684161332}"/>
                </a:ext>
              </a:extLst>
            </p:cNvPr>
            <p:cNvGrpSpPr/>
            <p:nvPr/>
          </p:nvGrpSpPr>
          <p:grpSpPr>
            <a:xfrm>
              <a:off x="800100" y="1715063"/>
              <a:ext cx="10591800" cy="760874"/>
              <a:chOff x="800100" y="1981200"/>
              <a:chExt cx="10591800" cy="1012723"/>
            </a:xfrm>
          </p:grpSpPr>
          <p:sp>
            <p:nvSpPr>
              <p:cNvPr id="10" name="Rectangle: Rounded Corners 9">
                <a:extLst>
                  <a:ext uri="{FF2B5EF4-FFF2-40B4-BE49-F238E27FC236}">
                    <a16:creationId xmlns:a16="http://schemas.microsoft.com/office/drawing/2014/main" id="{9D35F7D8-BEE1-E209-0707-164953C9055D}"/>
                  </a:ext>
                </a:extLst>
              </p:cNvPr>
              <p:cNvSpPr/>
              <p:nvPr/>
            </p:nvSpPr>
            <p:spPr>
              <a:xfrm>
                <a:off x="3111910" y="1981200"/>
                <a:ext cx="8279990" cy="1012723"/>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9AC488C-E3B1-BED3-6763-83045167510E}"/>
                  </a:ext>
                </a:extLst>
              </p:cNvPr>
              <p:cNvSpPr/>
              <p:nvPr/>
            </p:nvSpPr>
            <p:spPr>
              <a:xfrm>
                <a:off x="800100" y="1981200"/>
                <a:ext cx="2019300" cy="1012723"/>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A953BBAF-4379-CE3C-AA96-A93BB52B2360}"/>
                </a:ext>
              </a:extLst>
            </p:cNvPr>
            <p:cNvSpPr txBox="1"/>
            <p:nvPr/>
          </p:nvSpPr>
          <p:spPr>
            <a:xfrm>
              <a:off x="3404470" y="1776364"/>
              <a:ext cx="7533506" cy="646331"/>
            </a:xfrm>
            <a:prstGeom prst="rect">
              <a:avLst/>
            </a:prstGeom>
            <a:noFill/>
          </p:spPr>
          <p:txBody>
            <a:bodyPr wrap="square">
              <a:spAutoFit/>
            </a:bodyPr>
            <a:lstStyle/>
            <a:p>
              <a:r>
                <a:rPr kumimoji="0" lang="en-US" altLang="en-US" sz="1800" b="0" i="0" u="none" strike="noStrike" cap="none" normalizeH="0" baseline="0" dirty="0">
                  <a:ln>
                    <a:noFill/>
                  </a:ln>
                  <a:solidFill>
                    <a:schemeClr val="bg1"/>
                  </a:solidFill>
                  <a:effectLst/>
                  <a:latin typeface="Montserrat" panose="00000500000000000000" pitchFamily="50" charset="0"/>
                </a:rPr>
                <a:t>Mastered Python's core building blocks: variables, numbers, strings, lists and dictionaries</a:t>
              </a:r>
              <a:endParaRPr lang="en-US" dirty="0">
                <a:solidFill>
                  <a:schemeClr val="bg1"/>
                </a:solidFill>
                <a:latin typeface="Montserrat" panose="00000500000000000000" pitchFamily="50" charset="0"/>
              </a:endParaRPr>
            </a:p>
          </p:txBody>
        </p:sp>
        <p:sp>
          <p:nvSpPr>
            <p:cNvPr id="7" name="TextBox 6">
              <a:extLst>
                <a:ext uri="{FF2B5EF4-FFF2-40B4-BE49-F238E27FC236}">
                  <a16:creationId xmlns:a16="http://schemas.microsoft.com/office/drawing/2014/main" id="{4442EB28-7CC3-9B75-D33C-51ACA7E4DCFD}"/>
                </a:ext>
              </a:extLst>
            </p:cNvPr>
            <p:cNvSpPr txBox="1"/>
            <p:nvPr/>
          </p:nvSpPr>
          <p:spPr>
            <a:xfrm>
              <a:off x="983252" y="1796534"/>
              <a:ext cx="1594848" cy="646331"/>
            </a:xfrm>
            <a:prstGeom prst="rect">
              <a:avLst/>
            </a:prstGeom>
            <a:noFill/>
          </p:spPr>
          <p:txBody>
            <a:bodyPr wrap="square">
              <a:spAutoFit/>
            </a:bodyPr>
            <a:lstStyle/>
            <a:p>
              <a:pPr algn="ctr"/>
              <a:r>
                <a:rPr kumimoji="0" lang="en-US" altLang="en-US" sz="1800" b="1" i="0" u="none" strike="noStrike" cap="none" normalizeH="0" baseline="0" dirty="0">
                  <a:ln>
                    <a:noFill/>
                  </a:ln>
                  <a:solidFill>
                    <a:schemeClr val="bg1"/>
                  </a:solidFill>
                  <a:effectLst/>
                  <a:latin typeface="Montserrat" panose="00000500000000000000" pitchFamily="50" charset="0"/>
                </a:rPr>
                <a:t>Core data types</a:t>
              </a:r>
              <a:endParaRPr lang="en-US" b="1" dirty="0">
                <a:solidFill>
                  <a:schemeClr val="bg1"/>
                </a:solidFill>
                <a:latin typeface="Montserrat" panose="00000500000000000000" pitchFamily="50" charset="0"/>
              </a:endParaRPr>
            </a:p>
          </p:txBody>
        </p:sp>
      </p:grpSp>
      <p:grpSp>
        <p:nvGrpSpPr>
          <p:cNvPr id="12" name="Group 11">
            <a:extLst>
              <a:ext uri="{FF2B5EF4-FFF2-40B4-BE49-F238E27FC236}">
                <a16:creationId xmlns:a16="http://schemas.microsoft.com/office/drawing/2014/main" id="{BBEC5B76-6E83-9461-0659-B31E5D8F7792}"/>
              </a:ext>
            </a:extLst>
          </p:cNvPr>
          <p:cNvGrpSpPr/>
          <p:nvPr/>
        </p:nvGrpSpPr>
        <p:grpSpPr>
          <a:xfrm>
            <a:off x="742044" y="3055499"/>
            <a:ext cx="10591800" cy="760874"/>
            <a:chOff x="800100" y="2664095"/>
            <a:chExt cx="10591800" cy="760874"/>
          </a:xfrm>
        </p:grpSpPr>
        <p:grpSp>
          <p:nvGrpSpPr>
            <p:cNvPr id="13" name="Group 12">
              <a:extLst>
                <a:ext uri="{FF2B5EF4-FFF2-40B4-BE49-F238E27FC236}">
                  <a16:creationId xmlns:a16="http://schemas.microsoft.com/office/drawing/2014/main" id="{70640255-8B20-3758-B1BB-5ACBD33B4F0A}"/>
                </a:ext>
              </a:extLst>
            </p:cNvPr>
            <p:cNvGrpSpPr/>
            <p:nvPr/>
          </p:nvGrpSpPr>
          <p:grpSpPr>
            <a:xfrm>
              <a:off x="800100" y="2664095"/>
              <a:ext cx="10591800" cy="760874"/>
              <a:chOff x="800100" y="1981200"/>
              <a:chExt cx="10591800" cy="1012723"/>
            </a:xfrm>
            <a:solidFill>
              <a:srgbClr val="464866"/>
            </a:solidFill>
          </p:grpSpPr>
          <p:sp>
            <p:nvSpPr>
              <p:cNvPr id="16" name="Rectangle: Rounded Corners 15">
                <a:extLst>
                  <a:ext uri="{FF2B5EF4-FFF2-40B4-BE49-F238E27FC236}">
                    <a16:creationId xmlns:a16="http://schemas.microsoft.com/office/drawing/2014/main" id="{11B0F3B3-7F5C-CF96-D4B4-9D974DA3EC2B}"/>
                  </a:ext>
                </a:extLst>
              </p:cNvPr>
              <p:cNvSpPr/>
              <p:nvPr/>
            </p:nvSpPr>
            <p:spPr>
              <a:xfrm>
                <a:off x="3111910" y="1981200"/>
                <a:ext cx="8279990" cy="1012723"/>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1E417D5-0BA2-FC84-B16F-AC405A618D1C}"/>
                  </a:ext>
                </a:extLst>
              </p:cNvPr>
              <p:cNvSpPr/>
              <p:nvPr/>
            </p:nvSpPr>
            <p:spPr>
              <a:xfrm>
                <a:off x="800100" y="1981200"/>
                <a:ext cx="2019300" cy="1012723"/>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40A59535-AFB5-F976-F237-0767182E45FA}"/>
                </a:ext>
              </a:extLst>
            </p:cNvPr>
            <p:cNvSpPr txBox="1"/>
            <p:nvPr/>
          </p:nvSpPr>
          <p:spPr>
            <a:xfrm>
              <a:off x="3404470" y="2728421"/>
              <a:ext cx="7533506" cy="646331"/>
            </a:xfrm>
            <a:prstGeom prst="rect">
              <a:avLst/>
            </a:prstGeom>
            <a:noFill/>
          </p:spPr>
          <p:txBody>
            <a:bodyPr wrap="square">
              <a:spAutoFit/>
            </a:bodyPr>
            <a:lstStyle/>
            <a:p>
              <a:r>
                <a:rPr kumimoji="0" lang="en-US" altLang="en-US" sz="1800" b="0" i="0" u="none" strike="noStrike" cap="none" normalizeH="0" baseline="0" dirty="0">
                  <a:ln>
                    <a:noFill/>
                  </a:ln>
                  <a:solidFill>
                    <a:schemeClr val="bg1"/>
                  </a:solidFill>
                  <a:effectLst/>
                  <a:latin typeface="Montserrat" panose="00000500000000000000" pitchFamily="50" charset="0"/>
                </a:rPr>
                <a:t>Learned to declare variables, convert data types and manage user input/output.</a:t>
              </a:r>
            </a:p>
          </p:txBody>
        </p:sp>
        <p:sp>
          <p:nvSpPr>
            <p:cNvPr id="15" name="TextBox 14">
              <a:extLst>
                <a:ext uri="{FF2B5EF4-FFF2-40B4-BE49-F238E27FC236}">
                  <a16:creationId xmlns:a16="http://schemas.microsoft.com/office/drawing/2014/main" id="{458389E4-513D-F4FA-0B28-8EC6A4A6E9FA}"/>
                </a:ext>
              </a:extLst>
            </p:cNvPr>
            <p:cNvSpPr txBox="1"/>
            <p:nvPr/>
          </p:nvSpPr>
          <p:spPr>
            <a:xfrm>
              <a:off x="1012326" y="2721367"/>
              <a:ext cx="1594848" cy="646331"/>
            </a:xfrm>
            <a:prstGeom prst="rect">
              <a:avLst/>
            </a:prstGeom>
            <a:noFill/>
          </p:spPr>
          <p:txBody>
            <a:bodyPr wrap="square">
              <a:spAutoFit/>
            </a:bodyPr>
            <a:lstStyle/>
            <a:p>
              <a:pPr algn="ctr"/>
              <a:r>
                <a:rPr kumimoji="0" lang="en-US" altLang="en-US" sz="1800" b="1" i="0" u="none" strike="noStrike" cap="none" normalizeH="0" baseline="0" dirty="0">
                  <a:ln>
                    <a:noFill/>
                  </a:ln>
                  <a:solidFill>
                    <a:schemeClr val="bg1"/>
                  </a:solidFill>
                  <a:effectLst/>
                  <a:latin typeface="Montserrat" panose="00000500000000000000" pitchFamily="50" charset="0"/>
                </a:rPr>
                <a:t>Variable operations</a:t>
              </a:r>
              <a:endParaRPr lang="en-US" b="1" dirty="0">
                <a:solidFill>
                  <a:schemeClr val="bg1"/>
                </a:solidFill>
                <a:latin typeface="Montserrat" panose="00000500000000000000" pitchFamily="50" charset="0"/>
              </a:endParaRPr>
            </a:p>
          </p:txBody>
        </p:sp>
      </p:grpSp>
      <p:grpSp>
        <p:nvGrpSpPr>
          <p:cNvPr id="18" name="Group 17">
            <a:extLst>
              <a:ext uri="{FF2B5EF4-FFF2-40B4-BE49-F238E27FC236}">
                <a16:creationId xmlns:a16="http://schemas.microsoft.com/office/drawing/2014/main" id="{ACB5E66E-E82C-DC0A-68D5-0ED6ABC564C5}"/>
              </a:ext>
            </a:extLst>
          </p:cNvPr>
          <p:cNvGrpSpPr/>
          <p:nvPr/>
        </p:nvGrpSpPr>
        <p:grpSpPr>
          <a:xfrm>
            <a:off x="742044" y="4004531"/>
            <a:ext cx="10591800" cy="760874"/>
            <a:chOff x="800100" y="3613127"/>
            <a:chExt cx="10591800" cy="760874"/>
          </a:xfrm>
        </p:grpSpPr>
        <p:grpSp>
          <p:nvGrpSpPr>
            <p:cNvPr id="19" name="Group 18">
              <a:extLst>
                <a:ext uri="{FF2B5EF4-FFF2-40B4-BE49-F238E27FC236}">
                  <a16:creationId xmlns:a16="http://schemas.microsoft.com/office/drawing/2014/main" id="{564CF3D9-D717-24B7-80A5-AD45862D1F89}"/>
                </a:ext>
              </a:extLst>
            </p:cNvPr>
            <p:cNvGrpSpPr/>
            <p:nvPr/>
          </p:nvGrpSpPr>
          <p:grpSpPr>
            <a:xfrm>
              <a:off x="800100" y="3613127"/>
              <a:ext cx="10591800" cy="760874"/>
              <a:chOff x="800100" y="1981200"/>
              <a:chExt cx="10591800" cy="1012723"/>
            </a:xfrm>
            <a:solidFill>
              <a:srgbClr val="AAABB8"/>
            </a:solidFill>
          </p:grpSpPr>
          <p:sp>
            <p:nvSpPr>
              <p:cNvPr id="22" name="Rectangle: Rounded Corners 21">
                <a:extLst>
                  <a:ext uri="{FF2B5EF4-FFF2-40B4-BE49-F238E27FC236}">
                    <a16:creationId xmlns:a16="http://schemas.microsoft.com/office/drawing/2014/main" id="{B7F9B172-72E7-8235-4C15-1E0EC6331ED8}"/>
                  </a:ext>
                </a:extLst>
              </p:cNvPr>
              <p:cNvSpPr/>
              <p:nvPr/>
            </p:nvSpPr>
            <p:spPr>
              <a:xfrm>
                <a:off x="3111910" y="1981200"/>
                <a:ext cx="8279990" cy="1012723"/>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11DF1CF9-F8F9-C853-326A-2679AB5FC64D}"/>
                  </a:ext>
                </a:extLst>
              </p:cNvPr>
              <p:cNvSpPr/>
              <p:nvPr/>
            </p:nvSpPr>
            <p:spPr>
              <a:xfrm>
                <a:off x="800100" y="1981200"/>
                <a:ext cx="2019300" cy="1012723"/>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44F3FB85-ED93-7DAB-883E-9AF09AADCD70}"/>
                </a:ext>
              </a:extLst>
            </p:cNvPr>
            <p:cNvSpPr txBox="1"/>
            <p:nvPr/>
          </p:nvSpPr>
          <p:spPr>
            <a:xfrm>
              <a:off x="3404470" y="3660981"/>
              <a:ext cx="7533506" cy="646331"/>
            </a:xfrm>
            <a:prstGeom prst="rect">
              <a:avLst/>
            </a:prstGeom>
            <a:noFill/>
          </p:spPr>
          <p:txBody>
            <a:bodyPr wrap="square">
              <a:spAutoFit/>
            </a:bodyPr>
            <a:lstStyle/>
            <a:p>
              <a:r>
                <a:rPr kumimoji="0" lang="en-US" altLang="en-US" sz="1800" b="0" i="0" u="none" strike="noStrike" cap="none" normalizeH="0" baseline="0" dirty="0">
                  <a:ln>
                    <a:noFill/>
                  </a:ln>
                  <a:solidFill>
                    <a:schemeClr val="bg1"/>
                  </a:solidFill>
                  <a:effectLst/>
                  <a:latin typeface="Montserrat" panose="00000500000000000000" pitchFamily="50" charset="0"/>
                </a:rPr>
                <a:t>Practiced creating and manipulating lists and dictionaries for efficient data </a:t>
              </a:r>
              <a:r>
                <a:rPr kumimoji="0" lang="en-US" altLang="en-US" sz="1800" b="0" i="0" u="none" strike="noStrike" cap="none" normalizeH="0" baseline="0" dirty="0" err="1">
                  <a:ln>
                    <a:noFill/>
                  </a:ln>
                  <a:solidFill>
                    <a:schemeClr val="bg1"/>
                  </a:solidFill>
                  <a:effectLst/>
                  <a:latin typeface="Montserrat" panose="00000500000000000000" pitchFamily="50" charset="0"/>
                </a:rPr>
                <a:t>organisation</a:t>
              </a:r>
              <a:r>
                <a:rPr kumimoji="0" lang="en-US" altLang="en-US" sz="1800" b="0" i="0" u="none" strike="noStrike" cap="none" normalizeH="0" baseline="0" dirty="0">
                  <a:ln>
                    <a:noFill/>
                  </a:ln>
                  <a:solidFill>
                    <a:schemeClr val="bg1"/>
                  </a:solidFill>
                  <a:effectLst/>
                  <a:latin typeface="Montserrat" panose="00000500000000000000" pitchFamily="50" charset="0"/>
                </a:rPr>
                <a:t> and access</a:t>
              </a:r>
              <a:endParaRPr lang="en-US" dirty="0">
                <a:solidFill>
                  <a:schemeClr val="bg1"/>
                </a:solidFill>
                <a:latin typeface="Montserrat" panose="00000500000000000000" pitchFamily="50" charset="0"/>
              </a:endParaRPr>
            </a:p>
          </p:txBody>
        </p:sp>
        <p:sp>
          <p:nvSpPr>
            <p:cNvPr id="21" name="TextBox 20">
              <a:extLst>
                <a:ext uri="{FF2B5EF4-FFF2-40B4-BE49-F238E27FC236}">
                  <a16:creationId xmlns:a16="http://schemas.microsoft.com/office/drawing/2014/main" id="{756C6672-BF91-4D3C-3089-7E20AC8F893B}"/>
                </a:ext>
              </a:extLst>
            </p:cNvPr>
            <p:cNvSpPr txBox="1"/>
            <p:nvPr/>
          </p:nvSpPr>
          <p:spPr>
            <a:xfrm>
              <a:off x="1012326" y="3663738"/>
              <a:ext cx="1594848" cy="646331"/>
            </a:xfrm>
            <a:prstGeom prst="rect">
              <a:avLst/>
            </a:prstGeom>
            <a:noFill/>
          </p:spPr>
          <p:txBody>
            <a:bodyPr wrap="square">
              <a:spAutoFit/>
            </a:bodyPr>
            <a:lstStyle/>
            <a:p>
              <a:pPr algn="ctr"/>
              <a:r>
                <a:rPr kumimoji="0" lang="en-US" altLang="en-US" sz="1800" b="1" i="0" u="none" strike="noStrike" cap="none" normalizeH="0" baseline="0" dirty="0">
                  <a:ln>
                    <a:noFill/>
                  </a:ln>
                  <a:solidFill>
                    <a:schemeClr val="bg1"/>
                  </a:solidFill>
                  <a:effectLst/>
                  <a:latin typeface="Montserrat" panose="00000500000000000000" pitchFamily="50" charset="0"/>
                </a:rPr>
                <a:t>Data Structures</a:t>
              </a:r>
              <a:endParaRPr lang="en-US" b="1" dirty="0">
                <a:solidFill>
                  <a:schemeClr val="bg1"/>
                </a:solidFill>
                <a:latin typeface="Montserrat" panose="00000500000000000000" pitchFamily="50" charset="0"/>
              </a:endParaRPr>
            </a:p>
          </p:txBody>
        </p:sp>
      </p:grpSp>
      <p:grpSp>
        <p:nvGrpSpPr>
          <p:cNvPr id="24" name="Group 23">
            <a:extLst>
              <a:ext uri="{FF2B5EF4-FFF2-40B4-BE49-F238E27FC236}">
                <a16:creationId xmlns:a16="http://schemas.microsoft.com/office/drawing/2014/main" id="{EDC7288F-5B8D-E045-040E-C8380508789D}"/>
              </a:ext>
            </a:extLst>
          </p:cNvPr>
          <p:cNvGrpSpPr/>
          <p:nvPr/>
        </p:nvGrpSpPr>
        <p:grpSpPr>
          <a:xfrm>
            <a:off x="742044" y="4953563"/>
            <a:ext cx="10591800" cy="760874"/>
            <a:chOff x="800100" y="4562159"/>
            <a:chExt cx="10591800" cy="760874"/>
          </a:xfrm>
        </p:grpSpPr>
        <p:grpSp>
          <p:nvGrpSpPr>
            <p:cNvPr id="25" name="Group 24">
              <a:extLst>
                <a:ext uri="{FF2B5EF4-FFF2-40B4-BE49-F238E27FC236}">
                  <a16:creationId xmlns:a16="http://schemas.microsoft.com/office/drawing/2014/main" id="{345624FF-ED3D-988F-FF98-E498C6BE105F}"/>
                </a:ext>
              </a:extLst>
            </p:cNvPr>
            <p:cNvGrpSpPr/>
            <p:nvPr/>
          </p:nvGrpSpPr>
          <p:grpSpPr>
            <a:xfrm>
              <a:off x="800100" y="4562159"/>
              <a:ext cx="10591800" cy="760874"/>
              <a:chOff x="800100" y="1981200"/>
              <a:chExt cx="10591800" cy="1012723"/>
            </a:xfrm>
            <a:solidFill>
              <a:srgbClr val="2E9CCA"/>
            </a:solidFill>
          </p:grpSpPr>
          <p:sp>
            <p:nvSpPr>
              <p:cNvPr id="28" name="Rectangle: Rounded Corners 27">
                <a:extLst>
                  <a:ext uri="{FF2B5EF4-FFF2-40B4-BE49-F238E27FC236}">
                    <a16:creationId xmlns:a16="http://schemas.microsoft.com/office/drawing/2014/main" id="{1D5319D6-A6C7-DC71-D645-2A5D21F1CC9A}"/>
                  </a:ext>
                </a:extLst>
              </p:cNvPr>
              <p:cNvSpPr/>
              <p:nvPr/>
            </p:nvSpPr>
            <p:spPr>
              <a:xfrm>
                <a:off x="3111910" y="1981200"/>
                <a:ext cx="8279990" cy="1012723"/>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D03468C7-8971-6CFE-4236-72A833C844BA}"/>
                  </a:ext>
                </a:extLst>
              </p:cNvPr>
              <p:cNvSpPr/>
              <p:nvPr/>
            </p:nvSpPr>
            <p:spPr>
              <a:xfrm>
                <a:off x="800100" y="1981200"/>
                <a:ext cx="2019300" cy="1012723"/>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87AEF909-982C-6E4D-3EB7-D91E6504DA25}"/>
                </a:ext>
              </a:extLst>
            </p:cNvPr>
            <p:cNvSpPr txBox="1"/>
            <p:nvPr/>
          </p:nvSpPr>
          <p:spPr>
            <a:xfrm>
              <a:off x="3404470" y="4623460"/>
              <a:ext cx="7533506" cy="646331"/>
            </a:xfrm>
            <a:prstGeom prst="rect">
              <a:avLst/>
            </a:prstGeom>
            <a:noFill/>
          </p:spPr>
          <p:txBody>
            <a:bodyPr wrap="square">
              <a:spAutoFit/>
            </a:bodyPr>
            <a:lstStyle/>
            <a:p>
              <a:r>
                <a:rPr kumimoji="0" lang="en-US" altLang="en-US" sz="1800" b="0" i="0" u="none" strike="noStrike" cap="none" normalizeH="0" baseline="0" dirty="0">
                  <a:ln>
                    <a:noFill/>
                  </a:ln>
                  <a:solidFill>
                    <a:schemeClr val="bg1"/>
                  </a:solidFill>
                  <a:effectLst/>
                  <a:latin typeface="Montserrat" panose="00000500000000000000" pitchFamily="50" charset="0"/>
                </a:rPr>
                <a:t>Gained proficiency in writing logic-based branching statements and implementing loops with conditions</a:t>
              </a:r>
            </a:p>
          </p:txBody>
        </p:sp>
        <p:sp>
          <p:nvSpPr>
            <p:cNvPr id="27" name="TextBox 26">
              <a:extLst>
                <a:ext uri="{FF2B5EF4-FFF2-40B4-BE49-F238E27FC236}">
                  <a16:creationId xmlns:a16="http://schemas.microsoft.com/office/drawing/2014/main" id="{BF5EB317-9B47-E099-608D-CF0B48CBB48D}"/>
                </a:ext>
              </a:extLst>
            </p:cNvPr>
            <p:cNvSpPr txBox="1"/>
            <p:nvPr/>
          </p:nvSpPr>
          <p:spPr>
            <a:xfrm>
              <a:off x="933450" y="4630519"/>
              <a:ext cx="1752600" cy="646331"/>
            </a:xfrm>
            <a:prstGeom prst="rect">
              <a:avLst/>
            </a:prstGeom>
            <a:noFill/>
          </p:spPr>
          <p:txBody>
            <a:bodyPr wrap="square">
              <a:spAutoFit/>
            </a:bodyPr>
            <a:lstStyle/>
            <a:p>
              <a:pPr algn="ctr"/>
              <a:r>
                <a:rPr kumimoji="0" lang="en-US" altLang="en-US" sz="1800" b="1" i="0" u="none" strike="noStrike" cap="none" normalizeH="0" baseline="0" dirty="0">
                  <a:ln>
                    <a:noFill/>
                  </a:ln>
                  <a:solidFill>
                    <a:schemeClr val="bg1"/>
                  </a:solidFill>
                  <a:effectLst/>
                  <a:latin typeface="Montserrat" panose="00000500000000000000" pitchFamily="50" charset="0"/>
                </a:rPr>
                <a:t>Logic &amp; Control Flow</a:t>
              </a:r>
              <a:endParaRPr lang="en-US" b="1" dirty="0">
                <a:solidFill>
                  <a:schemeClr val="bg1"/>
                </a:solidFill>
                <a:latin typeface="Montserrat" panose="00000500000000000000" pitchFamily="50" charset="0"/>
              </a:endParaRPr>
            </a:p>
          </p:txBody>
        </p:sp>
      </p:grpSp>
    </p:spTree>
    <p:extLst>
      <p:ext uri="{BB962C8B-B14F-4D97-AF65-F5344CB8AC3E}">
        <p14:creationId xmlns:p14="http://schemas.microsoft.com/office/powerpoint/2010/main" val="400355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10" presetClass="entr" presetSubtype="0" fill="hold"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childTnLst>
                                </p:cTn>
                              </p:par>
                              <p:par>
                                <p:cTn id="17" presetID="10" presetClass="entr" presetSubtype="0" fill="hold" nodeType="with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childTnLst>
                                </p:cTn>
                              </p:par>
                              <p:par>
                                <p:cTn id="20" presetID="10" presetClass="entr" presetSubtype="0" fill="hold" nodeType="withEffect">
                                  <p:stCondLst>
                                    <p:cond delay="5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54DD-9097-6C76-7452-E41BC08555C1}"/>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DDB2614-F08B-9D11-B68A-CF6F228BAC97}"/>
              </a:ext>
            </a:extLst>
          </p:cNvPr>
          <p:cNvGrpSpPr/>
          <p:nvPr/>
        </p:nvGrpSpPr>
        <p:grpSpPr>
          <a:xfrm>
            <a:off x="3352800" y="1943100"/>
            <a:ext cx="5588000" cy="989611"/>
            <a:chOff x="3352800" y="1943100"/>
            <a:chExt cx="5588000" cy="989611"/>
          </a:xfrm>
        </p:grpSpPr>
        <p:sp>
          <p:nvSpPr>
            <p:cNvPr id="14" name="Rectangle: Rounded Corners 13">
              <a:extLst>
                <a:ext uri="{FF2B5EF4-FFF2-40B4-BE49-F238E27FC236}">
                  <a16:creationId xmlns:a16="http://schemas.microsoft.com/office/drawing/2014/main" id="{616F29E9-286C-EF07-69F1-9AC33529977D}"/>
                </a:ext>
              </a:extLst>
            </p:cNvPr>
            <p:cNvSpPr/>
            <p:nvPr/>
          </p:nvSpPr>
          <p:spPr>
            <a:xfrm>
              <a:off x="3352800" y="1943100"/>
              <a:ext cx="5588000" cy="989611"/>
            </a:xfrm>
            <a:prstGeom prst="roundRect">
              <a:avLst>
                <a:gd name="adj" fmla="val 50000"/>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40E20B5-C52B-FA1C-8409-DA0E426C3237}"/>
                </a:ext>
              </a:extLst>
            </p:cNvPr>
            <p:cNvSpPr txBox="1"/>
            <p:nvPr/>
          </p:nvSpPr>
          <p:spPr>
            <a:xfrm>
              <a:off x="4238172" y="2402724"/>
              <a:ext cx="3904342" cy="361637"/>
            </a:xfrm>
            <a:prstGeom prst="rect">
              <a:avLst/>
            </a:prstGeom>
            <a:noFill/>
          </p:spPr>
          <p:txBody>
            <a:bodyPr wrap="square">
              <a:spAutoFit/>
            </a:bodyPr>
            <a:lstStyle/>
            <a:p>
              <a:pPr>
                <a:lnSpc>
                  <a:spcPts val="2125"/>
                </a:lnSpc>
              </a:pPr>
              <a:r>
                <a:rPr lang="en-US" dirty="0">
                  <a:solidFill>
                    <a:schemeClr val="bg1"/>
                  </a:solidFill>
                  <a:latin typeface="Montserrat" panose="00000500000000000000" pitchFamily="2" charset="0"/>
                </a:rPr>
                <a:t>If it is raining, take an umbrella</a:t>
              </a:r>
            </a:p>
          </p:txBody>
        </p:sp>
        <p:sp>
          <p:nvSpPr>
            <p:cNvPr id="17" name="TextBox 16">
              <a:extLst>
                <a:ext uri="{FF2B5EF4-FFF2-40B4-BE49-F238E27FC236}">
                  <a16:creationId xmlns:a16="http://schemas.microsoft.com/office/drawing/2014/main" id="{F0F3770E-0348-4439-6298-B7843FCFFA09}"/>
                </a:ext>
              </a:extLst>
            </p:cNvPr>
            <p:cNvSpPr txBox="1"/>
            <p:nvPr/>
          </p:nvSpPr>
          <p:spPr>
            <a:xfrm>
              <a:off x="4238172" y="2083410"/>
              <a:ext cx="3904342" cy="361637"/>
            </a:xfrm>
            <a:prstGeom prst="rect">
              <a:avLst/>
            </a:prstGeom>
            <a:noFill/>
          </p:spPr>
          <p:txBody>
            <a:bodyPr wrap="square">
              <a:spAutoFit/>
            </a:bodyPr>
            <a:lstStyle/>
            <a:p>
              <a:pPr>
                <a:lnSpc>
                  <a:spcPts val="2125"/>
                </a:lnSpc>
              </a:pPr>
              <a:r>
                <a:rPr lang="en-US" b="1" dirty="0">
                  <a:solidFill>
                    <a:schemeClr val="bg1"/>
                  </a:solidFill>
                  <a:latin typeface="Montserrat" panose="00000500000000000000" pitchFamily="2" charset="0"/>
                </a:rPr>
                <a:t>Conditional logic</a:t>
              </a:r>
            </a:p>
          </p:txBody>
        </p:sp>
      </p:grpSp>
      <p:sp>
        <p:nvSpPr>
          <p:cNvPr id="8" name="Title 7">
            <a:extLst>
              <a:ext uri="{FF2B5EF4-FFF2-40B4-BE49-F238E27FC236}">
                <a16:creationId xmlns:a16="http://schemas.microsoft.com/office/drawing/2014/main" id="{4CA47A51-52DD-CF0F-422E-C0107BE9DA6B}"/>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Logic Flows in Everyday Life</a:t>
            </a:r>
            <a:br>
              <a:rPr lang="en-US" dirty="0"/>
            </a:br>
            <a:endParaRPr lang="en-US" dirty="0"/>
          </a:p>
        </p:txBody>
      </p:sp>
      <p:sp>
        <p:nvSpPr>
          <p:cNvPr id="10" name="Text Placeholder 9">
            <a:extLst>
              <a:ext uri="{FF2B5EF4-FFF2-40B4-BE49-F238E27FC236}">
                <a16:creationId xmlns:a16="http://schemas.microsoft.com/office/drawing/2014/main" id="{BC8ABD7D-1CFD-2883-8501-4867F1FCA498}"/>
              </a:ext>
            </a:extLst>
          </p:cNvPr>
          <p:cNvSpPr>
            <a:spLocks noGrp="1"/>
          </p:cNvSpPr>
          <p:nvPr>
            <p:ph type="body" sz="quarter" idx="10"/>
          </p:nvPr>
        </p:nvSpPr>
        <p:spPr/>
        <p:txBody>
          <a:bodyPr/>
          <a:lstStyle/>
          <a:p>
            <a:r>
              <a:rPr lang="en-US" dirty="0"/>
              <a:t>Programming Mirrors Daily Decisions and Repetition</a:t>
            </a:r>
            <a:endParaRPr lang="en-GB" dirty="0"/>
          </a:p>
        </p:txBody>
      </p:sp>
      <p:grpSp>
        <p:nvGrpSpPr>
          <p:cNvPr id="7" name="Group 6">
            <a:extLst>
              <a:ext uri="{FF2B5EF4-FFF2-40B4-BE49-F238E27FC236}">
                <a16:creationId xmlns:a16="http://schemas.microsoft.com/office/drawing/2014/main" id="{33996C3B-1378-3CF4-9CC8-C5487E58F758}"/>
              </a:ext>
            </a:extLst>
          </p:cNvPr>
          <p:cNvGrpSpPr/>
          <p:nvPr/>
        </p:nvGrpSpPr>
        <p:grpSpPr>
          <a:xfrm>
            <a:off x="1772933" y="5520561"/>
            <a:ext cx="8646134" cy="540674"/>
            <a:chOff x="2725947" y="5641974"/>
            <a:chExt cx="8646134" cy="540674"/>
          </a:xfrm>
        </p:grpSpPr>
        <p:sp>
          <p:nvSpPr>
            <p:cNvPr id="2" name="Rectangle: Rounded Corners 1">
              <a:extLst>
                <a:ext uri="{FF2B5EF4-FFF2-40B4-BE49-F238E27FC236}">
                  <a16:creationId xmlns:a16="http://schemas.microsoft.com/office/drawing/2014/main" id="{23098EC8-6613-B4CE-DFE5-FD35CEAA52D6}"/>
                </a:ext>
              </a:extLst>
            </p:cNvPr>
            <p:cNvSpPr/>
            <p:nvPr/>
          </p:nvSpPr>
          <p:spPr>
            <a:xfrm>
              <a:off x="2725947" y="5641974"/>
              <a:ext cx="8646134" cy="540674"/>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CE3FA2FC-8429-92AA-71BE-7F82B39F6A2D}"/>
                </a:ext>
              </a:extLst>
            </p:cNvPr>
            <p:cNvSpPr txBox="1"/>
            <p:nvPr/>
          </p:nvSpPr>
          <p:spPr>
            <a:xfrm>
              <a:off x="2931727" y="5727645"/>
              <a:ext cx="8234574" cy="369332"/>
            </a:xfrm>
            <a:prstGeom prst="rect">
              <a:avLst/>
            </a:prstGeom>
            <a:noFill/>
          </p:spPr>
          <p:txBody>
            <a:bodyPr wrap="square">
              <a:spAutoFit/>
            </a:bodyPr>
            <a:lstStyle/>
            <a:p>
              <a:pPr algn="ctr"/>
              <a:r>
                <a:rPr lang="en-US" dirty="0">
                  <a:solidFill>
                    <a:schemeClr val="bg1"/>
                  </a:solidFill>
                </a:rPr>
                <a:t>The logic for navigating daily life is the same for writing effective code.</a:t>
              </a:r>
            </a:p>
          </p:txBody>
        </p:sp>
      </p:grpSp>
      <p:pic>
        <p:nvPicPr>
          <p:cNvPr id="13" name="Graphic 12">
            <a:extLst>
              <a:ext uri="{FF2B5EF4-FFF2-40B4-BE49-F238E27FC236}">
                <a16:creationId xmlns:a16="http://schemas.microsoft.com/office/drawing/2014/main" id="{81C4B17C-9069-CE2C-95BB-8236E95275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9042" y="2143094"/>
            <a:ext cx="543519" cy="597871"/>
          </a:xfrm>
          <a:prstGeom prst="rect">
            <a:avLst/>
          </a:prstGeom>
        </p:spPr>
      </p:pic>
      <p:grpSp>
        <p:nvGrpSpPr>
          <p:cNvPr id="19" name="Group 18">
            <a:extLst>
              <a:ext uri="{FF2B5EF4-FFF2-40B4-BE49-F238E27FC236}">
                <a16:creationId xmlns:a16="http://schemas.microsoft.com/office/drawing/2014/main" id="{BC248506-C8C9-4C37-70AD-9777BB283348}"/>
              </a:ext>
            </a:extLst>
          </p:cNvPr>
          <p:cNvGrpSpPr/>
          <p:nvPr/>
        </p:nvGrpSpPr>
        <p:grpSpPr>
          <a:xfrm>
            <a:off x="3352800" y="3075214"/>
            <a:ext cx="5588000" cy="989611"/>
            <a:chOff x="3352800" y="1943100"/>
            <a:chExt cx="5588000" cy="989611"/>
          </a:xfrm>
        </p:grpSpPr>
        <p:sp>
          <p:nvSpPr>
            <p:cNvPr id="20" name="Rectangle: Rounded Corners 19">
              <a:extLst>
                <a:ext uri="{FF2B5EF4-FFF2-40B4-BE49-F238E27FC236}">
                  <a16:creationId xmlns:a16="http://schemas.microsoft.com/office/drawing/2014/main" id="{20D7CDDC-22CA-C7D4-F8DF-AE3351C2374B}"/>
                </a:ext>
              </a:extLst>
            </p:cNvPr>
            <p:cNvSpPr/>
            <p:nvPr/>
          </p:nvSpPr>
          <p:spPr>
            <a:xfrm>
              <a:off x="3352800" y="1943100"/>
              <a:ext cx="5588000" cy="989611"/>
            </a:xfrm>
            <a:prstGeom prst="roundRect">
              <a:avLst>
                <a:gd name="adj" fmla="val 50000"/>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88814-891F-EF25-3F68-8E6435346473}"/>
                </a:ext>
              </a:extLst>
            </p:cNvPr>
            <p:cNvSpPr txBox="1"/>
            <p:nvPr/>
          </p:nvSpPr>
          <p:spPr>
            <a:xfrm>
              <a:off x="4238172" y="2272097"/>
              <a:ext cx="4412342" cy="630942"/>
            </a:xfrm>
            <a:prstGeom prst="rect">
              <a:avLst/>
            </a:prstGeom>
            <a:noFill/>
          </p:spPr>
          <p:txBody>
            <a:bodyPr wrap="square">
              <a:spAutoFit/>
            </a:bodyPr>
            <a:lstStyle/>
            <a:p>
              <a:pPr>
                <a:lnSpc>
                  <a:spcPts val="2125"/>
                </a:lnSpc>
              </a:pPr>
              <a:r>
                <a:rPr lang="en-US" dirty="0">
                  <a:solidFill>
                    <a:schemeClr val="bg1"/>
                  </a:solidFill>
                  <a:latin typeface="Montserrat" panose="00000500000000000000" pitchFamily="2" charset="0"/>
                </a:rPr>
                <a:t>Process all emails until the inbox is empty</a:t>
              </a:r>
            </a:p>
          </p:txBody>
        </p:sp>
        <p:sp>
          <p:nvSpPr>
            <p:cNvPr id="22" name="TextBox 21">
              <a:extLst>
                <a:ext uri="{FF2B5EF4-FFF2-40B4-BE49-F238E27FC236}">
                  <a16:creationId xmlns:a16="http://schemas.microsoft.com/office/drawing/2014/main" id="{A90B25F3-6454-D16F-FF75-ED892B545CC0}"/>
                </a:ext>
              </a:extLst>
            </p:cNvPr>
            <p:cNvSpPr txBox="1"/>
            <p:nvPr/>
          </p:nvSpPr>
          <p:spPr>
            <a:xfrm>
              <a:off x="4238172" y="1952783"/>
              <a:ext cx="3904342" cy="361637"/>
            </a:xfrm>
            <a:prstGeom prst="rect">
              <a:avLst/>
            </a:prstGeom>
            <a:noFill/>
          </p:spPr>
          <p:txBody>
            <a:bodyPr wrap="square">
              <a:spAutoFit/>
            </a:bodyPr>
            <a:lstStyle/>
            <a:p>
              <a:pPr>
                <a:lnSpc>
                  <a:spcPts val="2125"/>
                </a:lnSpc>
              </a:pPr>
              <a:r>
                <a:rPr lang="en-US" b="1" dirty="0">
                  <a:solidFill>
                    <a:schemeClr val="bg1"/>
                  </a:solidFill>
                  <a:latin typeface="Montserrat" panose="00000500000000000000" pitchFamily="2" charset="0"/>
                </a:rPr>
                <a:t>Loops</a:t>
              </a:r>
            </a:p>
          </p:txBody>
        </p:sp>
      </p:grpSp>
      <p:grpSp>
        <p:nvGrpSpPr>
          <p:cNvPr id="23" name="Group 22">
            <a:extLst>
              <a:ext uri="{FF2B5EF4-FFF2-40B4-BE49-F238E27FC236}">
                <a16:creationId xmlns:a16="http://schemas.microsoft.com/office/drawing/2014/main" id="{564FEE17-577B-CFF3-E517-DB74AABB03AB}"/>
              </a:ext>
            </a:extLst>
          </p:cNvPr>
          <p:cNvGrpSpPr/>
          <p:nvPr/>
        </p:nvGrpSpPr>
        <p:grpSpPr>
          <a:xfrm>
            <a:off x="3352800" y="4207328"/>
            <a:ext cx="5588000" cy="989611"/>
            <a:chOff x="3352800" y="1943100"/>
            <a:chExt cx="5588000" cy="989611"/>
          </a:xfrm>
        </p:grpSpPr>
        <p:sp>
          <p:nvSpPr>
            <p:cNvPr id="24" name="Rectangle: Rounded Corners 23">
              <a:extLst>
                <a:ext uri="{FF2B5EF4-FFF2-40B4-BE49-F238E27FC236}">
                  <a16:creationId xmlns:a16="http://schemas.microsoft.com/office/drawing/2014/main" id="{F5CAEF1D-19AE-E80B-9F78-3546DDD8438E}"/>
                </a:ext>
              </a:extLst>
            </p:cNvPr>
            <p:cNvSpPr/>
            <p:nvPr/>
          </p:nvSpPr>
          <p:spPr>
            <a:xfrm>
              <a:off x="3352800" y="1943100"/>
              <a:ext cx="5588000" cy="989611"/>
            </a:xfrm>
            <a:prstGeom prst="roundRect">
              <a:avLst>
                <a:gd name="adj" fmla="val 50000"/>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4C3552E-C7DC-26E8-AD31-AF40ADCC018B}"/>
                </a:ext>
              </a:extLst>
            </p:cNvPr>
            <p:cNvSpPr txBox="1"/>
            <p:nvPr/>
          </p:nvSpPr>
          <p:spPr>
            <a:xfrm>
              <a:off x="4238172" y="2272098"/>
              <a:ext cx="4484914" cy="630942"/>
            </a:xfrm>
            <a:prstGeom prst="rect">
              <a:avLst/>
            </a:prstGeom>
            <a:noFill/>
          </p:spPr>
          <p:txBody>
            <a:bodyPr wrap="square">
              <a:spAutoFit/>
            </a:bodyPr>
            <a:lstStyle/>
            <a:p>
              <a:pPr>
                <a:lnSpc>
                  <a:spcPts val="2125"/>
                </a:lnSpc>
              </a:pPr>
              <a:r>
                <a:rPr lang="en-US" dirty="0">
                  <a:solidFill>
                    <a:schemeClr val="bg1"/>
                  </a:solidFill>
                  <a:latin typeface="Montserrat" panose="00000500000000000000" pitchFamily="2" charset="0"/>
                </a:rPr>
                <a:t>If the traffic is heavy, take the metro; otherwise, drive</a:t>
              </a:r>
            </a:p>
          </p:txBody>
        </p:sp>
        <p:sp>
          <p:nvSpPr>
            <p:cNvPr id="26" name="TextBox 25">
              <a:extLst>
                <a:ext uri="{FF2B5EF4-FFF2-40B4-BE49-F238E27FC236}">
                  <a16:creationId xmlns:a16="http://schemas.microsoft.com/office/drawing/2014/main" id="{E36C51D6-51D0-F77B-0262-DD794617DE2D}"/>
                </a:ext>
              </a:extLst>
            </p:cNvPr>
            <p:cNvSpPr txBox="1"/>
            <p:nvPr/>
          </p:nvSpPr>
          <p:spPr>
            <a:xfrm>
              <a:off x="4238172" y="1952784"/>
              <a:ext cx="3904342" cy="361637"/>
            </a:xfrm>
            <a:prstGeom prst="rect">
              <a:avLst/>
            </a:prstGeom>
            <a:noFill/>
          </p:spPr>
          <p:txBody>
            <a:bodyPr wrap="square">
              <a:spAutoFit/>
            </a:bodyPr>
            <a:lstStyle/>
            <a:p>
              <a:pPr>
                <a:lnSpc>
                  <a:spcPts val="2125"/>
                </a:lnSpc>
              </a:pPr>
              <a:r>
                <a:rPr lang="en-US" b="1" dirty="0">
                  <a:solidFill>
                    <a:schemeClr val="bg1"/>
                  </a:solidFill>
                  <a:latin typeface="Montserrat" panose="00000500000000000000" pitchFamily="2" charset="0"/>
                </a:rPr>
                <a:t>Branching</a:t>
              </a:r>
            </a:p>
          </p:txBody>
        </p:sp>
      </p:grpSp>
      <p:pic>
        <p:nvPicPr>
          <p:cNvPr id="28" name="Graphic 27">
            <a:extLst>
              <a:ext uri="{FF2B5EF4-FFF2-40B4-BE49-F238E27FC236}">
                <a16:creationId xmlns:a16="http://schemas.microsoft.com/office/drawing/2014/main" id="{55FC230A-86D8-4FB7-EFFC-F85B4A5C62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90029" y="3389431"/>
            <a:ext cx="657658" cy="427478"/>
          </a:xfrm>
          <a:prstGeom prst="rect">
            <a:avLst/>
          </a:prstGeom>
        </p:spPr>
      </p:pic>
      <p:pic>
        <p:nvPicPr>
          <p:cNvPr id="30" name="Graphic 29">
            <a:extLst>
              <a:ext uri="{FF2B5EF4-FFF2-40B4-BE49-F238E27FC236}">
                <a16:creationId xmlns:a16="http://schemas.microsoft.com/office/drawing/2014/main" id="{6926E09D-2FC5-96E5-099F-A2DED978F0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15965" y="4393732"/>
            <a:ext cx="434814" cy="625049"/>
          </a:xfrm>
          <a:prstGeom prst="rect">
            <a:avLst/>
          </a:prstGeom>
        </p:spPr>
      </p:pic>
    </p:spTree>
    <p:extLst>
      <p:ext uri="{BB962C8B-B14F-4D97-AF65-F5344CB8AC3E}">
        <p14:creationId xmlns:p14="http://schemas.microsoft.com/office/powerpoint/2010/main" val="3880383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1000"/>
                                        <p:tgtEl>
                                          <p:spTgt spid="10">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childTnLst>
                                </p:cTn>
                              </p:par>
                              <p:par>
                                <p:cTn id="14" presetID="10" presetClass="entr" presetSubtype="0" fill="hold" nodeType="withEffect">
                                  <p:stCondLst>
                                    <p:cond delay="5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1000"/>
                                        <p:tgtEl>
                                          <p:spTgt spid="28"/>
                                        </p:tgtEl>
                                      </p:cBhvr>
                                    </p:animEffect>
                                  </p:childTnLst>
                                </p:cTn>
                              </p:par>
                              <p:par>
                                <p:cTn id="17" presetID="10" presetClass="entr" presetSubtype="0" fill="hold" nodeType="withEffect">
                                  <p:stCondLst>
                                    <p:cond delay="5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childTnLst>
                                </p:cTn>
                              </p:par>
                              <p:par>
                                <p:cTn id="20" presetID="10" presetClass="entr" presetSubtype="0" fill="hold" nodeType="withEffect">
                                  <p:stCondLst>
                                    <p:cond delay="50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childTnLst>
                                </p:cTn>
                              </p:par>
                              <p:par>
                                <p:cTn id="23" presetID="10" presetClass="entr" presetSubtype="0" fill="hold" nodeType="withEffect">
                                  <p:stCondLst>
                                    <p:cond delay="50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1000"/>
                                        <p:tgtEl>
                                          <p:spTgt spid="19"/>
                                        </p:tgtEl>
                                      </p:cBhvr>
                                    </p:animEffect>
                                  </p:childTnLst>
                                </p:cTn>
                              </p:par>
                              <p:par>
                                <p:cTn id="26" presetID="10" presetClass="entr" presetSubtype="0" fill="hold" nodeType="withEffect">
                                  <p:stCondLst>
                                    <p:cond delay="50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childTnLst>
                                </p:cTn>
                              </p:par>
                              <p:par>
                                <p:cTn id="29" presetID="10" presetClass="entr" presetSubtype="0" fill="hold" nodeType="withEffect">
                                  <p:stCondLst>
                                    <p:cond delay="50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5B8BB-791B-1AFE-E21D-CB9D782D5E2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806A32E-6215-143E-CB2D-B337D5FE7BF8}"/>
              </a:ext>
            </a:extLst>
          </p:cNvPr>
          <p:cNvSpPr>
            <a:spLocks noGrp="1"/>
          </p:cNvSpPr>
          <p:nvPr>
            <p:ph type="body" sz="quarter" idx="12"/>
          </p:nvPr>
        </p:nvSpPr>
        <p:spPr>
          <a:xfrm>
            <a:off x="749999" y="2482074"/>
            <a:ext cx="5761160" cy="1893851"/>
          </a:xfrm>
        </p:spPr>
        <p:txBody>
          <a:bodyPr>
            <a:normAutofit/>
          </a:bodyPr>
          <a:lstStyle/>
          <a:p>
            <a:pPr>
              <a:lnSpc>
                <a:spcPts val="4625"/>
              </a:lnSpc>
            </a:pPr>
            <a:r>
              <a:rPr lang="en-US" sz="3600" dirty="0">
                <a:latin typeface="Montserrat Bold" pitchFamily="34" charset="0"/>
                <a:ea typeface="Montserrat Bold" pitchFamily="34" charset="-122"/>
                <a:cs typeface="Montserrat Bold" pitchFamily="34" charset="-120"/>
              </a:rPr>
              <a:t>Python User-Defined Functions:</a:t>
            </a:r>
            <a:endParaRPr lang="en-US" sz="3600" dirty="0"/>
          </a:p>
          <a:p>
            <a:pPr>
              <a:lnSpc>
                <a:spcPts val="4625"/>
              </a:lnSpc>
            </a:pPr>
            <a:endParaRPr lang="en-US" sz="3600" dirty="0"/>
          </a:p>
        </p:txBody>
      </p:sp>
      <p:sp>
        <p:nvSpPr>
          <p:cNvPr id="2" name="Text 1">
            <a:extLst>
              <a:ext uri="{FF2B5EF4-FFF2-40B4-BE49-F238E27FC236}">
                <a16:creationId xmlns:a16="http://schemas.microsoft.com/office/drawing/2014/main" id="{D98DE408-B633-61AA-EC09-D4AC746A78FE}"/>
              </a:ext>
            </a:extLst>
          </p:cNvPr>
          <p:cNvSpPr/>
          <p:nvPr/>
        </p:nvSpPr>
        <p:spPr>
          <a:xfrm>
            <a:off x="749998" y="4553266"/>
            <a:ext cx="7859163" cy="708819"/>
          </a:xfrm>
          <a:prstGeom prst="rect">
            <a:avLst/>
          </a:prstGeom>
          <a:noFill/>
          <a:ln/>
        </p:spPr>
        <p:txBody>
          <a:bodyPr wrap="square" lIns="0" tIns="0" rIns="0" bIns="0" rtlCol="0" anchor="t"/>
          <a:lstStyle/>
          <a:p>
            <a:pPr>
              <a:lnSpc>
                <a:spcPts val="2750"/>
              </a:lnSpc>
            </a:pPr>
            <a:r>
              <a:rPr lang="en-US" dirty="0">
                <a:solidFill>
                  <a:srgbClr val="25274D"/>
                </a:solidFill>
              </a:rPr>
              <a:t>Making code reusable, </a:t>
            </a:r>
            <a:r>
              <a:rPr lang="en-US" dirty="0" err="1">
                <a:solidFill>
                  <a:srgbClr val="25274D"/>
                </a:solidFill>
              </a:rPr>
              <a:t>organised</a:t>
            </a:r>
            <a:r>
              <a:rPr lang="en-US" dirty="0">
                <a:solidFill>
                  <a:srgbClr val="25274D"/>
                </a:solidFill>
              </a:rPr>
              <a:t> and </a:t>
            </a:r>
            <a:r>
              <a:rPr lang="en-US" dirty="0" err="1">
                <a:solidFill>
                  <a:srgbClr val="25274D"/>
                </a:solidFill>
              </a:rPr>
              <a:t>efficieent</a:t>
            </a:r>
            <a:endParaRPr lang="en-US" dirty="0">
              <a:solidFill>
                <a:srgbClr val="25274D"/>
              </a:solidFill>
            </a:endParaRPr>
          </a:p>
        </p:txBody>
      </p:sp>
      <p:sp>
        <p:nvSpPr>
          <p:cNvPr id="3" name="Text 1">
            <a:extLst>
              <a:ext uri="{FF2B5EF4-FFF2-40B4-BE49-F238E27FC236}">
                <a16:creationId xmlns:a16="http://schemas.microsoft.com/office/drawing/2014/main" id="{898E6DB9-268C-0AE3-B463-4C5A60017D88}"/>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11 of 12)</a:t>
            </a:r>
            <a:endParaRPr lang="en-US" dirty="0">
              <a:solidFill>
                <a:srgbClr val="25274D"/>
              </a:solidFill>
            </a:endParaRPr>
          </a:p>
        </p:txBody>
      </p:sp>
    </p:spTree>
    <p:extLst>
      <p:ext uri="{BB962C8B-B14F-4D97-AF65-F5344CB8AC3E}">
        <p14:creationId xmlns:p14="http://schemas.microsoft.com/office/powerpoint/2010/main" val="235171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P spid="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A5BE3-F2B5-C8B9-480B-C5B78266A7E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DD293-161F-7CB1-E852-B2C6F6F074F0}"/>
              </a:ext>
            </a:extLst>
          </p:cNvPr>
          <p:cNvSpPr>
            <a:spLocks noGrp="1"/>
          </p:cNvSpPr>
          <p:nvPr>
            <p:ph type="title"/>
          </p:nvPr>
        </p:nvSpPr>
        <p:spPr/>
        <p:txBody>
          <a:bodyPr/>
          <a:lstStyle/>
          <a:p>
            <a:pPr>
              <a:lnSpc>
                <a:spcPts val="4042"/>
              </a:lnSpc>
            </a:pPr>
            <a:r>
              <a:rPr lang="en-US" dirty="0"/>
              <a:t>Function</a:t>
            </a:r>
          </a:p>
        </p:txBody>
      </p:sp>
      <p:sp>
        <p:nvSpPr>
          <p:cNvPr id="6" name="Text Placeholder 5">
            <a:extLst>
              <a:ext uri="{FF2B5EF4-FFF2-40B4-BE49-F238E27FC236}">
                <a16:creationId xmlns:a16="http://schemas.microsoft.com/office/drawing/2014/main" id="{758CF319-0357-1C28-128A-07EF77754FDD}"/>
              </a:ext>
            </a:extLst>
          </p:cNvPr>
          <p:cNvSpPr>
            <a:spLocks noGrp="1"/>
          </p:cNvSpPr>
          <p:nvPr>
            <p:ph type="body" sz="quarter" idx="10"/>
          </p:nvPr>
        </p:nvSpPr>
        <p:spPr/>
        <p:txBody>
          <a:bodyPr/>
          <a:lstStyle/>
          <a:p>
            <a:r>
              <a:rPr lang="en-US"/>
              <a:t>Reusable Blocks Performing Specific Tasks</a:t>
            </a:r>
            <a:endParaRPr lang="en-GB"/>
          </a:p>
        </p:txBody>
      </p:sp>
      <p:grpSp>
        <p:nvGrpSpPr>
          <p:cNvPr id="30" name="Group 29">
            <a:extLst>
              <a:ext uri="{FF2B5EF4-FFF2-40B4-BE49-F238E27FC236}">
                <a16:creationId xmlns:a16="http://schemas.microsoft.com/office/drawing/2014/main" id="{19CF73F4-7086-D6D8-7B4A-8AFA7D709E99}"/>
              </a:ext>
            </a:extLst>
          </p:cNvPr>
          <p:cNvGrpSpPr/>
          <p:nvPr/>
        </p:nvGrpSpPr>
        <p:grpSpPr>
          <a:xfrm>
            <a:off x="2321462" y="2217872"/>
            <a:ext cx="7549077" cy="3045710"/>
            <a:chOff x="2321462" y="2217872"/>
            <a:chExt cx="7549077" cy="3045710"/>
          </a:xfrm>
        </p:grpSpPr>
        <p:grpSp>
          <p:nvGrpSpPr>
            <p:cNvPr id="27" name="Group 26">
              <a:extLst>
                <a:ext uri="{FF2B5EF4-FFF2-40B4-BE49-F238E27FC236}">
                  <a16:creationId xmlns:a16="http://schemas.microsoft.com/office/drawing/2014/main" id="{F4670F60-305B-FCD8-B6D4-18C0A89AF4BF}"/>
                </a:ext>
              </a:extLst>
            </p:cNvPr>
            <p:cNvGrpSpPr/>
            <p:nvPr/>
          </p:nvGrpSpPr>
          <p:grpSpPr>
            <a:xfrm>
              <a:off x="2321462" y="2217872"/>
              <a:ext cx="7549077" cy="3045710"/>
              <a:chOff x="2321462" y="2217872"/>
              <a:chExt cx="7549077" cy="3045710"/>
            </a:xfrm>
          </p:grpSpPr>
          <p:grpSp>
            <p:nvGrpSpPr>
              <p:cNvPr id="26" name="Group 25">
                <a:extLst>
                  <a:ext uri="{FF2B5EF4-FFF2-40B4-BE49-F238E27FC236}">
                    <a16:creationId xmlns:a16="http://schemas.microsoft.com/office/drawing/2014/main" id="{920060EB-86D9-65AE-D587-66DCD71DEA90}"/>
                  </a:ext>
                </a:extLst>
              </p:cNvPr>
              <p:cNvGrpSpPr/>
              <p:nvPr/>
            </p:nvGrpSpPr>
            <p:grpSpPr>
              <a:xfrm>
                <a:off x="2321462" y="2217872"/>
                <a:ext cx="7549077" cy="3045710"/>
                <a:chOff x="2321462" y="2217872"/>
                <a:chExt cx="7549077" cy="3045710"/>
              </a:xfrm>
            </p:grpSpPr>
            <p:grpSp>
              <p:nvGrpSpPr>
                <p:cNvPr id="2" name="Group 1">
                  <a:extLst>
                    <a:ext uri="{FF2B5EF4-FFF2-40B4-BE49-F238E27FC236}">
                      <a16:creationId xmlns:a16="http://schemas.microsoft.com/office/drawing/2014/main" id="{4B552C87-5C88-96B5-0C1B-741C4B2A6B20}"/>
                    </a:ext>
                  </a:extLst>
                </p:cNvPr>
                <p:cNvGrpSpPr/>
                <p:nvPr/>
              </p:nvGrpSpPr>
              <p:grpSpPr>
                <a:xfrm>
                  <a:off x="2321462" y="2217872"/>
                  <a:ext cx="7549077" cy="3045710"/>
                  <a:chOff x="894443" y="2217872"/>
                  <a:chExt cx="7549077" cy="3045710"/>
                </a:xfrm>
              </p:grpSpPr>
              <p:sp>
                <p:nvSpPr>
                  <p:cNvPr id="4" name="Rectangle: Rounded Corners 3">
                    <a:extLst>
                      <a:ext uri="{FF2B5EF4-FFF2-40B4-BE49-F238E27FC236}">
                        <a16:creationId xmlns:a16="http://schemas.microsoft.com/office/drawing/2014/main" id="{1D964468-CF65-81C5-F7A1-4EB971C8E89F}"/>
                      </a:ext>
                    </a:extLst>
                  </p:cNvPr>
                  <p:cNvSpPr/>
                  <p:nvPr/>
                </p:nvSpPr>
                <p:spPr>
                  <a:xfrm>
                    <a:off x="894443" y="2217872"/>
                    <a:ext cx="2327564" cy="304571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D021FC4-3C02-C5BC-2D0F-7930F8AF7C47}"/>
                      </a:ext>
                    </a:extLst>
                  </p:cNvPr>
                  <p:cNvSpPr txBox="1"/>
                  <p:nvPr/>
                </p:nvSpPr>
                <p:spPr>
                  <a:xfrm>
                    <a:off x="913411" y="3446269"/>
                    <a:ext cx="2289628" cy="923330"/>
                  </a:xfrm>
                  <a:prstGeom prst="rect">
                    <a:avLst/>
                  </a:prstGeom>
                  <a:noFill/>
                </p:spPr>
                <p:txBody>
                  <a:bodyPr wrap="square">
                    <a:spAutoFit/>
                  </a:bodyPr>
                  <a:lstStyle/>
                  <a:p>
                    <a:pPr indent="-285750" algn="ctr"/>
                    <a:r>
                      <a:rPr lang="en-US" sz="1800" dirty="0">
                        <a:solidFill>
                          <a:schemeClr val="bg1"/>
                        </a:solidFill>
                        <a:latin typeface="Montserrat" panose="00000500000000000000" pitchFamily="2" charset="0"/>
                      </a:rPr>
                      <a:t>Promotes code reusability and modularity</a:t>
                    </a:r>
                  </a:p>
                </p:txBody>
              </p:sp>
              <p:sp>
                <p:nvSpPr>
                  <p:cNvPr id="7" name="Rectangle: Rounded Corners 6">
                    <a:extLst>
                      <a:ext uri="{FF2B5EF4-FFF2-40B4-BE49-F238E27FC236}">
                        <a16:creationId xmlns:a16="http://schemas.microsoft.com/office/drawing/2014/main" id="{6431A88D-28B7-6EFE-B876-2CFA2A9EFE2A}"/>
                      </a:ext>
                    </a:extLst>
                  </p:cNvPr>
                  <p:cNvSpPr/>
                  <p:nvPr/>
                </p:nvSpPr>
                <p:spPr>
                  <a:xfrm>
                    <a:off x="3419928" y="2217872"/>
                    <a:ext cx="2327564" cy="3045710"/>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9122943-B23E-783E-157F-0E393F8019C6}"/>
                      </a:ext>
                    </a:extLst>
                  </p:cNvPr>
                  <p:cNvSpPr txBox="1"/>
                  <p:nvPr/>
                </p:nvSpPr>
                <p:spPr>
                  <a:xfrm>
                    <a:off x="3438896" y="3446269"/>
                    <a:ext cx="2289628" cy="1477328"/>
                  </a:xfrm>
                  <a:prstGeom prst="rect">
                    <a:avLst/>
                  </a:prstGeom>
                  <a:noFill/>
                </p:spPr>
                <p:txBody>
                  <a:bodyPr wrap="square">
                    <a:spAutoFit/>
                  </a:bodyPr>
                  <a:lstStyle/>
                  <a:p>
                    <a:pPr indent="-285750" algn="ctr"/>
                    <a:r>
                      <a:rPr lang="en-US" sz="1800" dirty="0">
                        <a:solidFill>
                          <a:schemeClr val="bg1"/>
                        </a:solidFill>
                        <a:latin typeface="Montserrat" panose="00000500000000000000" pitchFamily="2" charset="0"/>
                      </a:rPr>
                      <a:t>Simplifies complexity by breaking problems into smaller tasks</a:t>
                    </a:r>
                  </a:p>
                </p:txBody>
              </p:sp>
              <p:sp>
                <p:nvSpPr>
                  <p:cNvPr id="13" name="Rectangle: Rounded Corners 12">
                    <a:extLst>
                      <a:ext uri="{FF2B5EF4-FFF2-40B4-BE49-F238E27FC236}">
                        <a16:creationId xmlns:a16="http://schemas.microsoft.com/office/drawing/2014/main" id="{B8114BC0-5B12-C32E-9C21-216DE0DCAEC2}"/>
                      </a:ext>
                    </a:extLst>
                  </p:cNvPr>
                  <p:cNvSpPr/>
                  <p:nvPr/>
                </p:nvSpPr>
                <p:spPr>
                  <a:xfrm>
                    <a:off x="6115956" y="2217872"/>
                    <a:ext cx="2327564" cy="3045710"/>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6857A76-67F2-463D-B61F-5C364E7CD91B}"/>
                      </a:ext>
                    </a:extLst>
                  </p:cNvPr>
                  <p:cNvSpPr txBox="1"/>
                  <p:nvPr/>
                </p:nvSpPr>
                <p:spPr>
                  <a:xfrm>
                    <a:off x="6134924" y="3363139"/>
                    <a:ext cx="2289628" cy="1200329"/>
                  </a:xfrm>
                  <a:prstGeom prst="rect">
                    <a:avLst/>
                  </a:prstGeom>
                  <a:noFill/>
                </p:spPr>
                <p:txBody>
                  <a:bodyPr wrap="square">
                    <a:spAutoFit/>
                  </a:bodyPr>
                  <a:lstStyle/>
                  <a:p>
                    <a:pPr indent="-285750" algn="ctr"/>
                    <a:r>
                      <a:rPr lang="en-US" sz="1800" dirty="0">
                        <a:solidFill>
                          <a:schemeClr val="bg1"/>
                        </a:solidFill>
                        <a:latin typeface="Montserrat" panose="00000500000000000000" pitchFamily="2" charset="0"/>
                      </a:rPr>
                      <a:t>Reduces redundancy and enhances code readability</a:t>
                    </a:r>
                  </a:p>
                </p:txBody>
              </p:sp>
            </p:grpSp>
            <p:pic>
              <p:nvPicPr>
                <p:cNvPr id="25" name="Graphic 24">
                  <a:extLst>
                    <a:ext uri="{FF2B5EF4-FFF2-40B4-BE49-F238E27FC236}">
                      <a16:creationId xmlns:a16="http://schemas.microsoft.com/office/drawing/2014/main" id="{33C3A15F-071A-3F71-CD7F-1166DBB29A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6372" y="2548931"/>
                  <a:ext cx="808715" cy="773167"/>
                </a:xfrm>
                <a:prstGeom prst="rect">
                  <a:avLst/>
                </a:prstGeom>
              </p:spPr>
            </p:pic>
          </p:grpSp>
          <p:pic>
            <p:nvPicPr>
              <p:cNvPr id="23" name="Graphic 22">
                <a:extLst>
                  <a:ext uri="{FF2B5EF4-FFF2-40B4-BE49-F238E27FC236}">
                    <a16:creationId xmlns:a16="http://schemas.microsoft.com/office/drawing/2014/main" id="{E7F3BA37-BFAA-46B3-66AE-DFA1292487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12102" y="2476886"/>
                <a:ext cx="946285" cy="946285"/>
              </a:xfrm>
              <a:prstGeom prst="rect">
                <a:avLst/>
              </a:prstGeom>
            </p:spPr>
          </p:pic>
        </p:grpSp>
        <p:pic>
          <p:nvPicPr>
            <p:cNvPr id="29" name="Graphic 28">
              <a:extLst>
                <a:ext uri="{FF2B5EF4-FFF2-40B4-BE49-F238E27FC236}">
                  <a16:creationId xmlns:a16="http://schemas.microsoft.com/office/drawing/2014/main" id="{E5A4BF42-CAAE-3C04-9288-E9A2D392B3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27041" y="2584827"/>
              <a:ext cx="759432" cy="759432"/>
            </a:xfrm>
            <a:prstGeom prst="rect">
              <a:avLst/>
            </a:prstGeom>
          </p:spPr>
        </p:pic>
      </p:grpSp>
    </p:spTree>
    <p:extLst>
      <p:ext uri="{BB962C8B-B14F-4D97-AF65-F5344CB8AC3E}">
        <p14:creationId xmlns:p14="http://schemas.microsoft.com/office/powerpoint/2010/main" val="377800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1000"/>
                                        <p:tgtEl>
                                          <p:spTgt spid="6">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9FE2-6469-73B3-23C0-33BEBF90E12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0958317-9528-4996-A7E8-2DE5CEE9595A}"/>
              </a:ext>
            </a:extLst>
          </p:cNvPr>
          <p:cNvSpPr>
            <a:spLocks noGrp="1"/>
          </p:cNvSpPr>
          <p:nvPr>
            <p:ph type="title"/>
          </p:nvPr>
        </p:nvSpPr>
        <p:spPr/>
        <p:txBody>
          <a:bodyPr/>
          <a:lstStyle/>
          <a:p>
            <a:pPr>
              <a:lnSpc>
                <a:spcPts val="4042"/>
              </a:lnSpc>
            </a:pPr>
            <a:r>
              <a:rPr lang="en-US" dirty="0"/>
              <a:t>Purpose of Functions</a:t>
            </a:r>
          </a:p>
        </p:txBody>
      </p:sp>
      <p:grpSp>
        <p:nvGrpSpPr>
          <p:cNvPr id="38" name="Group 37">
            <a:extLst>
              <a:ext uri="{FF2B5EF4-FFF2-40B4-BE49-F238E27FC236}">
                <a16:creationId xmlns:a16="http://schemas.microsoft.com/office/drawing/2014/main" id="{F9AC03D3-FE8F-8A2A-394B-8844CEC0EE60}"/>
              </a:ext>
            </a:extLst>
          </p:cNvPr>
          <p:cNvGrpSpPr/>
          <p:nvPr/>
        </p:nvGrpSpPr>
        <p:grpSpPr>
          <a:xfrm>
            <a:off x="2114311" y="1943100"/>
            <a:ext cx="7963378" cy="3526691"/>
            <a:chOff x="2114311" y="1943100"/>
            <a:chExt cx="7963378" cy="3526691"/>
          </a:xfrm>
        </p:grpSpPr>
        <p:grpSp>
          <p:nvGrpSpPr>
            <p:cNvPr id="35" name="Group 34">
              <a:extLst>
                <a:ext uri="{FF2B5EF4-FFF2-40B4-BE49-F238E27FC236}">
                  <a16:creationId xmlns:a16="http://schemas.microsoft.com/office/drawing/2014/main" id="{77A2679D-BD9E-153E-DA33-AC1A87E5FD5D}"/>
                </a:ext>
              </a:extLst>
            </p:cNvPr>
            <p:cNvGrpSpPr/>
            <p:nvPr/>
          </p:nvGrpSpPr>
          <p:grpSpPr>
            <a:xfrm>
              <a:off x="2114311" y="1943100"/>
              <a:ext cx="7963378" cy="3526691"/>
              <a:chOff x="2114311" y="1943100"/>
              <a:chExt cx="7963378" cy="3526691"/>
            </a:xfrm>
          </p:grpSpPr>
          <p:grpSp>
            <p:nvGrpSpPr>
              <p:cNvPr id="32" name="Group 31">
                <a:extLst>
                  <a:ext uri="{FF2B5EF4-FFF2-40B4-BE49-F238E27FC236}">
                    <a16:creationId xmlns:a16="http://schemas.microsoft.com/office/drawing/2014/main" id="{942CCB61-E348-762E-6C6B-869499F7A022}"/>
                  </a:ext>
                </a:extLst>
              </p:cNvPr>
              <p:cNvGrpSpPr/>
              <p:nvPr/>
            </p:nvGrpSpPr>
            <p:grpSpPr>
              <a:xfrm>
                <a:off x="2114311" y="1943100"/>
                <a:ext cx="7963378" cy="3526691"/>
                <a:chOff x="1396522" y="1943100"/>
                <a:chExt cx="7963378" cy="3526691"/>
              </a:xfrm>
            </p:grpSpPr>
            <p:grpSp>
              <p:nvGrpSpPr>
                <p:cNvPr id="6" name="Group 4">
                  <a:extLst>
                    <a:ext uri="{FF2B5EF4-FFF2-40B4-BE49-F238E27FC236}">
                      <a16:creationId xmlns:a16="http://schemas.microsoft.com/office/drawing/2014/main" id="{37CA45ED-FC07-A02F-436E-1DBB2076AD98}"/>
                    </a:ext>
                  </a:extLst>
                </p:cNvPr>
                <p:cNvGrpSpPr/>
                <p:nvPr/>
              </p:nvGrpSpPr>
              <p:grpSpPr>
                <a:xfrm>
                  <a:off x="1396522" y="1943100"/>
                  <a:ext cx="3721578" cy="3526691"/>
                  <a:chOff x="654725" y="2419227"/>
                  <a:chExt cx="1785816" cy="2645018"/>
                </a:xfrm>
              </p:grpSpPr>
              <p:sp>
                <p:nvSpPr>
                  <p:cNvPr id="7" name="Rectangle 6">
                    <a:extLst>
                      <a:ext uri="{FF2B5EF4-FFF2-40B4-BE49-F238E27FC236}">
                        <a16:creationId xmlns:a16="http://schemas.microsoft.com/office/drawing/2014/main" id="{FA913093-7EE1-ABA6-8528-289BF45524FE}"/>
                      </a:ext>
                    </a:extLst>
                  </p:cNvPr>
                  <p:cNvSpPr/>
                  <p:nvPr/>
                </p:nvSpPr>
                <p:spPr>
                  <a:xfrm>
                    <a:off x="654725" y="3162176"/>
                    <a:ext cx="1785816" cy="17877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ound Same Side Corner Rectangle 1">
                    <a:extLst>
                      <a:ext uri="{FF2B5EF4-FFF2-40B4-BE49-F238E27FC236}">
                        <a16:creationId xmlns:a16="http://schemas.microsoft.com/office/drawing/2014/main" id="{B16276AD-2F97-83E5-3FFD-6D8EF8102D96}"/>
                      </a:ext>
                    </a:extLst>
                  </p:cNvPr>
                  <p:cNvSpPr/>
                  <p:nvPr/>
                </p:nvSpPr>
                <p:spPr>
                  <a:xfrm>
                    <a:off x="654725" y="2419227"/>
                    <a:ext cx="1785816" cy="733425"/>
                  </a:xfrm>
                  <a:prstGeom prst="round2SameRect">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C92170E1-C6F9-DB28-CF45-BEF79E697D27}"/>
                      </a:ext>
                    </a:extLst>
                  </p:cNvPr>
                  <p:cNvSpPr/>
                  <p:nvPr/>
                </p:nvSpPr>
                <p:spPr>
                  <a:xfrm>
                    <a:off x="654725" y="4939263"/>
                    <a:ext cx="1785816" cy="124982"/>
                  </a:xfrm>
                  <a:prstGeom prst="rect">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2" name="TextBox 11">
                  <a:extLst>
                    <a:ext uri="{FF2B5EF4-FFF2-40B4-BE49-F238E27FC236}">
                      <a16:creationId xmlns:a16="http://schemas.microsoft.com/office/drawing/2014/main" id="{677A88CE-A820-D318-59C6-75C364F2CAF9}"/>
                    </a:ext>
                  </a:extLst>
                </p:cNvPr>
                <p:cNvSpPr txBox="1"/>
                <p:nvPr/>
              </p:nvSpPr>
              <p:spPr>
                <a:xfrm>
                  <a:off x="2006361" y="3085584"/>
                  <a:ext cx="2501900" cy="369332"/>
                </a:xfrm>
                <a:prstGeom prst="rect">
                  <a:avLst/>
                </a:prstGeom>
                <a:noFill/>
              </p:spPr>
              <p:txBody>
                <a:bodyPr wrap="square">
                  <a:spAutoFit/>
                </a:bodyPr>
                <a:lstStyle/>
                <a:p>
                  <a:pPr algn="ctr"/>
                  <a:r>
                    <a:rPr lang="en-US" b="1" dirty="0">
                      <a:solidFill>
                        <a:srgbClr val="25274D"/>
                      </a:solidFill>
                      <a:latin typeface="Montserrat" panose="00000500000000000000" pitchFamily="2" charset="0"/>
                    </a:rPr>
                    <a:t>Without Functions</a:t>
                  </a:r>
                </a:p>
              </p:txBody>
            </p:sp>
            <p:sp>
              <p:nvSpPr>
                <p:cNvPr id="14" name="TextBox 13">
                  <a:extLst>
                    <a:ext uri="{FF2B5EF4-FFF2-40B4-BE49-F238E27FC236}">
                      <a16:creationId xmlns:a16="http://schemas.microsoft.com/office/drawing/2014/main" id="{86F3E3BF-6FB1-D6D1-2481-8CEBEB91264F}"/>
                    </a:ext>
                  </a:extLst>
                </p:cNvPr>
                <p:cNvSpPr txBox="1"/>
                <p:nvPr/>
              </p:nvSpPr>
              <p:spPr>
                <a:xfrm>
                  <a:off x="1422400" y="3555484"/>
                  <a:ext cx="35941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Repeat code unnecessarily</a:t>
                  </a:r>
                </a:p>
              </p:txBody>
            </p:sp>
            <p:sp>
              <p:nvSpPr>
                <p:cNvPr id="15" name="TextBox 14">
                  <a:extLst>
                    <a:ext uri="{FF2B5EF4-FFF2-40B4-BE49-F238E27FC236}">
                      <a16:creationId xmlns:a16="http://schemas.microsoft.com/office/drawing/2014/main" id="{4E395500-E846-1111-8FCE-CEBD4371FED1}"/>
                    </a:ext>
                  </a:extLst>
                </p:cNvPr>
                <p:cNvSpPr txBox="1"/>
                <p:nvPr/>
              </p:nvSpPr>
              <p:spPr>
                <a:xfrm>
                  <a:off x="1422400" y="3919551"/>
                  <a:ext cx="35941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Struggle to maintain logic</a:t>
                  </a:r>
                </a:p>
              </p:txBody>
            </p:sp>
            <p:sp>
              <p:nvSpPr>
                <p:cNvPr id="16" name="TextBox 15">
                  <a:extLst>
                    <a:ext uri="{FF2B5EF4-FFF2-40B4-BE49-F238E27FC236}">
                      <a16:creationId xmlns:a16="http://schemas.microsoft.com/office/drawing/2014/main" id="{F25434AE-C1F0-3CC7-A012-C5FD871F8EE5}"/>
                    </a:ext>
                  </a:extLst>
                </p:cNvPr>
                <p:cNvSpPr txBox="1"/>
                <p:nvPr/>
              </p:nvSpPr>
              <p:spPr>
                <a:xfrm>
                  <a:off x="1422400" y="4283618"/>
                  <a:ext cx="35941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Face difficulty debugging</a:t>
                  </a:r>
                </a:p>
              </p:txBody>
            </p:sp>
            <p:sp>
              <p:nvSpPr>
                <p:cNvPr id="17" name="TextBox 16">
                  <a:extLst>
                    <a:ext uri="{FF2B5EF4-FFF2-40B4-BE49-F238E27FC236}">
                      <a16:creationId xmlns:a16="http://schemas.microsoft.com/office/drawing/2014/main" id="{B8CED5D9-19E1-DE10-2BB0-C4DA07AB0AC0}"/>
                    </a:ext>
                  </a:extLst>
                </p:cNvPr>
                <p:cNvSpPr txBox="1"/>
                <p:nvPr/>
              </p:nvSpPr>
              <p:spPr>
                <a:xfrm>
                  <a:off x="1422400" y="4647684"/>
                  <a:ext cx="35941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Fail to scale effectively</a:t>
                  </a:r>
                </a:p>
              </p:txBody>
            </p:sp>
            <p:grpSp>
              <p:nvGrpSpPr>
                <p:cNvPr id="22" name="Group 4">
                  <a:extLst>
                    <a:ext uri="{FF2B5EF4-FFF2-40B4-BE49-F238E27FC236}">
                      <a16:creationId xmlns:a16="http://schemas.microsoft.com/office/drawing/2014/main" id="{4AC89CC5-13D6-ECF1-F304-3B789A159FE1}"/>
                    </a:ext>
                  </a:extLst>
                </p:cNvPr>
                <p:cNvGrpSpPr/>
                <p:nvPr/>
              </p:nvGrpSpPr>
              <p:grpSpPr>
                <a:xfrm>
                  <a:off x="5638322" y="1943100"/>
                  <a:ext cx="3721578" cy="3526691"/>
                  <a:chOff x="654725" y="2419227"/>
                  <a:chExt cx="1785816" cy="2645018"/>
                </a:xfrm>
              </p:grpSpPr>
              <p:sp>
                <p:nvSpPr>
                  <p:cNvPr id="23" name="Rectangle 22">
                    <a:extLst>
                      <a:ext uri="{FF2B5EF4-FFF2-40B4-BE49-F238E27FC236}">
                        <a16:creationId xmlns:a16="http://schemas.microsoft.com/office/drawing/2014/main" id="{9468AD46-4C81-2684-2EFD-49373F62F1FF}"/>
                      </a:ext>
                    </a:extLst>
                  </p:cNvPr>
                  <p:cNvSpPr/>
                  <p:nvPr/>
                </p:nvSpPr>
                <p:spPr>
                  <a:xfrm>
                    <a:off x="654725" y="3162176"/>
                    <a:ext cx="1785816" cy="17877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ound Same Side Corner Rectangle 1">
                    <a:extLst>
                      <a:ext uri="{FF2B5EF4-FFF2-40B4-BE49-F238E27FC236}">
                        <a16:creationId xmlns:a16="http://schemas.microsoft.com/office/drawing/2014/main" id="{548B5CCD-7188-A596-0D61-3EFB5D8CBC5C}"/>
                      </a:ext>
                    </a:extLst>
                  </p:cNvPr>
                  <p:cNvSpPr/>
                  <p:nvPr/>
                </p:nvSpPr>
                <p:spPr>
                  <a:xfrm>
                    <a:off x="654725" y="2419227"/>
                    <a:ext cx="1785816" cy="733425"/>
                  </a:xfrm>
                  <a:prstGeom prst="round2SameRect">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Rectangle 24">
                    <a:extLst>
                      <a:ext uri="{FF2B5EF4-FFF2-40B4-BE49-F238E27FC236}">
                        <a16:creationId xmlns:a16="http://schemas.microsoft.com/office/drawing/2014/main" id="{3A1F03D2-3378-C648-B344-C656C3FA6763}"/>
                      </a:ext>
                    </a:extLst>
                  </p:cNvPr>
                  <p:cNvSpPr/>
                  <p:nvPr/>
                </p:nvSpPr>
                <p:spPr>
                  <a:xfrm>
                    <a:off x="654725" y="4939263"/>
                    <a:ext cx="1785816" cy="124982"/>
                  </a:xfrm>
                  <a:prstGeom prst="rect">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6" name="TextBox 25">
                  <a:extLst>
                    <a:ext uri="{FF2B5EF4-FFF2-40B4-BE49-F238E27FC236}">
                      <a16:creationId xmlns:a16="http://schemas.microsoft.com/office/drawing/2014/main" id="{9921C9BC-FDEE-6374-7425-D498E18BC238}"/>
                    </a:ext>
                  </a:extLst>
                </p:cNvPr>
                <p:cNvSpPr txBox="1"/>
                <p:nvPr/>
              </p:nvSpPr>
              <p:spPr>
                <a:xfrm>
                  <a:off x="6248161" y="3085584"/>
                  <a:ext cx="2501900" cy="369332"/>
                </a:xfrm>
                <a:prstGeom prst="rect">
                  <a:avLst/>
                </a:prstGeom>
                <a:noFill/>
              </p:spPr>
              <p:txBody>
                <a:bodyPr wrap="square">
                  <a:spAutoFit/>
                </a:bodyPr>
                <a:lstStyle/>
                <a:p>
                  <a:pPr algn="ctr"/>
                  <a:r>
                    <a:rPr lang="en-US" b="1" dirty="0">
                      <a:solidFill>
                        <a:srgbClr val="25274D"/>
                      </a:solidFill>
                      <a:latin typeface="Montserrat" panose="00000500000000000000" pitchFamily="2" charset="0"/>
                    </a:rPr>
                    <a:t>With Functions</a:t>
                  </a:r>
                </a:p>
              </p:txBody>
            </p:sp>
            <p:sp>
              <p:nvSpPr>
                <p:cNvPr id="27" name="TextBox 26">
                  <a:extLst>
                    <a:ext uri="{FF2B5EF4-FFF2-40B4-BE49-F238E27FC236}">
                      <a16:creationId xmlns:a16="http://schemas.microsoft.com/office/drawing/2014/main" id="{FB07A25B-2732-AD71-47B0-6AF40A4BBEFB}"/>
                    </a:ext>
                  </a:extLst>
                </p:cNvPr>
                <p:cNvSpPr txBox="1"/>
                <p:nvPr/>
              </p:nvSpPr>
              <p:spPr>
                <a:xfrm>
                  <a:off x="5664200" y="3555484"/>
                  <a:ext cx="35941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Reuse code across tasks</a:t>
                  </a:r>
                </a:p>
              </p:txBody>
            </p:sp>
            <p:sp>
              <p:nvSpPr>
                <p:cNvPr id="28" name="TextBox 27">
                  <a:extLst>
                    <a:ext uri="{FF2B5EF4-FFF2-40B4-BE49-F238E27FC236}">
                      <a16:creationId xmlns:a16="http://schemas.microsoft.com/office/drawing/2014/main" id="{D785C5CD-FE6B-AAA2-E1B2-AEB62193E431}"/>
                    </a:ext>
                  </a:extLst>
                </p:cNvPr>
                <p:cNvSpPr txBox="1"/>
                <p:nvPr/>
              </p:nvSpPr>
              <p:spPr>
                <a:xfrm>
                  <a:off x="5664200" y="3919551"/>
                  <a:ext cx="3670300" cy="369332"/>
                </a:xfrm>
                <a:prstGeom prst="rect">
                  <a:avLst/>
                </a:prstGeom>
                <a:noFill/>
              </p:spPr>
              <p:txBody>
                <a:bodyPr wrap="square">
                  <a:spAutoFit/>
                </a:bodyPr>
                <a:lstStyle/>
                <a:p>
                  <a:pPr marL="285750" indent="-285750">
                    <a:buFont typeface="Arial" panose="020B0604020202020204" pitchFamily="34" charset="0"/>
                    <a:buChar char="•"/>
                  </a:pPr>
                  <a:r>
                    <a:rPr lang="en-US" dirty="0" err="1">
                      <a:solidFill>
                        <a:srgbClr val="25274D"/>
                      </a:solidFill>
                      <a:latin typeface="Montserrat" panose="00000500000000000000" pitchFamily="2" charset="0"/>
                    </a:rPr>
                    <a:t>Organise</a:t>
                  </a:r>
                  <a:r>
                    <a:rPr lang="en-US" dirty="0">
                      <a:solidFill>
                        <a:srgbClr val="25274D"/>
                      </a:solidFill>
                      <a:latin typeface="Montserrat" panose="00000500000000000000" pitchFamily="2" charset="0"/>
                    </a:rPr>
                    <a:t> related operations</a:t>
                  </a:r>
                </a:p>
              </p:txBody>
            </p:sp>
            <p:sp>
              <p:nvSpPr>
                <p:cNvPr id="29" name="TextBox 28">
                  <a:extLst>
                    <a:ext uri="{FF2B5EF4-FFF2-40B4-BE49-F238E27FC236}">
                      <a16:creationId xmlns:a16="http://schemas.microsoft.com/office/drawing/2014/main" id="{E7B321ED-32F1-3EDD-4D44-5F6EEA20DCF5}"/>
                    </a:ext>
                  </a:extLst>
                </p:cNvPr>
                <p:cNvSpPr txBox="1"/>
                <p:nvPr/>
              </p:nvSpPr>
              <p:spPr>
                <a:xfrm>
                  <a:off x="5664200" y="4283618"/>
                  <a:ext cx="35941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5274D"/>
                      </a:solidFill>
                      <a:latin typeface="Montserrat" panose="00000500000000000000" pitchFamily="2" charset="0"/>
                    </a:rPr>
                    <a:t>Improve code readability</a:t>
                  </a:r>
                </a:p>
              </p:txBody>
            </p:sp>
          </p:grpSp>
          <p:pic>
            <p:nvPicPr>
              <p:cNvPr id="34" name="Graphic 33">
                <a:extLst>
                  <a:ext uri="{FF2B5EF4-FFF2-40B4-BE49-F238E27FC236}">
                    <a16:creationId xmlns:a16="http://schemas.microsoft.com/office/drawing/2014/main" id="{B329E0E4-AB7C-8B43-823F-E86F7A4A9D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72972" y="2148971"/>
                <a:ext cx="604256" cy="604256"/>
              </a:xfrm>
              <a:prstGeom prst="rect">
                <a:avLst/>
              </a:prstGeom>
            </p:spPr>
          </p:pic>
        </p:grpSp>
        <p:pic>
          <p:nvPicPr>
            <p:cNvPr id="37" name="Graphic 36">
              <a:extLst>
                <a:ext uri="{FF2B5EF4-FFF2-40B4-BE49-F238E27FC236}">
                  <a16:creationId xmlns:a16="http://schemas.microsoft.com/office/drawing/2014/main" id="{F39979B5-7AE5-A148-9468-80DA31130D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7020" y="2133599"/>
              <a:ext cx="619761" cy="619759"/>
            </a:xfrm>
            <a:prstGeom prst="rect">
              <a:avLst/>
            </a:prstGeom>
          </p:spPr>
        </p:pic>
      </p:grpSp>
    </p:spTree>
    <p:extLst>
      <p:ext uri="{BB962C8B-B14F-4D97-AF65-F5344CB8AC3E}">
        <p14:creationId xmlns:p14="http://schemas.microsoft.com/office/powerpoint/2010/main" val="1591425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D5231-EB48-C2EF-80A4-179B861560C4}"/>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A46B9D6-FED9-03BB-5F1C-7B91A89FBEF6}"/>
              </a:ext>
            </a:extLst>
          </p:cNvPr>
          <p:cNvSpPr/>
          <p:nvPr/>
        </p:nvSpPr>
        <p:spPr>
          <a:xfrm>
            <a:off x="2648658" y="3105834"/>
            <a:ext cx="5939288" cy="153367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extBox 1">
            <a:extLst>
              <a:ext uri="{FF2B5EF4-FFF2-40B4-BE49-F238E27FC236}">
                <a16:creationId xmlns:a16="http://schemas.microsoft.com/office/drawing/2014/main" id="{784E6014-8811-3DA3-D93F-8E963A932E3A}"/>
              </a:ext>
            </a:extLst>
          </p:cNvPr>
          <p:cNvSpPr txBox="1"/>
          <p:nvPr/>
        </p:nvSpPr>
        <p:spPr>
          <a:xfrm>
            <a:off x="2648658" y="2371818"/>
            <a:ext cx="5094532" cy="369332"/>
          </a:xfrm>
          <a:prstGeom prst="rect">
            <a:avLst/>
          </a:prstGeom>
          <a:noFill/>
        </p:spPr>
        <p:txBody>
          <a:bodyPr wrap="square">
            <a:spAutoFit/>
          </a:bodyPr>
          <a:lstStyle/>
          <a:p>
            <a:r>
              <a:rPr lang="en-US" dirty="0">
                <a:solidFill>
                  <a:srgbClr val="25274D"/>
                </a:solidFill>
                <a:effectLst/>
                <a:latin typeface="Montserrat" panose="00000500000000000000" pitchFamily="2" charset="0"/>
              </a:rPr>
              <a:t>Provided by Python and ready to use.</a:t>
            </a:r>
            <a:endParaRPr lang="en-US" dirty="0">
              <a:solidFill>
                <a:srgbClr val="25274D"/>
              </a:solidFill>
              <a:latin typeface="Montserrat" panose="00000500000000000000" pitchFamily="2" charset="0"/>
            </a:endParaRPr>
          </a:p>
        </p:txBody>
      </p:sp>
      <p:sp>
        <p:nvSpPr>
          <p:cNvPr id="5" name="Title 7">
            <a:extLst>
              <a:ext uri="{FF2B5EF4-FFF2-40B4-BE49-F238E27FC236}">
                <a16:creationId xmlns:a16="http://schemas.microsoft.com/office/drawing/2014/main" id="{73376EB7-F1E9-FAD9-42C1-697ED41CE8CD}"/>
              </a:ext>
            </a:extLst>
          </p:cNvPr>
          <p:cNvSpPr txBox="1">
            <a:spLocks/>
          </p:cNvSpPr>
          <p:nvPr/>
        </p:nvSpPr>
        <p:spPr>
          <a:xfrm>
            <a:off x="749998" y="490685"/>
            <a:ext cx="10622083" cy="540674"/>
          </a:xfrm>
          <a:prstGeom prst="rect">
            <a:avLst/>
          </a:prstGeom>
        </p:spPr>
        <p:txBody>
          <a:bodyPr/>
          <a:lstStyle>
            <a:lvl1pPr marL="0" algn="l" defTabSz="914446" rtl="0" eaLnBrk="1" latinLnBrk="0" hangingPunct="1">
              <a:lnSpc>
                <a:spcPct val="90000"/>
              </a:lnSpc>
              <a:spcBef>
                <a:spcPct val="0"/>
              </a:spcBef>
              <a:buNone/>
              <a:defRPr lang="en-US" sz="3200" b="1" kern="1200">
                <a:solidFill>
                  <a:srgbClr val="25274D"/>
                </a:solidFill>
                <a:latin typeface="Montserrat" panose="00000500000000000000" pitchFamily="2" charset="0"/>
                <a:ea typeface="+mj-ea"/>
                <a:cs typeface="Arial" panose="020B0604020202020204" pitchFamily="34" charset="0"/>
              </a:defRPr>
            </a:lvl1pPr>
          </a:lstStyle>
          <a:p>
            <a:pPr>
              <a:lnSpc>
                <a:spcPts val="4042"/>
              </a:lnSpc>
            </a:pPr>
            <a:r>
              <a:rPr lang="en-US" dirty="0"/>
              <a:t>Built-in v. User-Defined Functions</a:t>
            </a:r>
          </a:p>
        </p:txBody>
      </p:sp>
      <p:sp>
        <p:nvSpPr>
          <p:cNvPr id="6" name="Text Placeholder 5">
            <a:extLst>
              <a:ext uri="{FF2B5EF4-FFF2-40B4-BE49-F238E27FC236}">
                <a16:creationId xmlns:a16="http://schemas.microsoft.com/office/drawing/2014/main" id="{3F7E3F81-A1C1-8367-53D1-19F239FE7D06}"/>
              </a:ext>
            </a:extLst>
          </p:cNvPr>
          <p:cNvSpPr txBox="1">
            <a:spLocks/>
          </p:cNvSpPr>
          <p:nvPr/>
        </p:nvSpPr>
        <p:spPr>
          <a:xfrm>
            <a:off x="749999" y="1109610"/>
            <a:ext cx="10622082" cy="450239"/>
          </a:xfrm>
          <a:prstGeom prst="rect">
            <a:avLst/>
          </a:prstGeom>
        </p:spPr>
        <p:txBody>
          <a:bodyPr/>
          <a:lstStyle>
            <a:lvl1pPr marL="0" indent="0" algn="l" defTabSz="914446" rtl="0" eaLnBrk="1" latinLnBrk="0" hangingPunct="1">
              <a:lnSpc>
                <a:spcPct val="90000"/>
              </a:lnSpc>
              <a:spcBef>
                <a:spcPts val="1000"/>
              </a:spcBef>
              <a:buFont typeface="Arial" panose="020B0604020202020204" pitchFamily="34" charset="0"/>
              <a:buNone/>
              <a:defRPr sz="2400" b="0" kern="1200">
                <a:solidFill>
                  <a:srgbClr val="2E9CCA"/>
                </a:solidFill>
                <a:latin typeface="Montserrat" panose="00000500000000000000" pitchFamily="2" charset="0"/>
                <a:ea typeface="+mn-ea"/>
                <a:cs typeface="+mn-cs"/>
              </a:defRPr>
            </a:lvl1pPr>
            <a:lvl2pPr marL="457223" indent="0" algn="l" defTabSz="914446"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Built-in Functions</a:t>
            </a:r>
          </a:p>
        </p:txBody>
      </p:sp>
      <p:pic>
        <p:nvPicPr>
          <p:cNvPr id="10" name="Picture 9">
            <a:extLst>
              <a:ext uri="{FF2B5EF4-FFF2-40B4-BE49-F238E27FC236}">
                <a16:creationId xmlns:a16="http://schemas.microsoft.com/office/drawing/2014/main" id="{2D30EB6E-316F-E16E-B937-603DF24CEF1F}"/>
              </a:ext>
            </a:extLst>
          </p:cNvPr>
          <p:cNvPicPr>
            <a:picLocks noChangeAspect="1"/>
          </p:cNvPicPr>
          <p:nvPr/>
        </p:nvPicPr>
        <p:blipFill>
          <a:blip r:embed="rId3"/>
          <a:stretch>
            <a:fillRect/>
          </a:stretch>
        </p:blipFill>
        <p:spPr>
          <a:xfrm>
            <a:off x="2746316" y="3267815"/>
            <a:ext cx="5683367" cy="1239325"/>
          </a:xfrm>
          <a:prstGeom prst="rect">
            <a:avLst/>
          </a:prstGeom>
        </p:spPr>
      </p:pic>
      <p:sp>
        <p:nvSpPr>
          <p:cNvPr id="4" name="Speech Bubble: Rectangle with Corners Rounded 3">
            <a:extLst>
              <a:ext uri="{FF2B5EF4-FFF2-40B4-BE49-F238E27FC236}">
                <a16:creationId xmlns:a16="http://schemas.microsoft.com/office/drawing/2014/main" id="{52732414-FBBB-11E0-F492-2E459CA220C5}"/>
              </a:ext>
            </a:extLst>
          </p:cNvPr>
          <p:cNvSpPr/>
          <p:nvPr/>
        </p:nvSpPr>
        <p:spPr>
          <a:xfrm>
            <a:off x="6061039" y="4639505"/>
            <a:ext cx="3364302" cy="1138686"/>
          </a:xfrm>
          <a:prstGeom prst="wedgeRoundRectCallout">
            <a:avLst>
              <a:gd name="adj1" fmla="val -39336"/>
              <a:gd name="adj2" fmla="val -76461"/>
              <a:gd name="adj3" fmla="val 16667"/>
            </a:avLst>
          </a:prstGeom>
          <a:solidFill>
            <a:srgbClr val="AAAB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Montserrat" panose="00000500000000000000" pitchFamily="2" charset="0"/>
              </a:rPr>
              <a:t>Python includes over 60 built-in functions.</a:t>
            </a:r>
          </a:p>
        </p:txBody>
      </p:sp>
    </p:spTree>
    <p:extLst>
      <p:ext uri="{BB962C8B-B14F-4D97-AF65-F5344CB8AC3E}">
        <p14:creationId xmlns:p14="http://schemas.microsoft.com/office/powerpoint/2010/main" val="307986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1000"/>
                                        <p:tgtEl>
                                          <p:spTgt spid="6">
                                            <p:txEl>
                                              <p:pRg st="0" end="0"/>
                                            </p:tx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par>
                                <p:cTn id="20" presetID="10" presetClass="entr" presetSubtype="0" fill="hold" nodeType="withEffect">
                                  <p:stCondLst>
                                    <p:cond delay="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P spid="5" grpId="0"/>
      <p:bldP spid="6" grpId="0" build="p"/>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D474F-C077-485C-5489-A4001A7F7EF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BB247E6-62CC-53D2-61AC-768A96EBE91F}"/>
              </a:ext>
            </a:extLst>
          </p:cNvPr>
          <p:cNvSpPr txBox="1">
            <a:spLocks/>
          </p:cNvSpPr>
          <p:nvPr/>
        </p:nvSpPr>
        <p:spPr>
          <a:xfrm>
            <a:off x="749998" y="490685"/>
            <a:ext cx="10622083" cy="540674"/>
          </a:xfrm>
          <a:prstGeom prst="rect">
            <a:avLst/>
          </a:prstGeom>
        </p:spPr>
        <p:txBody>
          <a:bodyPr/>
          <a:lstStyle>
            <a:lvl1pPr marL="0" algn="l" defTabSz="914446" rtl="0" eaLnBrk="1" latinLnBrk="0" hangingPunct="1">
              <a:lnSpc>
                <a:spcPct val="90000"/>
              </a:lnSpc>
              <a:spcBef>
                <a:spcPct val="0"/>
              </a:spcBef>
              <a:buNone/>
              <a:defRPr lang="en-US" sz="3200" b="1" kern="1200">
                <a:solidFill>
                  <a:srgbClr val="25274D"/>
                </a:solidFill>
                <a:latin typeface="Montserrat" panose="00000500000000000000" pitchFamily="2" charset="0"/>
                <a:ea typeface="+mj-ea"/>
                <a:cs typeface="Arial" panose="020B0604020202020204" pitchFamily="34" charset="0"/>
              </a:defRPr>
            </a:lvl1pPr>
          </a:lstStyle>
          <a:p>
            <a:pPr>
              <a:lnSpc>
                <a:spcPts val="4042"/>
              </a:lnSpc>
            </a:pPr>
            <a:r>
              <a:rPr lang="en-US" dirty="0"/>
              <a:t>Built-in v. User-Defined Functions</a:t>
            </a:r>
          </a:p>
        </p:txBody>
      </p:sp>
      <p:sp>
        <p:nvSpPr>
          <p:cNvPr id="4" name="Text Placeholder 5">
            <a:extLst>
              <a:ext uri="{FF2B5EF4-FFF2-40B4-BE49-F238E27FC236}">
                <a16:creationId xmlns:a16="http://schemas.microsoft.com/office/drawing/2014/main" id="{714CCC6C-81C1-8022-A6DE-FE94ED4346E6}"/>
              </a:ext>
            </a:extLst>
          </p:cNvPr>
          <p:cNvSpPr txBox="1">
            <a:spLocks/>
          </p:cNvSpPr>
          <p:nvPr/>
        </p:nvSpPr>
        <p:spPr>
          <a:xfrm>
            <a:off x="749999" y="1109610"/>
            <a:ext cx="10622082" cy="450239"/>
          </a:xfrm>
          <a:prstGeom prst="rect">
            <a:avLst/>
          </a:prstGeom>
        </p:spPr>
        <p:txBody>
          <a:bodyPr/>
          <a:lstStyle>
            <a:lvl1pPr marL="0" indent="0" algn="l" defTabSz="914446" rtl="0" eaLnBrk="1" latinLnBrk="0" hangingPunct="1">
              <a:lnSpc>
                <a:spcPct val="90000"/>
              </a:lnSpc>
              <a:spcBef>
                <a:spcPts val="1000"/>
              </a:spcBef>
              <a:buFont typeface="Arial" panose="020B0604020202020204" pitchFamily="34" charset="0"/>
              <a:buNone/>
              <a:defRPr sz="2400" b="0" kern="1200">
                <a:solidFill>
                  <a:srgbClr val="2E9CCA"/>
                </a:solidFill>
                <a:latin typeface="Montserrat" panose="00000500000000000000" pitchFamily="2" charset="0"/>
                <a:ea typeface="+mn-ea"/>
                <a:cs typeface="+mn-cs"/>
              </a:defRPr>
            </a:lvl1pPr>
            <a:lvl2pPr marL="457223" indent="0" algn="l" defTabSz="914446"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User-Defined Functions</a:t>
            </a:r>
          </a:p>
        </p:txBody>
      </p:sp>
      <p:grpSp>
        <p:nvGrpSpPr>
          <p:cNvPr id="36" name="Group 35">
            <a:extLst>
              <a:ext uri="{FF2B5EF4-FFF2-40B4-BE49-F238E27FC236}">
                <a16:creationId xmlns:a16="http://schemas.microsoft.com/office/drawing/2014/main" id="{E5B3964C-6395-0841-27E4-1FB37FF26F56}"/>
              </a:ext>
            </a:extLst>
          </p:cNvPr>
          <p:cNvGrpSpPr/>
          <p:nvPr/>
        </p:nvGrpSpPr>
        <p:grpSpPr>
          <a:xfrm>
            <a:off x="3919914" y="1955956"/>
            <a:ext cx="4352172" cy="3925488"/>
            <a:chOff x="3199630" y="1306287"/>
            <a:chExt cx="5792741" cy="5224825"/>
          </a:xfrm>
        </p:grpSpPr>
        <p:grpSp>
          <p:nvGrpSpPr>
            <p:cNvPr id="16" name="Group 15">
              <a:extLst>
                <a:ext uri="{FF2B5EF4-FFF2-40B4-BE49-F238E27FC236}">
                  <a16:creationId xmlns:a16="http://schemas.microsoft.com/office/drawing/2014/main" id="{979F64B1-7BB5-10EC-F3D8-BEFA0BEE36D6}"/>
                </a:ext>
              </a:extLst>
            </p:cNvPr>
            <p:cNvGrpSpPr/>
            <p:nvPr/>
          </p:nvGrpSpPr>
          <p:grpSpPr>
            <a:xfrm>
              <a:off x="3199630" y="1309976"/>
              <a:ext cx="2836469" cy="2578608"/>
              <a:chOff x="3199630" y="1309976"/>
              <a:chExt cx="2836469" cy="2578608"/>
            </a:xfrm>
          </p:grpSpPr>
          <p:sp>
            <p:nvSpPr>
              <p:cNvPr id="17" name="Rectangle: Rounded Corners 16">
                <a:extLst>
                  <a:ext uri="{FF2B5EF4-FFF2-40B4-BE49-F238E27FC236}">
                    <a16:creationId xmlns:a16="http://schemas.microsoft.com/office/drawing/2014/main" id="{794D2386-A706-FD29-9DE3-F9F88899D777}"/>
                  </a:ext>
                </a:extLst>
              </p:cNvPr>
              <p:cNvSpPr/>
              <p:nvPr/>
            </p:nvSpPr>
            <p:spPr>
              <a:xfrm>
                <a:off x="3199630" y="1309976"/>
                <a:ext cx="2836469" cy="257860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F7B25EC-1D9C-5C52-F625-DB7B1BCD6E06}"/>
                  </a:ext>
                </a:extLst>
              </p:cNvPr>
              <p:cNvSpPr txBox="1"/>
              <p:nvPr/>
            </p:nvSpPr>
            <p:spPr>
              <a:xfrm>
                <a:off x="3254055" y="1984803"/>
                <a:ext cx="2727618" cy="1228952"/>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Created by the user for specific tasks.</a:t>
                </a:r>
              </a:p>
            </p:txBody>
          </p:sp>
        </p:grpSp>
        <p:grpSp>
          <p:nvGrpSpPr>
            <p:cNvPr id="21" name="Group 20">
              <a:extLst>
                <a:ext uri="{FF2B5EF4-FFF2-40B4-BE49-F238E27FC236}">
                  <a16:creationId xmlns:a16="http://schemas.microsoft.com/office/drawing/2014/main" id="{12180406-D992-01B2-D61E-2CB8ACF07782}"/>
                </a:ext>
              </a:extLst>
            </p:cNvPr>
            <p:cNvGrpSpPr/>
            <p:nvPr/>
          </p:nvGrpSpPr>
          <p:grpSpPr>
            <a:xfrm>
              <a:off x="6155902" y="1306287"/>
              <a:ext cx="2836469" cy="2579913"/>
              <a:chOff x="6155902" y="1306287"/>
              <a:chExt cx="2836469" cy="2579913"/>
            </a:xfrm>
          </p:grpSpPr>
          <p:sp>
            <p:nvSpPr>
              <p:cNvPr id="22" name="Rectangle: Rounded Corners 21">
                <a:extLst>
                  <a:ext uri="{FF2B5EF4-FFF2-40B4-BE49-F238E27FC236}">
                    <a16:creationId xmlns:a16="http://schemas.microsoft.com/office/drawing/2014/main" id="{E770A18A-859F-CAC1-528E-4B7C9F787CB6}"/>
                  </a:ext>
                </a:extLst>
              </p:cNvPr>
              <p:cNvSpPr/>
              <p:nvPr/>
            </p:nvSpPr>
            <p:spPr>
              <a:xfrm>
                <a:off x="6155902" y="1306287"/>
                <a:ext cx="2836469" cy="2579913"/>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AD47EC5-B814-D713-C18F-8D5D4A1A6A2F}"/>
                  </a:ext>
                </a:extLst>
              </p:cNvPr>
              <p:cNvSpPr txBox="1"/>
              <p:nvPr/>
            </p:nvSpPr>
            <p:spPr>
              <a:xfrm>
                <a:off x="6368090" y="2166110"/>
                <a:ext cx="2412092" cy="860266"/>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Tailor logic to exact needs</a:t>
                </a:r>
              </a:p>
            </p:txBody>
          </p:sp>
        </p:grpSp>
        <p:grpSp>
          <p:nvGrpSpPr>
            <p:cNvPr id="26" name="Group 25">
              <a:extLst>
                <a:ext uri="{FF2B5EF4-FFF2-40B4-BE49-F238E27FC236}">
                  <a16:creationId xmlns:a16="http://schemas.microsoft.com/office/drawing/2014/main" id="{3F77A826-A414-F888-CC5C-A70E9CF317A8}"/>
                </a:ext>
              </a:extLst>
            </p:cNvPr>
            <p:cNvGrpSpPr/>
            <p:nvPr/>
          </p:nvGrpSpPr>
          <p:grpSpPr>
            <a:xfrm>
              <a:off x="3199630" y="3952504"/>
              <a:ext cx="2836469" cy="2578608"/>
              <a:chOff x="3199630" y="3952504"/>
              <a:chExt cx="2836469" cy="2578608"/>
            </a:xfrm>
          </p:grpSpPr>
          <p:sp>
            <p:nvSpPr>
              <p:cNvPr id="27" name="Rectangle: Rounded Corners 26">
                <a:extLst>
                  <a:ext uri="{FF2B5EF4-FFF2-40B4-BE49-F238E27FC236}">
                    <a16:creationId xmlns:a16="http://schemas.microsoft.com/office/drawing/2014/main" id="{C9EC4289-AE0F-C2BE-8C43-D1743732DBA3}"/>
                  </a:ext>
                </a:extLst>
              </p:cNvPr>
              <p:cNvSpPr/>
              <p:nvPr/>
            </p:nvSpPr>
            <p:spPr>
              <a:xfrm>
                <a:off x="3199630" y="3952504"/>
                <a:ext cx="2836469" cy="2578608"/>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FA2F1C96-AF34-29C5-4EDB-1C49ED764D8B}"/>
                  </a:ext>
                </a:extLst>
              </p:cNvPr>
              <p:cNvSpPr txBox="1"/>
              <p:nvPr/>
            </p:nvSpPr>
            <p:spPr>
              <a:xfrm>
                <a:off x="3349278" y="4627332"/>
                <a:ext cx="2537172" cy="1228952"/>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Extend Python’s capabilities</a:t>
                </a:r>
              </a:p>
            </p:txBody>
          </p:sp>
        </p:grpSp>
        <p:grpSp>
          <p:nvGrpSpPr>
            <p:cNvPr id="31" name="Group 30">
              <a:extLst>
                <a:ext uri="{FF2B5EF4-FFF2-40B4-BE49-F238E27FC236}">
                  <a16:creationId xmlns:a16="http://schemas.microsoft.com/office/drawing/2014/main" id="{FB5582D4-1C67-2582-832C-8B4ACE538B6C}"/>
                </a:ext>
              </a:extLst>
            </p:cNvPr>
            <p:cNvGrpSpPr/>
            <p:nvPr/>
          </p:nvGrpSpPr>
          <p:grpSpPr>
            <a:xfrm>
              <a:off x="6155902" y="3952504"/>
              <a:ext cx="2836469" cy="2578608"/>
              <a:chOff x="6155902" y="3952504"/>
              <a:chExt cx="2836469" cy="2578608"/>
            </a:xfrm>
          </p:grpSpPr>
          <p:sp>
            <p:nvSpPr>
              <p:cNvPr id="32" name="Rectangle: Rounded Corners 31">
                <a:extLst>
                  <a:ext uri="{FF2B5EF4-FFF2-40B4-BE49-F238E27FC236}">
                    <a16:creationId xmlns:a16="http://schemas.microsoft.com/office/drawing/2014/main" id="{C072BA9F-168B-FE1B-76B7-38FA96ADBD22}"/>
                  </a:ext>
                </a:extLst>
              </p:cNvPr>
              <p:cNvSpPr/>
              <p:nvPr/>
            </p:nvSpPr>
            <p:spPr>
              <a:xfrm>
                <a:off x="6155902" y="3952504"/>
                <a:ext cx="2836469" cy="2578608"/>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BF92BBEC-0A92-5EE1-6720-55303AAE95FA}"/>
                  </a:ext>
                </a:extLst>
              </p:cNvPr>
              <p:cNvSpPr txBox="1"/>
              <p:nvPr/>
            </p:nvSpPr>
            <p:spPr>
              <a:xfrm>
                <a:off x="6455121" y="4627332"/>
                <a:ext cx="2238027" cy="1228952"/>
              </a:xfrm>
              <a:prstGeom prst="rect">
                <a:avLst/>
              </a:prstGeom>
              <a:noFill/>
            </p:spPr>
            <p:txBody>
              <a:bodyPr wrap="square">
                <a:spAutoFit/>
              </a:bodyPr>
              <a:lstStyle/>
              <a:p>
                <a:pPr marL="0" indent="0" algn="ctr">
                  <a:buNone/>
                </a:pPr>
                <a:r>
                  <a:rPr lang="en-US" sz="1800" dirty="0">
                    <a:solidFill>
                      <a:schemeClr val="bg1"/>
                    </a:solidFill>
                    <a:latin typeface="Montserrat" panose="00000500000000000000" pitchFamily="2" charset="0"/>
                  </a:rPr>
                  <a:t>Encapsulate problem-solving steps</a:t>
                </a:r>
              </a:p>
            </p:txBody>
          </p:sp>
        </p:grpSp>
      </p:grpSp>
    </p:spTree>
    <p:extLst>
      <p:ext uri="{BB962C8B-B14F-4D97-AF65-F5344CB8AC3E}">
        <p14:creationId xmlns:p14="http://schemas.microsoft.com/office/powerpoint/2010/main" val="123716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5FF4B-A823-093E-4E55-B2C6BFFEE69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3F4779E-B2B4-227A-9EE4-2FB9215BB9DD}"/>
              </a:ext>
            </a:extLst>
          </p:cNvPr>
          <p:cNvSpPr/>
          <p:nvPr/>
        </p:nvSpPr>
        <p:spPr>
          <a:xfrm>
            <a:off x="876300" y="2728306"/>
            <a:ext cx="4813299" cy="2090437"/>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D262804A-B032-134A-FE76-0ECA41E1A504}"/>
              </a:ext>
            </a:extLst>
          </p:cNvPr>
          <p:cNvSpPr>
            <a:spLocks noGrp="1"/>
          </p:cNvSpPr>
          <p:nvPr>
            <p:ph type="title"/>
          </p:nvPr>
        </p:nvSpPr>
        <p:spPr/>
        <p:txBody>
          <a:bodyPr/>
          <a:lstStyle/>
          <a:p>
            <a:pPr>
              <a:lnSpc>
                <a:spcPts val="3375"/>
              </a:lnSpc>
            </a:pPr>
            <a:r>
              <a:rPr lang="en-US" dirty="0">
                <a:latin typeface="Montserrat Bold" pitchFamily="34" charset="0"/>
                <a:ea typeface="Montserrat Bold" pitchFamily="34" charset="-122"/>
                <a:cs typeface="Montserrat Bold" pitchFamily="34" charset="-120"/>
              </a:rPr>
              <a:t>Anatomy of a Function</a:t>
            </a:r>
            <a:endParaRPr lang="en-US" dirty="0"/>
          </a:p>
        </p:txBody>
      </p:sp>
      <p:sp>
        <p:nvSpPr>
          <p:cNvPr id="17" name="TextBox 16">
            <a:extLst>
              <a:ext uri="{FF2B5EF4-FFF2-40B4-BE49-F238E27FC236}">
                <a16:creationId xmlns:a16="http://schemas.microsoft.com/office/drawing/2014/main" id="{E65C815D-3062-8AAE-76BA-72A565E456F9}"/>
              </a:ext>
            </a:extLst>
          </p:cNvPr>
          <p:cNvSpPr txBox="1"/>
          <p:nvPr/>
        </p:nvSpPr>
        <p:spPr>
          <a:xfrm>
            <a:off x="6145543" y="2247435"/>
            <a:ext cx="5271065" cy="3062377"/>
          </a:xfrm>
          <a:prstGeom prst="rect">
            <a:avLst/>
          </a:prstGeom>
          <a:noFill/>
        </p:spPr>
        <p:txBody>
          <a:bodyPr wrap="square">
            <a:spAutoFit/>
          </a:bodyPr>
          <a:lstStyle/>
          <a:p>
            <a:pPr marL="285750" indent="-285750">
              <a:lnSpc>
                <a:spcPts val="2125"/>
              </a:lnSpc>
              <a:buFont typeface="Arial" panose="020B0604020202020204" pitchFamily="34" charset="0"/>
              <a:buChar char="•"/>
            </a:pPr>
            <a:r>
              <a:rPr lang="en-US" sz="1800" b="1" dirty="0">
                <a:solidFill>
                  <a:srgbClr val="25274D"/>
                </a:solidFill>
                <a:latin typeface="Montserrat" panose="00000500000000000000" pitchFamily="2" charset="0"/>
                <a:ea typeface="Montserrat Bold" pitchFamily="34" charset="-122"/>
                <a:cs typeface="Montserrat Bold" pitchFamily="34" charset="-120"/>
              </a:rPr>
              <a:t>Def keyword: </a:t>
            </a:r>
            <a:r>
              <a:rPr lang="en-US" dirty="0">
                <a:solidFill>
                  <a:srgbClr val="25274D"/>
                </a:solidFill>
                <a:latin typeface="Montserrat" panose="00000500000000000000" pitchFamily="2" charset="0"/>
              </a:rPr>
              <a:t>Indicate the start of a function definition</a:t>
            </a:r>
          </a:p>
          <a:p>
            <a:pPr marL="285750" indent="-285750">
              <a:lnSpc>
                <a:spcPts val="2125"/>
              </a:lnSpc>
              <a:buFont typeface="Arial" panose="020B0604020202020204" pitchFamily="34" charset="0"/>
              <a:buChar char="•"/>
            </a:pPr>
            <a:endParaRPr lang="en-US" sz="1800" dirty="0">
              <a:solidFill>
                <a:srgbClr val="25274D"/>
              </a:solidFill>
              <a:latin typeface="Montserrat" panose="00000500000000000000" pitchFamily="2" charset="0"/>
            </a:endParaRPr>
          </a:p>
          <a:p>
            <a:pPr marL="285750" indent="-285750">
              <a:lnSpc>
                <a:spcPts val="2125"/>
              </a:lnSpc>
              <a:buFont typeface="Arial" panose="020B0604020202020204" pitchFamily="34" charset="0"/>
              <a:buChar char="•"/>
            </a:pPr>
            <a:r>
              <a:rPr lang="en-US" b="1" dirty="0" err="1">
                <a:solidFill>
                  <a:srgbClr val="25274D"/>
                </a:solidFill>
                <a:latin typeface="Montserrat" panose="00000500000000000000" pitchFamily="2" charset="0"/>
                <a:ea typeface="Montserrat Bold" pitchFamily="34" charset="-122"/>
                <a:cs typeface="Montserrat Bold" pitchFamily="34" charset="-120"/>
              </a:rPr>
              <a:t>Function_name</a:t>
            </a:r>
            <a:r>
              <a:rPr lang="en-US" b="1" dirty="0">
                <a:solidFill>
                  <a:srgbClr val="25274D"/>
                </a:solidFill>
                <a:latin typeface="Montserrat" panose="00000500000000000000" pitchFamily="2" charset="0"/>
                <a:ea typeface="Montserrat Bold" pitchFamily="34" charset="-122"/>
                <a:cs typeface="Montserrat Bold" pitchFamily="34" charset="-120"/>
              </a:rPr>
              <a:t>: </a:t>
            </a:r>
            <a:r>
              <a:rPr lang="en-US" dirty="0">
                <a:solidFill>
                  <a:srgbClr val="25274D"/>
                </a:solidFill>
                <a:latin typeface="Montserrat" panose="00000500000000000000" pitchFamily="2" charset="0"/>
              </a:rPr>
              <a:t>Identify the function using a descriptive name</a:t>
            </a:r>
          </a:p>
          <a:p>
            <a:endParaRPr lang="en-US" dirty="0">
              <a:solidFill>
                <a:srgbClr val="25274D"/>
              </a:solidFill>
              <a:latin typeface="Montserrat" panose="00000500000000000000" pitchFamily="2" charset="0"/>
            </a:endParaRPr>
          </a:p>
          <a:p>
            <a:pPr marL="285750" indent="-285750">
              <a:lnSpc>
                <a:spcPts val="2125"/>
              </a:lnSpc>
              <a:buFont typeface="Arial" panose="020B0604020202020204" pitchFamily="34" charset="0"/>
              <a:buChar char="•"/>
            </a:pPr>
            <a:r>
              <a:rPr lang="en-US" b="1" dirty="0">
                <a:solidFill>
                  <a:srgbClr val="25274D"/>
                </a:solidFill>
                <a:latin typeface="Montserrat" panose="00000500000000000000" pitchFamily="2" charset="0"/>
                <a:ea typeface="Montserrat Bold" pitchFamily="34" charset="-122"/>
                <a:cs typeface="Montserrat Bold" pitchFamily="34" charset="-120"/>
              </a:rPr>
              <a:t>Parameters: </a:t>
            </a:r>
            <a:r>
              <a:rPr lang="en-US" dirty="0">
                <a:solidFill>
                  <a:srgbClr val="25274D"/>
                </a:solidFill>
                <a:latin typeface="Montserrat" panose="00000500000000000000" pitchFamily="2" charset="0"/>
              </a:rPr>
              <a:t>Provide optional inputs for the function</a:t>
            </a:r>
          </a:p>
          <a:p>
            <a:pPr marL="285750" indent="-285750">
              <a:lnSpc>
                <a:spcPts val="2125"/>
              </a:lnSpc>
              <a:buFont typeface="Arial" panose="020B0604020202020204" pitchFamily="34" charset="0"/>
              <a:buChar char="•"/>
            </a:pPr>
            <a:endParaRPr lang="en-US" b="1" dirty="0">
              <a:solidFill>
                <a:srgbClr val="25274D"/>
              </a:solidFill>
              <a:latin typeface="Montserrat" panose="00000500000000000000" pitchFamily="2" charset="0"/>
              <a:ea typeface="Montserrat Bold" pitchFamily="34" charset="-122"/>
              <a:cs typeface="Montserrat Bold" pitchFamily="34" charset="-120"/>
            </a:endParaRPr>
          </a:p>
          <a:p>
            <a:pPr marL="285750" indent="-285750">
              <a:lnSpc>
                <a:spcPts val="2125"/>
              </a:lnSpc>
              <a:buFont typeface="Arial" panose="020B0604020202020204" pitchFamily="34" charset="0"/>
              <a:buChar char="•"/>
            </a:pPr>
            <a:r>
              <a:rPr lang="en-US" b="1" dirty="0">
                <a:solidFill>
                  <a:srgbClr val="25274D"/>
                </a:solidFill>
                <a:latin typeface="Montserrat" panose="00000500000000000000" pitchFamily="2" charset="0"/>
                <a:ea typeface="Montserrat Bold" pitchFamily="34" charset="-122"/>
                <a:cs typeface="Montserrat Bold" pitchFamily="34" charset="-120"/>
              </a:rPr>
              <a:t>Return statement: </a:t>
            </a:r>
            <a:r>
              <a:rPr lang="en-US" dirty="0">
                <a:solidFill>
                  <a:srgbClr val="25274D"/>
                </a:solidFill>
                <a:latin typeface="Montserrat" panose="00000500000000000000" pitchFamily="2" charset="0"/>
              </a:rPr>
              <a:t>Send output back to the caller (optional)</a:t>
            </a:r>
          </a:p>
        </p:txBody>
      </p:sp>
      <p:pic>
        <p:nvPicPr>
          <p:cNvPr id="5" name="Picture 4">
            <a:extLst>
              <a:ext uri="{FF2B5EF4-FFF2-40B4-BE49-F238E27FC236}">
                <a16:creationId xmlns:a16="http://schemas.microsoft.com/office/drawing/2014/main" id="{CA3D55D0-8F5F-D1E4-5218-AEF17FEEDDE0}"/>
              </a:ext>
            </a:extLst>
          </p:cNvPr>
          <p:cNvPicPr>
            <a:picLocks noChangeAspect="1"/>
          </p:cNvPicPr>
          <p:nvPr/>
        </p:nvPicPr>
        <p:blipFill>
          <a:blip r:embed="rId3"/>
          <a:stretch>
            <a:fillRect/>
          </a:stretch>
        </p:blipFill>
        <p:spPr>
          <a:xfrm>
            <a:off x="1103979" y="2892037"/>
            <a:ext cx="4382987" cy="1773174"/>
          </a:xfrm>
          <a:prstGeom prst="rect">
            <a:avLst/>
          </a:prstGeom>
        </p:spPr>
      </p:pic>
    </p:spTree>
    <p:extLst>
      <p:ext uri="{BB962C8B-B14F-4D97-AF65-F5344CB8AC3E}">
        <p14:creationId xmlns:p14="http://schemas.microsoft.com/office/powerpoint/2010/main" val="2319951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17">
                                            <p:txEl>
                                              <p:pRg st="0" end="0"/>
                                            </p:txEl>
                                          </p:spTgt>
                                        </p:tgtEl>
                                        <p:attrNameLst>
                                          <p:attrName>style.visibility</p:attrName>
                                        </p:attrNameLst>
                                      </p:cBhvr>
                                      <p:to>
                                        <p:strVal val="visible"/>
                                      </p:to>
                                    </p:set>
                                    <p:animEffect transition="in" filter="fade">
                                      <p:cBhvr>
                                        <p:cTn id="10" dur="1000"/>
                                        <p:tgtEl>
                                          <p:spTgt spid="17">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17">
                                            <p:txEl>
                                              <p:pRg st="2" end="2"/>
                                            </p:txEl>
                                          </p:spTgt>
                                        </p:tgtEl>
                                        <p:attrNameLst>
                                          <p:attrName>style.visibility</p:attrName>
                                        </p:attrNameLst>
                                      </p:cBhvr>
                                      <p:to>
                                        <p:strVal val="visible"/>
                                      </p:to>
                                    </p:set>
                                    <p:animEffect transition="in" filter="fade">
                                      <p:cBhvr>
                                        <p:cTn id="13" dur="1000"/>
                                        <p:tgtEl>
                                          <p:spTgt spid="17">
                                            <p:txEl>
                                              <p:pRg st="2" end="2"/>
                                            </p:txEl>
                                          </p:spTgt>
                                        </p:tgtEl>
                                      </p:cBhvr>
                                    </p:animEffect>
                                  </p:childTnLst>
                                </p:cTn>
                              </p:par>
                              <p:par>
                                <p:cTn id="14" presetID="10" presetClass="entr" presetSubtype="0" fill="hold" nodeType="withEffect">
                                  <p:stCondLst>
                                    <p:cond delay="500"/>
                                  </p:stCondLst>
                                  <p:childTnLst>
                                    <p:set>
                                      <p:cBhvr>
                                        <p:cTn id="15" dur="1" fill="hold">
                                          <p:stCondLst>
                                            <p:cond delay="0"/>
                                          </p:stCondLst>
                                        </p:cTn>
                                        <p:tgtEl>
                                          <p:spTgt spid="17">
                                            <p:txEl>
                                              <p:pRg st="4" end="4"/>
                                            </p:txEl>
                                          </p:spTgt>
                                        </p:tgtEl>
                                        <p:attrNameLst>
                                          <p:attrName>style.visibility</p:attrName>
                                        </p:attrNameLst>
                                      </p:cBhvr>
                                      <p:to>
                                        <p:strVal val="visible"/>
                                      </p:to>
                                    </p:set>
                                    <p:animEffect transition="in" filter="fade">
                                      <p:cBhvr>
                                        <p:cTn id="16" dur="1000"/>
                                        <p:tgtEl>
                                          <p:spTgt spid="17">
                                            <p:txEl>
                                              <p:pRg st="4" end="4"/>
                                            </p:txEl>
                                          </p:spTgt>
                                        </p:tgtEl>
                                      </p:cBhvr>
                                    </p:animEffect>
                                  </p:childTnLst>
                                </p:cTn>
                              </p:par>
                              <p:par>
                                <p:cTn id="17" presetID="10" presetClass="entr" presetSubtype="0" fill="hold" nodeType="withEffect">
                                  <p:stCondLst>
                                    <p:cond delay="500"/>
                                  </p:stCondLst>
                                  <p:childTnLst>
                                    <p:set>
                                      <p:cBhvr>
                                        <p:cTn id="18" dur="1" fill="hold">
                                          <p:stCondLst>
                                            <p:cond delay="0"/>
                                          </p:stCondLst>
                                        </p:cTn>
                                        <p:tgtEl>
                                          <p:spTgt spid="17">
                                            <p:txEl>
                                              <p:pRg st="6" end="6"/>
                                            </p:txEl>
                                          </p:spTgt>
                                        </p:tgtEl>
                                        <p:attrNameLst>
                                          <p:attrName>style.visibility</p:attrName>
                                        </p:attrNameLst>
                                      </p:cBhvr>
                                      <p:to>
                                        <p:strVal val="visible"/>
                                      </p:to>
                                    </p:set>
                                    <p:animEffect transition="in" filter="fade">
                                      <p:cBhvr>
                                        <p:cTn id="19" dur="1000"/>
                                        <p:tgtEl>
                                          <p:spTgt spid="17">
                                            <p:txEl>
                                              <p:pRg st="6" end="6"/>
                                            </p:txEl>
                                          </p:spTgt>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childTnLst>
                                </p:cTn>
                              </p:par>
                              <p:par>
                                <p:cTn id="23" presetID="10" presetClass="entr" presetSubtype="0" fill="hold" nodeType="withEffect">
                                  <p:stCondLst>
                                    <p:cond delay="50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90320-9AAC-48B7-5E8C-67448BA3574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414834A-D4A6-1E40-8201-BEF051BB27EF}"/>
              </a:ext>
            </a:extLst>
          </p:cNvPr>
          <p:cNvSpPr>
            <a:spLocks noGrp="1"/>
          </p:cNvSpPr>
          <p:nvPr>
            <p:ph type="title"/>
          </p:nvPr>
        </p:nvSpPr>
        <p:spPr/>
        <p:txBody>
          <a:bodyPr/>
          <a:lstStyle/>
          <a:p>
            <a:pPr>
              <a:lnSpc>
                <a:spcPts val="4042"/>
              </a:lnSpc>
            </a:pPr>
            <a:r>
              <a:rPr lang="en-US" dirty="0"/>
              <a:t>Introducing Functions in Python</a:t>
            </a:r>
          </a:p>
        </p:txBody>
      </p:sp>
      <p:pic>
        <p:nvPicPr>
          <p:cNvPr id="1026" name="Picture 2">
            <a:extLst>
              <a:ext uri="{FF2B5EF4-FFF2-40B4-BE49-F238E27FC236}">
                <a16:creationId xmlns:a16="http://schemas.microsoft.com/office/drawing/2014/main" id="{B3048859-155B-F89B-BA3A-FB298FC0BD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995" y="1350761"/>
            <a:ext cx="10622086" cy="529537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376AD6F5-F45B-02A1-B71C-944D6B4C8031}"/>
              </a:ext>
            </a:extLst>
          </p:cNvPr>
          <p:cNvSpPr/>
          <p:nvPr/>
        </p:nvSpPr>
        <p:spPr>
          <a:xfrm>
            <a:off x="1089772" y="4150286"/>
            <a:ext cx="4747097" cy="1264595"/>
          </a:xfrm>
          <a:prstGeom prst="roundRect">
            <a:avLst/>
          </a:prstGeom>
          <a:noFill/>
          <a:ln w="28575">
            <a:solidFill>
              <a:srgbClr val="AAAB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3D43DCE0-E97A-9245-1B11-B186BB4743D8}"/>
              </a:ext>
            </a:extLst>
          </p:cNvPr>
          <p:cNvSpPr/>
          <p:nvPr/>
        </p:nvSpPr>
        <p:spPr>
          <a:xfrm>
            <a:off x="1089772" y="1852557"/>
            <a:ext cx="4747097" cy="1412059"/>
          </a:xfrm>
          <a:prstGeom prst="roundRect">
            <a:avLst/>
          </a:prstGeom>
          <a:noFill/>
          <a:ln w="28575">
            <a:solidFill>
              <a:srgbClr val="AAAB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AE1858D4-9C4E-B422-D787-729A3FEA1242}"/>
              </a:ext>
            </a:extLst>
          </p:cNvPr>
          <p:cNvSpPr/>
          <p:nvPr/>
        </p:nvSpPr>
        <p:spPr>
          <a:xfrm>
            <a:off x="1152117" y="4254964"/>
            <a:ext cx="4622406" cy="106528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A00B3035-3638-E42C-47F6-CE3D34685028}"/>
              </a:ext>
            </a:extLst>
          </p:cNvPr>
          <p:cNvSpPr/>
          <p:nvPr/>
        </p:nvSpPr>
        <p:spPr>
          <a:xfrm>
            <a:off x="1229530" y="1995540"/>
            <a:ext cx="4467578" cy="10652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E37BD42F-4135-9598-043A-BC50817F5954}"/>
              </a:ext>
            </a:extLst>
          </p:cNvPr>
          <p:cNvSpPr/>
          <p:nvPr/>
        </p:nvSpPr>
        <p:spPr>
          <a:xfrm>
            <a:off x="2247900" y="2056176"/>
            <a:ext cx="2419350" cy="100465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7BA4E552-CE21-E66B-3D07-0D800E06932F}"/>
              </a:ext>
            </a:extLst>
          </p:cNvPr>
          <p:cNvPicPr>
            <a:picLocks noChangeAspect="1"/>
          </p:cNvPicPr>
          <p:nvPr/>
        </p:nvPicPr>
        <p:blipFill>
          <a:blip r:embed="rId4"/>
          <a:stretch>
            <a:fillRect/>
          </a:stretch>
        </p:blipFill>
        <p:spPr>
          <a:xfrm>
            <a:off x="2335111" y="2121988"/>
            <a:ext cx="2244929" cy="873028"/>
          </a:xfrm>
          <a:prstGeom prst="rect">
            <a:avLst/>
          </a:prstGeom>
        </p:spPr>
      </p:pic>
      <p:sp>
        <p:nvSpPr>
          <p:cNvPr id="15" name="Rectangle: Rounded Corners 14">
            <a:extLst>
              <a:ext uri="{FF2B5EF4-FFF2-40B4-BE49-F238E27FC236}">
                <a16:creationId xmlns:a16="http://schemas.microsoft.com/office/drawing/2014/main" id="{3CA06860-F1C9-5469-A6D4-9AC0F5E2B9FC}"/>
              </a:ext>
            </a:extLst>
          </p:cNvPr>
          <p:cNvSpPr/>
          <p:nvPr/>
        </p:nvSpPr>
        <p:spPr>
          <a:xfrm>
            <a:off x="1314450" y="4486275"/>
            <a:ext cx="4382658" cy="600075"/>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6" name="Picture 15">
            <a:extLst>
              <a:ext uri="{FF2B5EF4-FFF2-40B4-BE49-F238E27FC236}">
                <a16:creationId xmlns:a16="http://schemas.microsoft.com/office/drawing/2014/main" id="{F3380854-CDC7-369B-2765-A00F6623B1C9}"/>
              </a:ext>
            </a:extLst>
          </p:cNvPr>
          <p:cNvPicPr>
            <a:picLocks noChangeAspect="1"/>
          </p:cNvPicPr>
          <p:nvPr/>
        </p:nvPicPr>
        <p:blipFill>
          <a:blip r:embed="rId5"/>
          <a:stretch>
            <a:fillRect/>
          </a:stretch>
        </p:blipFill>
        <p:spPr>
          <a:xfrm>
            <a:off x="1396106" y="4592056"/>
            <a:ext cx="4134427" cy="381053"/>
          </a:xfrm>
          <a:prstGeom prst="rect">
            <a:avLst/>
          </a:prstGeom>
        </p:spPr>
      </p:pic>
    </p:spTree>
    <p:extLst>
      <p:ext uri="{BB962C8B-B14F-4D97-AF65-F5344CB8AC3E}">
        <p14:creationId xmlns:p14="http://schemas.microsoft.com/office/powerpoint/2010/main" val="192846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1000"/>
                                        <p:tgtEl>
                                          <p:spTgt spid="1026"/>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childTnLst>
                                </p:cTn>
                              </p:par>
                              <p:par>
                                <p:cTn id="26" presetID="10" presetClass="entr" presetSubtype="0" fill="hold" nodeType="withEffect">
                                  <p:stCondLst>
                                    <p:cond delay="5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0"/>
                                        <p:tgtEl>
                                          <p:spTgt spid="15"/>
                                        </p:tgtEl>
                                      </p:cBhvr>
                                    </p:animEffect>
                                  </p:childTnLst>
                                </p:cTn>
                              </p:par>
                              <p:par>
                                <p:cTn id="32" presetID="10" presetClass="entr" presetSubtype="0" fill="hold" nodeType="withEffect">
                                  <p:stCondLst>
                                    <p:cond delay="5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P spid="3" grpId="0" animBg="1"/>
      <p:bldP spid="13" grpId="0" animBg="1"/>
      <p:bldP spid="4" grpId="0" animBg="1"/>
      <p:bldP spid="5" grpId="0" animBg="1"/>
      <p:bldP spid="1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472D0-3D21-8B5E-DC02-4342656211C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CA99917-AB91-D5FE-CE54-D519A44AD9AE}"/>
              </a:ext>
            </a:extLst>
          </p:cNvPr>
          <p:cNvSpPr>
            <a:spLocks noGrp="1"/>
          </p:cNvSpPr>
          <p:nvPr>
            <p:ph type="title"/>
          </p:nvPr>
        </p:nvSpPr>
        <p:spPr/>
        <p:txBody>
          <a:bodyPr/>
          <a:lstStyle/>
          <a:p>
            <a:pPr>
              <a:lnSpc>
                <a:spcPts val="4042"/>
              </a:lnSpc>
            </a:pPr>
            <a:r>
              <a:rPr lang="en-US" dirty="0"/>
              <a:t>Function Parameters and Arguments</a:t>
            </a:r>
          </a:p>
        </p:txBody>
      </p:sp>
      <p:grpSp>
        <p:nvGrpSpPr>
          <p:cNvPr id="14" name="Group 13">
            <a:extLst>
              <a:ext uri="{FF2B5EF4-FFF2-40B4-BE49-F238E27FC236}">
                <a16:creationId xmlns:a16="http://schemas.microsoft.com/office/drawing/2014/main" id="{D4ACCD79-8335-546E-C760-29CCD816CC6E}"/>
              </a:ext>
            </a:extLst>
          </p:cNvPr>
          <p:cNvGrpSpPr/>
          <p:nvPr/>
        </p:nvGrpSpPr>
        <p:grpSpPr>
          <a:xfrm>
            <a:off x="2692400" y="1328057"/>
            <a:ext cx="6807200" cy="1008743"/>
            <a:chOff x="2692400" y="1328057"/>
            <a:chExt cx="6807200" cy="1008743"/>
          </a:xfrm>
        </p:grpSpPr>
        <p:sp>
          <p:nvSpPr>
            <p:cNvPr id="2" name="Rectangle: Rounded Corners 1">
              <a:extLst>
                <a:ext uri="{FF2B5EF4-FFF2-40B4-BE49-F238E27FC236}">
                  <a16:creationId xmlns:a16="http://schemas.microsoft.com/office/drawing/2014/main" id="{D808DB27-A0EE-7FE3-75D6-C72B3852F55F}"/>
                </a:ext>
              </a:extLst>
            </p:cNvPr>
            <p:cNvSpPr/>
            <p:nvPr/>
          </p:nvSpPr>
          <p:spPr>
            <a:xfrm>
              <a:off x="2692400" y="1328057"/>
              <a:ext cx="6807200" cy="1008743"/>
            </a:xfrm>
            <a:prstGeom prst="roundRect">
              <a:avLst/>
            </a:prstGeom>
            <a:solidFill>
              <a:srgbClr val="25274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F72A023-0340-42DE-B4E4-55999A7D5C22}"/>
                </a:ext>
              </a:extLst>
            </p:cNvPr>
            <p:cNvSpPr txBox="1"/>
            <p:nvPr/>
          </p:nvSpPr>
          <p:spPr>
            <a:xfrm>
              <a:off x="3439886" y="1611868"/>
              <a:ext cx="5312228" cy="369332"/>
            </a:xfrm>
            <a:prstGeom prst="rect">
              <a:avLst/>
            </a:prstGeom>
            <a:noFill/>
          </p:spPr>
          <p:txBody>
            <a:bodyPr wrap="square">
              <a:spAutoFit/>
            </a:bodyPr>
            <a:lstStyle/>
            <a:p>
              <a:pPr algn="ctr"/>
              <a:r>
                <a:rPr lang="en-US" dirty="0">
                  <a:solidFill>
                    <a:schemeClr val="bg1"/>
                  </a:solidFill>
                  <a:latin typeface="Montserrat" panose="00000500000000000000" pitchFamily="2" charset="0"/>
                </a:rPr>
                <a:t>Defines parameters as placeholders for data</a:t>
              </a:r>
            </a:p>
          </p:txBody>
        </p:sp>
      </p:grpSp>
      <p:grpSp>
        <p:nvGrpSpPr>
          <p:cNvPr id="15" name="Group 14">
            <a:extLst>
              <a:ext uri="{FF2B5EF4-FFF2-40B4-BE49-F238E27FC236}">
                <a16:creationId xmlns:a16="http://schemas.microsoft.com/office/drawing/2014/main" id="{D4A08E41-6870-3B38-7436-A53385C548CD}"/>
              </a:ext>
            </a:extLst>
          </p:cNvPr>
          <p:cNvGrpSpPr/>
          <p:nvPr/>
        </p:nvGrpSpPr>
        <p:grpSpPr>
          <a:xfrm>
            <a:off x="2692400" y="2614990"/>
            <a:ext cx="6807200" cy="1008743"/>
            <a:chOff x="2692400" y="2614990"/>
            <a:chExt cx="6807200" cy="1008743"/>
          </a:xfrm>
        </p:grpSpPr>
        <p:sp>
          <p:nvSpPr>
            <p:cNvPr id="5" name="Rectangle: Rounded Corners 4">
              <a:extLst>
                <a:ext uri="{FF2B5EF4-FFF2-40B4-BE49-F238E27FC236}">
                  <a16:creationId xmlns:a16="http://schemas.microsoft.com/office/drawing/2014/main" id="{189CF401-1D60-9B99-BCD6-2D4A9B39592A}"/>
                </a:ext>
              </a:extLst>
            </p:cNvPr>
            <p:cNvSpPr/>
            <p:nvPr/>
          </p:nvSpPr>
          <p:spPr>
            <a:xfrm>
              <a:off x="2692400" y="2614990"/>
              <a:ext cx="6807200" cy="1008743"/>
            </a:xfrm>
            <a:prstGeom prst="roundRect">
              <a:avLst/>
            </a:prstGeom>
            <a:solidFill>
              <a:srgbClr val="2E9CC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295571B-82F5-B82B-1C93-557F96C257FB}"/>
                </a:ext>
              </a:extLst>
            </p:cNvPr>
            <p:cNvSpPr txBox="1"/>
            <p:nvPr/>
          </p:nvSpPr>
          <p:spPr>
            <a:xfrm>
              <a:off x="3439886" y="2934695"/>
              <a:ext cx="5312228" cy="369332"/>
            </a:xfrm>
            <a:prstGeom prst="rect">
              <a:avLst/>
            </a:prstGeom>
            <a:noFill/>
          </p:spPr>
          <p:txBody>
            <a:bodyPr wrap="square">
              <a:spAutoFit/>
            </a:bodyPr>
            <a:lstStyle/>
            <a:p>
              <a:pPr algn="ctr"/>
              <a:r>
                <a:rPr lang="en-US" dirty="0">
                  <a:solidFill>
                    <a:schemeClr val="bg1"/>
                  </a:solidFill>
                  <a:latin typeface="Montserrat" panose="00000500000000000000" pitchFamily="2" charset="0"/>
                </a:rPr>
                <a:t>Provides arguments as actual values in a call</a:t>
              </a:r>
            </a:p>
          </p:txBody>
        </p:sp>
      </p:grpSp>
      <p:grpSp>
        <p:nvGrpSpPr>
          <p:cNvPr id="16" name="Group 15">
            <a:extLst>
              <a:ext uri="{FF2B5EF4-FFF2-40B4-BE49-F238E27FC236}">
                <a16:creationId xmlns:a16="http://schemas.microsoft.com/office/drawing/2014/main" id="{32199B70-449E-AE63-6710-B1AF0433207D}"/>
              </a:ext>
            </a:extLst>
          </p:cNvPr>
          <p:cNvGrpSpPr/>
          <p:nvPr/>
        </p:nvGrpSpPr>
        <p:grpSpPr>
          <a:xfrm>
            <a:off x="2692400" y="3901923"/>
            <a:ext cx="6807200" cy="1008743"/>
            <a:chOff x="2692400" y="3901923"/>
            <a:chExt cx="6807200" cy="1008743"/>
          </a:xfrm>
        </p:grpSpPr>
        <p:sp>
          <p:nvSpPr>
            <p:cNvPr id="6" name="Rectangle: Rounded Corners 5">
              <a:extLst>
                <a:ext uri="{FF2B5EF4-FFF2-40B4-BE49-F238E27FC236}">
                  <a16:creationId xmlns:a16="http://schemas.microsoft.com/office/drawing/2014/main" id="{1ABD8C92-E91E-4EFE-96AB-93CFD1C9F431}"/>
                </a:ext>
              </a:extLst>
            </p:cNvPr>
            <p:cNvSpPr/>
            <p:nvPr/>
          </p:nvSpPr>
          <p:spPr>
            <a:xfrm>
              <a:off x="2692400" y="3901923"/>
              <a:ext cx="6807200" cy="1008743"/>
            </a:xfrm>
            <a:prstGeom prst="roundRect">
              <a:avLst/>
            </a:prstGeom>
            <a:solidFill>
              <a:srgbClr val="29648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D6936BE-CCAF-2009-02FD-153338EC7B27}"/>
                </a:ext>
              </a:extLst>
            </p:cNvPr>
            <p:cNvSpPr txBox="1"/>
            <p:nvPr/>
          </p:nvSpPr>
          <p:spPr>
            <a:xfrm>
              <a:off x="3439886" y="4221628"/>
              <a:ext cx="5312228" cy="369332"/>
            </a:xfrm>
            <a:prstGeom prst="rect">
              <a:avLst/>
            </a:prstGeom>
            <a:noFill/>
          </p:spPr>
          <p:txBody>
            <a:bodyPr wrap="square">
              <a:spAutoFit/>
            </a:bodyPr>
            <a:lstStyle/>
            <a:p>
              <a:pPr algn="ctr"/>
              <a:r>
                <a:rPr lang="en-US" dirty="0">
                  <a:solidFill>
                    <a:schemeClr val="bg1"/>
                  </a:solidFill>
                  <a:latin typeface="Montserrat" panose="00000500000000000000" pitchFamily="2" charset="0"/>
                </a:rPr>
                <a:t>Places parameters in the function header</a:t>
              </a:r>
            </a:p>
          </p:txBody>
        </p:sp>
      </p:grpSp>
      <p:grpSp>
        <p:nvGrpSpPr>
          <p:cNvPr id="17" name="Group 16">
            <a:extLst>
              <a:ext uri="{FF2B5EF4-FFF2-40B4-BE49-F238E27FC236}">
                <a16:creationId xmlns:a16="http://schemas.microsoft.com/office/drawing/2014/main" id="{5E4BA6E7-1E4E-BAC7-1C72-EAAA2AB19CC7}"/>
              </a:ext>
            </a:extLst>
          </p:cNvPr>
          <p:cNvGrpSpPr/>
          <p:nvPr/>
        </p:nvGrpSpPr>
        <p:grpSpPr>
          <a:xfrm>
            <a:off x="2692400" y="5188857"/>
            <a:ext cx="6807200" cy="1008743"/>
            <a:chOff x="2692400" y="5188857"/>
            <a:chExt cx="6807200" cy="1008743"/>
          </a:xfrm>
        </p:grpSpPr>
        <p:sp>
          <p:nvSpPr>
            <p:cNvPr id="7" name="Rectangle: Rounded Corners 6">
              <a:extLst>
                <a:ext uri="{FF2B5EF4-FFF2-40B4-BE49-F238E27FC236}">
                  <a16:creationId xmlns:a16="http://schemas.microsoft.com/office/drawing/2014/main" id="{7B126C7E-0730-74D0-F02B-91FCA3929EDC}"/>
                </a:ext>
              </a:extLst>
            </p:cNvPr>
            <p:cNvSpPr/>
            <p:nvPr/>
          </p:nvSpPr>
          <p:spPr>
            <a:xfrm>
              <a:off x="2692400" y="5188857"/>
              <a:ext cx="6807200" cy="1008743"/>
            </a:xfrm>
            <a:prstGeom prst="roundRect">
              <a:avLst/>
            </a:prstGeom>
            <a:solidFill>
              <a:srgbClr val="25274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96D91B8-E0F3-9774-7718-89D8A975A0F9}"/>
                </a:ext>
              </a:extLst>
            </p:cNvPr>
            <p:cNvSpPr txBox="1"/>
            <p:nvPr/>
          </p:nvSpPr>
          <p:spPr>
            <a:xfrm>
              <a:off x="2989943" y="5508562"/>
              <a:ext cx="6212114" cy="369332"/>
            </a:xfrm>
            <a:prstGeom prst="rect">
              <a:avLst/>
            </a:prstGeom>
            <a:noFill/>
          </p:spPr>
          <p:txBody>
            <a:bodyPr wrap="square">
              <a:spAutoFit/>
            </a:bodyPr>
            <a:lstStyle/>
            <a:p>
              <a:pPr algn="ctr"/>
              <a:r>
                <a:rPr lang="en-US" dirty="0">
                  <a:solidFill>
                    <a:schemeClr val="bg1"/>
                  </a:solidFill>
                  <a:latin typeface="Montserrat" panose="00000500000000000000" pitchFamily="2" charset="0"/>
                </a:rPr>
                <a:t>Supports default, keyword and arbitrary arguments</a:t>
              </a:r>
            </a:p>
          </p:txBody>
        </p:sp>
      </p:grpSp>
    </p:spTree>
    <p:extLst>
      <p:ext uri="{BB962C8B-B14F-4D97-AF65-F5344CB8AC3E}">
        <p14:creationId xmlns:p14="http://schemas.microsoft.com/office/powerpoint/2010/main" val="204409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par>
                                <p:cTn id="11" presetID="10" presetClass="entr" presetSubtype="0" fill="hold" nodeType="withEffect">
                                  <p:stCondLst>
                                    <p:cond delay="5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childTnLst>
                                </p:cTn>
                              </p:par>
                              <p:par>
                                <p:cTn id="14" presetID="10" presetClass="entr" presetSubtype="0" fill="hold" nodeType="withEffect">
                                  <p:stCondLst>
                                    <p:cond delay="5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1000"/>
                                        <p:tgtEl>
                                          <p:spTgt spid="15"/>
                                        </p:tgtEl>
                                      </p:cBhvr>
                                    </p:animEffect>
                                  </p:childTnLst>
                                </p:cTn>
                              </p:par>
                              <p:par>
                                <p:cTn id="17" presetID="10" presetClass="entr" presetSubtype="0" fill="hold" nodeType="with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3958B-15F5-6E49-FBEE-BAA1DBA446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382AD28-A116-078A-7FCA-2718689DD8F7}"/>
              </a:ext>
            </a:extLst>
          </p:cNvPr>
          <p:cNvSpPr>
            <a:spLocks noGrp="1"/>
          </p:cNvSpPr>
          <p:nvPr>
            <p:ph type="title"/>
          </p:nvPr>
        </p:nvSpPr>
        <p:spPr/>
        <p:txBody>
          <a:bodyPr/>
          <a:lstStyle/>
          <a:p>
            <a:pPr>
              <a:lnSpc>
                <a:spcPts val="4042"/>
              </a:lnSpc>
            </a:pPr>
            <a:r>
              <a:rPr lang="en-US" dirty="0"/>
              <a:t>Function Parameters and Arguments</a:t>
            </a:r>
          </a:p>
        </p:txBody>
      </p:sp>
      <p:sp>
        <p:nvSpPr>
          <p:cNvPr id="2" name="Text Placeholder 1">
            <a:extLst>
              <a:ext uri="{FF2B5EF4-FFF2-40B4-BE49-F238E27FC236}">
                <a16:creationId xmlns:a16="http://schemas.microsoft.com/office/drawing/2014/main" id="{BDDA922D-6CC8-9FA0-D88D-0830621EE470}"/>
              </a:ext>
            </a:extLst>
          </p:cNvPr>
          <p:cNvSpPr>
            <a:spLocks noGrp="1"/>
          </p:cNvSpPr>
          <p:nvPr>
            <p:ph type="body" sz="quarter" idx="10"/>
          </p:nvPr>
        </p:nvSpPr>
        <p:spPr/>
        <p:txBody>
          <a:bodyPr/>
          <a:lstStyle/>
          <a:p>
            <a:r>
              <a:rPr lang="en-GB" dirty="0"/>
              <a:t>Example</a:t>
            </a:r>
          </a:p>
        </p:txBody>
      </p:sp>
      <p:grpSp>
        <p:nvGrpSpPr>
          <p:cNvPr id="4" name="Group 3">
            <a:extLst>
              <a:ext uri="{FF2B5EF4-FFF2-40B4-BE49-F238E27FC236}">
                <a16:creationId xmlns:a16="http://schemas.microsoft.com/office/drawing/2014/main" id="{5545D023-F8CE-210B-93BB-CF13D677325E}"/>
              </a:ext>
            </a:extLst>
          </p:cNvPr>
          <p:cNvGrpSpPr/>
          <p:nvPr/>
        </p:nvGrpSpPr>
        <p:grpSpPr>
          <a:xfrm>
            <a:off x="2912848" y="2534337"/>
            <a:ext cx="6366304" cy="2235371"/>
            <a:chOff x="3160755" y="2534337"/>
            <a:chExt cx="6366304" cy="2235371"/>
          </a:xfrm>
        </p:grpSpPr>
        <p:sp>
          <p:nvSpPr>
            <p:cNvPr id="3" name="Rectangle: Rounded Corners 2">
              <a:extLst>
                <a:ext uri="{FF2B5EF4-FFF2-40B4-BE49-F238E27FC236}">
                  <a16:creationId xmlns:a16="http://schemas.microsoft.com/office/drawing/2014/main" id="{6E8000EC-CC12-8C36-7A2B-91E8CE29516B}"/>
                </a:ext>
              </a:extLst>
            </p:cNvPr>
            <p:cNvSpPr/>
            <p:nvPr/>
          </p:nvSpPr>
          <p:spPr>
            <a:xfrm>
              <a:off x="3160755" y="2534337"/>
              <a:ext cx="6366304" cy="223537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a:extLst>
                <a:ext uri="{FF2B5EF4-FFF2-40B4-BE49-F238E27FC236}">
                  <a16:creationId xmlns:a16="http://schemas.microsoft.com/office/drawing/2014/main" id="{E0250AF1-A96A-6323-0D5F-C711B8988495}"/>
                </a:ext>
              </a:extLst>
            </p:cNvPr>
            <p:cNvPicPr>
              <a:picLocks noChangeAspect="1"/>
            </p:cNvPicPr>
            <p:nvPr/>
          </p:nvPicPr>
          <p:blipFill>
            <a:blip r:embed="rId3"/>
            <a:stretch>
              <a:fillRect/>
            </a:stretch>
          </p:blipFill>
          <p:spPr>
            <a:xfrm>
              <a:off x="3304357" y="2696735"/>
              <a:ext cx="6079100" cy="1910574"/>
            </a:xfrm>
            <a:prstGeom prst="rect">
              <a:avLst/>
            </a:prstGeom>
          </p:spPr>
        </p:pic>
      </p:grpSp>
    </p:spTree>
    <p:extLst>
      <p:ext uri="{BB962C8B-B14F-4D97-AF65-F5344CB8AC3E}">
        <p14:creationId xmlns:p14="http://schemas.microsoft.com/office/powerpoint/2010/main" val="378154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D05D7-376C-71EE-71B3-1EA73873278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66EE95-E0A3-9B45-4338-E7B29441E3E7}"/>
              </a:ext>
            </a:extLst>
          </p:cNvPr>
          <p:cNvSpPr>
            <a:spLocks noGrp="1"/>
          </p:cNvSpPr>
          <p:nvPr>
            <p:ph type="title"/>
          </p:nvPr>
        </p:nvSpPr>
        <p:spPr/>
        <p:txBody>
          <a:bodyPr/>
          <a:lstStyle/>
          <a:p>
            <a:pPr>
              <a:lnSpc>
                <a:spcPts val="4042"/>
              </a:lnSpc>
            </a:pPr>
            <a:r>
              <a:rPr lang="en-US" dirty="0"/>
              <a:t>Returning Values from Functions</a:t>
            </a:r>
          </a:p>
        </p:txBody>
      </p:sp>
      <p:grpSp>
        <p:nvGrpSpPr>
          <p:cNvPr id="2" name="Group 1">
            <a:extLst>
              <a:ext uri="{FF2B5EF4-FFF2-40B4-BE49-F238E27FC236}">
                <a16:creationId xmlns:a16="http://schemas.microsoft.com/office/drawing/2014/main" id="{1B31370A-07A5-A190-7159-BC5159488DF5}"/>
              </a:ext>
            </a:extLst>
          </p:cNvPr>
          <p:cNvGrpSpPr/>
          <p:nvPr/>
        </p:nvGrpSpPr>
        <p:grpSpPr>
          <a:xfrm>
            <a:off x="2768797" y="1721213"/>
            <a:ext cx="6654406" cy="1057964"/>
            <a:chOff x="1901372" y="1330886"/>
            <a:chExt cx="6136420" cy="1057964"/>
          </a:xfrm>
        </p:grpSpPr>
        <p:grpSp>
          <p:nvGrpSpPr>
            <p:cNvPr id="4" name="Group 3">
              <a:extLst>
                <a:ext uri="{FF2B5EF4-FFF2-40B4-BE49-F238E27FC236}">
                  <a16:creationId xmlns:a16="http://schemas.microsoft.com/office/drawing/2014/main" id="{AA69FE5D-909D-7F17-27A0-C85CBF458361}"/>
                </a:ext>
              </a:extLst>
            </p:cNvPr>
            <p:cNvGrpSpPr/>
            <p:nvPr/>
          </p:nvGrpSpPr>
          <p:grpSpPr>
            <a:xfrm>
              <a:off x="1901372" y="1330886"/>
              <a:ext cx="6136420" cy="1057964"/>
              <a:chOff x="1234865" y="1792106"/>
              <a:chExt cx="6136420" cy="1057964"/>
            </a:xfrm>
          </p:grpSpPr>
          <p:sp>
            <p:nvSpPr>
              <p:cNvPr id="7" name="Rectangle: Rounded Corners 6">
                <a:extLst>
                  <a:ext uri="{FF2B5EF4-FFF2-40B4-BE49-F238E27FC236}">
                    <a16:creationId xmlns:a16="http://schemas.microsoft.com/office/drawing/2014/main" id="{C8339CDA-8AF4-494B-CFA9-5584939F44F9}"/>
                  </a:ext>
                </a:extLst>
              </p:cNvPr>
              <p:cNvSpPr/>
              <p:nvPr/>
            </p:nvSpPr>
            <p:spPr>
              <a:xfrm>
                <a:off x="1234865" y="1792106"/>
                <a:ext cx="6136420" cy="1057964"/>
              </a:xfrm>
              <a:prstGeom prst="roundRect">
                <a:avLst>
                  <a:gd name="adj" fmla="val 9369"/>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DA85E01-A666-8F7F-5610-E4104DE27A17}"/>
                  </a:ext>
                </a:extLst>
              </p:cNvPr>
              <p:cNvSpPr txBox="1"/>
              <p:nvPr/>
            </p:nvSpPr>
            <p:spPr>
              <a:xfrm>
                <a:off x="1839024" y="1997923"/>
                <a:ext cx="5354116" cy="646331"/>
              </a:xfrm>
              <a:prstGeom prst="rect">
                <a:avLst/>
              </a:prstGeom>
              <a:noFill/>
            </p:spPr>
            <p:txBody>
              <a:bodyPr wrap="square">
                <a:spAutoFit/>
              </a:bodyPr>
              <a:lstStyle/>
              <a:p>
                <a:pPr lvl="0" eaLnBrk="0" fontAlgn="base" hangingPunct="0">
                  <a:spcBef>
                    <a:spcPct val="0"/>
                  </a:spcBef>
                  <a:spcAft>
                    <a:spcPct val="0"/>
                  </a:spcAft>
                </a:pPr>
                <a:r>
                  <a:rPr lang="en-US" dirty="0">
                    <a:solidFill>
                      <a:schemeClr val="bg1"/>
                    </a:solidFill>
                    <a:latin typeface="Montserrat" panose="00000500000000000000" pitchFamily="2" charset="0"/>
                    <a:ea typeface="Consolas" pitchFamily="34" charset="-122"/>
                    <a:cs typeface="Courier New" panose="02070309020205020404" pitchFamily="49" charset="0"/>
                  </a:rPr>
                  <a:t>Uses the return statement to pass results back to the caller</a:t>
                </a:r>
              </a:p>
            </p:txBody>
          </p:sp>
        </p:grpSp>
        <p:sp>
          <p:nvSpPr>
            <p:cNvPr id="6" name="Freeform 45">
              <a:extLst>
                <a:ext uri="{FF2B5EF4-FFF2-40B4-BE49-F238E27FC236}">
                  <a16:creationId xmlns:a16="http://schemas.microsoft.com/office/drawing/2014/main" id="{B161CF64-4EFA-2BDF-6124-7B16A042F474}"/>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0" name="Group 9">
            <a:extLst>
              <a:ext uri="{FF2B5EF4-FFF2-40B4-BE49-F238E27FC236}">
                <a16:creationId xmlns:a16="http://schemas.microsoft.com/office/drawing/2014/main" id="{0B4D9839-B42C-889D-5B85-849598A525AA}"/>
              </a:ext>
            </a:extLst>
          </p:cNvPr>
          <p:cNvGrpSpPr/>
          <p:nvPr/>
        </p:nvGrpSpPr>
        <p:grpSpPr>
          <a:xfrm>
            <a:off x="2742368" y="2956107"/>
            <a:ext cx="6680835" cy="1057964"/>
            <a:chOff x="1901372" y="1330886"/>
            <a:chExt cx="6160792" cy="1057964"/>
          </a:xfrm>
        </p:grpSpPr>
        <p:grpSp>
          <p:nvGrpSpPr>
            <p:cNvPr id="11" name="Group 10">
              <a:extLst>
                <a:ext uri="{FF2B5EF4-FFF2-40B4-BE49-F238E27FC236}">
                  <a16:creationId xmlns:a16="http://schemas.microsoft.com/office/drawing/2014/main" id="{4388488D-64C9-FA7B-2CDE-FFE79FF99484}"/>
                </a:ext>
              </a:extLst>
            </p:cNvPr>
            <p:cNvGrpSpPr/>
            <p:nvPr/>
          </p:nvGrpSpPr>
          <p:grpSpPr>
            <a:xfrm>
              <a:off x="1901372" y="1330886"/>
              <a:ext cx="6160792" cy="1057964"/>
              <a:chOff x="1234865" y="1792106"/>
              <a:chExt cx="6160792" cy="1057964"/>
            </a:xfrm>
          </p:grpSpPr>
          <p:sp>
            <p:nvSpPr>
              <p:cNvPr id="13" name="Rectangle: Rounded Corners 12">
                <a:extLst>
                  <a:ext uri="{FF2B5EF4-FFF2-40B4-BE49-F238E27FC236}">
                    <a16:creationId xmlns:a16="http://schemas.microsoft.com/office/drawing/2014/main" id="{AB3EAA55-1AE0-66EB-9922-BC3F03CADEA4}"/>
                  </a:ext>
                </a:extLst>
              </p:cNvPr>
              <p:cNvSpPr/>
              <p:nvPr/>
            </p:nvSpPr>
            <p:spPr>
              <a:xfrm>
                <a:off x="1234865" y="1792106"/>
                <a:ext cx="6148296" cy="1057964"/>
              </a:xfrm>
              <a:prstGeom prst="roundRect">
                <a:avLst>
                  <a:gd name="adj" fmla="val 9369"/>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6DEDD56E-3321-CDF7-6BA0-98917207654E}"/>
                  </a:ext>
                </a:extLst>
              </p:cNvPr>
              <p:cNvSpPr txBox="1"/>
              <p:nvPr/>
            </p:nvSpPr>
            <p:spPr>
              <a:xfrm>
                <a:off x="1839024" y="1997923"/>
                <a:ext cx="5556633"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Courier New" panose="02070309020205020404" pitchFamily="49" charset="0"/>
                  </a:rPr>
                  <a:t>Return statement exits the function and optionally sends back a value</a:t>
                </a:r>
              </a:p>
            </p:txBody>
          </p:sp>
        </p:grpSp>
        <p:sp>
          <p:nvSpPr>
            <p:cNvPr id="12" name="Freeform 45">
              <a:extLst>
                <a:ext uri="{FF2B5EF4-FFF2-40B4-BE49-F238E27FC236}">
                  <a16:creationId xmlns:a16="http://schemas.microsoft.com/office/drawing/2014/main" id="{8A77C2A9-9DBF-3CEE-770F-F15A7D507CA4}"/>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5" name="Group 14">
            <a:extLst>
              <a:ext uri="{FF2B5EF4-FFF2-40B4-BE49-F238E27FC236}">
                <a16:creationId xmlns:a16="http://schemas.microsoft.com/office/drawing/2014/main" id="{FE0E9743-D19E-F55A-2A4C-2985C0751A12}"/>
              </a:ext>
            </a:extLst>
          </p:cNvPr>
          <p:cNvGrpSpPr/>
          <p:nvPr/>
        </p:nvGrpSpPr>
        <p:grpSpPr>
          <a:xfrm>
            <a:off x="2742368" y="4191000"/>
            <a:ext cx="6680835" cy="1057964"/>
            <a:chOff x="1901373" y="1330886"/>
            <a:chExt cx="6160791" cy="1057964"/>
          </a:xfrm>
        </p:grpSpPr>
        <p:grpSp>
          <p:nvGrpSpPr>
            <p:cNvPr id="16" name="Group 15">
              <a:extLst>
                <a:ext uri="{FF2B5EF4-FFF2-40B4-BE49-F238E27FC236}">
                  <a16:creationId xmlns:a16="http://schemas.microsoft.com/office/drawing/2014/main" id="{6DCF9613-8753-FD93-AD29-59E7970EE64E}"/>
                </a:ext>
              </a:extLst>
            </p:cNvPr>
            <p:cNvGrpSpPr/>
            <p:nvPr/>
          </p:nvGrpSpPr>
          <p:grpSpPr>
            <a:xfrm>
              <a:off x="1901373" y="1330886"/>
              <a:ext cx="6160791" cy="1057964"/>
              <a:chOff x="1234866" y="1792106"/>
              <a:chExt cx="6160791" cy="1057964"/>
            </a:xfrm>
          </p:grpSpPr>
          <p:sp>
            <p:nvSpPr>
              <p:cNvPr id="18" name="Rectangle: Rounded Corners 17">
                <a:extLst>
                  <a:ext uri="{FF2B5EF4-FFF2-40B4-BE49-F238E27FC236}">
                    <a16:creationId xmlns:a16="http://schemas.microsoft.com/office/drawing/2014/main" id="{184B21EF-100A-4087-D35C-92A6EC48DB58}"/>
                  </a:ext>
                </a:extLst>
              </p:cNvPr>
              <p:cNvSpPr/>
              <p:nvPr/>
            </p:nvSpPr>
            <p:spPr>
              <a:xfrm>
                <a:off x="1234866" y="1792106"/>
                <a:ext cx="6134441" cy="1057964"/>
              </a:xfrm>
              <a:prstGeom prst="roundRect">
                <a:avLst>
                  <a:gd name="adj" fmla="val 9369"/>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C407F902-3580-19DC-65DE-DF521E37D3C3}"/>
                  </a:ext>
                </a:extLst>
              </p:cNvPr>
              <p:cNvSpPr txBox="1"/>
              <p:nvPr/>
            </p:nvSpPr>
            <p:spPr>
              <a:xfrm>
                <a:off x="1839024" y="1997923"/>
                <a:ext cx="5556633"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Courier New" panose="02070309020205020404" pitchFamily="49" charset="0"/>
                  </a:rPr>
                  <a:t>If no return statement is used, the function returns None</a:t>
                </a:r>
              </a:p>
            </p:txBody>
          </p:sp>
        </p:grpSp>
        <p:sp>
          <p:nvSpPr>
            <p:cNvPr id="17" name="Freeform 45">
              <a:extLst>
                <a:ext uri="{FF2B5EF4-FFF2-40B4-BE49-F238E27FC236}">
                  <a16:creationId xmlns:a16="http://schemas.microsoft.com/office/drawing/2014/main" id="{CE5CD2AC-714C-9E00-76FC-4B1D300DE29B}"/>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08848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childTnLst>
                                </p:cTn>
                              </p:par>
                              <p:par>
                                <p:cTn id="14" presetID="10" presetClass="entr" presetSubtype="0" fill="hold" nodeType="withEffect">
                                  <p:stCondLst>
                                    <p:cond delay="5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D977B-6C88-7905-FAA7-B98D308FD60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80E13BB-FB87-8BEB-0F90-8CB091A3D1C4}"/>
              </a:ext>
            </a:extLst>
          </p:cNvPr>
          <p:cNvSpPr>
            <a:spLocks noGrp="1"/>
          </p:cNvSpPr>
          <p:nvPr>
            <p:ph type="title"/>
          </p:nvPr>
        </p:nvSpPr>
        <p:spPr/>
        <p:txBody>
          <a:bodyPr/>
          <a:lstStyle/>
          <a:p>
            <a:pPr>
              <a:lnSpc>
                <a:spcPts val="4042"/>
              </a:lnSpc>
            </a:pPr>
            <a:r>
              <a:rPr lang="en-US" dirty="0"/>
              <a:t>Returning Values from Functions</a:t>
            </a:r>
          </a:p>
        </p:txBody>
      </p:sp>
      <p:sp>
        <p:nvSpPr>
          <p:cNvPr id="2" name="Text Placeholder 1">
            <a:extLst>
              <a:ext uri="{FF2B5EF4-FFF2-40B4-BE49-F238E27FC236}">
                <a16:creationId xmlns:a16="http://schemas.microsoft.com/office/drawing/2014/main" id="{F4C0B0AE-942D-C744-9DEB-8FC373426E09}"/>
              </a:ext>
            </a:extLst>
          </p:cNvPr>
          <p:cNvSpPr>
            <a:spLocks noGrp="1"/>
          </p:cNvSpPr>
          <p:nvPr>
            <p:ph type="body" sz="quarter" idx="10"/>
          </p:nvPr>
        </p:nvSpPr>
        <p:spPr/>
        <p:txBody>
          <a:bodyPr/>
          <a:lstStyle/>
          <a:p>
            <a:r>
              <a:rPr lang="en-GB" dirty="0"/>
              <a:t>Example</a:t>
            </a:r>
          </a:p>
        </p:txBody>
      </p:sp>
      <p:grpSp>
        <p:nvGrpSpPr>
          <p:cNvPr id="4" name="Group 3">
            <a:extLst>
              <a:ext uri="{FF2B5EF4-FFF2-40B4-BE49-F238E27FC236}">
                <a16:creationId xmlns:a16="http://schemas.microsoft.com/office/drawing/2014/main" id="{8CD77647-3B18-4A35-2DC8-160580E62F24}"/>
              </a:ext>
            </a:extLst>
          </p:cNvPr>
          <p:cNvGrpSpPr/>
          <p:nvPr/>
        </p:nvGrpSpPr>
        <p:grpSpPr>
          <a:xfrm>
            <a:off x="3695700" y="2437027"/>
            <a:ext cx="4800600" cy="2020673"/>
            <a:chOff x="3438525" y="2437027"/>
            <a:chExt cx="4800600" cy="2020673"/>
          </a:xfrm>
        </p:grpSpPr>
        <p:sp>
          <p:nvSpPr>
            <p:cNvPr id="3" name="Rectangle: Rounded Corners 2">
              <a:extLst>
                <a:ext uri="{FF2B5EF4-FFF2-40B4-BE49-F238E27FC236}">
                  <a16:creationId xmlns:a16="http://schemas.microsoft.com/office/drawing/2014/main" id="{2717E372-A602-5C04-8950-9D7156E2EA9D}"/>
                </a:ext>
              </a:extLst>
            </p:cNvPr>
            <p:cNvSpPr/>
            <p:nvPr/>
          </p:nvSpPr>
          <p:spPr>
            <a:xfrm>
              <a:off x="3438525" y="2437027"/>
              <a:ext cx="4800600" cy="202067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EAE57515-B313-F35B-FAA8-1A114BE5EF94}"/>
                </a:ext>
              </a:extLst>
            </p:cNvPr>
            <p:cNvPicPr>
              <a:picLocks noChangeAspect="1"/>
            </p:cNvPicPr>
            <p:nvPr/>
          </p:nvPicPr>
          <p:blipFill>
            <a:blip r:embed="rId3"/>
            <a:stretch>
              <a:fillRect/>
            </a:stretch>
          </p:blipFill>
          <p:spPr>
            <a:xfrm>
              <a:off x="3521060" y="2559168"/>
              <a:ext cx="4635530" cy="1776390"/>
            </a:xfrm>
            <a:prstGeom prst="rect">
              <a:avLst/>
            </a:prstGeom>
          </p:spPr>
        </p:pic>
      </p:grpSp>
    </p:spTree>
    <p:extLst>
      <p:ext uri="{BB962C8B-B14F-4D97-AF65-F5344CB8AC3E}">
        <p14:creationId xmlns:p14="http://schemas.microsoft.com/office/powerpoint/2010/main" val="100335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68AC-BD06-741D-D5F2-7910AF0A788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5E2317A-453E-AFEB-E9C1-E935458BEDD8}"/>
              </a:ext>
            </a:extLst>
          </p:cNvPr>
          <p:cNvSpPr/>
          <p:nvPr/>
        </p:nvSpPr>
        <p:spPr>
          <a:xfrm>
            <a:off x="6705600" y="2124076"/>
            <a:ext cx="4124325" cy="1951179"/>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Rounded Corners 2">
            <a:extLst>
              <a:ext uri="{FF2B5EF4-FFF2-40B4-BE49-F238E27FC236}">
                <a16:creationId xmlns:a16="http://schemas.microsoft.com/office/drawing/2014/main" id="{0DFA69FB-5CCE-6334-02AD-633EA5F148AD}"/>
              </a:ext>
            </a:extLst>
          </p:cNvPr>
          <p:cNvSpPr/>
          <p:nvPr/>
        </p:nvSpPr>
        <p:spPr>
          <a:xfrm>
            <a:off x="1076325" y="2124076"/>
            <a:ext cx="4838700" cy="2095500"/>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Rounded Corners 1">
            <a:extLst>
              <a:ext uri="{FF2B5EF4-FFF2-40B4-BE49-F238E27FC236}">
                <a16:creationId xmlns:a16="http://schemas.microsoft.com/office/drawing/2014/main" id="{C193FAF4-91BE-B17E-2789-6F9559960AE1}"/>
              </a:ext>
            </a:extLst>
          </p:cNvPr>
          <p:cNvSpPr/>
          <p:nvPr/>
        </p:nvSpPr>
        <p:spPr>
          <a:xfrm>
            <a:off x="2588817" y="5724855"/>
            <a:ext cx="7740988" cy="708387"/>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AF094D31-FFAA-03E0-A543-7E977B0304D1}"/>
              </a:ext>
            </a:extLst>
          </p:cNvPr>
          <p:cNvSpPr>
            <a:spLocks noGrp="1"/>
          </p:cNvSpPr>
          <p:nvPr>
            <p:ph type="title"/>
          </p:nvPr>
        </p:nvSpPr>
        <p:spPr/>
        <p:txBody>
          <a:bodyPr/>
          <a:lstStyle/>
          <a:p>
            <a:pPr>
              <a:lnSpc>
                <a:spcPts val="3708"/>
              </a:lnSpc>
            </a:pPr>
            <a:r>
              <a:rPr lang="en-US" dirty="0">
                <a:latin typeface="Montserrat Bold" pitchFamily="34" charset="0"/>
                <a:ea typeface="Montserrat Bold" pitchFamily="34" charset="-122"/>
                <a:cs typeface="Montserrat Bold" pitchFamily="34" charset="-120"/>
              </a:rPr>
              <a:t>Multiple Parameters &amp; Return Values</a:t>
            </a:r>
            <a:endParaRPr lang="en-US" dirty="0"/>
          </a:p>
        </p:txBody>
      </p:sp>
      <p:sp>
        <p:nvSpPr>
          <p:cNvPr id="12" name="TextBox 11">
            <a:extLst>
              <a:ext uri="{FF2B5EF4-FFF2-40B4-BE49-F238E27FC236}">
                <a16:creationId xmlns:a16="http://schemas.microsoft.com/office/drawing/2014/main" id="{6455065E-1225-2B72-766A-93CB7879A881}"/>
              </a:ext>
            </a:extLst>
          </p:cNvPr>
          <p:cNvSpPr txBox="1"/>
          <p:nvPr/>
        </p:nvSpPr>
        <p:spPr>
          <a:xfrm>
            <a:off x="779407" y="1447800"/>
            <a:ext cx="4345022" cy="369332"/>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25274D"/>
                </a:solidFill>
                <a:latin typeface="Montserrat" panose="00000500000000000000" pitchFamily="2" charset="0"/>
              </a:rPr>
              <a:t>Multiple parameters</a:t>
            </a:r>
          </a:p>
        </p:txBody>
      </p:sp>
      <p:sp>
        <p:nvSpPr>
          <p:cNvPr id="15" name="TextBox 14">
            <a:extLst>
              <a:ext uri="{FF2B5EF4-FFF2-40B4-BE49-F238E27FC236}">
                <a16:creationId xmlns:a16="http://schemas.microsoft.com/office/drawing/2014/main" id="{8A6A12A5-CB75-A80A-FC7A-16D6E6E6CE7B}"/>
              </a:ext>
            </a:extLst>
          </p:cNvPr>
          <p:cNvSpPr txBox="1"/>
          <p:nvPr/>
        </p:nvSpPr>
        <p:spPr>
          <a:xfrm>
            <a:off x="6588230" y="1404048"/>
            <a:ext cx="3470170" cy="369332"/>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25274D"/>
                </a:solidFill>
                <a:latin typeface="Montserrat" panose="00000500000000000000" pitchFamily="2" charset="0"/>
              </a:rPr>
              <a:t>Multiple return values</a:t>
            </a:r>
          </a:p>
        </p:txBody>
      </p:sp>
      <p:sp>
        <p:nvSpPr>
          <p:cNvPr id="19" name="TextBox 18">
            <a:extLst>
              <a:ext uri="{FF2B5EF4-FFF2-40B4-BE49-F238E27FC236}">
                <a16:creationId xmlns:a16="http://schemas.microsoft.com/office/drawing/2014/main" id="{0ADFC810-93D5-EDB1-93DE-5E5B8BEADD1B}"/>
              </a:ext>
            </a:extLst>
          </p:cNvPr>
          <p:cNvSpPr txBox="1"/>
          <p:nvPr/>
        </p:nvSpPr>
        <p:spPr>
          <a:xfrm>
            <a:off x="2911088" y="5755883"/>
            <a:ext cx="7147312" cy="646331"/>
          </a:xfrm>
          <a:prstGeom prst="rect">
            <a:avLst/>
          </a:prstGeom>
          <a:noFill/>
        </p:spPr>
        <p:txBody>
          <a:bodyPr wrap="square">
            <a:spAutoFit/>
          </a:bodyPr>
          <a:lstStyle/>
          <a:p>
            <a:pPr algn="ctr"/>
            <a:r>
              <a:rPr lang="en-US" b="0" i="0" dirty="0">
                <a:solidFill>
                  <a:schemeClr val="bg1"/>
                </a:solidFill>
                <a:effectLst/>
                <a:latin typeface="Montserrat" panose="00000500000000000000" pitchFamily="2" charset="0"/>
              </a:rPr>
              <a:t>Python functions handle multiple inputs and return multiple outputs as tuples.</a:t>
            </a:r>
            <a:endParaRPr lang="en-US" dirty="0">
              <a:solidFill>
                <a:schemeClr val="bg1"/>
              </a:solidFill>
              <a:latin typeface="Montserrat" panose="00000500000000000000" pitchFamily="2" charset="0"/>
            </a:endParaRPr>
          </a:p>
        </p:txBody>
      </p:sp>
      <p:pic>
        <p:nvPicPr>
          <p:cNvPr id="9" name="Picture 8">
            <a:extLst>
              <a:ext uri="{FF2B5EF4-FFF2-40B4-BE49-F238E27FC236}">
                <a16:creationId xmlns:a16="http://schemas.microsoft.com/office/drawing/2014/main" id="{5F17697D-0634-A143-500E-5F1FCEE70CE2}"/>
              </a:ext>
            </a:extLst>
          </p:cNvPr>
          <p:cNvPicPr>
            <a:picLocks noChangeAspect="1"/>
          </p:cNvPicPr>
          <p:nvPr/>
        </p:nvPicPr>
        <p:blipFill>
          <a:blip r:embed="rId3"/>
          <a:stretch>
            <a:fillRect/>
          </a:stretch>
        </p:blipFill>
        <p:spPr>
          <a:xfrm>
            <a:off x="1174124" y="2232922"/>
            <a:ext cx="4632662" cy="1842333"/>
          </a:xfrm>
          <a:prstGeom prst="rect">
            <a:avLst/>
          </a:prstGeom>
        </p:spPr>
      </p:pic>
      <p:pic>
        <p:nvPicPr>
          <p:cNvPr id="17" name="Picture 16">
            <a:extLst>
              <a:ext uri="{FF2B5EF4-FFF2-40B4-BE49-F238E27FC236}">
                <a16:creationId xmlns:a16="http://schemas.microsoft.com/office/drawing/2014/main" id="{1D5CF30B-DB60-8051-A050-072CC2E779DC}"/>
              </a:ext>
            </a:extLst>
          </p:cNvPr>
          <p:cNvPicPr>
            <a:picLocks noChangeAspect="1"/>
          </p:cNvPicPr>
          <p:nvPr/>
        </p:nvPicPr>
        <p:blipFill>
          <a:blip r:embed="rId4"/>
          <a:stretch>
            <a:fillRect/>
          </a:stretch>
        </p:blipFill>
        <p:spPr>
          <a:xfrm>
            <a:off x="6832709" y="2249511"/>
            <a:ext cx="3870106" cy="1700309"/>
          </a:xfrm>
          <a:prstGeom prst="rect">
            <a:avLst/>
          </a:prstGeom>
        </p:spPr>
      </p:pic>
    </p:spTree>
    <p:extLst>
      <p:ext uri="{BB962C8B-B14F-4D97-AF65-F5344CB8AC3E}">
        <p14:creationId xmlns:p14="http://schemas.microsoft.com/office/powerpoint/2010/main" val="157474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1000"/>
                                        <p:tgtEl>
                                          <p:spTgt spid="19"/>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childTnLst>
                                </p:cTn>
                              </p:par>
                              <p:par>
                                <p:cTn id="23" presetID="10" presetClass="entr" presetSubtype="0" fill="hold" nodeType="withEffect">
                                  <p:stCondLst>
                                    <p:cond delay="5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childTnLst>
                                </p:cTn>
                              </p:par>
                              <p:par>
                                <p:cTn id="29" presetID="10" presetClass="entr" presetSubtype="0" fill="hold" nodeType="withEffect">
                                  <p:stCondLst>
                                    <p:cond delay="50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2" grpId="0" animBg="1"/>
      <p:bldP spid="8" grpId="0"/>
      <p:bldP spid="12" grpId="0"/>
      <p:bldP spid="15" grpId="0"/>
      <p:bldP spid="19"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F317F-A312-F462-4B5E-9B8F749CEFD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E0944EE-3B63-A369-7F2A-F8FE24D8B997}"/>
              </a:ext>
            </a:extLst>
          </p:cNvPr>
          <p:cNvSpPr>
            <a:spLocks noGrp="1"/>
          </p:cNvSpPr>
          <p:nvPr>
            <p:ph type="title"/>
          </p:nvPr>
        </p:nvSpPr>
        <p:spPr/>
        <p:txBody>
          <a:bodyPr/>
          <a:lstStyle/>
          <a:p>
            <a:pPr>
              <a:lnSpc>
                <a:spcPts val="3583"/>
              </a:lnSpc>
            </a:pPr>
            <a:r>
              <a:rPr lang="en-US" dirty="0">
                <a:latin typeface="Montserrat Bold" pitchFamily="34" charset="0"/>
                <a:ea typeface="Montserrat Bold" pitchFamily="34" charset="-122"/>
                <a:cs typeface="Montserrat Bold" pitchFamily="34" charset="-120"/>
              </a:rPr>
              <a:t>Default Parameters</a:t>
            </a:r>
            <a:endParaRPr lang="en-US" dirty="0"/>
          </a:p>
        </p:txBody>
      </p:sp>
      <p:sp>
        <p:nvSpPr>
          <p:cNvPr id="5" name="TextBox 4">
            <a:extLst>
              <a:ext uri="{FF2B5EF4-FFF2-40B4-BE49-F238E27FC236}">
                <a16:creationId xmlns:a16="http://schemas.microsoft.com/office/drawing/2014/main" id="{EE4CDE56-2F22-9D5E-5BF8-F97901034057}"/>
              </a:ext>
            </a:extLst>
          </p:cNvPr>
          <p:cNvSpPr txBox="1"/>
          <p:nvPr/>
        </p:nvSpPr>
        <p:spPr>
          <a:xfrm>
            <a:off x="6964790" y="1741499"/>
            <a:ext cx="3704003" cy="388311"/>
          </a:xfrm>
          <a:prstGeom prst="rect">
            <a:avLst/>
          </a:prstGeom>
          <a:noFill/>
        </p:spPr>
        <p:txBody>
          <a:bodyPr wrap="square">
            <a:spAutoFit/>
          </a:bodyPr>
          <a:lstStyle/>
          <a:p>
            <a:pPr marL="0" marR="0">
              <a:lnSpc>
                <a:spcPct val="115000"/>
              </a:lnSpc>
              <a:spcAft>
                <a:spcPts val="800"/>
              </a:spcAft>
              <a:buNone/>
            </a:pPr>
            <a:r>
              <a:rPr lang="en-US" sz="1800" b="1"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Output:</a:t>
            </a:r>
          </a:p>
        </p:txBody>
      </p:sp>
      <p:grpSp>
        <p:nvGrpSpPr>
          <p:cNvPr id="4" name="Group 3">
            <a:extLst>
              <a:ext uri="{FF2B5EF4-FFF2-40B4-BE49-F238E27FC236}">
                <a16:creationId xmlns:a16="http://schemas.microsoft.com/office/drawing/2014/main" id="{75702F7B-1F9E-4C2D-09FC-5E2D9A37C7F7}"/>
              </a:ext>
            </a:extLst>
          </p:cNvPr>
          <p:cNvGrpSpPr/>
          <p:nvPr/>
        </p:nvGrpSpPr>
        <p:grpSpPr>
          <a:xfrm>
            <a:off x="2116397" y="5728726"/>
            <a:ext cx="7959206" cy="708387"/>
            <a:chOff x="2588817" y="5728726"/>
            <a:chExt cx="7959206" cy="708387"/>
          </a:xfrm>
        </p:grpSpPr>
        <p:sp>
          <p:nvSpPr>
            <p:cNvPr id="9" name="Rectangle: Rounded Corners 8">
              <a:extLst>
                <a:ext uri="{FF2B5EF4-FFF2-40B4-BE49-F238E27FC236}">
                  <a16:creationId xmlns:a16="http://schemas.microsoft.com/office/drawing/2014/main" id="{5DDF3DB0-8BB8-D49C-F03B-673AD54DF0AE}"/>
                </a:ext>
              </a:extLst>
            </p:cNvPr>
            <p:cNvSpPr/>
            <p:nvPr/>
          </p:nvSpPr>
          <p:spPr>
            <a:xfrm>
              <a:off x="2588817" y="5728726"/>
              <a:ext cx="7740988" cy="708387"/>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36B30A19-0A2E-7585-7317-8A19F725D47F}"/>
                </a:ext>
              </a:extLst>
            </p:cNvPr>
            <p:cNvSpPr txBox="1"/>
            <p:nvPr/>
          </p:nvSpPr>
          <p:spPr>
            <a:xfrm>
              <a:off x="2756169" y="5874616"/>
              <a:ext cx="7791854" cy="369332"/>
            </a:xfrm>
            <a:prstGeom prst="rect">
              <a:avLst/>
            </a:prstGeom>
            <a:noFill/>
          </p:spPr>
          <p:txBody>
            <a:bodyPr wrap="square">
              <a:spAutoFit/>
            </a:bodyPr>
            <a:lstStyle/>
            <a:p>
              <a:r>
                <a:rPr lang="en-US" dirty="0">
                  <a:solidFill>
                    <a:schemeClr val="bg1"/>
                  </a:solidFill>
                  <a:latin typeface="Montserrat" panose="00000500000000000000" pitchFamily="2" charset="0"/>
                </a:rPr>
                <a:t>Default parameters add flexibility and simplify function calls.</a:t>
              </a:r>
            </a:p>
          </p:txBody>
        </p:sp>
      </p:grpSp>
      <p:sp>
        <p:nvSpPr>
          <p:cNvPr id="2" name="TextBox 1">
            <a:extLst>
              <a:ext uri="{FF2B5EF4-FFF2-40B4-BE49-F238E27FC236}">
                <a16:creationId xmlns:a16="http://schemas.microsoft.com/office/drawing/2014/main" id="{1339BDAF-738A-0602-6ABD-D449ECDB1387}"/>
              </a:ext>
            </a:extLst>
          </p:cNvPr>
          <p:cNvSpPr txBox="1"/>
          <p:nvPr/>
        </p:nvSpPr>
        <p:spPr>
          <a:xfrm>
            <a:off x="713211" y="1780913"/>
            <a:ext cx="3704003" cy="388311"/>
          </a:xfrm>
          <a:prstGeom prst="rect">
            <a:avLst/>
          </a:prstGeom>
          <a:noFill/>
        </p:spPr>
        <p:txBody>
          <a:bodyPr wrap="square">
            <a:spAutoFit/>
          </a:bodyPr>
          <a:lstStyle/>
          <a:p>
            <a:pPr marL="0" marR="0">
              <a:lnSpc>
                <a:spcPct val="115000"/>
              </a:lnSpc>
              <a:spcAft>
                <a:spcPts val="800"/>
              </a:spcAft>
              <a:buNone/>
            </a:pPr>
            <a:r>
              <a:rPr lang="en-US" b="1" kern="100" dirty="0">
                <a:solidFill>
                  <a:srgbClr val="25274D"/>
                </a:solidFill>
                <a:latin typeface="Montserrat" panose="00000500000000000000" pitchFamily="2" charset="0"/>
                <a:ea typeface="Aptos" panose="020B0004020202020204" pitchFamily="34" charset="0"/>
                <a:cs typeface="Arial" panose="020B0604020202020204" pitchFamily="34" charset="0"/>
              </a:rPr>
              <a:t>Example</a:t>
            </a:r>
            <a:r>
              <a:rPr lang="en-US" sz="1800" b="1" kern="100" dirty="0">
                <a:solidFill>
                  <a:srgbClr val="25274D"/>
                </a:solidFill>
                <a:effectLst/>
                <a:latin typeface="Montserrat" panose="00000500000000000000" pitchFamily="2" charset="0"/>
                <a:ea typeface="Aptos" panose="020B0004020202020204" pitchFamily="34" charset="0"/>
                <a:cs typeface="Arial" panose="020B0604020202020204" pitchFamily="34" charset="0"/>
              </a:rPr>
              <a:t>:</a:t>
            </a:r>
          </a:p>
        </p:txBody>
      </p:sp>
      <p:grpSp>
        <p:nvGrpSpPr>
          <p:cNvPr id="13" name="Group 12">
            <a:extLst>
              <a:ext uri="{FF2B5EF4-FFF2-40B4-BE49-F238E27FC236}">
                <a16:creationId xmlns:a16="http://schemas.microsoft.com/office/drawing/2014/main" id="{18318366-9B10-EBB9-DA71-8A5FF9DE7A6B}"/>
              </a:ext>
            </a:extLst>
          </p:cNvPr>
          <p:cNvGrpSpPr/>
          <p:nvPr/>
        </p:nvGrpSpPr>
        <p:grpSpPr>
          <a:xfrm>
            <a:off x="723900" y="2362885"/>
            <a:ext cx="5683881" cy="2604531"/>
            <a:chOff x="664531" y="2362885"/>
            <a:chExt cx="5683881" cy="2604531"/>
          </a:xfrm>
        </p:grpSpPr>
        <p:sp>
          <p:nvSpPr>
            <p:cNvPr id="12" name="Rectangle: Rounded Corners 11">
              <a:extLst>
                <a:ext uri="{FF2B5EF4-FFF2-40B4-BE49-F238E27FC236}">
                  <a16:creationId xmlns:a16="http://schemas.microsoft.com/office/drawing/2014/main" id="{C4339D2E-E216-1020-AC3D-F64F982B275C}"/>
                </a:ext>
              </a:extLst>
            </p:cNvPr>
            <p:cNvSpPr/>
            <p:nvPr/>
          </p:nvSpPr>
          <p:spPr>
            <a:xfrm>
              <a:off x="664531" y="2362885"/>
              <a:ext cx="5683881" cy="260453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8" name="Picture 17">
              <a:extLst>
                <a:ext uri="{FF2B5EF4-FFF2-40B4-BE49-F238E27FC236}">
                  <a16:creationId xmlns:a16="http://schemas.microsoft.com/office/drawing/2014/main" id="{2325DB5A-C62E-7F65-2FE3-00ED899CBFD9}"/>
                </a:ext>
              </a:extLst>
            </p:cNvPr>
            <p:cNvPicPr>
              <a:picLocks noChangeAspect="1"/>
            </p:cNvPicPr>
            <p:nvPr/>
          </p:nvPicPr>
          <p:blipFill>
            <a:blip r:embed="rId3"/>
            <a:stretch>
              <a:fillRect/>
            </a:stretch>
          </p:blipFill>
          <p:spPr>
            <a:xfrm>
              <a:off x="773850" y="2498955"/>
              <a:ext cx="5465243" cy="2332390"/>
            </a:xfrm>
            <a:prstGeom prst="rect">
              <a:avLst/>
            </a:prstGeom>
          </p:spPr>
        </p:pic>
      </p:grpSp>
      <p:grpSp>
        <p:nvGrpSpPr>
          <p:cNvPr id="11" name="Group 10">
            <a:extLst>
              <a:ext uri="{FF2B5EF4-FFF2-40B4-BE49-F238E27FC236}">
                <a16:creationId xmlns:a16="http://schemas.microsoft.com/office/drawing/2014/main" id="{F5F32420-2D5B-BB3E-AFB8-571C5D47FCF2}"/>
              </a:ext>
            </a:extLst>
          </p:cNvPr>
          <p:cNvGrpSpPr/>
          <p:nvPr/>
        </p:nvGrpSpPr>
        <p:grpSpPr>
          <a:xfrm>
            <a:off x="6826250" y="2686051"/>
            <a:ext cx="3893342" cy="741652"/>
            <a:chOff x="6826250" y="2686051"/>
            <a:chExt cx="3893342" cy="741652"/>
          </a:xfrm>
        </p:grpSpPr>
        <p:sp>
          <p:nvSpPr>
            <p:cNvPr id="6" name="Rectangle: Rounded Corners 5">
              <a:extLst>
                <a:ext uri="{FF2B5EF4-FFF2-40B4-BE49-F238E27FC236}">
                  <a16:creationId xmlns:a16="http://schemas.microsoft.com/office/drawing/2014/main" id="{94FE8F33-563A-C5DD-1881-AB7208527440}"/>
                </a:ext>
              </a:extLst>
            </p:cNvPr>
            <p:cNvSpPr/>
            <p:nvPr/>
          </p:nvSpPr>
          <p:spPr>
            <a:xfrm>
              <a:off x="6826250" y="2686051"/>
              <a:ext cx="3893342" cy="741652"/>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 name="Picture 19">
              <a:extLst>
                <a:ext uri="{FF2B5EF4-FFF2-40B4-BE49-F238E27FC236}">
                  <a16:creationId xmlns:a16="http://schemas.microsoft.com/office/drawing/2014/main" id="{B7B93502-15C7-9B8F-E5E1-570B964169B7}"/>
                </a:ext>
              </a:extLst>
            </p:cNvPr>
            <p:cNvPicPr>
              <a:picLocks noChangeAspect="1"/>
            </p:cNvPicPr>
            <p:nvPr/>
          </p:nvPicPr>
          <p:blipFill>
            <a:blip r:embed="rId4"/>
            <a:stretch>
              <a:fillRect/>
            </a:stretch>
          </p:blipFill>
          <p:spPr>
            <a:xfrm>
              <a:off x="6964790" y="2790492"/>
              <a:ext cx="3593893" cy="540674"/>
            </a:xfrm>
            <a:prstGeom prst="rect">
              <a:avLst/>
            </a:prstGeom>
          </p:spPr>
        </p:pic>
      </p:grpSp>
    </p:spTree>
    <p:extLst>
      <p:ext uri="{BB962C8B-B14F-4D97-AF65-F5344CB8AC3E}">
        <p14:creationId xmlns:p14="http://schemas.microsoft.com/office/powerpoint/2010/main" val="24075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nodeType="withEffect">
                                  <p:stCondLst>
                                    <p:cond delay="5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par>
                                <p:cTn id="17" presetID="10" presetClass="entr" presetSubtype="0" fill="hold" nodeType="with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childTnLst>
                                </p:cTn>
                              </p:par>
                              <p:par>
                                <p:cTn id="20" presetID="10" presetClass="entr" presetSubtype="0" fill="hold" nodeType="withEffect">
                                  <p:stCondLst>
                                    <p:cond delay="5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74A2-E6B7-0AD1-5C0F-5A9B4E5BB77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F737113-66A7-B68F-D9F7-05CDD2CCA0FE}"/>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Default Parameters</a:t>
            </a:r>
            <a:endParaRPr lang="en-US" dirty="0"/>
          </a:p>
        </p:txBody>
      </p:sp>
      <p:sp>
        <p:nvSpPr>
          <p:cNvPr id="2" name="Text Placeholder 1">
            <a:extLst>
              <a:ext uri="{FF2B5EF4-FFF2-40B4-BE49-F238E27FC236}">
                <a16:creationId xmlns:a16="http://schemas.microsoft.com/office/drawing/2014/main" id="{4F3572DF-55C0-15BA-0BD9-A8ECE3A43C61}"/>
              </a:ext>
            </a:extLst>
          </p:cNvPr>
          <p:cNvSpPr>
            <a:spLocks noGrp="1"/>
          </p:cNvSpPr>
          <p:nvPr>
            <p:ph type="body" sz="quarter" idx="10"/>
          </p:nvPr>
        </p:nvSpPr>
        <p:spPr/>
        <p:txBody>
          <a:bodyPr/>
          <a:lstStyle/>
          <a:p>
            <a:r>
              <a:rPr lang="en-GB" dirty="0"/>
              <a:t>Key Benefits</a:t>
            </a:r>
          </a:p>
        </p:txBody>
      </p:sp>
      <p:sp>
        <p:nvSpPr>
          <p:cNvPr id="13" name="Rectangle: Rounded Corners 12">
            <a:extLst>
              <a:ext uri="{FF2B5EF4-FFF2-40B4-BE49-F238E27FC236}">
                <a16:creationId xmlns:a16="http://schemas.microsoft.com/office/drawing/2014/main" id="{954F8DD6-2097-E591-E61C-7420264BCBC3}"/>
              </a:ext>
            </a:extLst>
          </p:cNvPr>
          <p:cNvSpPr/>
          <p:nvPr/>
        </p:nvSpPr>
        <p:spPr>
          <a:xfrm rot="2700000">
            <a:off x="6417735" y="2451100"/>
            <a:ext cx="1727200" cy="1727200"/>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43D22C-0D7A-5B1A-B5CD-528FD9AD0C71}"/>
              </a:ext>
            </a:extLst>
          </p:cNvPr>
          <p:cNvGrpSpPr/>
          <p:nvPr/>
        </p:nvGrpSpPr>
        <p:grpSpPr>
          <a:xfrm>
            <a:off x="1676399" y="2451100"/>
            <a:ext cx="1727200" cy="1727200"/>
            <a:chOff x="1676399" y="2451100"/>
            <a:chExt cx="1727200" cy="1727200"/>
          </a:xfrm>
        </p:grpSpPr>
        <p:sp>
          <p:nvSpPr>
            <p:cNvPr id="9" name="Rectangle: Rounded Corners 8">
              <a:extLst>
                <a:ext uri="{FF2B5EF4-FFF2-40B4-BE49-F238E27FC236}">
                  <a16:creationId xmlns:a16="http://schemas.microsoft.com/office/drawing/2014/main" id="{2FF8E679-DAFF-B71D-7DBE-2320D45C3CFB}"/>
                </a:ext>
              </a:extLst>
            </p:cNvPr>
            <p:cNvSpPr/>
            <p:nvPr/>
          </p:nvSpPr>
          <p:spPr>
            <a:xfrm rot="2700000">
              <a:off x="1676399" y="2451100"/>
              <a:ext cx="1727200" cy="172720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31D432A1-A1BA-EC32-1C3C-C20EB6AEF06A}"/>
                </a:ext>
              </a:extLst>
            </p:cNvPr>
            <p:cNvGrpSpPr/>
            <p:nvPr/>
          </p:nvGrpSpPr>
          <p:grpSpPr>
            <a:xfrm>
              <a:off x="1681119" y="2525620"/>
              <a:ext cx="1676399" cy="1424304"/>
              <a:chOff x="1681119" y="2525620"/>
              <a:chExt cx="1676399" cy="1424304"/>
            </a:xfrm>
          </p:grpSpPr>
          <p:pic>
            <p:nvPicPr>
              <p:cNvPr id="6" name="Graphic 5">
                <a:extLst>
                  <a:ext uri="{FF2B5EF4-FFF2-40B4-BE49-F238E27FC236}">
                    <a16:creationId xmlns:a16="http://schemas.microsoft.com/office/drawing/2014/main" id="{5B64C641-754D-AC52-A23D-E41787F2E3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74087" y="2525620"/>
                <a:ext cx="524136" cy="420645"/>
              </a:xfrm>
              <a:prstGeom prst="rect">
                <a:avLst/>
              </a:prstGeom>
            </p:spPr>
          </p:pic>
          <p:sp>
            <p:nvSpPr>
              <p:cNvPr id="18" name="TextBox 17">
                <a:extLst>
                  <a:ext uri="{FF2B5EF4-FFF2-40B4-BE49-F238E27FC236}">
                    <a16:creationId xmlns:a16="http://schemas.microsoft.com/office/drawing/2014/main" id="{D7467BEE-115B-E8EA-2222-2703F64F56A7}"/>
                  </a:ext>
                </a:extLst>
              </p:cNvPr>
              <p:cNvSpPr txBox="1"/>
              <p:nvPr/>
            </p:nvSpPr>
            <p:spPr>
              <a:xfrm>
                <a:off x="1681119" y="3026594"/>
                <a:ext cx="1676399" cy="923330"/>
              </a:xfrm>
              <a:prstGeom prst="rect">
                <a:avLst/>
              </a:prstGeom>
              <a:noFill/>
            </p:spPr>
            <p:txBody>
              <a:bodyPr wrap="square">
                <a:spAutoFit/>
              </a:bodyPr>
              <a:lstStyle/>
              <a:p>
                <a:pPr marR="0" lvl="0" algn="ctr" defTabSz="914400" rtl="0" eaLnBrk="1" fontAlgn="auto" latinLnBrk="0" hangingPunct="1">
                  <a:spcBef>
                    <a:spcPts val="0"/>
                  </a:spcBef>
                  <a:spcAft>
                    <a:spcPts val="0"/>
                  </a:spcAft>
                  <a:buClrTx/>
                  <a:buSzTx/>
                  <a:tabLst/>
                  <a:defRPr/>
                </a:pPr>
                <a:r>
                  <a:rPr lang="en-US" sz="1800" dirty="0">
                    <a:solidFill>
                      <a:schemeClr val="bg1"/>
                    </a:solidFill>
                    <a:latin typeface="Montserrat" pitchFamily="34" charset="0"/>
                    <a:ea typeface="Montserrat" pitchFamily="34" charset="-122"/>
                    <a:cs typeface="Montserrat" pitchFamily="34" charset="-120"/>
                  </a:rPr>
                  <a:t>Makes parameters optional</a:t>
                </a:r>
              </a:p>
            </p:txBody>
          </p:sp>
        </p:grpSp>
      </p:grpSp>
      <p:grpSp>
        <p:nvGrpSpPr>
          <p:cNvPr id="30" name="Group 29">
            <a:extLst>
              <a:ext uri="{FF2B5EF4-FFF2-40B4-BE49-F238E27FC236}">
                <a16:creationId xmlns:a16="http://schemas.microsoft.com/office/drawing/2014/main" id="{F5BDDAC0-E297-800B-1557-5CE84CE64A00}"/>
              </a:ext>
            </a:extLst>
          </p:cNvPr>
          <p:cNvGrpSpPr/>
          <p:nvPr/>
        </p:nvGrpSpPr>
        <p:grpSpPr>
          <a:xfrm>
            <a:off x="4047067" y="2451100"/>
            <a:ext cx="1727200" cy="1727200"/>
            <a:chOff x="4047067" y="2451100"/>
            <a:chExt cx="1727200" cy="1727200"/>
          </a:xfrm>
        </p:grpSpPr>
        <p:sp>
          <p:nvSpPr>
            <p:cNvPr id="11" name="Rectangle: Rounded Corners 10">
              <a:extLst>
                <a:ext uri="{FF2B5EF4-FFF2-40B4-BE49-F238E27FC236}">
                  <a16:creationId xmlns:a16="http://schemas.microsoft.com/office/drawing/2014/main" id="{9673DF7E-6F0E-BBEB-5905-E097C102DC39}"/>
                </a:ext>
              </a:extLst>
            </p:cNvPr>
            <p:cNvSpPr/>
            <p:nvPr/>
          </p:nvSpPr>
          <p:spPr>
            <a:xfrm rot="2700000">
              <a:off x="4047067" y="2451100"/>
              <a:ext cx="1727200" cy="1727200"/>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1994333-9876-E023-1140-5D009D197287}"/>
                </a:ext>
              </a:extLst>
            </p:cNvPr>
            <p:cNvSpPr txBox="1"/>
            <p:nvPr/>
          </p:nvSpPr>
          <p:spPr>
            <a:xfrm>
              <a:off x="4073799" y="3026594"/>
              <a:ext cx="1676399" cy="923330"/>
            </a:xfrm>
            <a:prstGeom prst="rect">
              <a:avLst/>
            </a:prstGeom>
            <a:noFill/>
          </p:spPr>
          <p:txBody>
            <a:bodyPr wrap="square">
              <a:spAutoFit/>
            </a:bodyPr>
            <a:lstStyle/>
            <a:p>
              <a:pPr marR="0" lvl="0" algn="ctr" defTabSz="914400" rtl="0" eaLnBrk="1" fontAlgn="auto" latinLnBrk="0" hangingPunct="1">
                <a:spcBef>
                  <a:spcPts val="0"/>
                </a:spcBef>
                <a:spcAft>
                  <a:spcPts val="0"/>
                </a:spcAft>
                <a:buClrTx/>
                <a:buSzTx/>
                <a:tabLst/>
                <a:defRPr/>
              </a:pPr>
              <a:r>
                <a:rPr lang="en-US" sz="1800" dirty="0">
                  <a:solidFill>
                    <a:schemeClr val="bg1"/>
                  </a:solidFill>
                  <a:latin typeface="Montserrat" pitchFamily="34" charset="0"/>
                  <a:ea typeface="Montserrat" pitchFamily="34" charset="-122"/>
                  <a:cs typeface="Montserrat" pitchFamily="34" charset="-120"/>
                </a:rPr>
                <a:t>Provides sensible defaults</a:t>
              </a:r>
            </a:p>
          </p:txBody>
        </p:sp>
        <p:pic>
          <p:nvPicPr>
            <p:cNvPr id="23" name="Graphic 22">
              <a:extLst>
                <a:ext uri="{FF2B5EF4-FFF2-40B4-BE49-F238E27FC236}">
                  <a16:creationId xmlns:a16="http://schemas.microsoft.com/office/drawing/2014/main" id="{3BCEC4AF-3243-AC22-11B0-9CFA1DBCD87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00934" y="2516534"/>
              <a:ext cx="427930" cy="427930"/>
            </a:xfrm>
            <a:prstGeom prst="rect">
              <a:avLst/>
            </a:prstGeom>
          </p:spPr>
        </p:pic>
      </p:grpSp>
      <p:grpSp>
        <p:nvGrpSpPr>
          <p:cNvPr id="29" name="Group 28">
            <a:extLst>
              <a:ext uri="{FF2B5EF4-FFF2-40B4-BE49-F238E27FC236}">
                <a16:creationId xmlns:a16="http://schemas.microsoft.com/office/drawing/2014/main" id="{3F6E2968-AA15-B110-DD85-BB01B0E9EA3C}"/>
              </a:ext>
            </a:extLst>
          </p:cNvPr>
          <p:cNvGrpSpPr/>
          <p:nvPr/>
        </p:nvGrpSpPr>
        <p:grpSpPr>
          <a:xfrm>
            <a:off x="6448699" y="2481901"/>
            <a:ext cx="1676399" cy="1191024"/>
            <a:chOff x="6448699" y="2481901"/>
            <a:chExt cx="1676399" cy="1191024"/>
          </a:xfrm>
        </p:grpSpPr>
        <p:sp>
          <p:nvSpPr>
            <p:cNvPr id="20" name="TextBox 19">
              <a:extLst>
                <a:ext uri="{FF2B5EF4-FFF2-40B4-BE49-F238E27FC236}">
                  <a16:creationId xmlns:a16="http://schemas.microsoft.com/office/drawing/2014/main" id="{37CFD611-028E-D42C-F281-31459BEDFB30}"/>
                </a:ext>
              </a:extLst>
            </p:cNvPr>
            <p:cNvSpPr txBox="1"/>
            <p:nvPr/>
          </p:nvSpPr>
          <p:spPr>
            <a:xfrm>
              <a:off x="6448699" y="3026594"/>
              <a:ext cx="1676399" cy="646331"/>
            </a:xfrm>
            <a:prstGeom prst="rect">
              <a:avLst/>
            </a:prstGeom>
            <a:noFill/>
          </p:spPr>
          <p:txBody>
            <a:bodyPr wrap="square">
              <a:spAutoFit/>
            </a:bodyPr>
            <a:lstStyle/>
            <a:p>
              <a:pPr marR="0" lvl="0" algn="ctr" defTabSz="914400" rtl="0" eaLnBrk="1" fontAlgn="auto" latinLnBrk="0" hangingPunct="1">
                <a:spcBef>
                  <a:spcPts val="0"/>
                </a:spcBef>
                <a:spcAft>
                  <a:spcPts val="0"/>
                </a:spcAft>
                <a:buClrTx/>
                <a:buSzTx/>
                <a:tabLst/>
                <a:defRPr/>
              </a:pPr>
              <a:r>
                <a:rPr lang="en-US" sz="1800" dirty="0">
                  <a:solidFill>
                    <a:schemeClr val="bg1"/>
                  </a:solidFill>
                  <a:latin typeface="Montserrat" pitchFamily="34" charset="0"/>
                  <a:ea typeface="Montserrat" pitchFamily="34" charset="-122"/>
                  <a:cs typeface="Montserrat" pitchFamily="34" charset="-120"/>
                </a:rPr>
                <a:t>Reduces errors</a:t>
              </a:r>
            </a:p>
          </p:txBody>
        </p:sp>
        <p:pic>
          <p:nvPicPr>
            <p:cNvPr id="25" name="Graphic 24">
              <a:extLst>
                <a:ext uri="{FF2B5EF4-FFF2-40B4-BE49-F238E27FC236}">
                  <a16:creationId xmlns:a16="http://schemas.microsoft.com/office/drawing/2014/main" id="{72482664-381D-EF37-4956-9F8A47E42F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70740" y="2481901"/>
              <a:ext cx="463521" cy="471797"/>
            </a:xfrm>
            <a:prstGeom prst="rect">
              <a:avLst/>
            </a:prstGeom>
          </p:spPr>
        </p:pic>
      </p:grpSp>
      <p:grpSp>
        <p:nvGrpSpPr>
          <p:cNvPr id="28" name="Group 27">
            <a:extLst>
              <a:ext uri="{FF2B5EF4-FFF2-40B4-BE49-F238E27FC236}">
                <a16:creationId xmlns:a16="http://schemas.microsoft.com/office/drawing/2014/main" id="{B322CD70-53CA-A669-027A-692042A1F70A}"/>
              </a:ext>
            </a:extLst>
          </p:cNvPr>
          <p:cNvGrpSpPr/>
          <p:nvPr/>
        </p:nvGrpSpPr>
        <p:grpSpPr>
          <a:xfrm>
            <a:off x="8788402" y="2451100"/>
            <a:ext cx="1727200" cy="1727200"/>
            <a:chOff x="8788402" y="2451100"/>
            <a:chExt cx="1727200" cy="1727200"/>
          </a:xfrm>
        </p:grpSpPr>
        <p:sp>
          <p:nvSpPr>
            <p:cNvPr id="15" name="Rectangle: Rounded Corners 14">
              <a:extLst>
                <a:ext uri="{FF2B5EF4-FFF2-40B4-BE49-F238E27FC236}">
                  <a16:creationId xmlns:a16="http://schemas.microsoft.com/office/drawing/2014/main" id="{76DD3825-2004-71C8-662E-BCDA9D1E99E8}"/>
                </a:ext>
              </a:extLst>
            </p:cNvPr>
            <p:cNvSpPr/>
            <p:nvPr/>
          </p:nvSpPr>
          <p:spPr>
            <a:xfrm rot="2700000">
              <a:off x="8788402" y="2451100"/>
              <a:ext cx="1727200" cy="172720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165E9C3-E592-21D4-0A23-8E97E7F2E8BF}"/>
                </a:ext>
              </a:extLst>
            </p:cNvPr>
            <p:cNvSpPr txBox="1"/>
            <p:nvPr/>
          </p:nvSpPr>
          <p:spPr>
            <a:xfrm>
              <a:off x="8810899" y="3026594"/>
              <a:ext cx="1676399" cy="923330"/>
            </a:xfrm>
            <a:prstGeom prst="rect">
              <a:avLst/>
            </a:prstGeom>
            <a:noFill/>
          </p:spPr>
          <p:txBody>
            <a:bodyPr wrap="square">
              <a:spAutoFit/>
            </a:bodyPr>
            <a:lstStyle/>
            <a:p>
              <a:pPr marR="0" lvl="0" algn="ctr" defTabSz="914400" rtl="0" eaLnBrk="1" fontAlgn="auto" latinLnBrk="0" hangingPunct="1">
                <a:spcBef>
                  <a:spcPts val="0"/>
                </a:spcBef>
                <a:spcAft>
                  <a:spcPts val="0"/>
                </a:spcAft>
                <a:buClrTx/>
                <a:buSzTx/>
                <a:tabLst/>
                <a:defRPr/>
              </a:pPr>
              <a:r>
                <a:rPr lang="en-US" sz="1800" dirty="0">
                  <a:solidFill>
                    <a:schemeClr val="bg1"/>
                  </a:solidFill>
                  <a:latin typeface="Montserrat" pitchFamily="34" charset="0"/>
                  <a:ea typeface="Montserrat" pitchFamily="34" charset="-122"/>
                  <a:cs typeface="Montserrat" pitchFamily="34" charset="-120"/>
                </a:rPr>
                <a:t>Simplifies function calls</a:t>
              </a:r>
            </a:p>
          </p:txBody>
        </p:sp>
        <p:pic>
          <p:nvPicPr>
            <p:cNvPr id="27" name="Graphic 26">
              <a:extLst>
                <a:ext uri="{FF2B5EF4-FFF2-40B4-BE49-F238E27FC236}">
                  <a16:creationId xmlns:a16="http://schemas.microsoft.com/office/drawing/2014/main" id="{20620EC9-6AC4-9E00-FD19-4EDFA872037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61554" y="2498840"/>
              <a:ext cx="580892" cy="514121"/>
            </a:xfrm>
            <a:prstGeom prst="rect">
              <a:avLst/>
            </a:prstGeom>
          </p:spPr>
        </p:pic>
      </p:grpSp>
    </p:spTree>
    <p:extLst>
      <p:ext uri="{BB962C8B-B14F-4D97-AF65-F5344CB8AC3E}">
        <p14:creationId xmlns:p14="http://schemas.microsoft.com/office/powerpoint/2010/main" val="22705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1000"/>
                                        <p:tgtEl>
                                          <p:spTgt spid="2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childTnLst>
                                </p:cTn>
                              </p:par>
                              <p:par>
                                <p:cTn id="14" presetID="10" presetClass="entr" presetSubtype="0" fill="hold" nodeType="withEffect">
                                  <p:stCondLst>
                                    <p:cond delay="5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1000"/>
                                        <p:tgtEl>
                                          <p:spTgt spid="30"/>
                                        </p:tgtEl>
                                      </p:cBhvr>
                                    </p:animEffect>
                                  </p:childTnLst>
                                </p:cTn>
                              </p:par>
                              <p:par>
                                <p:cTn id="17" presetID="10" presetClass="entr" presetSubtype="0" fill="hold" nodeType="withEffect">
                                  <p:stCondLst>
                                    <p:cond delay="50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DD27-166C-5644-5284-4C407F568C6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6792EBF-195D-C499-50A5-6B4A8A58FEF8}"/>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a:t>
            </a:r>
            <a:r>
              <a:rPr lang="en-US" dirty="0" err="1">
                <a:latin typeface="Montserrat Bold" pitchFamily="34" charset="0"/>
                <a:ea typeface="Montserrat Bold" pitchFamily="34" charset="-122"/>
                <a:cs typeface="Montserrat Bold" pitchFamily="34" charset="-120"/>
              </a:rPr>
              <a:t>args</a:t>
            </a:r>
            <a:r>
              <a:rPr lang="en-US" dirty="0">
                <a:latin typeface="Montserrat Bold" pitchFamily="34" charset="0"/>
                <a:ea typeface="Montserrat Bold" pitchFamily="34" charset="-122"/>
                <a:cs typeface="Montserrat Bold" pitchFamily="34" charset="-120"/>
              </a:rPr>
              <a:t> (Variable Positional Arguments)</a:t>
            </a:r>
            <a:br>
              <a:rPr lang="en-US" dirty="0"/>
            </a:br>
            <a:endParaRPr lang="en-US" dirty="0"/>
          </a:p>
        </p:txBody>
      </p:sp>
      <p:grpSp>
        <p:nvGrpSpPr>
          <p:cNvPr id="2" name="Group 1">
            <a:extLst>
              <a:ext uri="{FF2B5EF4-FFF2-40B4-BE49-F238E27FC236}">
                <a16:creationId xmlns:a16="http://schemas.microsoft.com/office/drawing/2014/main" id="{2CBF544E-7576-A4B6-18CF-1FD66D0D24DA}"/>
              </a:ext>
            </a:extLst>
          </p:cNvPr>
          <p:cNvGrpSpPr/>
          <p:nvPr/>
        </p:nvGrpSpPr>
        <p:grpSpPr>
          <a:xfrm>
            <a:off x="2900896" y="1546934"/>
            <a:ext cx="6390209" cy="1484805"/>
            <a:chOff x="2584726" y="1590798"/>
            <a:chExt cx="6390209" cy="1484805"/>
          </a:xfrm>
        </p:grpSpPr>
        <p:grpSp>
          <p:nvGrpSpPr>
            <p:cNvPr id="4" name="Group 65">
              <a:extLst>
                <a:ext uri="{FF2B5EF4-FFF2-40B4-BE49-F238E27FC236}">
                  <a16:creationId xmlns:a16="http://schemas.microsoft.com/office/drawing/2014/main" id="{CCB3808E-E78F-E26E-D81A-E0F53641C6BE}"/>
                </a:ext>
              </a:extLst>
            </p:cNvPr>
            <p:cNvGrpSpPr/>
            <p:nvPr/>
          </p:nvGrpSpPr>
          <p:grpSpPr>
            <a:xfrm>
              <a:off x="2584726" y="1590798"/>
              <a:ext cx="6390209" cy="1484805"/>
              <a:chOff x="1938544" y="1193098"/>
              <a:chExt cx="4792657" cy="1113604"/>
            </a:xfrm>
          </p:grpSpPr>
          <p:sp>
            <p:nvSpPr>
              <p:cNvPr id="10" name="Round Same Side Corner Rectangle 43">
                <a:extLst>
                  <a:ext uri="{FF2B5EF4-FFF2-40B4-BE49-F238E27FC236}">
                    <a16:creationId xmlns:a16="http://schemas.microsoft.com/office/drawing/2014/main" id="{C32640F3-656A-2C2D-6840-54102BE3D260}"/>
                  </a:ext>
                </a:extLst>
              </p:cNvPr>
              <p:cNvSpPr/>
              <p:nvPr/>
            </p:nvSpPr>
            <p:spPr>
              <a:xfrm flipV="1">
                <a:off x="1938544" y="1598819"/>
                <a:ext cx="4792657" cy="707883"/>
              </a:xfrm>
              <a:prstGeom prst="round2SameRect">
                <a:avLst>
                  <a:gd name="adj1" fmla="val 8813"/>
                  <a:gd name="adj2" fmla="val 0"/>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11" name="Rectangle 10">
                <a:extLst>
                  <a:ext uri="{FF2B5EF4-FFF2-40B4-BE49-F238E27FC236}">
                    <a16:creationId xmlns:a16="http://schemas.microsoft.com/office/drawing/2014/main" id="{56C245ED-2F05-7261-8953-E482C631D003}"/>
                  </a:ext>
                </a:extLst>
              </p:cNvPr>
              <p:cNvSpPr/>
              <p:nvPr/>
            </p:nvSpPr>
            <p:spPr>
              <a:xfrm>
                <a:off x="1938544" y="1193098"/>
                <a:ext cx="4792657" cy="405724"/>
              </a:xfrm>
              <a:prstGeom prst="rect">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6" name="Text Placeholder 3">
              <a:extLst>
                <a:ext uri="{FF2B5EF4-FFF2-40B4-BE49-F238E27FC236}">
                  <a16:creationId xmlns:a16="http://schemas.microsoft.com/office/drawing/2014/main" id="{FA5EBD28-E4BC-0FD8-59F6-406701409DAB}"/>
                </a:ext>
              </a:extLst>
            </p:cNvPr>
            <p:cNvSpPr txBox="1">
              <a:spLocks/>
            </p:cNvSpPr>
            <p:nvPr/>
          </p:nvSpPr>
          <p:spPr>
            <a:xfrm>
              <a:off x="2757837" y="2326682"/>
              <a:ext cx="6025029" cy="553998"/>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dirty="0">
                  <a:solidFill>
                    <a:srgbClr val="25274D"/>
                  </a:solidFill>
                  <a:latin typeface="Montserrat" panose="00000500000000000000" pitchFamily="50" charset="0"/>
                  <a:cs typeface="+mj-cs"/>
                </a:rPr>
                <a:t>Double asterisk (**) collects multiple keyword arguments into a dictionary.</a:t>
              </a:r>
            </a:p>
          </p:txBody>
        </p:sp>
        <p:sp>
          <p:nvSpPr>
            <p:cNvPr id="7" name="Text Placeholder 3">
              <a:extLst>
                <a:ext uri="{FF2B5EF4-FFF2-40B4-BE49-F238E27FC236}">
                  <a16:creationId xmlns:a16="http://schemas.microsoft.com/office/drawing/2014/main" id="{1E6A769A-8415-DBC6-55FE-A6D2324E8A29}"/>
                </a:ext>
              </a:extLst>
            </p:cNvPr>
            <p:cNvSpPr txBox="1">
              <a:spLocks/>
            </p:cNvSpPr>
            <p:nvPr/>
          </p:nvSpPr>
          <p:spPr>
            <a:xfrm>
              <a:off x="3907411" y="1722781"/>
              <a:ext cx="3744838"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b="1" dirty="0">
                  <a:solidFill>
                    <a:schemeClr val="bg1"/>
                  </a:solidFill>
                  <a:latin typeface="Montserrat" panose="00000500000000000000" pitchFamily="50" charset="0"/>
                  <a:cs typeface="+mj-cs"/>
                </a:rPr>
                <a:t>Define with asterisk</a:t>
              </a:r>
            </a:p>
          </p:txBody>
        </p:sp>
      </p:grpSp>
      <p:grpSp>
        <p:nvGrpSpPr>
          <p:cNvPr id="12" name="Group 11">
            <a:extLst>
              <a:ext uri="{FF2B5EF4-FFF2-40B4-BE49-F238E27FC236}">
                <a16:creationId xmlns:a16="http://schemas.microsoft.com/office/drawing/2014/main" id="{1C112EE4-92E3-9216-18C8-9707226115F7}"/>
              </a:ext>
            </a:extLst>
          </p:cNvPr>
          <p:cNvGrpSpPr/>
          <p:nvPr/>
        </p:nvGrpSpPr>
        <p:grpSpPr>
          <a:xfrm>
            <a:off x="2900896" y="3279692"/>
            <a:ext cx="6390209" cy="1484805"/>
            <a:chOff x="1784716" y="2887806"/>
            <a:chExt cx="6390209" cy="1484805"/>
          </a:xfrm>
        </p:grpSpPr>
        <p:grpSp>
          <p:nvGrpSpPr>
            <p:cNvPr id="15" name="Group 14">
              <a:extLst>
                <a:ext uri="{FF2B5EF4-FFF2-40B4-BE49-F238E27FC236}">
                  <a16:creationId xmlns:a16="http://schemas.microsoft.com/office/drawing/2014/main" id="{F943B1F1-6E4A-C0AF-0B2C-2084F2E065B9}"/>
                </a:ext>
              </a:extLst>
            </p:cNvPr>
            <p:cNvGrpSpPr/>
            <p:nvPr/>
          </p:nvGrpSpPr>
          <p:grpSpPr>
            <a:xfrm>
              <a:off x="1784716" y="2887806"/>
              <a:ext cx="6390209" cy="1484805"/>
              <a:chOff x="2584726" y="1590798"/>
              <a:chExt cx="6390209" cy="1484805"/>
            </a:xfrm>
          </p:grpSpPr>
          <p:grpSp>
            <p:nvGrpSpPr>
              <p:cNvPr id="17" name="Group 65">
                <a:extLst>
                  <a:ext uri="{FF2B5EF4-FFF2-40B4-BE49-F238E27FC236}">
                    <a16:creationId xmlns:a16="http://schemas.microsoft.com/office/drawing/2014/main" id="{B7532E37-4A99-A2BB-E6D5-B724F8C78DC0}"/>
                  </a:ext>
                </a:extLst>
              </p:cNvPr>
              <p:cNvGrpSpPr/>
              <p:nvPr/>
            </p:nvGrpSpPr>
            <p:grpSpPr>
              <a:xfrm>
                <a:off x="2584726" y="1590798"/>
                <a:ext cx="6390209" cy="1484805"/>
                <a:chOff x="1938544" y="1193098"/>
                <a:chExt cx="4792657" cy="1113604"/>
              </a:xfrm>
            </p:grpSpPr>
            <p:sp>
              <p:nvSpPr>
                <p:cNvPr id="20" name="Round Same Side Corner Rectangle 43">
                  <a:extLst>
                    <a:ext uri="{FF2B5EF4-FFF2-40B4-BE49-F238E27FC236}">
                      <a16:creationId xmlns:a16="http://schemas.microsoft.com/office/drawing/2014/main" id="{36BED0A5-6926-9F1A-BFEF-628E20E4A326}"/>
                    </a:ext>
                  </a:extLst>
                </p:cNvPr>
                <p:cNvSpPr/>
                <p:nvPr/>
              </p:nvSpPr>
              <p:spPr>
                <a:xfrm flipV="1">
                  <a:off x="1938544" y="1598819"/>
                  <a:ext cx="4792657" cy="707883"/>
                </a:xfrm>
                <a:prstGeom prst="round2SameRect">
                  <a:avLst>
                    <a:gd name="adj1" fmla="val 8813"/>
                    <a:gd name="adj2" fmla="val 0"/>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21" name="Rectangle 20">
                  <a:extLst>
                    <a:ext uri="{FF2B5EF4-FFF2-40B4-BE49-F238E27FC236}">
                      <a16:creationId xmlns:a16="http://schemas.microsoft.com/office/drawing/2014/main" id="{24F630DB-965E-03B3-D2D5-1BE51806BC03}"/>
                    </a:ext>
                  </a:extLst>
                </p:cNvPr>
                <p:cNvSpPr/>
                <p:nvPr/>
              </p:nvSpPr>
              <p:spPr>
                <a:xfrm>
                  <a:off x="1938544" y="1193098"/>
                  <a:ext cx="4792657" cy="405724"/>
                </a:xfrm>
                <a:prstGeom prst="rect">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9" name="Text Placeholder 3">
                <a:extLst>
                  <a:ext uri="{FF2B5EF4-FFF2-40B4-BE49-F238E27FC236}">
                    <a16:creationId xmlns:a16="http://schemas.microsoft.com/office/drawing/2014/main" id="{EF34224C-0E9C-930E-EE20-87C4997C3D72}"/>
                  </a:ext>
                </a:extLst>
              </p:cNvPr>
              <p:cNvSpPr txBox="1">
                <a:spLocks/>
              </p:cNvSpPr>
              <p:nvPr/>
            </p:nvSpPr>
            <p:spPr>
              <a:xfrm>
                <a:off x="2757837" y="2326682"/>
                <a:ext cx="6025029" cy="553998"/>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dirty="0">
                    <a:solidFill>
                      <a:srgbClr val="25274D"/>
                    </a:solidFill>
                    <a:latin typeface="Montserrat" panose="00000500000000000000" pitchFamily="50" charset="0"/>
                    <a:cs typeface="+mj-cs"/>
                  </a:rPr>
                  <a:t>Functions can process an unspecified number of arguments</a:t>
                </a:r>
              </a:p>
            </p:txBody>
          </p:sp>
        </p:grpSp>
        <p:sp>
          <p:nvSpPr>
            <p:cNvPr id="14" name="Text Placeholder 3">
              <a:extLst>
                <a:ext uri="{FF2B5EF4-FFF2-40B4-BE49-F238E27FC236}">
                  <a16:creationId xmlns:a16="http://schemas.microsoft.com/office/drawing/2014/main" id="{247B225A-2ACB-9721-CBF4-8ABD43DCCFAA}"/>
                </a:ext>
              </a:extLst>
            </p:cNvPr>
            <p:cNvSpPr txBox="1">
              <a:spLocks/>
            </p:cNvSpPr>
            <p:nvPr/>
          </p:nvSpPr>
          <p:spPr>
            <a:xfrm>
              <a:off x="2323706" y="3019787"/>
              <a:ext cx="5312228"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b="1" dirty="0">
                  <a:solidFill>
                    <a:schemeClr val="bg1"/>
                  </a:solidFill>
                  <a:latin typeface="Montserrat" panose="00000500000000000000" pitchFamily="50" charset="0"/>
                  <a:cs typeface="+mj-cs"/>
                </a:rPr>
                <a:t>Pass any number of arguments</a:t>
              </a:r>
            </a:p>
          </p:txBody>
        </p:sp>
      </p:grpSp>
      <p:grpSp>
        <p:nvGrpSpPr>
          <p:cNvPr id="22" name="Group 21">
            <a:extLst>
              <a:ext uri="{FF2B5EF4-FFF2-40B4-BE49-F238E27FC236}">
                <a16:creationId xmlns:a16="http://schemas.microsoft.com/office/drawing/2014/main" id="{8B3D1673-E7D9-AC5C-F98C-9D0515E833FB}"/>
              </a:ext>
            </a:extLst>
          </p:cNvPr>
          <p:cNvGrpSpPr/>
          <p:nvPr/>
        </p:nvGrpSpPr>
        <p:grpSpPr>
          <a:xfrm>
            <a:off x="2900896" y="5012451"/>
            <a:ext cx="6390209" cy="1484805"/>
            <a:chOff x="1784716" y="4620565"/>
            <a:chExt cx="6390209" cy="1484805"/>
          </a:xfrm>
        </p:grpSpPr>
        <p:grpSp>
          <p:nvGrpSpPr>
            <p:cNvPr id="25" name="Group 24">
              <a:extLst>
                <a:ext uri="{FF2B5EF4-FFF2-40B4-BE49-F238E27FC236}">
                  <a16:creationId xmlns:a16="http://schemas.microsoft.com/office/drawing/2014/main" id="{533CA3F4-AFF9-DB99-6869-3A6A4C9E54AE}"/>
                </a:ext>
              </a:extLst>
            </p:cNvPr>
            <p:cNvGrpSpPr/>
            <p:nvPr/>
          </p:nvGrpSpPr>
          <p:grpSpPr>
            <a:xfrm>
              <a:off x="1784716" y="4620565"/>
              <a:ext cx="6390209" cy="1484805"/>
              <a:chOff x="2584726" y="1590798"/>
              <a:chExt cx="6390209" cy="1484805"/>
            </a:xfrm>
          </p:grpSpPr>
          <p:grpSp>
            <p:nvGrpSpPr>
              <p:cNvPr id="27" name="Group 65">
                <a:extLst>
                  <a:ext uri="{FF2B5EF4-FFF2-40B4-BE49-F238E27FC236}">
                    <a16:creationId xmlns:a16="http://schemas.microsoft.com/office/drawing/2014/main" id="{3A6B6274-C3FB-8E5F-D7BE-3DCC81930D21}"/>
                  </a:ext>
                </a:extLst>
              </p:cNvPr>
              <p:cNvGrpSpPr/>
              <p:nvPr/>
            </p:nvGrpSpPr>
            <p:grpSpPr>
              <a:xfrm>
                <a:off x="2584726" y="1590798"/>
                <a:ext cx="6390209" cy="1484805"/>
                <a:chOff x="1938544" y="1193098"/>
                <a:chExt cx="4792657" cy="1113604"/>
              </a:xfrm>
            </p:grpSpPr>
            <p:sp>
              <p:nvSpPr>
                <p:cNvPr id="30" name="Round Same Side Corner Rectangle 43">
                  <a:extLst>
                    <a:ext uri="{FF2B5EF4-FFF2-40B4-BE49-F238E27FC236}">
                      <a16:creationId xmlns:a16="http://schemas.microsoft.com/office/drawing/2014/main" id="{A17916D8-4FF2-3A8B-2212-81CDBC019009}"/>
                    </a:ext>
                  </a:extLst>
                </p:cNvPr>
                <p:cNvSpPr/>
                <p:nvPr/>
              </p:nvSpPr>
              <p:spPr>
                <a:xfrm flipV="1">
                  <a:off x="1938544" y="1598819"/>
                  <a:ext cx="4792657" cy="707883"/>
                </a:xfrm>
                <a:prstGeom prst="round2SameRect">
                  <a:avLst>
                    <a:gd name="adj1" fmla="val 8813"/>
                    <a:gd name="adj2" fmla="val 0"/>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31" name="Rectangle 30">
                  <a:extLst>
                    <a:ext uri="{FF2B5EF4-FFF2-40B4-BE49-F238E27FC236}">
                      <a16:creationId xmlns:a16="http://schemas.microsoft.com/office/drawing/2014/main" id="{3CC67B4B-A27E-5737-C29F-0EFBDA59F454}"/>
                    </a:ext>
                  </a:extLst>
                </p:cNvPr>
                <p:cNvSpPr/>
                <p:nvPr/>
              </p:nvSpPr>
              <p:spPr>
                <a:xfrm>
                  <a:off x="1938544" y="1193098"/>
                  <a:ext cx="4792657" cy="405724"/>
                </a:xfrm>
                <a:prstGeom prst="rect">
                  <a:avLst/>
                </a:prstGeom>
                <a:solidFill>
                  <a:srgbClr val="2964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29" name="Text Placeholder 3">
                <a:extLst>
                  <a:ext uri="{FF2B5EF4-FFF2-40B4-BE49-F238E27FC236}">
                    <a16:creationId xmlns:a16="http://schemas.microsoft.com/office/drawing/2014/main" id="{1740D4D9-8B74-311F-9686-7F477BEFB439}"/>
                  </a:ext>
                </a:extLst>
              </p:cNvPr>
              <p:cNvSpPr txBox="1">
                <a:spLocks/>
              </p:cNvSpPr>
              <p:nvPr/>
            </p:nvSpPr>
            <p:spPr>
              <a:xfrm>
                <a:off x="2757837" y="2465182"/>
                <a:ext cx="6025029"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dirty="0">
                    <a:solidFill>
                      <a:srgbClr val="25274D"/>
                    </a:solidFill>
                    <a:latin typeface="Montserrat" panose="00000500000000000000" pitchFamily="50" charset="0"/>
                    <a:cs typeface="+mj-cs"/>
                  </a:rPr>
                  <a:t>Inside, </a:t>
                </a:r>
                <a:r>
                  <a:rPr lang="en-US" sz="1800" dirty="0" err="1">
                    <a:solidFill>
                      <a:srgbClr val="25274D"/>
                    </a:solidFill>
                    <a:latin typeface="Montserrat" panose="00000500000000000000" pitchFamily="50" charset="0"/>
                    <a:cs typeface="+mj-cs"/>
                  </a:rPr>
                  <a:t>args</a:t>
                </a:r>
                <a:r>
                  <a:rPr lang="en-US" sz="1800" dirty="0">
                    <a:solidFill>
                      <a:srgbClr val="25274D"/>
                    </a:solidFill>
                    <a:latin typeface="Montserrat" panose="00000500000000000000" pitchFamily="50" charset="0"/>
                    <a:cs typeface="+mj-cs"/>
                  </a:rPr>
                  <a:t> is a tuple of all passed values.</a:t>
                </a:r>
              </a:p>
            </p:txBody>
          </p:sp>
        </p:grpSp>
        <p:sp>
          <p:nvSpPr>
            <p:cNvPr id="24" name="Text Placeholder 3">
              <a:extLst>
                <a:ext uri="{FF2B5EF4-FFF2-40B4-BE49-F238E27FC236}">
                  <a16:creationId xmlns:a16="http://schemas.microsoft.com/office/drawing/2014/main" id="{B69404C4-AA18-1836-464A-93B09C544C2C}"/>
                </a:ext>
              </a:extLst>
            </p:cNvPr>
            <p:cNvSpPr txBox="1">
              <a:spLocks/>
            </p:cNvSpPr>
            <p:nvPr/>
          </p:nvSpPr>
          <p:spPr>
            <a:xfrm>
              <a:off x="3107401" y="4752547"/>
              <a:ext cx="3744838"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b="1" dirty="0">
                  <a:solidFill>
                    <a:schemeClr val="bg1"/>
                  </a:solidFill>
                  <a:latin typeface="Montserrat" panose="00000500000000000000" pitchFamily="50" charset="0"/>
                  <a:cs typeface="+mj-cs"/>
                </a:rPr>
                <a:t>Access as a tuple </a:t>
              </a:r>
            </a:p>
          </p:txBody>
        </p:sp>
      </p:grpSp>
    </p:spTree>
    <p:extLst>
      <p:ext uri="{BB962C8B-B14F-4D97-AF65-F5344CB8AC3E}">
        <p14:creationId xmlns:p14="http://schemas.microsoft.com/office/powerpoint/2010/main" val="54868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5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childTnLst>
                                </p:cTn>
                              </p:par>
                              <p:par>
                                <p:cTn id="14" presetID="10" presetClass="entr" presetSubtype="0" fill="hold" nodeType="withEffect">
                                  <p:stCondLst>
                                    <p:cond delay="5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5C89E-A148-3D17-D0E6-AE018A63BFF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7D0112A-A9E9-5A6C-DAF6-A05E48B1C756}"/>
              </a:ext>
            </a:extLst>
          </p:cNvPr>
          <p:cNvSpPr>
            <a:spLocks noGrp="1"/>
          </p:cNvSpPr>
          <p:nvPr>
            <p:ph type="title"/>
          </p:nvPr>
        </p:nvSpPr>
        <p:spPr/>
        <p:txBody>
          <a:bodyPr/>
          <a:lstStyle/>
          <a:p>
            <a:pPr>
              <a:lnSpc>
                <a:spcPts val="4042"/>
              </a:lnSpc>
            </a:pPr>
            <a:r>
              <a:rPr lang="en-US" dirty="0">
                <a:latin typeface="Montserrat Bold" pitchFamily="34" charset="0"/>
                <a:ea typeface="Montserrat Bold" pitchFamily="34" charset="-122"/>
                <a:cs typeface="Montserrat Bold" pitchFamily="34" charset="-120"/>
              </a:rPr>
              <a:t>*</a:t>
            </a:r>
            <a:r>
              <a:rPr lang="en-US" dirty="0" err="1">
                <a:latin typeface="Montserrat Bold" pitchFamily="34" charset="0"/>
                <a:ea typeface="Montserrat Bold" pitchFamily="34" charset="-122"/>
                <a:cs typeface="Montserrat Bold" pitchFamily="34" charset="-120"/>
              </a:rPr>
              <a:t>args</a:t>
            </a:r>
            <a:r>
              <a:rPr lang="en-US" dirty="0">
                <a:latin typeface="Montserrat Bold" pitchFamily="34" charset="0"/>
                <a:ea typeface="Montserrat Bold" pitchFamily="34" charset="-122"/>
                <a:cs typeface="Montserrat Bold" pitchFamily="34" charset="-120"/>
              </a:rPr>
              <a:t> (Variable Positional Arguments)</a:t>
            </a:r>
            <a:br>
              <a:rPr lang="en-US" dirty="0"/>
            </a:br>
            <a:endParaRPr lang="en-US" dirty="0"/>
          </a:p>
        </p:txBody>
      </p:sp>
      <p:sp>
        <p:nvSpPr>
          <p:cNvPr id="2" name="Text Placeholder 1">
            <a:extLst>
              <a:ext uri="{FF2B5EF4-FFF2-40B4-BE49-F238E27FC236}">
                <a16:creationId xmlns:a16="http://schemas.microsoft.com/office/drawing/2014/main" id="{247F5102-EB7F-C848-32DD-8750B11EB184}"/>
              </a:ext>
            </a:extLst>
          </p:cNvPr>
          <p:cNvSpPr>
            <a:spLocks noGrp="1"/>
          </p:cNvSpPr>
          <p:nvPr>
            <p:ph type="body" sz="quarter" idx="10"/>
          </p:nvPr>
        </p:nvSpPr>
        <p:spPr/>
        <p:txBody>
          <a:bodyPr/>
          <a:lstStyle/>
          <a:p>
            <a:r>
              <a:rPr lang="en-GB" dirty="0"/>
              <a:t>Example</a:t>
            </a:r>
          </a:p>
        </p:txBody>
      </p:sp>
      <p:grpSp>
        <p:nvGrpSpPr>
          <p:cNvPr id="4" name="Group 3">
            <a:extLst>
              <a:ext uri="{FF2B5EF4-FFF2-40B4-BE49-F238E27FC236}">
                <a16:creationId xmlns:a16="http://schemas.microsoft.com/office/drawing/2014/main" id="{9205FCCE-C396-150D-A802-14304B4DDC95}"/>
              </a:ext>
            </a:extLst>
          </p:cNvPr>
          <p:cNvGrpSpPr/>
          <p:nvPr/>
        </p:nvGrpSpPr>
        <p:grpSpPr>
          <a:xfrm>
            <a:off x="3118022" y="2287202"/>
            <a:ext cx="5955956" cy="2235371"/>
            <a:chOff x="2817341" y="2287202"/>
            <a:chExt cx="5955956" cy="2235371"/>
          </a:xfrm>
        </p:grpSpPr>
        <p:sp>
          <p:nvSpPr>
            <p:cNvPr id="3" name="Rectangle: Rounded Corners 2">
              <a:extLst>
                <a:ext uri="{FF2B5EF4-FFF2-40B4-BE49-F238E27FC236}">
                  <a16:creationId xmlns:a16="http://schemas.microsoft.com/office/drawing/2014/main" id="{F3807B61-C390-8EED-7112-A1B656B609FF}"/>
                </a:ext>
              </a:extLst>
            </p:cNvPr>
            <p:cNvSpPr/>
            <p:nvPr/>
          </p:nvSpPr>
          <p:spPr>
            <a:xfrm>
              <a:off x="2817341" y="2287202"/>
              <a:ext cx="5955956" cy="2235371"/>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4D6C0C6D-CDCD-2414-4DCE-24FEF5DF2AF6}"/>
                </a:ext>
              </a:extLst>
            </p:cNvPr>
            <p:cNvPicPr>
              <a:picLocks noChangeAspect="1"/>
            </p:cNvPicPr>
            <p:nvPr/>
          </p:nvPicPr>
          <p:blipFill>
            <a:blip r:embed="rId3"/>
            <a:stretch>
              <a:fillRect/>
            </a:stretch>
          </p:blipFill>
          <p:spPr>
            <a:xfrm>
              <a:off x="3024818" y="2521461"/>
              <a:ext cx="5548364" cy="1815078"/>
            </a:xfrm>
            <a:prstGeom prst="rect">
              <a:avLst/>
            </a:prstGeom>
          </p:spPr>
        </p:pic>
      </p:grpSp>
    </p:spTree>
    <p:extLst>
      <p:ext uri="{BB962C8B-B14F-4D97-AF65-F5344CB8AC3E}">
        <p14:creationId xmlns:p14="http://schemas.microsoft.com/office/powerpoint/2010/main" val="280733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68DD0-507D-D1D0-CB9C-A774F365AA3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F09EC60-F1B5-FF4F-8558-CA4E50FFF255}"/>
              </a:ext>
            </a:extLst>
          </p:cNvPr>
          <p:cNvSpPr>
            <a:spLocks noGrp="1"/>
          </p:cNvSpPr>
          <p:nvPr>
            <p:ph type="title"/>
          </p:nvPr>
        </p:nvSpPr>
        <p:spPr/>
        <p:txBody>
          <a:bodyPr/>
          <a:lstStyle/>
          <a:p>
            <a:pPr>
              <a:lnSpc>
                <a:spcPts val="3583"/>
              </a:lnSpc>
            </a:pPr>
            <a:r>
              <a:rPr lang="en-US" dirty="0">
                <a:latin typeface="Montserrat Bold" pitchFamily="34" charset="0"/>
                <a:ea typeface="Montserrat Bold" pitchFamily="34" charset="-122"/>
                <a:cs typeface="Montserrat Bold" pitchFamily="34" charset="-120"/>
              </a:rPr>
              <a:t>**</a:t>
            </a:r>
            <a:r>
              <a:rPr lang="en-US" dirty="0" err="1">
                <a:latin typeface="Montserrat Bold" pitchFamily="34" charset="0"/>
                <a:ea typeface="Montserrat Bold" pitchFamily="34" charset="-122"/>
                <a:cs typeface="Montserrat Bold" pitchFamily="34" charset="-120"/>
              </a:rPr>
              <a:t>kwargs</a:t>
            </a:r>
            <a:r>
              <a:rPr lang="en-US" dirty="0">
                <a:latin typeface="Montserrat Bold" pitchFamily="34" charset="0"/>
                <a:ea typeface="Montserrat Bold" pitchFamily="34" charset="-122"/>
                <a:cs typeface="Montserrat Bold" pitchFamily="34" charset="-120"/>
              </a:rPr>
              <a:t> (Variable Keyword Arguments)</a:t>
            </a:r>
            <a:endParaRPr lang="en-US" dirty="0"/>
          </a:p>
        </p:txBody>
      </p:sp>
      <p:sp>
        <p:nvSpPr>
          <p:cNvPr id="3" name="TextBox 2">
            <a:extLst>
              <a:ext uri="{FF2B5EF4-FFF2-40B4-BE49-F238E27FC236}">
                <a16:creationId xmlns:a16="http://schemas.microsoft.com/office/drawing/2014/main" id="{541267B7-257D-EFA5-3323-098B7587E5E7}"/>
              </a:ext>
            </a:extLst>
          </p:cNvPr>
          <p:cNvSpPr txBox="1"/>
          <p:nvPr/>
        </p:nvSpPr>
        <p:spPr>
          <a:xfrm>
            <a:off x="1754666" y="2083635"/>
            <a:ext cx="9216067" cy="323165"/>
          </a:xfrm>
          <a:prstGeom prst="rect">
            <a:avLst/>
          </a:prstGeom>
          <a:noFill/>
        </p:spPr>
        <p:txBody>
          <a:bodyPr wrap="square">
            <a:spAutoFit/>
          </a:bodyPr>
          <a:lstStyle/>
          <a:p>
            <a:pPr>
              <a:lnSpc>
                <a:spcPts val="1833"/>
              </a:lnSpc>
            </a:pPr>
            <a:r>
              <a:rPr lang="en-US" sz="1800" dirty="0">
                <a:solidFill>
                  <a:srgbClr val="25274D"/>
                </a:solidFill>
                <a:latin typeface="Montserrat" pitchFamily="34" charset="0"/>
                <a:ea typeface="Montserrat" pitchFamily="34" charset="-122"/>
                <a:cs typeface="Montserrat" pitchFamily="34" charset="-120"/>
              </a:rPr>
              <a:t>Use double asterisks (**) to collect keyword arguments into a dictionary:</a:t>
            </a:r>
            <a:endParaRPr lang="en-US" sz="1800" dirty="0">
              <a:solidFill>
                <a:srgbClr val="25274D"/>
              </a:solidFill>
            </a:endParaRPr>
          </a:p>
        </p:txBody>
      </p:sp>
      <p:grpSp>
        <p:nvGrpSpPr>
          <p:cNvPr id="4" name="Group 3">
            <a:extLst>
              <a:ext uri="{FF2B5EF4-FFF2-40B4-BE49-F238E27FC236}">
                <a16:creationId xmlns:a16="http://schemas.microsoft.com/office/drawing/2014/main" id="{C965B598-2F5C-EB9B-74E3-457252971DA0}"/>
              </a:ext>
            </a:extLst>
          </p:cNvPr>
          <p:cNvGrpSpPr/>
          <p:nvPr/>
        </p:nvGrpSpPr>
        <p:grpSpPr>
          <a:xfrm>
            <a:off x="2325902" y="2633190"/>
            <a:ext cx="7540196" cy="2775423"/>
            <a:chOff x="2308139" y="2633190"/>
            <a:chExt cx="7540196" cy="2775423"/>
          </a:xfrm>
        </p:grpSpPr>
        <p:sp>
          <p:nvSpPr>
            <p:cNvPr id="2" name="Rectangle: Rounded Corners 1">
              <a:extLst>
                <a:ext uri="{FF2B5EF4-FFF2-40B4-BE49-F238E27FC236}">
                  <a16:creationId xmlns:a16="http://schemas.microsoft.com/office/drawing/2014/main" id="{66247843-D4C4-6DCA-4E04-9775FE036A8E}"/>
                </a:ext>
              </a:extLst>
            </p:cNvPr>
            <p:cNvSpPr/>
            <p:nvPr/>
          </p:nvSpPr>
          <p:spPr>
            <a:xfrm>
              <a:off x="2308139" y="2633190"/>
              <a:ext cx="7540196" cy="277542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C8D3D91F-5819-2013-AD77-B3C5BF5C1885}"/>
                </a:ext>
              </a:extLst>
            </p:cNvPr>
            <p:cNvPicPr>
              <a:picLocks noChangeAspect="1"/>
            </p:cNvPicPr>
            <p:nvPr/>
          </p:nvPicPr>
          <p:blipFill>
            <a:blip r:embed="rId3"/>
            <a:stretch>
              <a:fillRect/>
            </a:stretch>
          </p:blipFill>
          <p:spPr>
            <a:xfrm>
              <a:off x="2514990" y="2866482"/>
              <a:ext cx="7126494" cy="2308839"/>
            </a:xfrm>
            <a:prstGeom prst="rect">
              <a:avLst/>
            </a:prstGeom>
          </p:spPr>
        </p:pic>
      </p:grpSp>
    </p:spTree>
    <p:extLst>
      <p:ext uri="{BB962C8B-B14F-4D97-AF65-F5344CB8AC3E}">
        <p14:creationId xmlns:p14="http://schemas.microsoft.com/office/powerpoint/2010/main" val="216524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C120E-9DEB-6D4D-EFB4-E879BBD327D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0E4AACA-FABA-74F6-959E-1C42BD9A89EC}"/>
              </a:ext>
            </a:extLst>
          </p:cNvPr>
          <p:cNvSpPr>
            <a:spLocks noGrp="1"/>
          </p:cNvSpPr>
          <p:nvPr>
            <p:ph type="title"/>
          </p:nvPr>
        </p:nvSpPr>
        <p:spPr/>
        <p:txBody>
          <a:bodyPr/>
          <a:lstStyle/>
          <a:p>
            <a:pPr>
              <a:lnSpc>
                <a:spcPts val="4291"/>
              </a:lnSpc>
            </a:pPr>
            <a:r>
              <a:rPr lang="en-US" dirty="0">
                <a:latin typeface="Montserrat Bold" pitchFamily="34" charset="0"/>
                <a:ea typeface="Montserrat Bold" pitchFamily="34" charset="-122"/>
                <a:cs typeface="Montserrat Bold" pitchFamily="34" charset="-120"/>
              </a:rPr>
              <a:t>Using if __name__ == "__main__"</a:t>
            </a:r>
            <a:endParaRPr lang="en-US" dirty="0"/>
          </a:p>
        </p:txBody>
      </p:sp>
      <p:sp>
        <p:nvSpPr>
          <p:cNvPr id="3" name="TextBox 2">
            <a:extLst>
              <a:ext uri="{FF2B5EF4-FFF2-40B4-BE49-F238E27FC236}">
                <a16:creationId xmlns:a16="http://schemas.microsoft.com/office/drawing/2014/main" id="{7B9AD671-A71F-71F2-368E-AF15B21530BC}"/>
              </a:ext>
            </a:extLst>
          </p:cNvPr>
          <p:cNvSpPr txBox="1"/>
          <p:nvPr/>
        </p:nvSpPr>
        <p:spPr>
          <a:xfrm>
            <a:off x="2165314" y="1752757"/>
            <a:ext cx="7791450" cy="2246769"/>
          </a:xfrm>
          <a:prstGeom prst="rect">
            <a:avLst/>
          </a:prstGeom>
          <a:noFill/>
        </p:spPr>
        <p:txBody>
          <a:bodyPr wrap="square">
            <a:spAutoFit/>
          </a:bodyPr>
          <a:lstStyle/>
          <a:p>
            <a:pPr marL="285750" indent="-285750">
              <a:lnSpc>
                <a:spcPts val="2125"/>
              </a:lnSpc>
              <a:buFont typeface="Arial" panose="020B0604020202020204" pitchFamily="34" charset="0"/>
              <a:buChar char="•"/>
            </a:pPr>
            <a:r>
              <a:rPr lang="en-US" sz="1800" b="1" dirty="0">
                <a:solidFill>
                  <a:srgbClr val="25274D"/>
                </a:solidFill>
                <a:latin typeface="Montserrat" panose="00000500000000000000" pitchFamily="2" charset="0"/>
                <a:ea typeface="Montserrat Bold" pitchFamily="34" charset="-122"/>
                <a:cs typeface="Montserrat Bold" pitchFamily="34" charset="-120"/>
              </a:rPr>
              <a:t>Run code conditionally: </a:t>
            </a:r>
            <a:r>
              <a:rPr lang="en-US" dirty="0">
                <a:solidFill>
                  <a:srgbClr val="25274D"/>
                </a:solidFill>
                <a:latin typeface="Montserrat" panose="00000500000000000000" pitchFamily="2" charset="0"/>
              </a:rPr>
              <a:t>Runs specific code blocks only if the script is the main program</a:t>
            </a:r>
          </a:p>
          <a:p>
            <a:pPr marL="285750" indent="-285750">
              <a:lnSpc>
                <a:spcPts val="2125"/>
              </a:lnSpc>
              <a:buFont typeface="Arial" panose="020B0604020202020204" pitchFamily="34" charset="0"/>
              <a:buChar char="•"/>
            </a:pPr>
            <a:endParaRPr lang="en-US" sz="1800" dirty="0">
              <a:solidFill>
                <a:srgbClr val="25274D"/>
              </a:solidFill>
              <a:latin typeface="Montserrat" panose="00000500000000000000" pitchFamily="2" charset="0"/>
            </a:endParaRPr>
          </a:p>
          <a:p>
            <a:pPr marL="285750" indent="-285750">
              <a:lnSpc>
                <a:spcPts val="2125"/>
              </a:lnSpc>
              <a:buFont typeface="Arial" panose="020B0604020202020204" pitchFamily="34" charset="0"/>
              <a:buChar char="•"/>
            </a:pPr>
            <a:r>
              <a:rPr lang="en-US" b="1" dirty="0">
                <a:solidFill>
                  <a:srgbClr val="25274D"/>
                </a:solidFill>
                <a:latin typeface="Montserrat" panose="00000500000000000000" pitchFamily="2" charset="0"/>
                <a:ea typeface="Montserrat Bold" pitchFamily="34" charset="-122"/>
                <a:cs typeface="Montserrat Bold" pitchFamily="34" charset="-120"/>
              </a:rPr>
              <a:t>Create reusable modules: </a:t>
            </a:r>
            <a:r>
              <a:rPr lang="en-US" dirty="0">
                <a:solidFill>
                  <a:srgbClr val="25274D"/>
                </a:solidFill>
                <a:latin typeface="Montserrat" panose="00000500000000000000" pitchFamily="2" charset="0"/>
              </a:rPr>
              <a:t>Enables files to function as standalone programs or reusable modules</a:t>
            </a:r>
          </a:p>
          <a:p>
            <a:pPr marL="285750" indent="-285750">
              <a:lnSpc>
                <a:spcPts val="2125"/>
              </a:lnSpc>
              <a:buFont typeface="Arial" panose="020B0604020202020204" pitchFamily="34" charset="0"/>
              <a:buChar char="•"/>
            </a:pPr>
            <a:endParaRPr lang="en-US" dirty="0">
              <a:solidFill>
                <a:srgbClr val="25274D"/>
              </a:solidFill>
              <a:latin typeface="Montserrat" panose="00000500000000000000" pitchFamily="2" charset="0"/>
            </a:endParaRPr>
          </a:p>
          <a:p>
            <a:pPr marL="285750" indent="-285750">
              <a:lnSpc>
                <a:spcPts val="2125"/>
              </a:lnSpc>
              <a:buFont typeface="Arial" panose="020B0604020202020204" pitchFamily="34" charset="0"/>
              <a:buChar char="•"/>
            </a:pPr>
            <a:r>
              <a:rPr lang="en-US" b="1" dirty="0">
                <a:solidFill>
                  <a:srgbClr val="25274D"/>
                </a:solidFill>
                <a:latin typeface="Montserrat" panose="00000500000000000000" pitchFamily="2" charset="0"/>
                <a:ea typeface="Montserrat Bold" pitchFamily="34" charset="-122"/>
                <a:cs typeface="Montserrat Bold" pitchFamily="34" charset="-120"/>
              </a:rPr>
              <a:t>Prevent Automatic Execution: </a:t>
            </a:r>
            <a:r>
              <a:rPr lang="en-US" dirty="0">
                <a:solidFill>
                  <a:srgbClr val="25274D"/>
                </a:solidFill>
                <a:latin typeface="Montserrat" panose="00000500000000000000" pitchFamily="2" charset="0"/>
              </a:rPr>
              <a:t>Code inside the if block won't run when imported</a:t>
            </a:r>
            <a:endParaRPr lang="en-US" sz="1800" dirty="0">
              <a:solidFill>
                <a:srgbClr val="25274D"/>
              </a:solidFill>
              <a:latin typeface="Montserrat" panose="00000500000000000000" pitchFamily="2" charset="0"/>
            </a:endParaRPr>
          </a:p>
        </p:txBody>
      </p:sp>
      <p:grpSp>
        <p:nvGrpSpPr>
          <p:cNvPr id="4" name="Group 3">
            <a:extLst>
              <a:ext uri="{FF2B5EF4-FFF2-40B4-BE49-F238E27FC236}">
                <a16:creationId xmlns:a16="http://schemas.microsoft.com/office/drawing/2014/main" id="{6259C029-7441-E014-A632-9D8BAF072D20}"/>
              </a:ext>
            </a:extLst>
          </p:cNvPr>
          <p:cNvGrpSpPr/>
          <p:nvPr/>
        </p:nvGrpSpPr>
        <p:grpSpPr>
          <a:xfrm>
            <a:off x="3709859" y="4074593"/>
            <a:ext cx="4772282" cy="2246769"/>
            <a:chOff x="3753880" y="4074593"/>
            <a:chExt cx="4772282" cy="2246769"/>
          </a:xfrm>
        </p:grpSpPr>
        <p:sp>
          <p:nvSpPr>
            <p:cNvPr id="2" name="Rectangle: Rounded Corners 1">
              <a:extLst>
                <a:ext uri="{FF2B5EF4-FFF2-40B4-BE49-F238E27FC236}">
                  <a16:creationId xmlns:a16="http://schemas.microsoft.com/office/drawing/2014/main" id="{44909010-5964-D3A5-54E3-AF3767F6A4A5}"/>
                </a:ext>
              </a:extLst>
            </p:cNvPr>
            <p:cNvSpPr/>
            <p:nvPr/>
          </p:nvSpPr>
          <p:spPr>
            <a:xfrm>
              <a:off x="3753880" y="4074593"/>
              <a:ext cx="4772282" cy="2246769"/>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CC0CA7D5-991B-4BAC-ED54-82A4BB6F9203}"/>
                </a:ext>
              </a:extLst>
            </p:cNvPr>
            <p:cNvPicPr>
              <a:picLocks noChangeAspect="1"/>
            </p:cNvPicPr>
            <p:nvPr/>
          </p:nvPicPr>
          <p:blipFill>
            <a:blip r:embed="rId3"/>
            <a:stretch>
              <a:fillRect/>
            </a:stretch>
          </p:blipFill>
          <p:spPr>
            <a:xfrm>
              <a:off x="3978752" y="4299567"/>
              <a:ext cx="4322538" cy="1796820"/>
            </a:xfrm>
            <a:prstGeom prst="rect">
              <a:avLst/>
            </a:prstGeom>
          </p:spPr>
        </p:pic>
      </p:grpSp>
    </p:spTree>
    <p:extLst>
      <p:ext uri="{BB962C8B-B14F-4D97-AF65-F5344CB8AC3E}">
        <p14:creationId xmlns:p14="http://schemas.microsoft.com/office/powerpoint/2010/main" val="268922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2EED-4495-D4B9-DF59-1498F2FFCEE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96D677-2668-356B-F0B3-A848036C696E}"/>
              </a:ext>
            </a:extLst>
          </p:cNvPr>
          <p:cNvSpPr>
            <a:spLocks noGrp="1"/>
          </p:cNvSpPr>
          <p:nvPr>
            <p:ph type="title"/>
          </p:nvPr>
        </p:nvSpPr>
        <p:spPr/>
        <p:txBody>
          <a:bodyPr/>
          <a:lstStyle/>
          <a:p>
            <a:pPr>
              <a:lnSpc>
                <a:spcPts val="4042"/>
              </a:lnSpc>
            </a:pPr>
            <a:r>
              <a:rPr lang="en-US" dirty="0"/>
              <a:t>Scope of Variables in Functions</a:t>
            </a:r>
          </a:p>
        </p:txBody>
      </p:sp>
      <p:sp>
        <p:nvSpPr>
          <p:cNvPr id="2" name="Text Placeholder 1">
            <a:extLst>
              <a:ext uri="{FF2B5EF4-FFF2-40B4-BE49-F238E27FC236}">
                <a16:creationId xmlns:a16="http://schemas.microsoft.com/office/drawing/2014/main" id="{EB90F1B7-9A07-2850-6293-1AF68EF6DE84}"/>
              </a:ext>
            </a:extLst>
          </p:cNvPr>
          <p:cNvSpPr>
            <a:spLocks noGrp="1"/>
          </p:cNvSpPr>
          <p:nvPr>
            <p:ph type="body" sz="quarter" idx="10"/>
          </p:nvPr>
        </p:nvSpPr>
        <p:spPr/>
        <p:txBody>
          <a:bodyPr/>
          <a:lstStyle/>
          <a:p>
            <a:r>
              <a:rPr lang="en-US" dirty="0"/>
              <a:t>Local v. Global Scope</a:t>
            </a:r>
          </a:p>
          <a:p>
            <a:endParaRPr lang="en-US" dirty="0"/>
          </a:p>
        </p:txBody>
      </p:sp>
      <p:graphicFrame>
        <p:nvGraphicFramePr>
          <p:cNvPr id="3" name="Table 2">
            <a:extLst>
              <a:ext uri="{FF2B5EF4-FFF2-40B4-BE49-F238E27FC236}">
                <a16:creationId xmlns:a16="http://schemas.microsoft.com/office/drawing/2014/main" id="{FCA347FD-7C6A-CC53-8D8C-0EEF28ABFBEA}"/>
              </a:ext>
            </a:extLst>
          </p:cNvPr>
          <p:cNvGraphicFramePr>
            <a:graphicFrameLocks noGrp="1"/>
          </p:cNvGraphicFramePr>
          <p:nvPr>
            <p:extLst>
              <p:ext uri="{D42A27DB-BD31-4B8C-83A1-F6EECF244321}">
                <p14:modId xmlns:p14="http://schemas.microsoft.com/office/powerpoint/2010/main" val="2939237333"/>
              </p:ext>
            </p:extLst>
          </p:nvPr>
        </p:nvGraphicFramePr>
        <p:xfrm>
          <a:off x="1445404" y="2871989"/>
          <a:ext cx="9293932" cy="1657481"/>
        </p:xfrm>
        <a:graphic>
          <a:graphicData uri="http://schemas.openxmlformats.org/drawingml/2006/table">
            <a:tbl>
              <a:tblPr firstRow="1" bandRow="1">
                <a:tableStyleId>{21E4AEA4-8DFA-4A89-87EB-49C32662AFE0}</a:tableStyleId>
              </a:tblPr>
              <a:tblGrid>
                <a:gridCol w="4646966">
                  <a:extLst>
                    <a:ext uri="{9D8B030D-6E8A-4147-A177-3AD203B41FA5}">
                      <a16:colId xmlns:a16="http://schemas.microsoft.com/office/drawing/2014/main" val="573563270"/>
                    </a:ext>
                  </a:extLst>
                </a:gridCol>
                <a:gridCol w="4646966">
                  <a:extLst>
                    <a:ext uri="{9D8B030D-6E8A-4147-A177-3AD203B41FA5}">
                      <a16:colId xmlns:a16="http://schemas.microsoft.com/office/drawing/2014/main" val="1629029468"/>
                    </a:ext>
                  </a:extLst>
                </a:gridCol>
              </a:tblGrid>
              <a:tr h="478245">
                <a:tc>
                  <a:txBody>
                    <a:bodyPr/>
                    <a:lstStyle/>
                    <a:p>
                      <a:pPr algn="ctr"/>
                      <a:r>
                        <a:rPr lang="en-US" sz="1800" b="1" dirty="0">
                          <a:solidFill>
                            <a:schemeClr val="bg1"/>
                          </a:solidFill>
                          <a:ea typeface="+mn-lt"/>
                          <a:cs typeface="+mn-lt"/>
                        </a:rPr>
                        <a:t>Local scope</a:t>
                      </a:r>
                      <a:endParaRPr lang="en-GB" dirty="0">
                        <a:solidFill>
                          <a:schemeClr val="bg1"/>
                        </a:solidFill>
                      </a:endParaRPr>
                    </a:p>
                  </a:txBody>
                  <a:tcPr>
                    <a:solidFill>
                      <a:srgbClr val="25274D"/>
                    </a:solidFill>
                  </a:tcPr>
                </a:tc>
                <a:tc>
                  <a:txBody>
                    <a:bodyPr/>
                    <a:lstStyle/>
                    <a:p>
                      <a:pPr algn="ctr"/>
                      <a:r>
                        <a:rPr lang="en-US" sz="1800" b="1" dirty="0">
                          <a:solidFill>
                            <a:schemeClr val="bg1"/>
                          </a:solidFill>
                          <a:ea typeface="+mn-lt"/>
                          <a:cs typeface="+mn-lt"/>
                        </a:rPr>
                        <a:t>Global scope</a:t>
                      </a:r>
                      <a:endParaRPr lang="en-GB" dirty="0">
                        <a:solidFill>
                          <a:schemeClr val="bg1"/>
                        </a:solidFill>
                      </a:endParaRPr>
                    </a:p>
                  </a:txBody>
                  <a:tcPr>
                    <a:solidFill>
                      <a:srgbClr val="2E9CCA"/>
                    </a:solidFill>
                  </a:tcPr>
                </a:tc>
                <a:extLst>
                  <a:ext uri="{0D108BD9-81ED-4DB2-BD59-A6C34878D82A}">
                    <a16:rowId xmlns:a16="http://schemas.microsoft.com/office/drawing/2014/main" val="1506202670"/>
                  </a:ext>
                </a:extLst>
              </a:tr>
              <a:tr h="1179236">
                <a:tc>
                  <a:txBody>
                    <a:bodyPr/>
                    <a:lstStyle/>
                    <a:p>
                      <a:pPr marL="0" indent="0">
                        <a:buFont typeface="Arial" panose="020B0604020202020204" pitchFamily="34" charset="0"/>
                        <a:buNone/>
                      </a:pPr>
                      <a:endParaRPr lang="en-US" sz="1800" dirty="0">
                        <a:solidFill>
                          <a:srgbClr val="25274D"/>
                        </a:solidFill>
                        <a:ea typeface="+mn-lt"/>
                        <a:cs typeface="+mn-lt"/>
                      </a:endParaRPr>
                    </a:p>
                    <a:p>
                      <a:pPr marL="0" indent="0">
                        <a:buFont typeface="Arial" panose="020B0604020202020204" pitchFamily="34" charset="0"/>
                        <a:buNone/>
                      </a:pPr>
                      <a:r>
                        <a:rPr lang="en-US" sz="1800" dirty="0">
                          <a:solidFill>
                            <a:srgbClr val="25274D"/>
                          </a:solidFill>
                          <a:ea typeface="+mn-lt"/>
                          <a:cs typeface="+mn-lt"/>
                        </a:rPr>
                        <a:t>Variables declared inside a function, accessible only within that function​</a:t>
                      </a:r>
                      <a:endParaRPr lang="en-GB" dirty="0">
                        <a:solidFill>
                          <a:srgbClr val="25274D"/>
                        </a:solidFill>
                      </a:endParaRPr>
                    </a:p>
                  </a:txBody>
                  <a:tcPr>
                    <a:solidFill>
                      <a:schemeClr val="bg1">
                        <a:lumMod val="95000"/>
                      </a:schemeClr>
                    </a:solidFill>
                  </a:tcPr>
                </a:tc>
                <a:tc>
                  <a:txBody>
                    <a:bodyPr/>
                    <a:lstStyle/>
                    <a:p>
                      <a:pPr marL="0" indent="0">
                        <a:buFont typeface="Arial" panose="020B0604020202020204" pitchFamily="34" charset="0"/>
                        <a:buNone/>
                      </a:pPr>
                      <a:endParaRPr lang="en-US" sz="1800" dirty="0">
                        <a:solidFill>
                          <a:srgbClr val="25274D"/>
                        </a:solidFill>
                        <a:ea typeface="+mn-lt"/>
                        <a:cs typeface="+mn-lt"/>
                      </a:endParaRPr>
                    </a:p>
                    <a:p>
                      <a:pPr marL="0" indent="0">
                        <a:buFont typeface="Arial" panose="020B0604020202020204" pitchFamily="34" charset="0"/>
                        <a:buNone/>
                      </a:pPr>
                      <a:r>
                        <a:rPr lang="en-US" sz="1800" dirty="0">
                          <a:solidFill>
                            <a:srgbClr val="25274D"/>
                          </a:solidFill>
                          <a:ea typeface="+mn-lt"/>
                          <a:cs typeface="+mn-lt"/>
                        </a:rPr>
                        <a:t>Variables declared inside a function, accessible only within that function​</a:t>
                      </a:r>
                      <a:endParaRPr lang="en-GB" dirty="0">
                        <a:solidFill>
                          <a:srgbClr val="25274D"/>
                        </a:solidFill>
                      </a:endParaRPr>
                    </a:p>
                  </a:txBody>
                  <a:tcPr>
                    <a:solidFill>
                      <a:schemeClr val="bg1"/>
                    </a:solidFill>
                  </a:tcPr>
                </a:tc>
                <a:extLst>
                  <a:ext uri="{0D108BD9-81ED-4DB2-BD59-A6C34878D82A}">
                    <a16:rowId xmlns:a16="http://schemas.microsoft.com/office/drawing/2014/main" val="1975416105"/>
                  </a:ext>
                </a:extLst>
              </a:tr>
            </a:tbl>
          </a:graphicData>
        </a:graphic>
      </p:graphicFrame>
    </p:spTree>
    <p:extLst>
      <p:ext uri="{BB962C8B-B14F-4D97-AF65-F5344CB8AC3E}">
        <p14:creationId xmlns:p14="http://schemas.microsoft.com/office/powerpoint/2010/main" val="400196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000"/>
                                        <p:tgtEl>
                                          <p:spTgt spid="2">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C72EE-2296-802E-0488-8BF0B695BDD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75DD6AB-660F-A700-4A4E-1EE125FBDFCB}"/>
              </a:ext>
            </a:extLst>
          </p:cNvPr>
          <p:cNvSpPr>
            <a:spLocks noGrp="1"/>
          </p:cNvSpPr>
          <p:nvPr>
            <p:ph type="title"/>
          </p:nvPr>
        </p:nvSpPr>
        <p:spPr/>
        <p:txBody>
          <a:bodyPr/>
          <a:lstStyle/>
          <a:p>
            <a:pPr>
              <a:lnSpc>
                <a:spcPts val="4042"/>
              </a:lnSpc>
            </a:pPr>
            <a:r>
              <a:rPr lang="en-US" dirty="0"/>
              <a:t>Scope of Variables in Functions</a:t>
            </a:r>
          </a:p>
        </p:txBody>
      </p:sp>
      <p:sp>
        <p:nvSpPr>
          <p:cNvPr id="2" name="Text Placeholder 1">
            <a:extLst>
              <a:ext uri="{FF2B5EF4-FFF2-40B4-BE49-F238E27FC236}">
                <a16:creationId xmlns:a16="http://schemas.microsoft.com/office/drawing/2014/main" id="{26404F74-E7A6-0B46-0015-A9ECDEF0FB8D}"/>
              </a:ext>
            </a:extLst>
          </p:cNvPr>
          <p:cNvSpPr>
            <a:spLocks noGrp="1"/>
          </p:cNvSpPr>
          <p:nvPr>
            <p:ph type="body" sz="quarter" idx="10"/>
          </p:nvPr>
        </p:nvSpPr>
        <p:spPr/>
        <p:txBody>
          <a:bodyPr/>
          <a:lstStyle/>
          <a:p>
            <a:r>
              <a:rPr lang="en-US" dirty="0"/>
              <a:t>Example</a:t>
            </a:r>
          </a:p>
        </p:txBody>
      </p:sp>
      <p:grpSp>
        <p:nvGrpSpPr>
          <p:cNvPr id="4" name="Group 3">
            <a:extLst>
              <a:ext uri="{FF2B5EF4-FFF2-40B4-BE49-F238E27FC236}">
                <a16:creationId xmlns:a16="http://schemas.microsoft.com/office/drawing/2014/main" id="{49984A6E-EE58-ADC2-6348-BFA81EB56DB2}"/>
              </a:ext>
            </a:extLst>
          </p:cNvPr>
          <p:cNvGrpSpPr/>
          <p:nvPr/>
        </p:nvGrpSpPr>
        <p:grpSpPr>
          <a:xfrm>
            <a:off x="3310741" y="2175990"/>
            <a:ext cx="5570518" cy="3232623"/>
            <a:chOff x="3091568" y="2175990"/>
            <a:chExt cx="5570518" cy="3232623"/>
          </a:xfrm>
        </p:grpSpPr>
        <p:sp>
          <p:nvSpPr>
            <p:cNvPr id="3" name="Rectangle: Rounded Corners 2">
              <a:extLst>
                <a:ext uri="{FF2B5EF4-FFF2-40B4-BE49-F238E27FC236}">
                  <a16:creationId xmlns:a16="http://schemas.microsoft.com/office/drawing/2014/main" id="{D8AD6F5D-60B4-1CD4-7E05-5492CCE63BE1}"/>
                </a:ext>
              </a:extLst>
            </p:cNvPr>
            <p:cNvSpPr/>
            <p:nvPr/>
          </p:nvSpPr>
          <p:spPr>
            <a:xfrm>
              <a:off x="3091568" y="2175990"/>
              <a:ext cx="5570518" cy="3232623"/>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A897911F-B364-C4C8-EB06-30D6AAA71131}"/>
                </a:ext>
              </a:extLst>
            </p:cNvPr>
            <p:cNvPicPr>
              <a:picLocks noChangeAspect="1"/>
            </p:cNvPicPr>
            <p:nvPr/>
          </p:nvPicPr>
          <p:blipFill>
            <a:blip r:embed="rId3"/>
            <a:stretch>
              <a:fillRect/>
            </a:stretch>
          </p:blipFill>
          <p:spPr>
            <a:xfrm>
              <a:off x="3263217" y="2335271"/>
              <a:ext cx="5219302" cy="2943444"/>
            </a:xfrm>
            <a:prstGeom prst="rect">
              <a:avLst/>
            </a:prstGeom>
          </p:spPr>
        </p:pic>
      </p:grpSp>
    </p:spTree>
    <p:extLst>
      <p:ext uri="{BB962C8B-B14F-4D97-AF65-F5344CB8AC3E}">
        <p14:creationId xmlns:p14="http://schemas.microsoft.com/office/powerpoint/2010/main" val="345499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CEE3-E499-BB82-CDF3-444882F66F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23A78EB-3C8A-31CA-4A7C-049F546FC215}"/>
              </a:ext>
            </a:extLst>
          </p:cNvPr>
          <p:cNvSpPr>
            <a:spLocks noGrp="1"/>
          </p:cNvSpPr>
          <p:nvPr>
            <p:ph type="title"/>
          </p:nvPr>
        </p:nvSpPr>
        <p:spPr/>
        <p:txBody>
          <a:bodyPr/>
          <a:lstStyle/>
          <a:p>
            <a:pPr>
              <a:lnSpc>
                <a:spcPts val="4042"/>
              </a:lnSpc>
            </a:pPr>
            <a:r>
              <a:rPr lang="en-US" dirty="0"/>
              <a:t>Exercise: Ticket Pricing Function</a:t>
            </a:r>
          </a:p>
        </p:txBody>
      </p:sp>
      <p:grpSp>
        <p:nvGrpSpPr>
          <p:cNvPr id="44" name="Group 43">
            <a:extLst>
              <a:ext uri="{FF2B5EF4-FFF2-40B4-BE49-F238E27FC236}">
                <a16:creationId xmlns:a16="http://schemas.microsoft.com/office/drawing/2014/main" id="{6C70DDDA-0804-BEDD-87A6-E65CCFDBFE51}"/>
              </a:ext>
            </a:extLst>
          </p:cNvPr>
          <p:cNvGrpSpPr/>
          <p:nvPr/>
        </p:nvGrpSpPr>
        <p:grpSpPr>
          <a:xfrm>
            <a:off x="3271157" y="3150054"/>
            <a:ext cx="6114143" cy="1560020"/>
            <a:chOff x="2445657" y="2409825"/>
            <a:chExt cx="6114143" cy="1560020"/>
          </a:xfrm>
        </p:grpSpPr>
        <p:sp>
          <p:nvSpPr>
            <p:cNvPr id="25" name="Rectangle: Rounded Corners 24">
              <a:extLst>
                <a:ext uri="{FF2B5EF4-FFF2-40B4-BE49-F238E27FC236}">
                  <a16:creationId xmlns:a16="http://schemas.microsoft.com/office/drawing/2014/main" id="{761402A6-5241-53FB-14C9-3DDDAE3B9DBE}"/>
                </a:ext>
              </a:extLst>
            </p:cNvPr>
            <p:cNvSpPr/>
            <p:nvPr/>
          </p:nvSpPr>
          <p:spPr>
            <a:xfrm>
              <a:off x="2445657" y="2409825"/>
              <a:ext cx="6114143" cy="1560020"/>
            </a:xfrm>
            <a:prstGeom prst="roundRect">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27EAB1E8-7B4E-8B21-4E02-7D483F7A643D}"/>
                </a:ext>
              </a:extLst>
            </p:cNvPr>
            <p:cNvGrpSpPr/>
            <p:nvPr/>
          </p:nvGrpSpPr>
          <p:grpSpPr>
            <a:xfrm>
              <a:off x="2508431" y="2465809"/>
              <a:ext cx="6048829" cy="1448050"/>
              <a:chOff x="2508431" y="1611868"/>
              <a:chExt cx="6048829" cy="1448050"/>
            </a:xfrm>
          </p:grpSpPr>
          <p:sp>
            <p:nvSpPr>
              <p:cNvPr id="27" name="TextBox 26">
                <a:extLst>
                  <a:ext uri="{FF2B5EF4-FFF2-40B4-BE49-F238E27FC236}">
                    <a16:creationId xmlns:a16="http://schemas.microsoft.com/office/drawing/2014/main" id="{997E408A-E373-E9F0-C34A-C9FB14AC57B5}"/>
                  </a:ext>
                </a:extLst>
              </p:cNvPr>
              <p:cNvSpPr txBox="1"/>
              <p:nvPr/>
            </p:nvSpPr>
            <p:spPr>
              <a:xfrm>
                <a:off x="2508431" y="1611868"/>
                <a:ext cx="6048829" cy="369332"/>
              </a:xfrm>
              <a:prstGeom prst="rect">
                <a:avLst/>
              </a:prstGeom>
              <a:noFill/>
            </p:spPr>
            <p:txBody>
              <a:bodyPr wrap="square">
                <a:spAutoFit/>
              </a:bodyPr>
              <a:lstStyle/>
              <a:p>
                <a:pPr algn="l"/>
                <a:r>
                  <a:rPr lang="en-US" b="0" i="0" dirty="0">
                    <a:solidFill>
                      <a:schemeClr val="bg1"/>
                    </a:solidFill>
                    <a:effectLst/>
                    <a:latin typeface="Montserrat" panose="00000500000000000000" pitchFamily="2" charset="0"/>
                  </a:rPr>
                  <a:t>Determines the ticket price using conditional logic</a:t>
                </a:r>
              </a:p>
            </p:txBody>
          </p:sp>
          <p:sp>
            <p:nvSpPr>
              <p:cNvPr id="28" name="TextBox 27">
                <a:extLst>
                  <a:ext uri="{FF2B5EF4-FFF2-40B4-BE49-F238E27FC236}">
                    <a16:creationId xmlns:a16="http://schemas.microsoft.com/office/drawing/2014/main" id="{1E5EC954-4C1C-DEA4-5D02-4F80196622B4}"/>
                  </a:ext>
                </a:extLst>
              </p:cNvPr>
              <p:cNvSpPr txBox="1"/>
              <p:nvPr/>
            </p:nvSpPr>
            <p:spPr>
              <a:xfrm>
                <a:off x="2508431" y="1979386"/>
                <a:ext cx="3404689"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chemeClr val="bg1"/>
                    </a:solidFill>
                    <a:effectLst/>
                    <a:latin typeface="Montserrat" panose="00000500000000000000" pitchFamily="2" charset="0"/>
                  </a:rPr>
                  <a:t>Ages under 12: ₹100</a:t>
                </a:r>
              </a:p>
            </p:txBody>
          </p:sp>
          <p:sp>
            <p:nvSpPr>
              <p:cNvPr id="29" name="TextBox 28">
                <a:extLst>
                  <a:ext uri="{FF2B5EF4-FFF2-40B4-BE49-F238E27FC236}">
                    <a16:creationId xmlns:a16="http://schemas.microsoft.com/office/drawing/2014/main" id="{677AE374-C483-F538-5442-1AB42F324203}"/>
                  </a:ext>
                </a:extLst>
              </p:cNvPr>
              <p:cNvSpPr txBox="1"/>
              <p:nvPr/>
            </p:nvSpPr>
            <p:spPr>
              <a:xfrm>
                <a:off x="2508431" y="2334986"/>
                <a:ext cx="3404689"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chemeClr val="bg1"/>
                    </a:solidFill>
                    <a:effectLst/>
                    <a:latin typeface="Montserrat" panose="00000500000000000000" pitchFamily="2" charset="0"/>
                  </a:rPr>
                  <a:t>Ages 12 to 59: ₹200</a:t>
                </a:r>
              </a:p>
            </p:txBody>
          </p:sp>
          <p:sp>
            <p:nvSpPr>
              <p:cNvPr id="30" name="TextBox 29">
                <a:extLst>
                  <a:ext uri="{FF2B5EF4-FFF2-40B4-BE49-F238E27FC236}">
                    <a16:creationId xmlns:a16="http://schemas.microsoft.com/office/drawing/2014/main" id="{541CF001-377F-CA0E-0962-96C4D5307D5E}"/>
                  </a:ext>
                </a:extLst>
              </p:cNvPr>
              <p:cNvSpPr txBox="1"/>
              <p:nvPr/>
            </p:nvSpPr>
            <p:spPr>
              <a:xfrm>
                <a:off x="2508431" y="2690586"/>
                <a:ext cx="3404689"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chemeClr val="bg1"/>
                    </a:solidFill>
                    <a:effectLst/>
                    <a:latin typeface="Montserrat" panose="00000500000000000000" pitchFamily="2" charset="0"/>
                  </a:rPr>
                  <a:t>Ages 60 and above: ₹150</a:t>
                </a:r>
              </a:p>
            </p:txBody>
          </p:sp>
        </p:grpSp>
      </p:grpSp>
      <p:grpSp>
        <p:nvGrpSpPr>
          <p:cNvPr id="52" name="Group 51">
            <a:extLst>
              <a:ext uri="{FF2B5EF4-FFF2-40B4-BE49-F238E27FC236}">
                <a16:creationId xmlns:a16="http://schemas.microsoft.com/office/drawing/2014/main" id="{6C8C0E33-3837-B559-655C-107CF5135CE7}"/>
              </a:ext>
            </a:extLst>
          </p:cNvPr>
          <p:cNvGrpSpPr/>
          <p:nvPr/>
        </p:nvGrpSpPr>
        <p:grpSpPr>
          <a:xfrm>
            <a:off x="3271157" y="1494969"/>
            <a:ext cx="6114143" cy="1560020"/>
            <a:chOff x="2445657" y="1117600"/>
            <a:chExt cx="6114143" cy="1560020"/>
          </a:xfrm>
        </p:grpSpPr>
        <p:sp>
          <p:nvSpPr>
            <p:cNvPr id="38" name="Rectangle: Rounded Corners 37">
              <a:extLst>
                <a:ext uri="{FF2B5EF4-FFF2-40B4-BE49-F238E27FC236}">
                  <a16:creationId xmlns:a16="http://schemas.microsoft.com/office/drawing/2014/main" id="{630A4CED-CEC5-2CFC-1F07-A7FA94BE8BE0}"/>
                </a:ext>
              </a:extLst>
            </p:cNvPr>
            <p:cNvSpPr/>
            <p:nvPr/>
          </p:nvSpPr>
          <p:spPr>
            <a:xfrm>
              <a:off x="2445657" y="1117600"/>
              <a:ext cx="6114143" cy="1560020"/>
            </a:xfrm>
            <a:prstGeom prst="roundRect">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0CA88A95-6896-4891-2C7A-61F2B801EEF7}"/>
                </a:ext>
              </a:extLst>
            </p:cNvPr>
            <p:cNvSpPr txBox="1"/>
            <p:nvPr/>
          </p:nvSpPr>
          <p:spPr>
            <a:xfrm>
              <a:off x="2508431" y="1712944"/>
              <a:ext cx="6048829" cy="369332"/>
            </a:xfrm>
            <a:prstGeom prst="rect">
              <a:avLst/>
            </a:prstGeom>
            <a:noFill/>
          </p:spPr>
          <p:txBody>
            <a:bodyPr wrap="square">
              <a:spAutoFit/>
            </a:bodyPr>
            <a:lstStyle/>
            <a:p>
              <a:pPr algn="l"/>
              <a:r>
                <a:rPr lang="en-US" b="0" i="0" dirty="0">
                  <a:solidFill>
                    <a:schemeClr val="bg1"/>
                  </a:solidFill>
                  <a:effectLst/>
                  <a:latin typeface="Montserrat" panose="00000500000000000000" pitchFamily="2" charset="0"/>
                </a:rPr>
                <a:t>Accepts a person's age as its input parameter</a:t>
              </a:r>
            </a:p>
          </p:txBody>
        </p:sp>
      </p:grpSp>
      <p:grpSp>
        <p:nvGrpSpPr>
          <p:cNvPr id="45" name="Group 44">
            <a:extLst>
              <a:ext uri="{FF2B5EF4-FFF2-40B4-BE49-F238E27FC236}">
                <a16:creationId xmlns:a16="http://schemas.microsoft.com/office/drawing/2014/main" id="{32A71D2F-E667-F825-07A2-1A0BE6E282A1}"/>
              </a:ext>
            </a:extLst>
          </p:cNvPr>
          <p:cNvGrpSpPr/>
          <p:nvPr/>
        </p:nvGrpSpPr>
        <p:grpSpPr>
          <a:xfrm>
            <a:off x="3271157" y="4821014"/>
            <a:ext cx="6114143" cy="1560020"/>
            <a:chOff x="2445657" y="2409825"/>
            <a:chExt cx="6114143" cy="1560020"/>
          </a:xfrm>
        </p:grpSpPr>
        <p:sp>
          <p:nvSpPr>
            <p:cNvPr id="46" name="Rectangle: Rounded Corners 45">
              <a:extLst>
                <a:ext uri="{FF2B5EF4-FFF2-40B4-BE49-F238E27FC236}">
                  <a16:creationId xmlns:a16="http://schemas.microsoft.com/office/drawing/2014/main" id="{33D249CE-FCD3-8FE9-6ABF-194CBD1D3CFD}"/>
                </a:ext>
              </a:extLst>
            </p:cNvPr>
            <p:cNvSpPr/>
            <p:nvPr/>
          </p:nvSpPr>
          <p:spPr>
            <a:xfrm>
              <a:off x="2445657" y="2409825"/>
              <a:ext cx="6114143" cy="1560020"/>
            </a:xfrm>
            <a:prstGeom prst="roundRect">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372B9E87-94E6-BE4C-E2E1-088A7D188B0A}"/>
                </a:ext>
              </a:extLst>
            </p:cNvPr>
            <p:cNvSpPr txBox="1"/>
            <p:nvPr/>
          </p:nvSpPr>
          <p:spPr>
            <a:xfrm>
              <a:off x="2508431" y="3005169"/>
              <a:ext cx="6048829" cy="369332"/>
            </a:xfrm>
            <a:prstGeom prst="rect">
              <a:avLst/>
            </a:prstGeom>
            <a:noFill/>
          </p:spPr>
          <p:txBody>
            <a:bodyPr wrap="square">
              <a:spAutoFit/>
            </a:bodyPr>
            <a:lstStyle/>
            <a:p>
              <a:pPr algn="l"/>
              <a:r>
                <a:rPr lang="en-US" b="0" i="0" dirty="0">
                  <a:solidFill>
                    <a:schemeClr val="bg1"/>
                  </a:solidFill>
                  <a:effectLst/>
                  <a:latin typeface="Montserrat" panose="00000500000000000000" pitchFamily="2" charset="0"/>
                </a:rPr>
                <a:t>Outputs the calculated ticket price</a:t>
              </a:r>
            </a:p>
          </p:txBody>
        </p:sp>
      </p:grpSp>
    </p:spTree>
    <p:extLst>
      <p:ext uri="{BB962C8B-B14F-4D97-AF65-F5344CB8AC3E}">
        <p14:creationId xmlns:p14="http://schemas.microsoft.com/office/powerpoint/2010/main" val="414523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1000"/>
                                        <p:tgtEl>
                                          <p:spTgt spid="52"/>
                                        </p:tgtEl>
                                      </p:cBhvr>
                                    </p:animEffect>
                                  </p:childTnLst>
                                </p:cTn>
                              </p:par>
                              <p:par>
                                <p:cTn id="11" presetID="10" presetClass="entr" presetSubtype="0" fill="hold" nodeType="withEffect">
                                  <p:stCondLst>
                                    <p:cond delay="50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1000"/>
                                        <p:tgtEl>
                                          <p:spTgt spid="44"/>
                                        </p:tgtEl>
                                      </p:cBhvr>
                                    </p:animEffect>
                                  </p:childTnLst>
                                </p:cTn>
                              </p:par>
                              <p:par>
                                <p:cTn id="14" presetID="10" presetClass="entr" presetSubtype="0" fill="hold" nodeType="withEffect">
                                  <p:stCondLst>
                                    <p:cond delay="50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8153C-F9D8-EA0C-8BB4-C439DD16AEC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7EEA341-452C-6B00-D3C3-539DF0E2CDA9}"/>
              </a:ext>
            </a:extLst>
          </p:cNvPr>
          <p:cNvSpPr/>
          <p:nvPr/>
        </p:nvSpPr>
        <p:spPr>
          <a:xfrm>
            <a:off x="3200400" y="3701598"/>
            <a:ext cx="4893276" cy="1265818"/>
          </a:xfrm>
          <a:prstGeom prst="roundRect">
            <a:avLst>
              <a:gd name="adj" fmla="val 7590"/>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8925E4F3-6017-280B-DD4A-D442F9EE52E8}"/>
              </a:ext>
            </a:extLst>
          </p:cNvPr>
          <p:cNvSpPr>
            <a:spLocks noGrp="1"/>
          </p:cNvSpPr>
          <p:nvPr>
            <p:ph type="title"/>
          </p:nvPr>
        </p:nvSpPr>
        <p:spPr/>
        <p:txBody>
          <a:bodyPr/>
          <a:lstStyle/>
          <a:p>
            <a:pPr>
              <a:lnSpc>
                <a:spcPts val="4042"/>
              </a:lnSpc>
            </a:pPr>
            <a:r>
              <a:rPr lang="en-US" dirty="0"/>
              <a:t>Lambda Functions</a:t>
            </a:r>
          </a:p>
        </p:txBody>
      </p:sp>
      <p:sp>
        <p:nvSpPr>
          <p:cNvPr id="3" name="TextBox 2">
            <a:extLst>
              <a:ext uri="{FF2B5EF4-FFF2-40B4-BE49-F238E27FC236}">
                <a16:creationId xmlns:a16="http://schemas.microsoft.com/office/drawing/2014/main" id="{5A51DFCB-DE97-0423-8CBA-7DA187788956}"/>
              </a:ext>
            </a:extLst>
          </p:cNvPr>
          <p:cNvSpPr txBox="1"/>
          <p:nvPr/>
        </p:nvSpPr>
        <p:spPr>
          <a:xfrm>
            <a:off x="876300" y="1943100"/>
            <a:ext cx="10210800" cy="646331"/>
          </a:xfrm>
          <a:prstGeom prst="rect">
            <a:avLst/>
          </a:prstGeom>
          <a:noFill/>
        </p:spPr>
        <p:txBody>
          <a:bodyPr wrap="square">
            <a:spAutoFit/>
          </a:bodyPr>
          <a:lstStyle/>
          <a:p>
            <a:r>
              <a:rPr lang="en-US" dirty="0">
                <a:solidFill>
                  <a:srgbClr val="25274D"/>
                </a:solidFill>
                <a:latin typeface="Montserrat" panose="00000500000000000000" pitchFamily="2" charset="0"/>
              </a:rPr>
              <a:t>Lambda functions are small, anonymous functions defined with lambda, ideal for short, one-time use.</a:t>
            </a:r>
          </a:p>
        </p:txBody>
      </p:sp>
      <p:sp>
        <p:nvSpPr>
          <p:cNvPr id="5" name="TextBox 4">
            <a:extLst>
              <a:ext uri="{FF2B5EF4-FFF2-40B4-BE49-F238E27FC236}">
                <a16:creationId xmlns:a16="http://schemas.microsoft.com/office/drawing/2014/main" id="{B793B326-3E3E-0766-C149-5D4FEA9FE4E9}"/>
              </a:ext>
            </a:extLst>
          </p:cNvPr>
          <p:cNvSpPr txBox="1"/>
          <p:nvPr/>
        </p:nvSpPr>
        <p:spPr>
          <a:xfrm>
            <a:off x="2194560" y="3021976"/>
            <a:ext cx="7802880" cy="369332"/>
          </a:xfrm>
          <a:prstGeom prst="rect">
            <a:avLst/>
          </a:prstGeom>
          <a:noFill/>
        </p:spPr>
        <p:txBody>
          <a:bodyPr wrap="square">
            <a:spAutoFit/>
          </a:bodyPr>
          <a:lstStyle/>
          <a:p>
            <a:r>
              <a:rPr lang="en-US" sz="1800" b="1" dirty="0">
                <a:solidFill>
                  <a:srgbClr val="25274D"/>
                </a:solidFill>
                <a:latin typeface="Montserrat" panose="00000500000000000000" pitchFamily="2" charset="0"/>
                <a:ea typeface="+mn-lt"/>
                <a:cs typeface="+mn-lt"/>
              </a:rPr>
              <a:t>Example : </a:t>
            </a:r>
            <a:endParaRPr lang="en-US" sz="1800" b="1" dirty="0">
              <a:solidFill>
                <a:srgbClr val="25274D"/>
              </a:solidFill>
              <a:latin typeface="Montserrat" panose="00000500000000000000" pitchFamily="2" charset="0"/>
            </a:endParaRPr>
          </a:p>
        </p:txBody>
      </p:sp>
      <p:pic>
        <p:nvPicPr>
          <p:cNvPr id="12" name="Picture 11">
            <a:extLst>
              <a:ext uri="{FF2B5EF4-FFF2-40B4-BE49-F238E27FC236}">
                <a16:creationId xmlns:a16="http://schemas.microsoft.com/office/drawing/2014/main" id="{76E33858-945B-A414-5C84-D9E5E3901F76}"/>
              </a:ext>
            </a:extLst>
          </p:cNvPr>
          <p:cNvPicPr>
            <a:picLocks noChangeAspect="1"/>
          </p:cNvPicPr>
          <p:nvPr/>
        </p:nvPicPr>
        <p:blipFill>
          <a:blip r:embed="rId3"/>
          <a:stretch>
            <a:fillRect/>
          </a:stretch>
        </p:blipFill>
        <p:spPr>
          <a:xfrm>
            <a:off x="3308021" y="3823853"/>
            <a:ext cx="4680947" cy="1036372"/>
          </a:xfrm>
          <a:prstGeom prst="rect">
            <a:avLst/>
          </a:prstGeom>
        </p:spPr>
      </p:pic>
    </p:spTree>
    <p:extLst>
      <p:ext uri="{BB962C8B-B14F-4D97-AF65-F5344CB8AC3E}">
        <p14:creationId xmlns:p14="http://schemas.microsoft.com/office/powerpoint/2010/main" val="2674835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par>
                                <p:cTn id="17" presetID="10" presetClass="entr" presetSubtype="0" fill="hold" nodeType="with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3" grpId="0"/>
      <p:bldP spid="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34BC0-D97D-FE76-2579-73BAB19198A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6ED107C-FF5C-18B1-8573-974C8D7EC202}"/>
              </a:ext>
            </a:extLst>
          </p:cNvPr>
          <p:cNvSpPr>
            <a:spLocks noGrp="1"/>
          </p:cNvSpPr>
          <p:nvPr>
            <p:ph type="title"/>
          </p:nvPr>
        </p:nvSpPr>
        <p:spPr/>
        <p:txBody>
          <a:bodyPr/>
          <a:lstStyle/>
          <a:p>
            <a:pPr>
              <a:lnSpc>
                <a:spcPts val="4500"/>
              </a:lnSpc>
            </a:pPr>
            <a:r>
              <a:rPr lang="en-US" dirty="0">
                <a:latin typeface="Montserrat Bold" pitchFamily="34" charset="0"/>
                <a:ea typeface="Montserrat Bold" pitchFamily="34" charset="-122"/>
                <a:cs typeface="Montserrat Bold" pitchFamily="34" charset="-120"/>
              </a:rPr>
              <a:t>Best Practices</a:t>
            </a:r>
            <a:endParaRPr lang="en-US" dirty="0"/>
          </a:p>
        </p:txBody>
      </p:sp>
      <p:grpSp>
        <p:nvGrpSpPr>
          <p:cNvPr id="67" name="Group 66">
            <a:extLst>
              <a:ext uri="{FF2B5EF4-FFF2-40B4-BE49-F238E27FC236}">
                <a16:creationId xmlns:a16="http://schemas.microsoft.com/office/drawing/2014/main" id="{D5095170-33E7-6420-083A-205D06FFC592}"/>
              </a:ext>
            </a:extLst>
          </p:cNvPr>
          <p:cNvGrpSpPr/>
          <p:nvPr/>
        </p:nvGrpSpPr>
        <p:grpSpPr>
          <a:xfrm>
            <a:off x="881311" y="2206170"/>
            <a:ext cx="10556794" cy="3165930"/>
            <a:chOff x="353472" y="2206170"/>
            <a:chExt cx="11612473" cy="3165930"/>
          </a:xfrm>
        </p:grpSpPr>
        <p:grpSp>
          <p:nvGrpSpPr>
            <p:cNvPr id="64" name="Group 63">
              <a:extLst>
                <a:ext uri="{FF2B5EF4-FFF2-40B4-BE49-F238E27FC236}">
                  <a16:creationId xmlns:a16="http://schemas.microsoft.com/office/drawing/2014/main" id="{164584AB-B7BB-EB51-12C7-B50631FCC643}"/>
                </a:ext>
              </a:extLst>
            </p:cNvPr>
            <p:cNvGrpSpPr/>
            <p:nvPr/>
          </p:nvGrpSpPr>
          <p:grpSpPr>
            <a:xfrm>
              <a:off x="353472" y="2206170"/>
              <a:ext cx="11612473" cy="3165930"/>
              <a:chOff x="353472" y="2206170"/>
              <a:chExt cx="11612473" cy="3165930"/>
            </a:xfrm>
          </p:grpSpPr>
          <p:grpSp>
            <p:nvGrpSpPr>
              <p:cNvPr id="61" name="Group 60">
                <a:extLst>
                  <a:ext uri="{FF2B5EF4-FFF2-40B4-BE49-F238E27FC236}">
                    <a16:creationId xmlns:a16="http://schemas.microsoft.com/office/drawing/2014/main" id="{01ED8642-93FA-FC20-3832-048758E5D887}"/>
                  </a:ext>
                </a:extLst>
              </p:cNvPr>
              <p:cNvGrpSpPr/>
              <p:nvPr/>
            </p:nvGrpSpPr>
            <p:grpSpPr>
              <a:xfrm>
                <a:off x="353472" y="2206170"/>
                <a:ext cx="11612473" cy="3165930"/>
                <a:chOff x="353472" y="2206170"/>
                <a:chExt cx="11612473" cy="3165930"/>
              </a:xfrm>
            </p:grpSpPr>
            <p:grpSp>
              <p:nvGrpSpPr>
                <p:cNvPr id="58" name="Group 57">
                  <a:extLst>
                    <a:ext uri="{FF2B5EF4-FFF2-40B4-BE49-F238E27FC236}">
                      <a16:creationId xmlns:a16="http://schemas.microsoft.com/office/drawing/2014/main" id="{B08F1156-5CF2-DFFB-19C8-876EC89E8D4F}"/>
                    </a:ext>
                  </a:extLst>
                </p:cNvPr>
                <p:cNvGrpSpPr/>
                <p:nvPr/>
              </p:nvGrpSpPr>
              <p:grpSpPr>
                <a:xfrm>
                  <a:off x="353472" y="2206170"/>
                  <a:ext cx="11612473" cy="3165930"/>
                  <a:chOff x="353472" y="2206170"/>
                  <a:chExt cx="11612473" cy="3165930"/>
                </a:xfrm>
              </p:grpSpPr>
              <p:grpSp>
                <p:nvGrpSpPr>
                  <p:cNvPr id="4" name="Group 3">
                    <a:extLst>
                      <a:ext uri="{FF2B5EF4-FFF2-40B4-BE49-F238E27FC236}">
                        <a16:creationId xmlns:a16="http://schemas.microsoft.com/office/drawing/2014/main" id="{CB7CE3C3-E370-B3F3-A9A4-4996D18B6F64}"/>
                      </a:ext>
                    </a:extLst>
                  </p:cNvPr>
                  <p:cNvGrpSpPr/>
                  <p:nvPr/>
                </p:nvGrpSpPr>
                <p:grpSpPr>
                  <a:xfrm>
                    <a:off x="353472" y="2206170"/>
                    <a:ext cx="11612473" cy="3165930"/>
                    <a:chOff x="353472" y="2206170"/>
                    <a:chExt cx="11612473" cy="3165930"/>
                  </a:xfrm>
                </p:grpSpPr>
                <p:grpSp>
                  <p:nvGrpSpPr>
                    <p:cNvPr id="19" name="Group 18">
                      <a:extLst>
                        <a:ext uri="{FF2B5EF4-FFF2-40B4-BE49-F238E27FC236}">
                          <a16:creationId xmlns:a16="http://schemas.microsoft.com/office/drawing/2014/main" id="{153D4CBF-E01A-A14D-208F-59C9F729476F}"/>
                        </a:ext>
                      </a:extLst>
                    </p:cNvPr>
                    <p:cNvGrpSpPr/>
                    <p:nvPr/>
                  </p:nvGrpSpPr>
                  <p:grpSpPr>
                    <a:xfrm>
                      <a:off x="353472" y="2206170"/>
                      <a:ext cx="2725091" cy="3165930"/>
                      <a:chOff x="1082813" y="2206170"/>
                      <a:chExt cx="2390775" cy="3165930"/>
                    </a:xfrm>
                  </p:grpSpPr>
                  <p:grpSp>
                    <p:nvGrpSpPr>
                      <p:cNvPr id="48" name="Group 47">
                        <a:extLst>
                          <a:ext uri="{FF2B5EF4-FFF2-40B4-BE49-F238E27FC236}">
                            <a16:creationId xmlns:a16="http://schemas.microsoft.com/office/drawing/2014/main" id="{A7923D61-8D55-EA00-2F39-8B26D983AA3B}"/>
                          </a:ext>
                        </a:extLst>
                      </p:cNvPr>
                      <p:cNvGrpSpPr/>
                      <p:nvPr/>
                    </p:nvGrpSpPr>
                    <p:grpSpPr>
                      <a:xfrm>
                        <a:off x="1082813" y="2206170"/>
                        <a:ext cx="2390775" cy="1088651"/>
                        <a:chOff x="793061" y="1623290"/>
                        <a:chExt cx="1793081" cy="816489"/>
                      </a:xfrm>
                    </p:grpSpPr>
                    <p:sp>
                      <p:nvSpPr>
                        <p:cNvPr id="54" name="Rectangle 53">
                          <a:extLst>
                            <a:ext uri="{FF2B5EF4-FFF2-40B4-BE49-F238E27FC236}">
                              <a16:creationId xmlns:a16="http://schemas.microsoft.com/office/drawing/2014/main" id="{77F401F8-E1F3-8847-C62A-832C9127D47B}"/>
                            </a:ext>
                          </a:extLst>
                        </p:cNvPr>
                        <p:cNvSpPr/>
                        <p:nvPr/>
                      </p:nvSpPr>
                      <p:spPr>
                        <a:xfrm rot="5400000" flipH="1">
                          <a:off x="1281357" y="1134994"/>
                          <a:ext cx="816489" cy="1793081"/>
                        </a:xfrm>
                        <a:prstGeom prst="rect">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55" name="TextBox 54">
                          <a:extLst>
                            <a:ext uri="{FF2B5EF4-FFF2-40B4-BE49-F238E27FC236}">
                              <a16:creationId xmlns:a16="http://schemas.microsoft.com/office/drawing/2014/main" id="{3C3D7AEF-710C-2FA3-C52D-102387B5B64F}"/>
                            </a:ext>
                          </a:extLst>
                        </p:cNvPr>
                        <p:cNvSpPr txBox="1"/>
                        <p:nvPr/>
                      </p:nvSpPr>
                      <p:spPr>
                        <a:xfrm>
                          <a:off x="878888" y="2156019"/>
                          <a:ext cx="1621425" cy="184666"/>
                        </a:xfrm>
                        <a:prstGeom prst="rect">
                          <a:avLst/>
                        </a:prstGeom>
                        <a:noFill/>
                      </p:spPr>
                      <p:txBody>
                        <a:bodyPr wrap="square" lIns="0" tIns="0" rIns="0" bIns="0" rtlCol="0" anchor="t">
                          <a:spAutoFit/>
                        </a:bodyPr>
                        <a:lstStyle/>
                        <a:p>
                          <a:pPr algn="ctr"/>
                          <a:r>
                            <a:rPr lang="en-US" sz="1600" b="1" dirty="0">
                              <a:solidFill>
                                <a:schemeClr val="bg1"/>
                              </a:solidFill>
                            </a:rPr>
                            <a:t>Add docstrings</a:t>
                          </a:r>
                        </a:p>
                      </p:txBody>
                    </p:sp>
                  </p:grpSp>
                  <p:grpSp>
                    <p:nvGrpSpPr>
                      <p:cNvPr id="49" name="Group 48">
                        <a:extLst>
                          <a:ext uri="{FF2B5EF4-FFF2-40B4-BE49-F238E27FC236}">
                            <a16:creationId xmlns:a16="http://schemas.microsoft.com/office/drawing/2014/main" id="{A6DC9B0C-5C18-BAD4-FA3D-C4F621BD9397}"/>
                          </a:ext>
                        </a:extLst>
                      </p:cNvPr>
                      <p:cNvGrpSpPr/>
                      <p:nvPr/>
                    </p:nvGrpSpPr>
                    <p:grpSpPr>
                      <a:xfrm>
                        <a:off x="1082813" y="3290772"/>
                        <a:ext cx="2390774" cy="2081328"/>
                        <a:chOff x="793061" y="2436741"/>
                        <a:chExt cx="1793081" cy="1560996"/>
                      </a:xfrm>
                    </p:grpSpPr>
                    <p:sp>
                      <p:nvSpPr>
                        <p:cNvPr id="50" name="Round Same Side Corner Rectangle 43">
                          <a:extLst>
                            <a:ext uri="{FF2B5EF4-FFF2-40B4-BE49-F238E27FC236}">
                              <a16:creationId xmlns:a16="http://schemas.microsoft.com/office/drawing/2014/main" id="{0C9DB452-B1BC-9E65-1A77-8FB80F0B9DB2}"/>
                            </a:ext>
                          </a:extLst>
                        </p:cNvPr>
                        <p:cNvSpPr/>
                        <p:nvPr/>
                      </p:nvSpPr>
                      <p:spPr>
                        <a:xfrm flipV="1">
                          <a:off x="793061" y="2436741"/>
                          <a:ext cx="1793081" cy="1560996"/>
                        </a:xfrm>
                        <a:prstGeom prst="round2SameRect">
                          <a:avLst>
                            <a:gd name="adj1" fmla="val 8813"/>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50" charset="0"/>
                          </a:endParaRPr>
                        </a:p>
                      </p:txBody>
                    </p:sp>
                    <p:sp>
                      <p:nvSpPr>
                        <p:cNvPr id="51" name="Text Placeholder 3">
                          <a:extLst>
                            <a:ext uri="{FF2B5EF4-FFF2-40B4-BE49-F238E27FC236}">
                              <a16:creationId xmlns:a16="http://schemas.microsoft.com/office/drawing/2014/main" id="{9DDC32B8-D2C3-6E91-1029-CC32B15680B6}"/>
                            </a:ext>
                          </a:extLst>
                        </p:cNvPr>
                        <p:cNvSpPr txBox="1">
                          <a:spLocks/>
                        </p:cNvSpPr>
                        <p:nvPr/>
                      </p:nvSpPr>
                      <p:spPr>
                        <a:xfrm>
                          <a:off x="1032906" y="2477650"/>
                          <a:ext cx="1297179" cy="1246495"/>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dirty="0">
                              <a:solidFill>
                                <a:srgbClr val="25274D"/>
                              </a:solidFill>
                              <a:latin typeface="Montserrat" panose="00000500000000000000" pitchFamily="50" charset="0"/>
                              <a:cs typeface="+mj-cs"/>
                            </a:rPr>
                            <a:t>Use docstrings to describe your function's purpose, parameters, and return value</a:t>
                          </a:r>
                        </a:p>
                      </p:txBody>
                    </p:sp>
                  </p:grpSp>
                </p:grpSp>
                <p:grpSp>
                  <p:nvGrpSpPr>
                    <p:cNvPr id="20" name="Group 19">
                      <a:extLst>
                        <a:ext uri="{FF2B5EF4-FFF2-40B4-BE49-F238E27FC236}">
                          <a16:creationId xmlns:a16="http://schemas.microsoft.com/office/drawing/2014/main" id="{498071DD-E61C-1C47-8F3B-3667D76FE9BB}"/>
                        </a:ext>
                      </a:extLst>
                    </p:cNvPr>
                    <p:cNvGrpSpPr/>
                    <p:nvPr/>
                  </p:nvGrpSpPr>
                  <p:grpSpPr>
                    <a:xfrm>
                      <a:off x="3315933" y="2206170"/>
                      <a:ext cx="2725091" cy="3165930"/>
                      <a:chOff x="1082813" y="2206170"/>
                      <a:chExt cx="2390775" cy="3165930"/>
                    </a:xfrm>
                  </p:grpSpPr>
                  <p:grpSp>
                    <p:nvGrpSpPr>
                      <p:cNvPr id="41" name="Group 40">
                        <a:extLst>
                          <a:ext uri="{FF2B5EF4-FFF2-40B4-BE49-F238E27FC236}">
                            <a16:creationId xmlns:a16="http://schemas.microsoft.com/office/drawing/2014/main" id="{9712900A-3F74-23F3-817A-97592B8A3E12}"/>
                          </a:ext>
                        </a:extLst>
                      </p:cNvPr>
                      <p:cNvGrpSpPr/>
                      <p:nvPr/>
                    </p:nvGrpSpPr>
                    <p:grpSpPr>
                      <a:xfrm>
                        <a:off x="1082813" y="2206170"/>
                        <a:ext cx="2390775" cy="1088651"/>
                        <a:chOff x="793061" y="1623290"/>
                        <a:chExt cx="1793081" cy="816489"/>
                      </a:xfrm>
                    </p:grpSpPr>
                    <p:sp>
                      <p:nvSpPr>
                        <p:cNvPr id="46" name="Rectangle 45">
                          <a:extLst>
                            <a:ext uri="{FF2B5EF4-FFF2-40B4-BE49-F238E27FC236}">
                              <a16:creationId xmlns:a16="http://schemas.microsoft.com/office/drawing/2014/main" id="{C5355E46-B94F-3170-AA84-1ED91AA2CDCA}"/>
                            </a:ext>
                          </a:extLst>
                        </p:cNvPr>
                        <p:cNvSpPr/>
                        <p:nvPr/>
                      </p:nvSpPr>
                      <p:spPr>
                        <a:xfrm rot="5400000" flipH="1">
                          <a:off x="1281357" y="1134994"/>
                          <a:ext cx="816489" cy="1793081"/>
                        </a:xfrm>
                        <a:prstGeom prst="rect">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47" name="TextBox 46">
                          <a:extLst>
                            <a:ext uri="{FF2B5EF4-FFF2-40B4-BE49-F238E27FC236}">
                              <a16:creationId xmlns:a16="http://schemas.microsoft.com/office/drawing/2014/main" id="{A316753C-B961-BEE3-6D96-F97E052EA87E}"/>
                            </a:ext>
                          </a:extLst>
                        </p:cNvPr>
                        <p:cNvSpPr txBox="1"/>
                        <p:nvPr/>
                      </p:nvSpPr>
                      <p:spPr>
                        <a:xfrm>
                          <a:off x="936795" y="2156019"/>
                          <a:ext cx="1505610" cy="184666"/>
                        </a:xfrm>
                        <a:prstGeom prst="rect">
                          <a:avLst/>
                        </a:prstGeom>
                        <a:noFill/>
                      </p:spPr>
                      <p:txBody>
                        <a:bodyPr wrap="square" lIns="0" tIns="0" rIns="0" bIns="0" rtlCol="0" anchor="t">
                          <a:spAutoFit/>
                        </a:bodyPr>
                        <a:lstStyle/>
                        <a:p>
                          <a:pPr algn="ctr"/>
                          <a:r>
                            <a:rPr lang="en-US" sz="1600" b="1" dirty="0">
                              <a:solidFill>
                                <a:schemeClr val="bg1"/>
                              </a:solidFill>
                            </a:rPr>
                            <a:t>Use clear names</a:t>
                          </a:r>
                        </a:p>
                      </p:txBody>
                    </p:sp>
                  </p:grpSp>
                  <p:grpSp>
                    <p:nvGrpSpPr>
                      <p:cNvPr id="42" name="Group 41">
                        <a:extLst>
                          <a:ext uri="{FF2B5EF4-FFF2-40B4-BE49-F238E27FC236}">
                            <a16:creationId xmlns:a16="http://schemas.microsoft.com/office/drawing/2014/main" id="{C70491A3-29CE-8E35-F5E4-21A9EF110645}"/>
                          </a:ext>
                        </a:extLst>
                      </p:cNvPr>
                      <p:cNvGrpSpPr/>
                      <p:nvPr/>
                    </p:nvGrpSpPr>
                    <p:grpSpPr>
                      <a:xfrm>
                        <a:off x="1082813" y="3290772"/>
                        <a:ext cx="2390774" cy="2081328"/>
                        <a:chOff x="793061" y="2436741"/>
                        <a:chExt cx="1793081" cy="1560996"/>
                      </a:xfrm>
                    </p:grpSpPr>
                    <p:sp>
                      <p:nvSpPr>
                        <p:cNvPr id="43" name="Round Same Side Corner Rectangle 43">
                          <a:extLst>
                            <a:ext uri="{FF2B5EF4-FFF2-40B4-BE49-F238E27FC236}">
                              <a16:creationId xmlns:a16="http://schemas.microsoft.com/office/drawing/2014/main" id="{5B399B3B-EADE-894C-0990-730FDA1D2E57}"/>
                            </a:ext>
                          </a:extLst>
                        </p:cNvPr>
                        <p:cNvSpPr/>
                        <p:nvPr/>
                      </p:nvSpPr>
                      <p:spPr>
                        <a:xfrm flipV="1">
                          <a:off x="793061" y="2436741"/>
                          <a:ext cx="1793081" cy="1560996"/>
                        </a:xfrm>
                        <a:prstGeom prst="round2SameRect">
                          <a:avLst>
                            <a:gd name="adj1" fmla="val 8813"/>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50" charset="0"/>
                          </a:endParaRPr>
                        </a:p>
                      </p:txBody>
                    </p:sp>
                    <p:sp>
                      <p:nvSpPr>
                        <p:cNvPr id="44" name="Text Placeholder 3">
                          <a:extLst>
                            <a:ext uri="{FF2B5EF4-FFF2-40B4-BE49-F238E27FC236}">
                              <a16:creationId xmlns:a16="http://schemas.microsoft.com/office/drawing/2014/main" id="{ADDA9168-689F-5CBA-7BD7-95C3B2E6F625}"/>
                            </a:ext>
                          </a:extLst>
                        </p:cNvPr>
                        <p:cNvSpPr txBox="1">
                          <a:spLocks/>
                        </p:cNvSpPr>
                        <p:nvPr/>
                      </p:nvSpPr>
                      <p:spPr>
                        <a:xfrm>
                          <a:off x="1009065" y="2477650"/>
                          <a:ext cx="1344861" cy="1038746"/>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dirty="0">
                              <a:solidFill>
                                <a:srgbClr val="25274D"/>
                              </a:solidFill>
                              <a:latin typeface="Montserrat" panose="00000500000000000000" pitchFamily="50" charset="0"/>
                              <a:cs typeface="+mj-cs"/>
                            </a:rPr>
                            <a:t>Prefer clear parameter names like </a:t>
                          </a:r>
                          <a:r>
                            <a:rPr lang="en-US" sz="1800" dirty="0" err="1">
                              <a:solidFill>
                                <a:srgbClr val="25274D"/>
                              </a:solidFill>
                              <a:latin typeface="Montserrat" panose="00000500000000000000" pitchFamily="50" charset="0"/>
                              <a:cs typeface="+mj-cs"/>
                            </a:rPr>
                            <a:t>user_age</a:t>
                          </a:r>
                          <a:r>
                            <a:rPr lang="en-US" sz="1800" dirty="0">
                              <a:solidFill>
                                <a:srgbClr val="25274D"/>
                              </a:solidFill>
                              <a:latin typeface="Montserrat" panose="00000500000000000000" pitchFamily="50" charset="0"/>
                              <a:cs typeface="+mj-cs"/>
                            </a:rPr>
                            <a:t> over vague ones like x</a:t>
                          </a:r>
                        </a:p>
                      </p:txBody>
                    </p:sp>
                  </p:grpSp>
                </p:grpSp>
                <p:grpSp>
                  <p:nvGrpSpPr>
                    <p:cNvPr id="21" name="Group 20">
                      <a:extLst>
                        <a:ext uri="{FF2B5EF4-FFF2-40B4-BE49-F238E27FC236}">
                          <a16:creationId xmlns:a16="http://schemas.microsoft.com/office/drawing/2014/main" id="{6F02CA6F-A727-1D63-4C93-2A63238D8727}"/>
                        </a:ext>
                      </a:extLst>
                    </p:cNvPr>
                    <p:cNvGrpSpPr/>
                    <p:nvPr/>
                  </p:nvGrpSpPr>
                  <p:grpSpPr>
                    <a:xfrm>
                      <a:off x="6278394" y="2206170"/>
                      <a:ext cx="2725091" cy="3165930"/>
                      <a:chOff x="1082813" y="2206170"/>
                      <a:chExt cx="2390775" cy="3165930"/>
                    </a:xfrm>
                  </p:grpSpPr>
                  <p:grpSp>
                    <p:nvGrpSpPr>
                      <p:cNvPr id="34" name="Group 33">
                        <a:extLst>
                          <a:ext uri="{FF2B5EF4-FFF2-40B4-BE49-F238E27FC236}">
                            <a16:creationId xmlns:a16="http://schemas.microsoft.com/office/drawing/2014/main" id="{145E7CED-877A-06DF-4A37-8D89B44EAF43}"/>
                          </a:ext>
                        </a:extLst>
                      </p:cNvPr>
                      <p:cNvGrpSpPr/>
                      <p:nvPr/>
                    </p:nvGrpSpPr>
                    <p:grpSpPr>
                      <a:xfrm>
                        <a:off x="1082813" y="2206170"/>
                        <a:ext cx="2390775" cy="1088651"/>
                        <a:chOff x="793061" y="1623290"/>
                        <a:chExt cx="1793081" cy="816489"/>
                      </a:xfrm>
                    </p:grpSpPr>
                    <p:sp>
                      <p:nvSpPr>
                        <p:cNvPr id="39" name="Rectangle 38">
                          <a:extLst>
                            <a:ext uri="{FF2B5EF4-FFF2-40B4-BE49-F238E27FC236}">
                              <a16:creationId xmlns:a16="http://schemas.microsoft.com/office/drawing/2014/main" id="{8F419808-B4ED-E8BD-67F5-314AEEAC3677}"/>
                            </a:ext>
                          </a:extLst>
                        </p:cNvPr>
                        <p:cNvSpPr/>
                        <p:nvPr/>
                      </p:nvSpPr>
                      <p:spPr>
                        <a:xfrm rot="5400000" flipH="1">
                          <a:off x="1281357" y="1134994"/>
                          <a:ext cx="816489" cy="1793081"/>
                        </a:xfrm>
                        <a:prstGeom prst="rect">
                          <a:avLst/>
                        </a:prstGeom>
                        <a:solidFill>
                          <a:srgbClr val="2964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40" name="TextBox 39">
                          <a:extLst>
                            <a:ext uri="{FF2B5EF4-FFF2-40B4-BE49-F238E27FC236}">
                              <a16:creationId xmlns:a16="http://schemas.microsoft.com/office/drawing/2014/main" id="{17CE3180-D59C-6A09-35DB-7ED12BF4450D}"/>
                            </a:ext>
                          </a:extLst>
                        </p:cNvPr>
                        <p:cNvSpPr txBox="1"/>
                        <p:nvPr/>
                      </p:nvSpPr>
                      <p:spPr>
                        <a:xfrm>
                          <a:off x="878888" y="2156019"/>
                          <a:ext cx="1621425" cy="184666"/>
                        </a:xfrm>
                        <a:prstGeom prst="rect">
                          <a:avLst/>
                        </a:prstGeom>
                        <a:noFill/>
                      </p:spPr>
                      <p:txBody>
                        <a:bodyPr wrap="square" lIns="0" tIns="0" rIns="0" bIns="0" rtlCol="0" anchor="t">
                          <a:spAutoFit/>
                        </a:bodyPr>
                        <a:lstStyle/>
                        <a:p>
                          <a:pPr algn="ctr"/>
                          <a:r>
                            <a:rPr lang="en-US" sz="1600" b="1" dirty="0">
                              <a:solidFill>
                                <a:schemeClr val="bg1"/>
                              </a:solidFill>
                            </a:rPr>
                            <a:t>Keep functions short</a:t>
                          </a:r>
                        </a:p>
                      </p:txBody>
                    </p:sp>
                  </p:grpSp>
                  <p:grpSp>
                    <p:nvGrpSpPr>
                      <p:cNvPr id="35" name="Group 34">
                        <a:extLst>
                          <a:ext uri="{FF2B5EF4-FFF2-40B4-BE49-F238E27FC236}">
                            <a16:creationId xmlns:a16="http://schemas.microsoft.com/office/drawing/2014/main" id="{1C357128-174D-340D-14FE-BBDE88B5F6E9}"/>
                          </a:ext>
                        </a:extLst>
                      </p:cNvPr>
                      <p:cNvGrpSpPr/>
                      <p:nvPr/>
                    </p:nvGrpSpPr>
                    <p:grpSpPr>
                      <a:xfrm>
                        <a:off x="1082813" y="3290772"/>
                        <a:ext cx="2390774" cy="2081328"/>
                        <a:chOff x="793061" y="2436741"/>
                        <a:chExt cx="1793081" cy="1560996"/>
                      </a:xfrm>
                    </p:grpSpPr>
                    <p:sp>
                      <p:nvSpPr>
                        <p:cNvPr id="36" name="Round Same Side Corner Rectangle 43">
                          <a:extLst>
                            <a:ext uri="{FF2B5EF4-FFF2-40B4-BE49-F238E27FC236}">
                              <a16:creationId xmlns:a16="http://schemas.microsoft.com/office/drawing/2014/main" id="{BE565025-4AA8-DD75-F527-A6EC9949BF6E}"/>
                            </a:ext>
                          </a:extLst>
                        </p:cNvPr>
                        <p:cNvSpPr/>
                        <p:nvPr/>
                      </p:nvSpPr>
                      <p:spPr>
                        <a:xfrm flipV="1">
                          <a:off x="793061" y="2436741"/>
                          <a:ext cx="1793081" cy="1560996"/>
                        </a:xfrm>
                        <a:prstGeom prst="round2SameRect">
                          <a:avLst>
                            <a:gd name="adj1" fmla="val 8813"/>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50" charset="0"/>
                          </a:endParaRPr>
                        </a:p>
                      </p:txBody>
                    </p:sp>
                    <p:sp>
                      <p:nvSpPr>
                        <p:cNvPr id="37" name="Text Placeholder 3">
                          <a:extLst>
                            <a:ext uri="{FF2B5EF4-FFF2-40B4-BE49-F238E27FC236}">
                              <a16:creationId xmlns:a16="http://schemas.microsoft.com/office/drawing/2014/main" id="{AC591C3B-BEF3-E5D5-0958-D362466EF8DF}"/>
                            </a:ext>
                          </a:extLst>
                        </p:cNvPr>
                        <p:cNvSpPr txBox="1">
                          <a:spLocks/>
                        </p:cNvSpPr>
                        <p:nvPr/>
                      </p:nvSpPr>
                      <p:spPr>
                        <a:xfrm>
                          <a:off x="994072" y="2477650"/>
                          <a:ext cx="1374847" cy="1246495"/>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dirty="0">
                              <a:solidFill>
                                <a:srgbClr val="25274D"/>
                              </a:solidFill>
                              <a:latin typeface="Montserrat" panose="00000500000000000000" pitchFamily="50" charset="0"/>
                              <a:cs typeface="+mj-cs"/>
                            </a:rPr>
                            <a:t>Design functions to be focused and concise; avoid exceeding a single screen of code</a:t>
                          </a:r>
                        </a:p>
                      </p:txBody>
                    </p:sp>
                  </p:grpSp>
                </p:grpSp>
                <p:grpSp>
                  <p:nvGrpSpPr>
                    <p:cNvPr id="22" name="Group 21">
                      <a:extLst>
                        <a:ext uri="{FF2B5EF4-FFF2-40B4-BE49-F238E27FC236}">
                          <a16:creationId xmlns:a16="http://schemas.microsoft.com/office/drawing/2014/main" id="{F1C58744-43D4-558A-604E-65B9DE0C0E97}"/>
                        </a:ext>
                      </a:extLst>
                    </p:cNvPr>
                    <p:cNvGrpSpPr/>
                    <p:nvPr/>
                  </p:nvGrpSpPr>
                  <p:grpSpPr>
                    <a:xfrm>
                      <a:off x="9240854" y="2206170"/>
                      <a:ext cx="2725091" cy="3165930"/>
                      <a:chOff x="1082813" y="2206170"/>
                      <a:chExt cx="2390775" cy="3165930"/>
                    </a:xfrm>
                  </p:grpSpPr>
                  <p:grpSp>
                    <p:nvGrpSpPr>
                      <p:cNvPr id="27" name="Group 26">
                        <a:extLst>
                          <a:ext uri="{FF2B5EF4-FFF2-40B4-BE49-F238E27FC236}">
                            <a16:creationId xmlns:a16="http://schemas.microsoft.com/office/drawing/2014/main" id="{DCB7FCC7-8975-A5F6-A1F1-C178E6E7217A}"/>
                          </a:ext>
                        </a:extLst>
                      </p:cNvPr>
                      <p:cNvGrpSpPr/>
                      <p:nvPr/>
                    </p:nvGrpSpPr>
                    <p:grpSpPr>
                      <a:xfrm>
                        <a:off x="1082813" y="2206170"/>
                        <a:ext cx="2390775" cy="1088651"/>
                        <a:chOff x="793061" y="1623290"/>
                        <a:chExt cx="1793081" cy="816489"/>
                      </a:xfrm>
                    </p:grpSpPr>
                    <p:sp>
                      <p:nvSpPr>
                        <p:cNvPr id="32" name="Rectangle 31">
                          <a:extLst>
                            <a:ext uri="{FF2B5EF4-FFF2-40B4-BE49-F238E27FC236}">
                              <a16:creationId xmlns:a16="http://schemas.microsoft.com/office/drawing/2014/main" id="{62B48AAF-F29C-6585-FD5A-12149D5BBD5C}"/>
                            </a:ext>
                          </a:extLst>
                        </p:cNvPr>
                        <p:cNvSpPr/>
                        <p:nvPr/>
                      </p:nvSpPr>
                      <p:spPr>
                        <a:xfrm rot="5400000" flipH="1">
                          <a:off x="1281357" y="1134994"/>
                          <a:ext cx="816489" cy="1793081"/>
                        </a:xfrm>
                        <a:prstGeom prst="rect">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33" name="TextBox 32">
                          <a:extLst>
                            <a:ext uri="{FF2B5EF4-FFF2-40B4-BE49-F238E27FC236}">
                              <a16:creationId xmlns:a16="http://schemas.microsoft.com/office/drawing/2014/main" id="{56B40E02-887F-E4EE-7A81-D3008EFEBD6D}"/>
                            </a:ext>
                          </a:extLst>
                        </p:cNvPr>
                        <p:cNvSpPr txBox="1"/>
                        <p:nvPr/>
                      </p:nvSpPr>
                      <p:spPr>
                        <a:xfrm>
                          <a:off x="929913" y="2156019"/>
                          <a:ext cx="1519376" cy="184666"/>
                        </a:xfrm>
                        <a:prstGeom prst="rect">
                          <a:avLst/>
                        </a:prstGeom>
                        <a:noFill/>
                      </p:spPr>
                      <p:txBody>
                        <a:bodyPr wrap="square" lIns="0" tIns="0" rIns="0" bIns="0" rtlCol="0" anchor="t">
                          <a:spAutoFit/>
                        </a:bodyPr>
                        <a:lstStyle/>
                        <a:p>
                          <a:pPr algn="ctr"/>
                          <a:r>
                            <a:rPr lang="en-US" sz="1600" b="1" dirty="0">
                              <a:solidFill>
                                <a:schemeClr val="bg1"/>
                              </a:solidFill>
                            </a:rPr>
                            <a:t>Write test cases</a:t>
                          </a:r>
                        </a:p>
                      </p:txBody>
                    </p:sp>
                  </p:grpSp>
                  <p:grpSp>
                    <p:nvGrpSpPr>
                      <p:cNvPr id="28" name="Group 27">
                        <a:extLst>
                          <a:ext uri="{FF2B5EF4-FFF2-40B4-BE49-F238E27FC236}">
                            <a16:creationId xmlns:a16="http://schemas.microsoft.com/office/drawing/2014/main" id="{E7BCBC44-1808-D1EF-D5C6-B0329CAEFB90}"/>
                          </a:ext>
                        </a:extLst>
                      </p:cNvPr>
                      <p:cNvGrpSpPr/>
                      <p:nvPr/>
                    </p:nvGrpSpPr>
                    <p:grpSpPr>
                      <a:xfrm>
                        <a:off x="1082813" y="3290772"/>
                        <a:ext cx="2390774" cy="2081328"/>
                        <a:chOff x="793061" y="2436741"/>
                        <a:chExt cx="1793081" cy="1560996"/>
                      </a:xfrm>
                    </p:grpSpPr>
                    <p:sp>
                      <p:nvSpPr>
                        <p:cNvPr id="29" name="Round Same Side Corner Rectangle 43">
                          <a:extLst>
                            <a:ext uri="{FF2B5EF4-FFF2-40B4-BE49-F238E27FC236}">
                              <a16:creationId xmlns:a16="http://schemas.microsoft.com/office/drawing/2014/main" id="{14DB1183-9BC4-C9D3-8C05-E3E8EBFFEBF3}"/>
                            </a:ext>
                          </a:extLst>
                        </p:cNvPr>
                        <p:cNvSpPr/>
                        <p:nvPr/>
                      </p:nvSpPr>
                      <p:spPr>
                        <a:xfrm flipV="1">
                          <a:off x="793061" y="2436741"/>
                          <a:ext cx="1793081" cy="1560996"/>
                        </a:xfrm>
                        <a:prstGeom prst="round2SameRect">
                          <a:avLst>
                            <a:gd name="adj1" fmla="val 8813"/>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50" charset="0"/>
                          </a:endParaRPr>
                        </a:p>
                      </p:txBody>
                    </p:sp>
                    <p:sp>
                      <p:nvSpPr>
                        <p:cNvPr id="30" name="Text Placeholder 3">
                          <a:extLst>
                            <a:ext uri="{FF2B5EF4-FFF2-40B4-BE49-F238E27FC236}">
                              <a16:creationId xmlns:a16="http://schemas.microsoft.com/office/drawing/2014/main" id="{BBCC80FD-61ED-B5F7-9598-EAC48C40DC7A}"/>
                            </a:ext>
                          </a:extLst>
                        </p:cNvPr>
                        <p:cNvSpPr txBox="1">
                          <a:spLocks/>
                        </p:cNvSpPr>
                        <p:nvPr/>
                      </p:nvSpPr>
                      <p:spPr>
                        <a:xfrm>
                          <a:off x="970231" y="2477650"/>
                          <a:ext cx="1422530" cy="1038746"/>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dirty="0">
                              <a:solidFill>
                                <a:srgbClr val="25274D"/>
                              </a:solidFill>
                              <a:latin typeface="Montserrat" panose="00000500000000000000" pitchFamily="50" charset="0"/>
                              <a:cs typeface="+mj-cs"/>
                            </a:rPr>
                            <a:t>Verify edge cases and unexpected inputs to ensure robust function performance</a:t>
                          </a:r>
                        </a:p>
                      </p:txBody>
                    </p:sp>
                  </p:grpSp>
                </p:grpSp>
              </p:grpSp>
              <p:pic>
                <p:nvPicPr>
                  <p:cNvPr id="57" name="Graphic 56">
                    <a:extLst>
                      <a:ext uri="{FF2B5EF4-FFF2-40B4-BE49-F238E27FC236}">
                        <a16:creationId xmlns:a16="http://schemas.microsoft.com/office/drawing/2014/main" id="{BF6E296A-C130-E1C2-7A46-C2534BAEE5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19032" y="2329544"/>
                    <a:ext cx="593971" cy="515252"/>
                  </a:xfrm>
                  <a:prstGeom prst="rect">
                    <a:avLst/>
                  </a:prstGeom>
                </p:spPr>
              </p:pic>
            </p:grpSp>
            <p:pic>
              <p:nvPicPr>
                <p:cNvPr id="60" name="Graphic 59">
                  <a:extLst>
                    <a:ext uri="{FF2B5EF4-FFF2-40B4-BE49-F238E27FC236}">
                      <a16:creationId xmlns:a16="http://schemas.microsoft.com/office/drawing/2014/main" id="{4C9BE94C-9C5B-ADB4-9234-178181B015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74336" y="2354794"/>
                  <a:ext cx="608284" cy="493783"/>
                </a:xfrm>
                <a:prstGeom prst="rect">
                  <a:avLst/>
                </a:prstGeom>
              </p:spPr>
            </p:pic>
          </p:grpSp>
          <p:pic>
            <p:nvPicPr>
              <p:cNvPr id="63" name="Graphic 62">
                <a:extLst>
                  <a:ext uri="{FF2B5EF4-FFF2-40B4-BE49-F238E27FC236}">
                    <a16:creationId xmlns:a16="http://schemas.microsoft.com/office/drawing/2014/main" id="{716959AE-59FA-5C14-76FF-6506FD99CB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87217" y="2362478"/>
                <a:ext cx="507445" cy="507445"/>
              </a:xfrm>
              <a:prstGeom prst="rect">
                <a:avLst/>
              </a:prstGeom>
            </p:spPr>
          </p:pic>
        </p:grpSp>
        <p:pic>
          <p:nvPicPr>
            <p:cNvPr id="66" name="Graphic 65">
              <a:extLst>
                <a:ext uri="{FF2B5EF4-FFF2-40B4-BE49-F238E27FC236}">
                  <a16:creationId xmlns:a16="http://schemas.microsoft.com/office/drawing/2014/main" id="{A46C49A1-45F5-7DC8-8285-18C902FEAB1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7528" y="2291974"/>
              <a:ext cx="431742" cy="550027"/>
            </a:xfrm>
            <a:prstGeom prst="rect">
              <a:avLst/>
            </a:prstGeom>
          </p:spPr>
        </p:pic>
      </p:grpSp>
    </p:spTree>
    <p:extLst>
      <p:ext uri="{BB962C8B-B14F-4D97-AF65-F5344CB8AC3E}">
        <p14:creationId xmlns:p14="http://schemas.microsoft.com/office/powerpoint/2010/main" val="99950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C1DF1-E4C0-F18A-89C5-91377D5F3FE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2F8357F-4A55-AA6E-2457-6F7A8D16DBB1}"/>
              </a:ext>
            </a:extLst>
          </p:cNvPr>
          <p:cNvSpPr>
            <a:spLocks noGrp="1"/>
          </p:cNvSpPr>
          <p:nvPr>
            <p:ph type="body" sz="quarter" idx="12"/>
          </p:nvPr>
        </p:nvSpPr>
        <p:spPr>
          <a:xfrm>
            <a:off x="749999" y="2482074"/>
            <a:ext cx="5761160" cy="1893851"/>
          </a:xfrm>
        </p:spPr>
        <p:txBody>
          <a:bodyPr>
            <a:normAutofit/>
          </a:bodyPr>
          <a:lstStyle/>
          <a:p>
            <a:pPr>
              <a:lnSpc>
                <a:spcPts val="4500"/>
              </a:lnSpc>
            </a:pPr>
            <a:r>
              <a:rPr lang="en-US" sz="3600" dirty="0">
                <a:latin typeface="Montserrat Bold" pitchFamily="34" charset="0"/>
                <a:ea typeface="Montserrat Bold" pitchFamily="34" charset="-122"/>
                <a:cs typeface="Montserrat Bold" pitchFamily="34" charset="-120"/>
              </a:rPr>
              <a:t>Example: Chatbot with Function</a:t>
            </a:r>
            <a:endParaRPr lang="en-US" sz="3600" dirty="0"/>
          </a:p>
        </p:txBody>
      </p:sp>
      <p:sp>
        <p:nvSpPr>
          <p:cNvPr id="2" name="Text 1">
            <a:extLst>
              <a:ext uri="{FF2B5EF4-FFF2-40B4-BE49-F238E27FC236}">
                <a16:creationId xmlns:a16="http://schemas.microsoft.com/office/drawing/2014/main" id="{2F005396-554D-45A7-0E0D-F53CF66CC0AD}"/>
              </a:ext>
            </a:extLst>
          </p:cNvPr>
          <p:cNvSpPr/>
          <p:nvPr/>
        </p:nvSpPr>
        <p:spPr>
          <a:xfrm>
            <a:off x="10720822" y="6392963"/>
            <a:ext cx="1342156" cy="362904"/>
          </a:xfrm>
          <a:prstGeom prst="rect">
            <a:avLst/>
          </a:prstGeom>
          <a:noFill/>
          <a:ln/>
        </p:spPr>
        <p:txBody>
          <a:bodyPr wrap="none" lIns="0" tIns="0" rIns="0" bIns="0" rtlCol="0" anchor="t"/>
          <a:lstStyle/>
          <a:p>
            <a:pPr marL="0" indent="0" algn="ctr">
              <a:lnSpc>
                <a:spcPts val="2850"/>
              </a:lnSpc>
              <a:buNone/>
            </a:pPr>
            <a:r>
              <a:rPr lang="en-US" dirty="0">
                <a:solidFill>
                  <a:srgbClr val="25274D"/>
                </a:solidFill>
                <a:latin typeface="Montserrat" pitchFamily="34" charset="0"/>
                <a:ea typeface="Montserrat" pitchFamily="34" charset="-122"/>
                <a:cs typeface="Montserrat" pitchFamily="34" charset="-120"/>
              </a:rPr>
              <a:t>(Topic 12 of 12)</a:t>
            </a:r>
            <a:endParaRPr lang="en-US" dirty="0">
              <a:solidFill>
                <a:srgbClr val="25274D"/>
              </a:solidFill>
            </a:endParaRPr>
          </a:p>
        </p:txBody>
      </p:sp>
    </p:spTree>
    <p:extLst>
      <p:ext uri="{BB962C8B-B14F-4D97-AF65-F5344CB8AC3E}">
        <p14:creationId xmlns:p14="http://schemas.microsoft.com/office/powerpoint/2010/main" val="2489341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3E8F7-0BB0-9D0C-1219-D298092ACC8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3A100E6-C2EF-EAE5-663E-B2E9B7BDB4CB}"/>
              </a:ext>
            </a:extLst>
          </p:cNvPr>
          <p:cNvSpPr/>
          <p:nvPr/>
        </p:nvSpPr>
        <p:spPr>
          <a:xfrm>
            <a:off x="2756657" y="1188094"/>
            <a:ext cx="7017538" cy="5558695"/>
          </a:xfrm>
          <a:prstGeom prst="roundRect">
            <a:avLst>
              <a:gd name="adj" fmla="val 4922"/>
            </a:avLst>
          </a:prstGeom>
          <a:solidFill>
            <a:schemeClr val="bg1"/>
          </a:solidFill>
          <a:ln w="19050">
            <a:solidFill>
              <a:srgbClr val="2527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itle 7">
            <a:extLst>
              <a:ext uri="{FF2B5EF4-FFF2-40B4-BE49-F238E27FC236}">
                <a16:creationId xmlns:a16="http://schemas.microsoft.com/office/drawing/2014/main" id="{E059800B-1E01-BD14-AA89-5830E42C7120}"/>
              </a:ext>
            </a:extLst>
          </p:cNvPr>
          <p:cNvSpPr>
            <a:spLocks noGrp="1"/>
          </p:cNvSpPr>
          <p:nvPr>
            <p:ph type="title"/>
          </p:nvPr>
        </p:nvSpPr>
        <p:spPr/>
        <p:txBody>
          <a:bodyPr/>
          <a:lstStyle/>
          <a:p>
            <a:pPr>
              <a:lnSpc>
                <a:spcPts val="4500"/>
              </a:lnSpc>
            </a:pPr>
            <a:r>
              <a:rPr lang="en-US" dirty="0">
                <a:latin typeface="Montserrat Bold" pitchFamily="34" charset="0"/>
                <a:ea typeface="Montserrat Bold" pitchFamily="34" charset="-122"/>
                <a:cs typeface="Montserrat Bold" pitchFamily="34" charset="-120"/>
              </a:rPr>
              <a:t>Chatbot: Backend Code Example</a:t>
            </a:r>
            <a:endParaRPr lang="en-US" dirty="0"/>
          </a:p>
        </p:txBody>
      </p:sp>
      <p:pic>
        <p:nvPicPr>
          <p:cNvPr id="5" name="Picture 4">
            <a:extLst>
              <a:ext uri="{FF2B5EF4-FFF2-40B4-BE49-F238E27FC236}">
                <a16:creationId xmlns:a16="http://schemas.microsoft.com/office/drawing/2014/main" id="{A67E096D-EACF-3086-8710-F7D1855AED02}"/>
              </a:ext>
            </a:extLst>
          </p:cNvPr>
          <p:cNvPicPr>
            <a:picLocks noChangeAspect="1"/>
          </p:cNvPicPr>
          <p:nvPr/>
        </p:nvPicPr>
        <p:blipFill>
          <a:blip r:embed="rId3"/>
          <a:stretch>
            <a:fillRect/>
          </a:stretch>
        </p:blipFill>
        <p:spPr>
          <a:xfrm>
            <a:off x="2997273" y="1295596"/>
            <a:ext cx="6549279" cy="5308973"/>
          </a:xfrm>
          <a:prstGeom prst="rect">
            <a:avLst/>
          </a:prstGeom>
        </p:spPr>
      </p:pic>
    </p:spTree>
    <p:extLst>
      <p:ext uri="{BB962C8B-B14F-4D97-AF65-F5344CB8AC3E}">
        <p14:creationId xmlns:p14="http://schemas.microsoft.com/office/powerpoint/2010/main" val="426012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5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06551-DBC3-B9E6-1156-016C2AC0CC0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F32B783-B209-A293-FBB0-C40FFD3E5813}"/>
              </a:ext>
            </a:extLst>
          </p:cNvPr>
          <p:cNvSpPr>
            <a:spLocks noGrp="1"/>
          </p:cNvSpPr>
          <p:nvPr>
            <p:ph type="title"/>
          </p:nvPr>
        </p:nvSpPr>
        <p:spPr>
          <a:xfrm>
            <a:off x="749998" y="547835"/>
            <a:ext cx="10622083" cy="540674"/>
          </a:xfrm>
        </p:spPr>
        <p:txBody>
          <a:bodyPr/>
          <a:lstStyle/>
          <a:p>
            <a:pPr>
              <a:lnSpc>
                <a:spcPts val="4042"/>
              </a:lnSpc>
            </a:pPr>
            <a:r>
              <a:rPr lang="en-US" dirty="0">
                <a:latin typeface="Montserrat Bold" pitchFamily="34" charset="0"/>
                <a:ea typeface="Montserrat Bold" pitchFamily="34" charset="-122"/>
                <a:cs typeface="Montserrat Bold" pitchFamily="34" charset="-120"/>
              </a:rPr>
              <a:t>Chatbot: Backend Code Example</a:t>
            </a:r>
            <a:endParaRPr lang="en-US" dirty="0"/>
          </a:p>
        </p:txBody>
      </p:sp>
      <p:sp>
        <p:nvSpPr>
          <p:cNvPr id="2" name="Text Placeholder 1">
            <a:extLst>
              <a:ext uri="{FF2B5EF4-FFF2-40B4-BE49-F238E27FC236}">
                <a16:creationId xmlns:a16="http://schemas.microsoft.com/office/drawing/2014/main" id="{EA2B372C-5BEB-9362-0CB9-06719138D55A}"/>
              </a:ext>
            </a:extLst>
          </p:cNvPr>
          <p:cNvSpPr>
            <a:spLocks noGrp="1"/>
          </p:cNvSpPr>
          <p:nvPr>
            <p:ph type="body" sz="quarter" idx="10"/>
          </p:nvPr>
        </p:nvSpPr>
        <p:spPr/>
        <p:txBody>
          <a:bodyPr/>
          <a:lstStyle/>
          <a:p>
            <a:r>
              <a:rPr lang="en-US" dirty="0"/>
              <a:t>Process</a:t>
            </a:r>
          </a:p>
        </p:txBody>
      </p:sp>
      <p:grpSp>
        <p:nvGrpSpPr>
          <p:cNvPr id="3" name="Group 2">
            <a:extLst>
              <a:ext uri="{FF2B5EF4-FFF2-40B4-BE49-F238E27FC236}">
                <a16:creationId xmlns:a16="http://schemas.microsoft.com/office/drawing/2014/main" id="{4B055E50-8C47-5354-6DA1-155458FFE5CF}"/>
              </a:ext>
            </a:extLst>
          </p:cNvPr>
          <p:cNvGrpSpPr/>
          <p:nvPr/>
        </p:nvGrpSpPr>
        <p:grpSpPr>
          <a:xfrm>
            <a:off x="2900896" y="1739900"/>
            <a:ext cx="6390209" cy="2032000"/>
            <a:chOff x="2584726" y="1590798"/>
            <a:chExt cx="6390209" cy="2032000"/>
          </a:xfrm>
        </p:grpSpPr>
        <p:grpSp>
          <p:nvGrpSpPr>
            <p:cNvPr id="5" name="Group 65">
              <a:extLst>
                <a:ext uri="{FF2B5EF4-FFF2-40B4-BE49-F238E27FC236}">
                  <a16:creationId xmlns:a16="http://schemas.microsoft.com/office/drawing/2014/main" id="{9150294A-1D3C-BC9C-2B66-BB29189BDEFD}"/>
                </a:ext>
              </a:extLst>
            </p:cNvPr>
            <p:cNvGrpSpPr/>
            <p:nvPr/>
          </p:nvGrpSpPr>
          <p:grpSpPr>
            <a:xfrm>
              <a:off x="2584726" y="1590798"/>
              <a:ext cx="6390209" cy="2032000"/>
              <a:chOff x="1938544" y="1193098"/>
              <a:chExt cx="4792657" cy="1524000"/>
            </a:xfrm>
          </p:grpSpPr>
          <p:sp>
            <p:nvSpPr>
              <p:cNvPr id="10" name="Round Same Side Corner Rectangle 43">
                <a:extLst>
                  <a:ext uri="{FF2B5EF4-FFF2-40B4-BE49-F238E27FC236}">
                    <a16:creationId xmlns:a16="http://schemas.microsoft.com/office/drawing/2014/main" id="{AFE7D8E6-A0C5-42E0-1AE4-26A824E06417}"/>
                  </a:ext>
                </a:extLst>
              </p:cNvPr>
              <p:cNvSpPr/>
              <p:nvPr/>
            </p:nvSpPr>
            <p:spPr>
              <a:xfrm flipV="1">
                <a:off x="1938544" y="1598818"/>
                <a:ext cx="4792657" cy="1118280"/>
              </a:xfrm>
              <a:prstGeom prst="round2SameRect">
                <a:avLst>
                  <a:gd name="adj1" fmla="val 8813"/>
                  <a:gd name="adj2" fmla="val 0"/>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11" name="Rectangle 10">
                <a:extLst>
                  <a:ext uri="{FF2B5EF4-FFF2-40B4-BE49-F238E27FC236}">
                    <a16:creationId xmlns:a16="http://schemas.microsoft.com/office/drawing/2014/main" id="{B974232A-06FA-4B13-F074-AF3D6B7D2B3D}"/>
                  </a:ext>
                </a:extLst>
              </p:cNvPr>
              <p:cNvSpPr/>
              <p:nvPr/>
            </p:nvSpPr>
            <p:spPr>
              <a:xfrm>
                <a:off x="1938544" y="1193098"/>
                <a:ext cx="4792657" cy="405724"/>
              </a:xfrm>
              <a:prstGeom prst="rect">
                <a:avLst/>
              </a:prstGeom>
              <a:solidFill>
                <a:srgbClr val="252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7" name="Text Placeholder 3">
              <a:extLst>
                <a:ext uri="{FF2B5EF4-FFF2-40B4-BE49-F238E27FC236}">
                  <a16:creationId xmlns:a16="http://schemas.microsoft.com/office/drawing/2014/main" id="{99C15210-BC3D-391F-DA15-E607349D1106}"/>
                </a:ext>
              </a:extLst>
            </p:cNvPr>
            <p:cNvSpPr txBox="1">
              <a:spLocks/>
            </p:cNvSpPr>
            <p:nvPr/>
          </p:nvSpPr>
          <p:spPr>
            <a:xfrm>
              <a:off x="2663708" y="2173385"/>
              <a:ext cx="6025029"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defTabSz="1219170">
                <a:spcBef>
                  <a:spcPct val="20000"/>
                </a:spcBef>
                <a:buFont typeface="Arial" panose="020B0604020202020204" pitchFamily="34" charset="0"/>
                <a:buChar char="•"/>
                <a:defRPr/>
              </a:pPr>
              <a:r>
                <a:rPr lang="en-US" sz="1800" dirty="0">
                  <a:solidFill>
                    <a:srgbClr val="25274D"/>
                  </a:solidFill>
                  <a:latin typeface="Montserrat" panose="00000500000000000000" pitchFamily="50" charset="0"/>
                  <a:cs typeface="+mj-cs"/>
                </a:rPr>
                <a:t>Encapsulates all reply logic</a:t>
              </a:r>
            </a:p>
          </p:txBody>
        </p:sp>
        <p:sp>
          <p:nvSpPr>
            <p:cNvPr id="9" name="Text Placeholder 3">
              <a:extLst>
                <a:ext uri="{FF2B5EF4-FFF2-40B4-BE49-F238E27FC236}">
                  <a16:creationId xmlns:a16="http://schemas.microsoft.com/office/drawing/2014/main" id="{481FACAC-DE8D-155C-8AF9-65F4FB2AEBF2}"/>
                </a:ext>
              </a:extLst>
            </p:cNvPr>
            <p:cNvSpPr txBox="1">
              <a:spLocks/>
            </p:cNvSpPr>
            <p:nvPr/>
          </p:nvSpPr>
          <p:spPr>
            <a:xfrm>
              <a:off x="3907411" y="1722781"/>
              <a:ext cx="3744838"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b="1" dirty="0">
                  <a:solidFill>
                    <a:schemeClr val="bg1"/>
                  </a:solidFill>
                  <a:latin typeface="Montserrat" panose="00000500000000000000" pitchFamily="50" charset="0"/>
                  <a:cs typeface="+mj-cs"/>
                </a:rPr>
                <a:t>Get_response function</a:t>
              </a:r>
            </a:p>
          </p:txBody>
        </p:sp>
        <p:sp>
          <p:nvSpPr>
            <p:cNvPr id="26" name="Text Placeholder 3">
              <a:extLst>
                <a:ext uri="{FF2B5EF4-FFF2-40B4-BE49-F238E27FC236}">
                  <a16:creationId xmlns:a16="http://schemas.microsoft.com/office/drawing/2014/main" id="{EBB70EF8-336B-B3CD-5097-99EF0946F534}"/>
                </a:ext>
              </a:extLst>
            </p:cNvPr>
            <p:cNvSpPr txBox="1">
              <a:spLocks/>
            </p:cNvSpPr>
            <p:nvPr/>
          </p:nvSpPr>
          <p:spPr>
            <a:xfrm>
              <a:off x="2663708" y="2460256"/>
              <a:ext cx="6025029" cy="553998"/>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defTabSz="1219170">
                <a:spcBef>
                  <a:spcPct val="20000"/>
                </a:spcBef>
                <a:buFont typeface="Arial" panose="020B0604020202020204" pitchFamily="34" charset="0"/>
                <a:buChar char="•"/>
                <a:defRPr/>
              </a:pPr>
              <a:r>
                <a:rPr lang="en-US" sz="1800" dirty="0">
                  <a:solidFill>
                    <a:srgbClr val="25274D"/>
                  </a:solidFill>
                  <a:latin typeface="Montserrat" panose="00000500000000000000" pitchFamily="50" charset="0"/>
                  <a:cs typeface="+mj-cs"/>
                </a:rPr>
                <a:t>Determines the response using conditional checks</a:t>
              </a:r>
            </a:p>
          </p:txBody>
        </p:sp>
      </p:grpSp>
      <p:grpSp>
        <p:nvGrpSpPr>
          <p:cNvPr id="27" name="Group 26">
            <a:extLst>
              <a:ext uri="{FF2B5EF4-FFF2-40B4-BE49-F238E27FC236}">
                <a16:creationId xmlns:a16="http://schemas.microsoft.com/office/drawing/2014/main" id="{FFB63367-FD55-5CAD-1256-D5B78821E45B}"/>
              </a:ext>
            </a:extLst>
          </p:cNvPr>
          <p:cNvGrpSpPr/>
          <p:nvPr/>
        </p:nvGrpSpPr>
        <p:grpSpPr>
          <a:xfrm>
            <a:off x="2900896" y="4105728"/>
            <a:ext cx="6390209" cy="2032000"/>
            <a:chOff x="2584726" y="1590798"/>
            <a:chExt cx="6390209" cy="2032000"/>
          </a:xfrm>
        </p:grpSpPr>
        <p:grpSp>
          <p:nvGrpSpPr>
            <p:cNvPr id="28" name="Group 65">
              <a:extLst>
                <a:ext uri="{FF2B5EF4-FFF2-40B4-BE49-F238E27FC236}">
                  <a16:creationId xmlns:a16="http://schemas.microsoft.com/office/drawing/2014/main" id="{8EA76B82-4B5A-7C49-9C91-B0048C5ACD2E}"/>
                </a:ext>
              </a:extLst>
            </p:cNvPr>
            <p:cNvGrpSpPr/>
            <p:nvPr/>
          </p:nvGrpSpPr>
          <p:grpSpPr>
            <a:xfrm>
              <a:off x="2584726" y="1590798"/>
              <a:ext cx="6390209" cy="2032000"/>
              <a:chOff x="1938544" y="1193098"/>
              <a:chExt cx="4792657" cy="1524000"/>
            </a:xfrm>
          </p:grpSpPr>
          <p:sp>
            <p:nvSpPr>
              <p:cNvPr id="32" name="Round Same Side Corner Rectangle 43">
                <a:extLst>
                  <a:ext uri="{FF2B5EF4-FFF2-40B4-BE49-F238E27FC236}">
                    <a16:creationId xmlns:a16="http://schemas.microsoft.com/office/drawing/2014/main" id="{7F2AE636-A280-F8C2-C7E9-10E399AFE96B}"/>
                  </a:ext>
                </a:extLst>
              </p:cNvPr>
              <p:cNvSpPr/>
              <p:nvPr/>
            </p:nvSpPr>
            <p:spPr>
              <a:xfrm flipV="1">
                <a:off x="1938544" y="1598818"/>
                <a:ext cx="4792657" cy="1118280"/>
              </a:xfrm>
              <a:prstGeom prst="round2SameRect">
                <a:avLst>
                  <a:gd name="adj1" fmla="val 8813"/>
                  <a:gd name="adj2" fmla="val 0"/>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sp>
            <p:nvSpPr>
              <p:cNvPr id="33" name="Rectangle 32">
                <a:extLst>
                  <a:ext uri="{FF2B5EF4-FFF2-40B4-BE49-F238E27FC236}">
                    <a16:creationId xmlns:a16="http://schemas.microsoft.com/office/drawing/2014/main" id="{DA3965A0-A21C-7B1C-9340-F1D676D7EAC0}"/>
                  </a:ext>
                </a:extLst>
              </p:cNvPr>
              <p:cNvSpPr/>
              <p:nvPr/>
            </p:nvSpPr>
            <p:spPr>
              <a:xfrm>
                <a:off x="1938544" y="1193098"/>
                <a:ext cx="4792657" cy="405724"/>
              </a:xfrm>
              <a:prstGeom prst="rect">
                <a:avLst/>
              </a:prstGeom>
              <a:solidFill>
                <a:srgbClr val="2E9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29" name="Text Placeholder 3">
              <a:extLst>
                <a:ext uri="{FF2B5EF4-FFF2-40B4-BE49-F238E27FC236}">
                  <a16:creationId xmlns:a16="http://schemas.microsoft.com/office/drawing/2014/main" id="{4FD4A1A2-EA3C-B271-BFF0-6339F53F1227}"/>
                </a:ext>
              </a:extLst>
            </p:cNvPr>
            <p:cNvSpPr txBox="1">
              <a:spLocks/>
            </p:cNvSpPr>
            <p:nvPr/>
          </p:nvSpPr>
          <p:spPr>
            <a:xfrm>
              <a:off x="2663708" y="2173385"/>
              <a:ext cx="6025029"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defTabSz="1219170">
                <a:spcBef>
                  <a:spcPct val="20000"/>
                </a:spcBef>
                <a:buFont typeface="Arial" panose="020B0604020202020204" pitchFamily="34" charset="0"/>
                <a:buChar char="•"/>
                <a:defRPr/>
              </a:pPr>
              <a:r>
                <a:rPr lang="en-US" sz="1800" dirty="0">
                  <a:solidFill>
                    <a:srgbClr val="25274D"/>
                  </a:solidFill>
                  <a:latin typeface="Montserrat" panose="00000500000000000000" pitchFamily="50" charset="0"/>
                  <a:cs typeface="+mj-cs"/>
                </a:rPr>
                <a:t>Continuously accepts user input</a:t>
              </a:r>
            </a:p>
          </p:txBody>
        </p:sp>
        <p:sp>
          <p:nvSpPr>
            <p:cNvPr id="30" name="Text Placeholder 3">
              <a:extLst>
                <a:ext uri="{FF2B5EF4-FFF2-40B4-BE49-F238E27FC236}">
                  <a16:creationId xmlns:a16="http://schemas.microsoft.com/office/drawing/2014/main" id="{3934003C-210F-A081-E79E-55F17DA6AC72}"/>
                </a:ext>
              </a:extLst>
            </p:cNvPr>
            <p:cNvSpPr txBox="1">
              <a:spLocks/>
            </p:cNvSpPr>
            <p:nvPr/>
          </p:nvSpPr>
          <p:spPr>
            <a:xfrm>
              <a:off x="3907411" y="1722781"/>
              <a:ext cx="3744838"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170">
                <a:spcBef>
                  <a:spcPct val="20000"/>
                </a:spcBef>
                <a:defRPr/>
              </a:pPr>
              <a:r>
                <a:rPr lang="en-US" sz="1800" b="1" dirty="0">
                  <a:solidFill>
                    <a:schemeClr val="bg1"/>
                  </a:solidFill>
                  <a:latin typeface="Montserrat" panose="00000500000000000000" pitchFamily="50" charset="0"/>
                  <a:cs typeface="+mj-cs"/>
                </a:rPr>
                <a:t>Main loop</a:t>
              </a:r>
            </a:p>
          </p:txBody>
        </p:sp>
        <p:sp>
          <p:nvSpPr>
            <p:cNvPr id="31" name="Text Placeholder 3">
              <a:extLst>
                <a:ext uri="{FF2B5EF4-FFF2-40B4-BE49-F238E27FC236}">
                  <a16:creationId xmlns:a16="http://schemas.microsoft.com/office/drawing/2014/main" id="{4C0CAD81-C9AD-399D-6589-0762D56C3ECE}"/>
                </a:ext>
              </a:extLst>
            </p:cNvPr>
            <p:cNvSpPr txBox="1">
              <a:spLocks/>
            </p:cNvSpPr>
            <p:nvPr/>
          </p:nvSpPr>
          <p:spPr>
            <a:xfrm>
              <a:off x="2663708" y="2494642"/>
              <a:ext cx="6025029"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defTabSz="1219170">
                <a:spcBef>
                  <a:spcPct val="20000"/>
                </a:spcBef>
                <a:buFont typeface="Arial" panose="020B0604020202020204" pitchFamily="34" charset="0"/>
                <a:buChar char="•"/>
                <a:defRPr/>
              </a:pPr>
              <a:r>
                <a:rPr lang="en-US" sz="1800" dirty="0">
                  <a:solidFill>
                    <a:srgbClr val="25274D"/>
                  </a:solidFill>
                  <a:latin typeface="Montserrat" panose="00000500000000000000" pitchFamily="50" charset="0"/>
                  <a:cs typeface="+mj-cs"/>
                </a:rPr>
                <a:t>Invokes </a:t>
              </a:r>
              <a:r>
                <a:rPr lang="en-US" sz="1800" dirty="0" err="1">
                  <a:solidFill>
                    <a:srgbClr val="25274D"/>
                  </a:solidFill>
                  <a:latin typeface="Montserrat" panose="00000500000000000000" pitchFamily="50" charset="0"/>
                  <a:cs typeface="+mj-cs"/>
                </a:rPr>
                <a:t>get_response</a:t>
              </a:r>
              <a:r>
                <a:rPr lang="en-US" sz="1800" dirty="0">
                  <a:solidFill>
                    <a:srgbClr val="25274D"/>
                  </a:solidFill>
                  <a:latin typeface="Montserrat" panose="00000500000000000000" pitchFamily="50" charset="0"/>
                  <a:cs typeface="+mj-cs"/>
                </a:rPr>
                <a:t>(</a:t>
              </a:r>
              <a:r>
                <a:rPr lang="en-US" sz="1800" dirty="0" err="1">
                  <a:solidFill>
                    <a:srgbClr val="25274D"/>
                  </a:solidFill>
                  <a:latin typeface="Montserrat" panose="00000500000000000000" pitchFamily="50" charset="0"/>
                  <a:cs typeface="+mj-cs"/>
                </a:rPr>
                <a:t>user_message</a:t>
              </a:r>
              <a:r>
                <a:rPr lang="en-US" sz="1800" dirty="0">
                  <a:solidFill>
                    <a:srgbClr val="25274D"/>
                  </a:solidFill>
                  <a:latin typeface="Montserrat" panose="00000500000000000000" pitchFamily="50" charset="0"/>
                  <a:cs typeface="+mj-cs"/>
                </a:rPr>
                <a:t>)</a:t>
              </a:r>
            </a:p>
          </p:txBody>
        </p:sp>
        <p:sp>
          <p:nvSpPr>
            <p:cNvPr id="34" name="Text Placeholder 3">
              <a:extLst>
                <a:ext uri="{FF2B5EF4-FFF2-40B4-BE49-F238E27FC236}">
                  <a16:creationId xmlns:a16="http://schemas.microsoft.com/office/drawing/2014/main" id="{FB6BDDEE-F18F-B3BC-5F4C-7BEB03A74774}"/>
                </a:ext>
              </a:extLst>
            </p:cNvPr>
            <p:cNvSpPr txBox="1">
              <a:spLocks/>
            </p:cNvSpPr>
            <p:nvPr/>
          </p:nvSpPr>
          <p:spPr>
            <a:xfrm>
              <a:off x="2663708" y="2815899"/>
              <a:ext cx="6025029"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defTabSz="1219170">
                <a:spcBef>
                  <a:spcPct val="20000"/>
                </a:spcBef>
                <a:buFont typeface="Arial" panose="020B0604020202020204" pitchFamily="34" charset="0"/>
                <a:buChar char="•"/>
                <a:defRPr/>
              </a:pPr>
              <a:r>
                <a:rPr lang="en-US" sz="1800" dirty="0">
                  <a:solidFill>
                    <a:srgbClr val="25274D"/>
                  </a:solidFill>
                  <a:latin typeface="Montserrat" panose="00000500000000000000" pitchFamily="50" charset="0"/>
                  <a:cs typeface="+mj-cs"/>
                </a:rPr>
                <a:t>Outputs the generated reply</a:t>
              </a:r>
            </a:p>
          </p:txBody>
        </p:sp>
        <p:sp>
          <p:nvSpPr>
            <p:cNvPr id="35" name="Text Placeholder 3">
              <a:extLst>
                <a:ext uri="{FF2B5EF4-FFF2-40B4-BE49-F238E27FC236}">
                  <a16:creationId xmlns:a16="http://schemas.microsoft.com/office/drawing/2014/main" id="{07199501-519B-C90C-7195-41F96D5892C0}"/>
                </a:ext>
              </a:extLst>
            </p:cNvPr>
            <p:cNvSpPr txBox="1">
              <a:spLocks/>
            </p:cNvSpPr>
            <p:nvPr/>
          </p:nvSpPr>
          <p:spPr>
            <a:xfrm>
              <a:off x="2663708" y="3137156"/>
              <a:ext cx="6025029" cy="276999"/>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defTabSz="1219170">
                <a:spcBef>
                  <a:spcPct val="20000"/>
                </a:spcBef>
                <a:buFont typeface="Arial" panose="020B0604020202020204" pitchFamily="34" charset="0"/>
                <a:buChar char="•"/>
                <a:defRPr/>
              </a:pPr>
              <a:r>
                <a:rPr lang="en-US" sz="1800" dirty="0">
                  <a:solidFill>
                    <a:srgbClr val="25274D"/>
                  </a:solidFill>
                  <a:latin typeface="Montserrat" panose="00000500000000000000" pitchFamily="50" charset="0"/>
                  <a:cs typeface="+mj-cs"/>
                </a:rPr>
                <a:t>Terminates on the "bye" command</a:t>
              </a:r>
            </a:p>
          </p:txBody>
        </p:sp>
      </p:grpSp>
    </p:spTree>
    <p:extLst>
      <p:ext uri="{BB962C8B-B14F-4D97-AF65-F5344CB8AC3E}">
        <p14:creationId xmlns:p14="http://schemas.microsoft.com/office/powerpoint/2010/main" val="89917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50"/>
                                        <p:tgtEl>
                                          <p:spTgt spid="2">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nodeType="withEffect">
                                  <p:stCondLst>
                                    <p:cond delay="5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BBAEC-BC77-535F-511A-F0E789D83AF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E08F3B8-C65A-7BF2-EBA8-6B8D5537FE78}"/>
              </a:ext>
            </a:extLst>
          </p:cNvPr>
          <p:cNvSpPr>
            <a:spLocks noGrp="1"/>
          </p:cNvSpPr>
          <p:nvPr>
            <p:ph type="title"/>
          </p:nvPr>
        </p:nvSpPr>
        <p:spPr/>
        <p:txBody>
          <a:bodyPr/>
          <a:lstStyle/>
          <a:p>
            <a:pPr>
              <a:lnSpc>
                <a:spcPts val="3917"/>
              </a:lnSpc>
            </a:pPr>
            <a:r>
              <a:rPr lang="en-US" dirty="0">
                <a:latin typeface="Montserrat Bold" pitchFamily="34" charset="0"/>
                <a:ea typeface="Montserrat Bold" pitchFamily="34" charset="-122"/>
                <a:cs typeface="Montserrat Bold" pitchFamily="34" charset="-120"/>
              </a:rPr>
              <a:t>Reflection Activity</a:t>
            </a:r>
            <a:endParaRPr lang="en-US" dirty="0"/>
          </a:p>
        </p:txBody>
      </p:sp>
      <p:sp>
        <p:nvSpPr>
          <p:cNvPr id="4" name="Text Placeholder 3">
            <a:extLst>
              <a:ext uri="{FF2B5EF4-FFF2-40B4-BE49-F238E27FC236}">
                <a16:creationId xmlns:a16="http://schemas.microsoft.com/office/drawing/2014/main" id="{46047A9F-809F-F60E-3A69-352583CFD083}"/>
              </a:ext>
            </a:extLst>
          </p:cNvPr>
          <p:cNvSpPr>
            <a:spLocks noGrp="1"/>
          </p:cNvSpPr>
          <p:nvPr>
            <p:ph type="body" sz="quarter" idx="10"/>
          </p:nvPr>
        </p:nvSpPr>
        <p:spPr/>
        <p:txBody>
          <a:bodyPr/>
          <a:lstStyle/>
          <a:p>
            <a:r>
              <a:rPr lang="en-US" dirty="0"/>
              <a:t>Real-World Logic in Daily Life</a:t>
            </a:r>
          </a:p>
        </p:txBody>
      </p:sp>
      <p:grpSp>
        <p:nvGrpSpPr>
          <p:cNvPr id="2" name="Group 1">
            <a:extLst>
              <a:ext uri="{FF2B5EF4-FFF2-40B4-BE49-F238E27FC236}">
                <a16:creationId xmlns:a16="http://schemas.microsoft.com/office/drawing/2014/main" id="{0C8EAD65-4D03-464A-2963-AA3CC98EB3B3}"/>
              </a:ext>
            </a:extLst>
          </p:cNvPr>
          <p:cNvGrpSpPr/>
          <p:nvPr/>
        </p:nvGrpSpPr>
        <p:grpSpPr>
          <a:xfrm>
            <a:off x="2644140" y="2151519"/>
            <a:ext cx="6903720" cy="1057964"/>
            <a:chOff x="1901372" y="1330886"/>
            <a:chExt cx="6366327" cy="1057964"/>
          </a:xfrm>
        </p:grpSpPr>
        <p:grpSp>
          <p:nvGrpSpPr>
            <p:cNvPr id="5" name="Group 4">
              <a:extLst>
                <a:ext uri="{FF2B5EF4-FFF2-40B4-BE49-F238E27FC236}">
                  <a16:creationId xmlns:a16="http://schemas.microsoft.com/office/drawing/2014/main" id="{FF36FCF7-9150-0845-B47B-E00137412096}"/>
                </a:ext>
              </a:extLst>
            </p:cNvPr>
            <p:cNvGrpSpPr/>
            <p:nvPr/>
          </p:nvGrpSpPr>
          <p:grpSpPr>
            <a:xfrm>
              <a:off x="1901372" y="1330886"/>
              <a:ext cx="6366327" cy="1057964"/>
              <a:chOff x="1234865" y="1792106"/>
              <a:chExt cx="6366327" cy="1057964"/>
            </a:xfrm>
          </p:grpSpPr>
          <p:sp>
            <p:nvSpPr>
              <p:cNvPr id="9" name="Rectangle: Rounded Corners 8">
                <a:extLst>
                  <a:ext uri="{FF2B5EF4-FFF2-40B4-BE49-F238E27FC236}">
                    <a16:creationId xmlns:a16="http://schemas.microsoft.com/office/drawing/2014/main" id="{6071EC9F-7454-0132-B1F3-A3662F34E767}"/>
                  </a:ext>
                </a:extLst>
              </p:cNvPr>
              <p:cNvSpPr/>
              <p:nvPr/>
            </p:nvSpPr>
            <p:spPr>
              <a:xfrm>
                <a:off x="1234865" y="1792106"/>
                <a:ext cx="6366327" cy="1057964"/>
              </a:xfrm>
              <a:prstGeom prst="roundRect">
                <a:avLst>
                  <a:gd name="adj" fmla="val 9369"/>
                </a:avLst>
              </a:prstGeom>
              <a:solidFill>
                <a:srgbClr val="2527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234A765-752F-F69B-7218-E3F2319AF6E2}"/>
                  </a:ext>
                </a:extLst>
              </p:cNvPr>
              <p:cNvSpPr txBox="1"/>
              <p:nvPr/>
            </p:nvSpPr>
            <p:spPr>
              <a:xfrm>
                <a:off x="1839024" y="1835998"/>
                <a:ext cx="2182946"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Take a minute</a:t>
                </a:r>
              </a:p>
            </p:txBody>
          </p:sp>
          <p:sp>
            <p:nvSpPr>
              <p:cNvPr id="11" name="TextBox 10">
                <a:extLst>
                  <a:ext uri="{FF2B5EF4-FFF2-40B4-BE49-F238E27FC236}">
                    <a16:creationId xmlns:a16="http://schemas.microsoft.com/office/drawing/2014/main" id="{57E4D99C-4BF9-6CDB-6B23-D4646192A5DB}"/>
                  </a:ext>
                </a:extLst>
              </p:cNvPr>
              <p:cNvSpPr txBox="1"/>
              <p:nvPr/>
            </p:nvSpPr>
            <p:spPr>
              <a:xfrm>
                <a:off x="1839024" y="2137334"/>
                <a:ext cx="5556633"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Identify a specific example of a decision or repetitive process from your experience.</a:t>
                </a:r>
              </a:p>
            </p:txBody>
          </p:sp>
        </p:grpSp>
        <p:sp>
          <p:nvSpPr>
            <p:cNvPr id="7" name="Freeform 45">
              <a:extLst>
                <a:ext uri="{FF2B5EF4-FFF2-40B4-BE49-F238E27FC236}">
                  <a16:creationId xmlns:a16="http://schemas.microsoft.com/office/drawing/2014/main" id="{18F01A16-6336-4DA3-1F0C-1B2DE8A143E7}"/>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2" name="Group 11">
            <a:extLst>
              <a:ext uri="{FF2B5EF4-FFF2-40B4-BE49-F238E27FC236}">
                <a16:creationId xmlns:a16="http://schemas.microsoft.com/office/drawing/2014/main" id="{E1392A4C-AD07-D4FF-C148-58D35A9F05F5}"/>
              </a:ext>
            </a:extLst>
          </p:cNvPr>
          <p:cNvGrpSpPr/>
          <p:nvPr/>
        </p:nvGrpSpPr>
        <p:grpSpPr>
          <a:xfrm>
            <a:off x="2644140" y="3386413"/>
            <a:ext cx="6903720" cy="1057964"/>
            <a:chOff x="1901372" y="1330886"/>
            <a:chExt cx="6366327" cy="1057964"/>
          </a:xfrm>
        </p:grpSpPr>
        <p:grpSp>
          <p:nvGrpSpPr>
            <p:cNvPr id="13" name="Group 12">
              <a:extLst>
                <a:ext uri="{FF2B5EF4-FFF2-40B4-BE49-F238E27FC236}">
                  <a16:creationId xmlns:a16="http://schemas.microsoft.com/office/drawing/2014/main" id="{C5C7ED1C-B881-894A-515F-7B82C3DAEC95}"/>
                </a:ext>
              </a:extLst>
            </p:cNvPr>
            <p:cNvGrpSpPr/>
            <p:nvPr/>
          </p:nvGrpSpPr>
          <p:grpSpPr>
            <a:xfrm>
              <a:off x="1901372" y="1330886"/>
              <a:ext cx="6366327" cy="1057964"/>
              <a:chOff x="1234865" y="1792106"/>
              <a:chExt cx="6366327" cy="1057964"/>
            </a:xfrm>
          </p:grpSpPr>
          <p:sp>
            <p:nvSpPr>
              <p:cNvPr id="15" name="Rectangle: Rounded Corners 14">
                <a:extLst>
                  <a:ext uri="{FF2B5EF4-FFF2-40B4-BE49-F238E27FC236}">
                    <a16:creationId xmlns:a16="http://schemas.microsoft.com/office/drawing/2014/main" id="{E2FE2C36-29F9-62EC-5159-2E4AF7E1B5D8}"/>
                  </a:ext>
                </a:extLst>
              </p:cNvPr>
              <p:cNvSpPr/>
              <p:nvPr/>
            </p:nvSpPr>
            <p:spPr>
              <a:xfrm>
                <a:off x="1234865" y="1792106"/>
                <a:ext cx="6366327" cy="1057964"/>
              </a:xfrm>
              <a:prstGeom prst="roundRect">
                <a:avLst>
                  <a:gd name="adj" fmla="val 9369"/>
                </a:avLst>
              </a:prstGeom>
              <a:solidFill>
                <a:srgbClr val="2E9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C4A6E7A6-91A4-99DD-98CE-FBF3198F974D}"/>
                  </a:ext>
                </a:extLst>
              </p:cNvPr>
              <p:cNvSpPr txBox="1"/>
              <p:nvPr/>
            </p:nvSpPr>
            <p:spPr>
              <a:xfrm>
                <a:off x="1839024" y="1835998"/>
                <a:ext cx="2182946"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Make it concrete</a:t>
                </a:r>
              </a:p>
            </p:txBody>
          </p:sp>
          <p:sp>
            <p:nvSpPr>
              <p:cNvPr id="17" name="TextBox 16">
                <a:extLst>
                  <a:ext uri="{FF2B5EF4-FFF2-40B4-BE49-F238E27FC236}">
                    <a16:creationId xmlns:a16="http://schemas.microsoft.com/office/drawing/2014/main" id="{833FE860-417C-E5E8-54A4-7CE1D7A13B50}"/>
                  </a:ext>
                </a:extLst>
              </p:cNvPr>
              <p:cNvSpPr txBox="1"/>
              <p:nvPr/>
            </p:nvSpPr>
            <p:spPr>
              <a:xfrm>
                <a:off x="1839024" y="2137334"/>
                <a:ext cx="5556633"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Frame it as an if-statement or loop, noting conditions and resulting actions.</a:t>
                </a:r>
              </a:p>
            </p:txBody>
          </p:sp>
        </p:grpSp>
        <p:sp>
          <p:nvSpPr>
            <p:cNvPr id="14" name="Freeform 45">
              <a:extLst>
                <a:ext uri="{FF2B5EF4-FFF2-40B4-BE49-F238E27FC236}">
                  <a16:creationId xmlns:a16="http://schemas.microsoft.com/office/drawing/2014/main" id="{97ECC052-6193-1F42-EA3F-DCD35DB27125}"/>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9E95A31F-FB66-7BAC-E232-D7A9E8E3EFCD}"/>
              </a:ext>
            </a:extLst>
          </p:cNvPr>
          <p:cNvGrpSpPr/>
          <p:nvPr/>
        </p:nvGrpSpPr>
        <p:grpSpPr>
          <a:xfrm>
            <a:off x="2644140" y="4621306"/>
            <a:ext cx="6903720" cy="1057964"/>
            <a:chOff x="1901372" y="1330886"/>
            <a:chExt cx="6366327" cy="1057964"/>
          </a:xfrm>
        </p:grpSpPr>
        <p:grpSp>
          <p:nvGrpSpPr>
            <p:cNvPr id="19" name="Group 18">
              <a:extLst>
                <a:ext uri="{FF2B5EF4-FFF2-40B4-BE49-F238E27FC236}">
                  <a16:creationId xmlns:a16="http://schemas.microsoft.com/office/drawing/2014/main" id="{F038410C-BEC8-A405-EFE5-20AFF9158DBF}"/>
                </a:ext>
              </a:extLst>
            </p:cNvPr>
            <p:cNvGrpSpPr/>
            <p:nvPr/>
          </p:nvGrpSpPr>
          <p:grpSpPr>
            <a:xfrm>
              <a:off x="1901372" y="1330886"/>
              <a:ext cx="6366327" cy="1057964"/>
              <a:chOff x="1234865" y="1792106"/>
              <a:chExt cx="6366327" cy="1057964"/>
            </a:xfrm>
          </p:grpSpPr>
          <p:sp>
            <p:nvSpPr>
              <p:cNvPr id="21" name="Rectangle: Rounded Corners 20">
                <a:extLst>
                  <a:ext uri="{FF2B5EF4-FFF2-40B4-BE49-F238E27FC236}">
                    <a16:creationId xmlns:a16="http://schemas.microsoft.com/office/drawing/2014/main" id="{8ABAB4DE-075B-97B9-6474-7A6C8ACF1434}"/>
                  </a:ext>
                </a:extLst>
              </p:cNvPr>
              <p:cNvSpPr/>
              <p:nvPr/>
            </p:nvSpPr>
            <p:spPr>
              <a:xfrm>
                <a:off x="1234865" y="1792106"/>
                <a:ext cx="6366327" cy="1057964"/>
              </a:xfrm>
              <a:prstGeom prst="roundRect">
                <a:avLst>
                  <a:gd name="adj" fmla="val 9369"/>
                </a:avLst>
              </a:prstGeom>
              <a:solidFill>
                <a:srgbClr val="2964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FA5C5482-8C28-02B2-613E-E8AC2F8C6A82}"/>
                  </a:ext>
                </a:extLst>
              </p:cNvPr>
              <p:cNvSpPr txBox="1"/>
              <p:nvPr/>
            </p:nvSpPr>
            <p:spPr>
              <a:xfrm>
                <a:off x="1839024" y="1835998"/>
                <a:ext cx="2182946" cy="369332"/>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Montserrat" panose="00000500000000000000" pitchFamily="2" charset="0"/>
                    <a:cs typeface="Arial" panose="020B0604020202020204" pitchFamily="34" charset="0"/>
                  </a:rPr>
                  <a:t>Share</a:t>
                </a:r>
              </a:p>
            </p:txBody>
          </p:sp>
          <p:sp>
            <p:nvSpPr>
              <p:cNvPr id="23" name="TextBox 22">
                <a:extLst>
                  <a:ext uri="{FF2B5EF4-FFF2-40B4-BE49-F238E27FC236}">
                    <a16:creationId xmlns:a16="http://schemas.microsoft.com/office/drawing/2014/main" id="{6EFE7456-7BE0-776A-92E5-7F3B77E3FCE8}"/>
                  </a:ext>
                </a:extLst>
              </p:cNvPr>
              <p:cNvSpPr txBox="1"/>
              <p:nvPr/>
            </p:nvSpPr>
            <p:spPr>
              <a:xfrm>
                <a:off x="1839024" y="2137334"/>
                <a:ext cx="5556633" cy="646331"/>
              </a:xfrm>
              <a:prstGeom prst="rect">
                <a:avLst/>
              </a:prstGeom>
              <a:noFill/>
            </p:spPr>
            <p:txBody>
              <a:bodyPr wrap="square">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bg1"/>
                    </a:solidFill>
                    <a:effectLst/>
                    <a:latin typeface="Montserrat" panose="00000500000000000000" pitchFamily="2" charset="0"/>
                    <a:cs typeface="Arial" panose="020B0604020202020204" pitchFamily="34" charset="0"/>
                  </a:rPr>
                  <a:t>Record or share your example to reinforce the connection between real-world logic and code.</a:t>
                </a:r>
              </a:p>
            </p:txBody>
          </p:sp>
        </p:grpSp>
        <p:sp>
          <p:nvSpPr>
            <p:cNvPr id="20" name="Freeform 45">
              <a:extLst>
                <a:ext uri="{FF2B5EF4-FFF2-40B4-BE49-F238E27FC236}">
                  <a16:creationId xmlns:a16="http://schemas.microsoft.com/office/drawing/2014/main" id="{9258C8E6-A108-FF71-F747-5F853ACB1212}"/>
                </a:ext>
              </a:extLst>
            </p:cNvPr>
            <p:cNvSpPr>
              <a:spLocks noEditPoints="1"/>
            </p:cNvSpPr>
            <p:nvPr/>
          </p:nvSpPr>
          <p:spPr bwMode="auto">
            <a:xfrm>
              <a:off x="2066367" y="1652557"/>
              <a:ext cx="414624" cy="414624"/>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18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16675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par>
                                <p:cTn id="14" presetID="10" presetClass="entr" presetSubtype="0" fill="hold"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000"/>
                                        <p:tgtEl>
                                          <p:spTgt spid="12"/>
                                        </p:tgtEl>
                                      </p:cBhvr>
                                    </p:animEffect>
                                  </p:childTnLst>
                                </p:cTn>
                              </p:par>
                              <p:par>
                                <p:cTn id="17" presetID="10" presetClass="entr" presetSubtype="0" fill="hold" nodeType="with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4EF95-42C9-E329-5F66-60BB30C3740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0573ECA-E58E-B2B5-72ED-EBBED0ABBF01}"/>
              </a:ext>
            </a:extLst>
          </p:cNvPr>
          <p:cNvSpPr>
            <a:spLocks noGrp="1"/>
          </p:cNvSpPr>
          <p:nvPr>
            <p:ph type="body" sz="quarter" idx="10"/>
          </p:nvPr>
        </p:nvSpPr>
        <p:spPr>
          <a:xfrm>
            <a:off x="5487369" y="3156115"/>
            <a:ext cx="2035706" cy="545770"/>
          </a:xfrm>
        </p:spPr>
        <p:txBody>
          <a:bodyPr/>
          <a:lstStyle/>
          <a:p>
            <a:r>
              <a:rPr lang="en-US" sz="2800" b="1">
                <a:solidFill>
                  <a:srgbClr val="25274D"/>
                </a:solidFill>
              </a:rPr>
              <a:t>Q &amp; A</a:t>
            </a:r>
          </a:p>
          <a:p>
            <a:pPr marL="342900" indent="-342900">
              <a:buFont typeface="Arial" panose="020B0604020202020204" pitchFamily="34" charset="0"/>
              <a:buChar char="•"/>
            </a:pPr>
            <a:endParaRPr lang="en-IN" sz="2800" b="1">
              <a:solidFill>
                <a:srgbClr val="25274D"/>
              </a:solidFill>
            </a:endParaRPr>
          </a:p>
          <a:p>
            <a:pPr marL="342900" indent="-342900">
              <a:buFont typeface="Arial" panose="020B0604020202020204" pitchFamily="34" charset="0"/>
              <a:buChar char="•"/>
            </a:pPr>
            <a:endParaRPr lang="en-GB" sz="2800" b="1">
              <a:solidFill>
                <a:srgbClr val="25274D"/>
              </a:solidFill>
            </a:endParaRPr>
          </a:p>
        </p:txBody>
      </p:sp>
    </p:spTree>
    <p:extLst>
      <p:ext uri="{BB962C8B-B14F-4D97-AF65-F5344CB8AC3E}">
        <p14:creationId xmlns:p14="http://schemas.microsoft.com/office/powerpoint/2010/main" val="11932822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A0D54-72A1-DA92-2178-911BA0310B6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9848C05-0223-BEC6-FBA3-FABEA2BD91F6}"/>
              </a:ext>
            </a:extLst>
          </p:cNvPr>
          <p:cNvSpPr>
            <a:spLocks noGrp="1"/>
          </p:cNvSpPr>
          <p:nvPr>
            <p:ph type="body" sz="quarter" idx="10"/>
          </p:nvPr>
        </p:nvSpPr>
        <p:spPr>
          <a:xfrm>
            <a:off x="4903076" y="3203412"/>
            <a:ext cx="2195693" cy="545770"/>
          </a:xfrm>
        </p:spPr>
        <p:txBody>
          <a:bodyPr/>
          <a:lstStyle/>
          <a:p>
            <a:r>
              <a:rPr lang="en-US" sz="2800" b="1">
                <a:solidFill>
                  <a:srgbClr val="25274D"/>
                </a:solidFill>
              </a:rPr>
              <a:t>Thank you</a:t>
            </a:r>
            <a:endParaRPr lang="en-GB" sz="2800" b="1"/>
          </a:p>
        </p:txBody>
      </p:sp>
    </p:spTree>
    <p:extLst>
      <p:ext uri="{BB962C8B-B14F-4D97-AF65-F5344CB8AC3E}">
        <p14:creationId xmlns:p14="http://schemas.microsoft.com/office/powerpoint/2010/main" val="305585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5_Null">
  <a:themeElements>
    <a:clrScheme name="NUS">
      <a:dk1>
        <a:sysClr val="windowText" lastClr="000000"/>
      </a:dk1>
      <a:lt1>
        <a:srgbClr val="FFFFFF"/>
      </a:lt1>
      <a:dk2>
        <a:srgbClr val="44546A"/>
      </a:dk2>
      <a:lt2>
        <a:srgbClr val="E7E6E6"/>
      </a:lt2>
      <a:accent1>
        <a:srgbClr val="EF7C00"/>
      </a:accent1>
      <a:accent2>
        <a:srgbClr val="003D7C"/>
      </a:accent2>
      <a:accent3>
        <a:srgbClr val="000000"/>
      </a:accent3>
      <a:accent4>
        <a:srgbClr val="FFFFFF"/>
      </a:accent4>
      <a:accent5>
        <a:srgbClr val="F4A34A"/>
      </a:accent5>
      <a:accent6>
        <a:srgbClr val="EBC844"/>
      </a:accent6>
      <a:hlink>
        <a:srgbClr val="A2B86C"/>
      </a:hlink>
      <a:folHlink>
        <a:srgbClr val="5CA793"/>
      </a:folHlink>
    </a:clrScheme>
    <a:fontScheme name="PFB">
      <a:majorFont>
        <a:latin typeface="Merriweather"/>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lgn="l">
          <a:defRPr sz="34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7F373DBC30DDB459CEFB92C6B00A939" ma:contentTypeVersion="21" ma:contentTypeDescription="Create a new document." ma:contentTypeScope="" ma:versionID="16451364db072358a7e3e8d369e48ec4">
  <xsd:schema xmlns:xsd="http://www.w3.org/2001/XMLSchema" xmlns:xs="http://www.w3.org/2001/XMLSchema" xmlns:p="http://schemas.microsoft.com/office/2006/metadata/properties" xmlns:ns1="http://schemas.microsoft.com/sharepoint/v3" xmlns:ns2="41077cac-fa1c-4939-a97a-a20b352af600" xmlns:ns3="7bdace7b-419a-4620-be26-5a3fa6f280f9" targetNamespace="http://schemas.microsoft.com/office/2006/metadata/properties" ma:root="true" ma:fieldsID="d5e70f5b3466ede3bd3277aa62f36108" ns1:_="" ns2:_="" ns3:_="">
    <xsd:import namespace="http://schemas.microsoft.com/sharepoint/v3"/>
    <xsd:import namespace="41077cac-fa1c-4939-a97a-a20b352af600"/>
    <xsd:import namespace="7bdace7b-419a-4620-be26-5a3fa6f280f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1077cac-fa1c-4939-a97a-a20b352af6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8679018-c8b5-43e9-adcd-8cca0014b20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bdace7b-419a-4620-be26-5a3fa6f280f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f3da60f-b4b7-4509-b80c-25011b1998e9}" ma:internalName="TaxCatchAll" ma:showField="CatchAllData" ma:web="7bdace7b-419a-4620-be26-5a3fa6f280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bdace7b-419a-4620-be26-5a3fa6f280f9" xsi:nil="true"/>
    <lcf76f155ced4ddcb4097134ff3c332f xmlns="41077cac-fa1c-4939-a97a-a20b352af600">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15C4FD-572F-42FD-B8D6-54241F53F848}"/>
</file>

<file path=customXml/itemProps2.xml><?xml version="1.0" encoding="utf-8"?>
<ds:datastoreItem xmlns:ds="http://schemas.openxmlformats.org/officeDocument/2006/customXml" ds:itemID="{CB7F66EC-20EF-4A2B-8EBF-F72D49BED09F}">
  <ds:schemaRefs>
    <ds:schemaRef ds:uri="41077cac-fa1c-4939-a97a-a20b352af600"/>
    <ds:schemaRef ds:uri="7bdace7b-419a-4620-be26-5a3fa6f280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779a6c22-0e0e-4bdc-b2f0-413474619cbf"/>
    <ds:schemaRef ds:uri="6f148ddc-ea2d-4371-8a98-c86f7dc28236"/>
  </ds:schemaRefs>
</ds:datastoreItem>
</file>

<file path=customXml/itemProps3.xml><?xml version="1.0" encoding="utf-8"?>
<ds:datastoreItem xmlns:ds="http://schemas.openxmlformats.org/officeDocument/2006/customXml" ds:itemID="{5D547B07-6613-4B48-9289-A92DD3C12D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4235</TotalTime>
  <Words>12043</Words>
  <Application>Microsoft Office PowerPoint</Application>
  <PresentationFormat>Widescreen</PresentationFormat>
  <Paragraphs>1543</Paragraphs>
  <Slides>113</Slides>
  <Notes>96</Notes>
  <HiddenSlides>0</HiddenSlides>
  <MMClips>0</MMClips>
  <ScaleCrop>false</ScaleCrop>
  <HeadingPairs>
    <vt:vector size="4" baseType="variant">
      <vt:variant>
        <vt:lpstr>Theme</vt:lpstr>
      </vt:variant>
      <vt:variant>
        <vt:i4>2</vt:i4>
      </vt:variant>
      <vt:variant>
        <vt:lpstr>Slide Titles</vt:lpstr>
      </vt:variant>
      <vt:variant>
        <vt:i4>113</vt:i4>
      </vt:variant>
    </vt:vector>
  </HeadingPairs>
  <TitlesOfParts>
    <vt:vector size="115" baseType="lpstr">
      <vt:lpstr>Office Theme</vt:lpstr>
      <vt:lpstr>5_Null</vt:lpstr>
      <vt:lpstr>PowerPoint Presentation</vt:lpstr>
      <vt:lpstr>PowerPoint Presentation</vt:lpstr>
      <vt:lpstr>Revisit the Learning So Far</vt:lpstr>
      <vt:lpstr>Revisit the Learning So Far</vt:lpstr>
      <vt:lpstr>Topics Covered</vt:lpstr>
      <vt:lpstr>Topics Covered</vt:lpstr>
      <vt:lpstr>PowerPoint Presentation</vt:lpstr>
      <vt:lpstr>PowerPoint Presentation</vt:lpstr>
      <vt:lpstr>Introduction</vt:lpstr>
      <vt:lpstr>Key Concepts in Python </vt:lpstr>
      <vt:lpstr>Variables in Python</vt:lpstr>
      <vt:lpstr>Rules &amp; Conventions for Variables</vt:lpstr>
      <vt:lpstr>Built-in Data Types in Python </vt:lpstr>
      <vt:lpstr>Checking Data Types</vt:lpstr>
      <vt:lpstr>Numbers in Python</vt:lpstr>
      <vt:lpstr>Number Operations</vt:lpstr>
      <vt:lpstr>Type Conversion</vt:lpstr>
      <vt:lpstr>PowerPoint Presentation</vt:lpstr>
      <vt:lpstr>Data Structures in Python</vt:lpstr>
      <vt:lpstr>Types of Data Structures in Python</vt:lpstr>
      <vt:lpstr>Comparing Data Structures</vt:lpstr>
      <vt:lpstr>PowerPoint Presentation</vt:lpstr>
      <vt:lpstr>Introduction to Lists in Python</vt:lpstr>
      <vt:lpstr>Creating Lists in Python</vt:lpstr>
      <vt:lpstr>Accessing List Elements</vt:lpstr>
      <vt:lpstr>Modifying List Elements </vt:lpstr>
      <vt:lpstr>Common List Operations</vt:lpstr>
      <vt:lpstr>Slicing Lists in Python</vt:lpstr>
      <vt:lpstr>PowerPoint Presentation</vt:lpstr>
      <vt:lpstr>Tuple in Python </vt:lpstr>
      <vt:lpstr>Creating a Tuple</vt:lpstr>
      <vt:lpstr>Key Characteristics of Tuples</vt:lpstr>
      <vt:lpstr>Accessing Tuple Elements </vt:lpstr>
      <vt:lpstr>Tuple Operations</vt:lpstr>
      <vt:lpstr>When to Use Tuples v. Lists</vt:lpstr>
      <vt:lpstr>PowerPoint Presentation</vt:lpstr>
      <vt:lpstr>Set in Python </vt:lpstr>
      <vt:lpstr>Creating a Set in Python</vt:lpstr>
      <vt:lpstr>Key Properties of Sets</vt:lpstr>
      <vt:lpstr>Common Operations on Sets </vt:lpstr>
      <vt:lpstr>Other Useful Methods </vt:lpstr>
      <vt:lpstr>Mathematical Operations on Sets</vt:lpstr>
      <vt:lpstr>Mathematical Operations on Sets</vt:lpstr>
      <vt:lpstr>Use Cases of Sets</vt:lpstr>
      <vt:lpstr>Limitations of Sets  </vt:lpstr>
      <vt:lpstr>PowerPoint Presentation</vt:lpstr>
      <vt:lpstr>Dictionary in Python</vt:lpstr>
      <vt:lpstr>Creating a Dictionary in Python</vt:lpstr>
      <vt:lpstr>Accessing and Modifying Dictionary Elements</vt:lpstr>
      <vt:lpstr>Built- in Dictionary Methods</vt:lpstr>
      <vt:lpstr>Built- in Dictionary Methods</vt:lpstr>
      <vt:lpstr>Nested Dictionaries</vt:lpstr>
      <vt:lpstr>Importance of Nested Dictionaries</vt:lpstr>
      <vt:lpstr>Importance of Nested Dictionaries</vt:lpstr>
      <vt:lpstr>Limitations of Dictionaries</vt:lpstr>
      <vt:lpstr>Limitations of Dictionaries</vt:lpstr>
      <vt:lpstr>PowerPoint Presentation</vt:lpstr>
      <vt:lpstr>Conditional Statements in Python </vt:lpstr>
      <vt:lpstr>The if Statement</vt:lpstr>
      <vt:lpstr>The if-else Statement</vt:lpstr>
      <vt:lpstr>The if-elif-else Statement</vt:lpstr>
      <vt:lpstr>Nested if Statements</vt:lpstr>
      <vt:lpstr>Conditional Expressions (Ternary Operator)</vt:lpstr>
      <vt:lpstr>Logical Operators in Conditions</vt:lpstr>
      <vt:lpstr>Common Mistakes to Avoid</vt:lpstr>
      <vt:lpstr>PowerPoint Presentation</vt:lpstr>
      <vt:lpstr>Purpose of Loops </vt:lpstr>
      <vt:lpstr>Types of Loops in Python </vt:lpstr>
      <vt:lpstr>The for Loop: Iterating Over Sequences </vt:lpstr>
      <vt:lpstr>Using range() with for Loops </vt:lpstr>
      <vt:lpstr>Using range() with for Loops </vt:lpstr>
      <vt:lpstr>The while Loop: Condition-Based Repetition </vt:lpstr>
      <vt:lpstr>Loop Control Statements </vt:lpstr>
      <vt:lpstr>Loop Control Statements </vt:lpstr>
      <vt:lpstr>Nested Loops: Loops Within Loops </vt:lpstr>
      <vt:lpstr>Iterating with enumerate() </vt:lpstr>
      <vt:lpstr>Mastering Python Loops </vt:lpstr>
      <vt:lpstr>PowerPoint Presentation</vt:lpstr>
      <vt:lpstr>Building a Simple Chatbot in Python </vt:lpstr>
      <vt:lpstr>Building a Simple Chatbot in Python </vt:lpstr>
      <vt:lpstr>Building a Simple Chatbot in Python </vt:lpstr>
      <vt:lpstr>PowerPoint Presentation</vt:lpstr>
      <vt:lpstr>Python Fundamentals</vt:lpstr>
      <vt:lpstr>Logic Flows in Everyday Life </vt:lpstr>
      <vt:lpstr>PowerPoint Presentation</vt:lpstr>
      <vt:lpstr>Function</vt:lpstr>
      <vt:lpstr>Purpose of Functions</vt:lpstr>
      <vt:lpstr>PowerPoint Presentation</vt:lpstr>
      <vt:lpstr>PowerPoint Presentation</vt:lpstr>
      <vt:lpstr>Anatomy of a Function</vt:lpstr>
      <vt:lpstr>Introducing Functions in Python</vt:lpstr>
      <vt:lpstr>Function Parameters and Arguments</vt:lpstr>
      <vt:lpstr>Function Parameters and Arguments</vt:lpstr>
      <vt:lpstr>Returning Values from Functions</vt:lpstr>
      <vt:lpstr>Returning Values from Functions</vt:lpstr>
      <vt:lpstr>Multiple Parameters &amp; Return Values</vt:lpstr>
      <vt:lpstr>Default Parameters</vt:lpstr>
      <vt:lpstr>Default Parameters</vt:lpstr>
      <vt:lpstr>*args (Variable Positional Arguments) </vt:lpstr>
      <vt:lpstr>*args (Variable Positional Arguments) </vt:lpstr>
      <vt:lpstr>**kwargs (Variable Keyword Arguments)</vt:lpstr>
      <vt:lpstr>Using if __name__ == "__main__"</vt:lpstr>
      <vt:lpstr>Scope of Variables in Functions</vt:lpstr>
      <vt:lpstr>Scope of Variables in Functions</vt:lpstr>
      <vt:lpstr>Exercise: Ticket Pricing Function</vt:lpstr>
      <vt:lpstr>Lambda Functions</vt:lpstr>
      <vt:lpstr>Best Practices</vt:lpstr>
      <vt:lpstr>PowerPoint Presentation</vt:lpstr>
      <vt:lpstr>Chatbot: Backend Code Example</vt:lpstr>
      <vt:lpstr>Chatbot: Backend Code Example</vt:lpstr>
      <vt:lpstr>Reflection Activity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 easwaran</dc:creator>
  <cp:lastModifiedBy>Srinath N</cp:lastModifiedBy>
  <cp:revision>1619</cp:revision>
  <dcterms:created xsi:type="dcterms:W3CDTF">2025-02-05T11:59:40Z</dcterms:created>
  <dcterms:modified xsi:type="dcterms:W3CDTF">2025-11-17T07:08:59Z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0x01010047F373DBC30DDB459CEFB92C6B00A939</vt:lpwstr>
  </property>
  <property fmtid="{D5CDD505-2E9C-101B-9397-08002B2CF9AE}" pid="3" name="MediaServiceImageTags">
    <vt:lpwstr/>
  </property>
</Properties>
</file>